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119359" cy="6858000"/>
          </a:xfrm>
          <a:prstGeom prst="rect">
            <a:avLst/>
          </a:prstGeom>
          <a:solidFill>
            <a:srgbClr val="0A2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19359" y="0"/>
            <a:ext cx="7069592" cy="6858000"/>
          </a:xfrm>
          <a:prstGeom prst="rect">
            <a:avLst/>
          </a:prstGeom>
          <a:solidFill>
            <a:srgbClr val="0F4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2783" y="0"/>
            <a:ext cx="73152" cy="685800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1.png"/>
          <p:cNvPicPr>
            <a:picLocks noChangeAspect="1"/>
          </p:cNvPicPr>
          <p:nvPr/>
        </p:nvPicPr>
        <p:blipFill>
          <a:blip r:embed="rId2"/>
          <a:stretch>
            <a:fillRect/>
          </a:stretch>
        </p:blipFill>
        <p:spPr>
          <a:xfrm>
            <a:off x="457200" y="411480"/>
            <a:ext cx="1524000" cy="457200"/>
          </a:xfrm>
          <a:prstGeom prst="rect">
            <a:avLst/>
          </a:prstGeom>
        </p:spPr>
      </p:pic>
      <p:sp>
        <p:nvSpPr>
          <p:cNvPr id="6" name="TextBox 5"/>
          <p:cNvSpPr txBox="1"/>
          <p:nvPr/>
        </p:nvSpPr>
        <p:spPr>
          <a:xfrm>
            <a:off x="457200" y="2103120"/>
            <a:ext cx="4206240" cy="365760"/>
          </a:xfrm>
          <a:prstGeom prst="rect">
            <a:avLst/>
          </a:prstGeom>
          <a:noFill/>
        </p:spPr>
        <p:txBody>
          <a:bodyPr wrap="square">
            <a:spAutoFit/>
          </a:bodyPr>
          <a:lstStyle/>
          <a:p>
            <a:pPr algn="l"/>
            <a:r>
              <a:rPr sz="1600" b="1" i="0">
                <a:solidFill>
                  <a:srgbClr val="FFFFFF"/>
                </a:solidFill>
              </a:rPr>
              <a:t>SÉANCE 10</a:t>
            </a:r>
          </a:p>
        </p:txBody>
      </p:sp>
      <p:sp>
        <p:nvSpPr>
          <p:cNvPr id="7" name="TextBox 6"/>
          <p:cNvSpPr txBox="1"/>
          <p:nvPr/>
        </p:nvSpPr>
        <p:spPr>
          <a:xfrm>
            <a:off x="457200" y="2514600"/>
            <a:ext cx="4206240" cy="1645920"/>
          </a:xfrm>
          <a:prstGeom prst="rect">
            <a:avLst/>
          </a:prstGeom>
          <a:noFill/>
        </p:spPr>
        <p:txBody>
          <a:bodyPr wrap="square">
            <a:spAutoFit/>
          </a:bodyPr>
          <a:lstStyle/>
          <a:p>
            <a:pPr algn="l"/>
            <a:r>
              <a:rPr sz="2600" b="1" i="0">
                <a:solidFill>
                  <a:srgbClr val="FFFFFF"/>
                </a:solidFill>
              </a:rPr>
              <a:t>Recherche, enveloppes,
index et modèles de lettres</a:t>
            </a:r>
          </a:p>
        </p:txBody>
      </p:sp>
      <p:sp>
        <p:nvSpPr>
          <p:cNvPr id="8" name="TextBox 7"/>
          <p:cNvSpPr txBox="1"/>
          <p:nvPr/>
        </p:nvSpPr>
        <p:spPr>
          <a:xfrm>
            <a:off x="5576559" y="2377440"/>
            <a:ext cx="6155192" cy="457200"/>
          </a:xfrm>
          <a:prstGeom prst="rect">
            <a:avLst/>
          </a:prstGeom>
          <a:noFill/>
        </p:spPr>
        <p:txBody>
          <a:bodyPr wrap="square">
            <a:spAutoFit/>
          </a:bodyPr>
          <a:lstStyle/>
          <a:p>
            <a:pPr algn="l"/>
            <a:r>
              <a:rPr sz="1300" b="1" i="0">
                <a:solidFill>
                  <a:srgbClr val="FFFFFF"/>
                </a:solidFill>
              </a:rPr>
              <a:t>TECHNIQUE SUPPORT INFORMATIQUE — MICROSOFT WORD</a:t>
            </a:r>
          </a:p>
        </p:txBody>
      </p:sp>
      <p:sp>
        <p:nvSpPr>
          <p:cNvPr id="9" name="TextBox 8"/>
          <p:cNvSpPr txBox="1"/>
          <p:nvPr/>
        </p:nvSpPr>
        <p:spPr>
          <a:xfrm>
            <a:off x="5576559" y="2834640"/>
            <a:ext cx="6155192" cy="914400"/>
          </a:xfrm>
          <a:prstGeom prst="rect">
            <a:avLst/>
          </a:prstGeom>
          <a:noFill/>
        </p:spPr>
        <p:txBody>
          <a:bodyPr wrap="square">
            <a:spAutoFit/>
          </a:bodyPr>
          <a:lstStyle/>
          <a:p>
            <a:pPr algn="l"/>
            <a:r>
              <a:rPr sz="1600" b="0" i="0">
                <a:solidFill>
                  <a:srgbClr val="FFFFFF"/>
                </a:solidFill>
              </a:rPr>
              <a:t>Retrouver, remplacer, imprimer des envois et structurer avec un index</a:t>
            </a:r>
          </a:p>
        </p:txBody>
      </p:sp>
      <p:sp>
        <p:nvSpPr>
          <p:cNvPr id="10" name="Rectangle 9"/>
          <p:cNvSpPr/>
          <p:nvPr/>
        </p:nvSpPr>
        <p:spPr>
          <a:xfrm>
            <a:off x="5576559" y="3977639"/>
            <a:ext cx="118872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035040"/>
            <a:ext cx="11274552" cy="365760"/>
          </a:xfrm>
          <a:prstGeom prst="rect">
            <a:avLst/>
          </a:prstGeom>
          <a:noFill/>
        </p:spPr>
        <p:txBody>
          <a:bodyPr wrap="square">
            <a:spAutoFit/>
          </a:bodyPr>
          <a:lstStyle/>
          <a:p>
            <a:pPr algn="l"/>
            <a:r>
              <a:rPr sz="1100" b="0" i="1">
                <a:solidFill>
                  <a:srgbClr val="FFFFFF"/>
                </a:solidFill>
              </a:rPr>
              <a:t>Formation SAMO — Chafik Moustaid, formateur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2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401568"/>
            <a:ext cx="12188952" cy="54864"/>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40280"/>
            <a:ext cx="10725912" cy="914400"/>
          </a:xfrm>
          <a:prstGeom prst="rect">
            <a:avLst/>
          </a:prstGeom>
          <a:noFill/>
        </p:spPr>
        <p:txBody>
          <a:bodyPr wrap="square">
            <a:spAutoFit/>
          </a:bodyPr>
          <a:lstStyle/>
          <a:p>
            <a:pPr algn="ctr"/>
            <a:r>
              <a:rPr sz="3000" b="1" i="0">
                <a:solidFill>
                  <a:srgbClr val="FFFFFF"/>
                </a:solidFill>
              </a:rPr>
              <a:t>Chercher un mot à l'œil dans 40 pages,</a:t>
            </a:r>
          </a:p>
        </p:txBody>
      </p:sp>
      <p:sp>
        <p:nvSpPr>
          <p:cNvPr id="5" name="TextBox 4"/>
          <p:cNvSpPr txBox="1"/>
          <p:nvPr/>
        </p:nvSpPr>
        <p:spPr>
          <a:xfrm>
            <a:off x="731520" y="3657600"/>
            <a:ext cx="10725912" cy="914400"/>
          </a:xfrm>
          <a:prstGeom prst="rect">
            <a:avLst/>
          </a:prstGeom>
          <a:noFill/>
        </p:spPr>
        <p:txBody>
          <a:bodyPr wrap="square">
            <a:spAutoFit/>
          </a:bodyPr>
          <a:lstStyle/>
          <a:p>
            <a:pPr algn="ctr"/>
            <a:r>
              <a:rPr sz="3000" b="1" i="0">
                <a:solidFill>
                  <a:srgbClr val="2D7A1F"/>
                </a:solidFill>
              </a:rPr>
              <a:t>c'est perdre un temps que Word vous rend gratuitement.</a:t>
            </a:r>
          </a:p>
        </p:txBody>
      </p:sp>
      <p:sp>
        <p:nvSpPr>
          <p:cNvPr id="6" name="TextBox 5"/>
          <p:cNvSpPr txBox="1"/>
          <p:nvPr/>
        </p:nvSpPr>
        <p:spPr>
          <a:xfrm>
            <a:off x="731520" y="5943600"/>
            <a:ext cx="10725912" cy="457200"/>
          </a:xfrm>
          <a:prstGeom prst="rect">
            <a:avLst/>
          </a:prstGeom>
          <a:noFill/>
        </p:spPr>
        <p:txBody>
          <a:bodyPr wrap="square">
            <a:spAutoFit/>
          </a:bodyPr>
          <a:lstStyle/>
          <a:p>
            <a:pPr algn="ctr"/>
            <a:r>
              <a:rPr sz="1300" b="0" i="1">
                <a:solidFill>
                  <a:srgbClr val="AAAAAA"/>
                </a:solidFill>
              </a:rPr>
              <a:t>Séance 10 sur 12 — Formation Word, Formation SAMO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Plan de la séance</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Ce que nous allons couvrir aujourd'hui</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783080"/>
            <a:ext cx="3788664" cy="1965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83080"/>
            <a:ext cx="3788664" cy="9144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 y="2039112"/>
            <a:ext cx="3459480" cy="274320"/>
          </a:xfrm>
          <a:prstGeom prst="rect">
            <a:avLst/>
          </a:prstGeom>
          <a:noFill/>
        </p:spPr>
        <p:txBody>
          <a:bodyPr wrap="square">
            <a:spAutoFit/>
          </a:bodyPr>
          <a:lstStyle/>
          <a:p>
            <a:pPr algn="l"/>
            <a:r>
              <a:rPr sz="1500" b="1" i="0">
                <a:solidFill>
                  <a:srgbClr val="2D7A1F"/>
                </a:solidFill>
              </a:rPr>
              <a:t>01</a:t>
            </a:r>
          </a:p>
        </p:txBody>
      </p:sp>
      <p:sp>
        <p:nvSpPr>
          <p:cNvPr id="14" name="TextBox 13"/>
          <p:cNvSpPr txBox="1"/>
          <p:nvPr/>
        </p:nvSpPr>
        <p:spPr>
          <a:xfrm>
            <a:off x="576072" y="2377440"/>
            <a:ext cx="3459480" cy="1143000"/>
          </a:xfrm>
          <a:prstGeom prst="rect">
            <a:avLst/>
          </a:prstGeom>
          <a:noFill/>
        </p:spPr>
        <p:txBody>
          <a:bodyPr wrap="square">
            <a:spAutoFit/>
          </a:bodyPr>
          <a:lstStyle/>
          <a:p>
            <a:pPr algn="l"/>
            <a:r>
              <a:rPr sz="1350" b="1" i="0">
                <a:solidFill>
                  <a:srgbClr val="1A3560"/>
                </a:solidFill>
              </a:rPr>
              <a:t>Recherche simple et avancée</a:t>
            </a:r>
          </a:p>
        </p:txBody>
      </p:sp>
      <p:sp>
        <p:nvSpPr>
          <p:cNvPr id="15" name="Rectangle 14"/>
          <p:cNvSpPr/>
          <p:nvPr/>
        </p:nvSpPr>
        <p:spPr>
          <a:xfrm>
            <a:off x="4337304" y="1783080"/>
            <a:ext cx="3788664" cy="1965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37304" y="1783080"/>
            <a:ext cx="3788664" cy="9144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1896" y="2039112"/>
            <a:ext cx="3459480" cy="274320"/>
          </a:xfrm>
          <a:prstGeom prst="rect">
            <a:avLst/>
          </a:prstGeom>
          <a:noFill/>
        </p:spPr>
        <p:txBody>
          <a:bodyPr wrap="square">
            <a:spAutoFit/>
          </a:bodyPr>
          <a:lstStyle/>
          <a:p>
            <a:pPr algn="l"/>
            <a:r>
              <a:rPr sz="1500" b="1" i="0">
                <a:solidFill>
                  <a:srgbClr val="1A3560"/>
                </a:solidFill>
              </a:rPr>
              <a:t>02</a:t>
            </a:r>
          </a:p>
        </p:txBody>
      </p:sp>
      <p:sp>
        <p:nvSpPr>
          <p:cNvPr id="18" name="TextBox 17"/>
          <p:cNvSpPr txBox="1"/>
          <p:nvPr/>
        </p:nvSpPr>
        <p:spPr>
          <a:xfrm>
            <a:off x="4501896" y="2377440"/>
            <a:ext cx="3459480" cy="1143000"/>
          </a:xfrm>
          <a:prstGeom prst="rect">
            <a:avLst/>
          </a:prstGeom>
          <a:noFill/>
        </p:spPr>
        <p:txBody>
          <a:bodyPr wrap="square">
            <a:spAutoFit/>
          </a:bodyPr>
          <a:lstStyle/>
          <a:p>
            <a:pPr algn="l"/>
            <a:r>
              <a:rPr sz="1350" b="1" i="0">
                <a:solidFill>
                  <a:srgbClr val="1A3560"/>
                </a:solidFill>
              </a:rPr>
              <a:t>Remplacement automatique</a:t>
            </a:r>
          </a:p>
        </p:txBody>
      </p:sp>
      <p:sp>
        <p:nvSpPr>
          <p:cNvPr id="19" name="Rectangle 18"/>
          <p:cNvSpPr/>
          <p:nvPr/>
        </p:nvSpPr>
        <p:spPr>
          <a:xfrm>
            <a:off x="8263128" y="1783080"/>
            <a:ext cx="3788664" cy="1965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63128" y="1783080"/>
            <a:ext cx="3788664" cy="9144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7720" y="2039112"/>
            <a:ext cx="3459480" cy="274320"/>
          </a:xfrm>
          <a:prstGeom prst="rect">
            <a:avLst/>
          </a:prstGeom>
          <a:noFill/>
        </p:spPr>
        <p:txBody>
          <a:bodyPr wrap="square">
            <a:spAutoFit/>
          </a:bodyPr>
          <a:lstStyle/>
          <a:p>
            <a:pPr algn="l"/>
            <a:r>
              <a:rPr sz="1500" b="1" i="0">
                <a:solidFill>
                  <a:srgbClr val="2D7A1F"/>
                </a:solidFill>
              </a:rPr>
              <a:t>03</a:t>
            </a:r>
          </a:p>
        </p:txBody>
      </p:sp>
      <p:sp>
        <p:nvSpPr>
          <p:cNvPr id="22" name="TextBox 21"/>
          <p:cNvSpPr txBox="1"/>
          <p:nvPr/>
        </p:nvSpPr>
        <p:spPr>
          <a:xfrm>
            <a:off x="8427720" y="2377440"/>
            <a:ext cx="3459480" cy="1143000"/>
          </a:xfrm>
          <a:prstGeom prst="rect">
            <a:avLst/>
          </a:prstGeom>
          <a:noFill/>
        </p:spPr>
        <p:txBody>
          <a:bodyPr wrap="square">
            <a:spAutoFit/>
          </a:bodyPr>
          <a:lstStyle/>
          <a:p>
            <a:pPr algn="l"/>
            <a:r>
              <a:rPr sz="1350" b="1" i="0">
                <a:solidFill>
                  <a:srgbClr val="1A3560"/>
                </a:solidFill>
              </a:rPr>
              <a:t>Enveloppes</a:t>
            </a:r>
          </a:p>
        </p:txBody>
      </p:sp>
      <p:sp>
        <p:nvSpPr>
          <p:cNvPr id="23" name="Rectangle 22"/>
          <p:cNvSpPr/>
          <p:nvPr/>
        </p:nvSpPr>
        <p:spPr>
          <a:xfrm>
            <a:off x="411480" y="3931920"/>
            <a:ext cx="3788664" cy="1965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3931920"/>
            <a:ext cx="3788664" cy="9144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72" y="4187952"/>
            <a:ext cx="3459480" cy="274320"/>
          </a:xfrm>
          <a:prstGeom prst="rect">
            <a:avLst/>
          </a:prstGeom>
          <a:noFill/>
        </p:spPr>
        <p:txBody>
          <a:bodyPr wrap="square">
            <a:spAutoFit/>
          </a:bodyPr>
          <a:lstStyle/>
          <a:p>
            <a:pPr algn="l"/>
            <a:r>
              <a:rPr sz="1500" b="1" i="0">
                <a:solidFill>
                  <a:srgbClr val="1A3560"/>
                </a:solidFill>
              </a:rPr>
              <a:t>04</a:t>
            </a:r>
          </a:p>
        </p:txBody>
      </p:sp>
      <p:sp>
        <p:nvSpPr>
          <p:cNvPr id="26" name="TextBox 25"/>
          <p:cNvSpPr txBox="1"/>
          <p:nvPr/>
        </p:nvSpPr>
        <p:spPr>
          <a:xfrm>
            <a:off x="576072" y="4526280"/>
            <a:ext cx="3459480" cy="1143000"/>
          </a:xfrm>
          <a:prstGeom prst="rect">
            <a:avLst/>
          </a:prstGeom>
          <a:noFill/>
        </p:spPr>
        <p:txBody>
          <a:bodyPr wrap="square">
            <a:spAutoFit/>
          </a:bodyPr>
          <a:lstStyle/>
          <a:p>
            <a:pPr algn="l"/>
            <a:r>
              <a:rPr sz="1350" b="1" i="0">
                <a:solidFill>
                  <a:srgbClr val="1A3560"/>
                </a:solidFill>
              </a:rPr>
              <a:t>Étiquettes</a:t>
            </a:r>
          </a:p>
        </p:txBody>
      </p:sp>
      <p:sp>
        <p:nvSpPr>
          <p:cNvPr id="27" name="Rectangle 26"/>
          <p:cNvSpPr/>
          <p:nvPr/>
        </p:nvSpPr>
        <p:spPr>
          <a:xfrm>
            <a:off x="4337304" y="3931920"/>
            <a:ext cx="3788664" cy="1965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37304" y="3931920"/>
            <a:ext cx="3788664" cy="9144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01896" y="4187952"/>
            <a:ext cx="3459480" cy="274320"/>
          </a:xfrm>
          <a:prstGeom prst="rect">
            <a:avLst/>
          </a:prstGeom>
          <a:noFill/>
        </p:spPr>
        <p:txBody>
          <a:bodyPr wrap="square">
            <a:spAutoFit/>
          </a:bodyPr>
          <a:lstStyle/>
          <a:p>
            <a:pPr algn="l"/>
            <a:r>
              <a:rPr sz="1500" b="1" i="0">
                <a:solidFill>
                  <a:srgbClr val="2D7A1F"/>
                </a:solidFill>
              </a:rPr>
              <a:t>05</a:t>
            </a:r>
          </a:p>
        </p:txBody>
      </p:sp>
      <p:sp>
        <p:nvSpPr>
          <p:cNvPr id="30" name="TextBox 29"/>
          <p:cNvSpPr txBox="1"/>
          <p:nvPr/>
        </p:nvSpPr>
        <p:spPr>
          <a:xfrm>
            <a:off x="4501896" y="4526280"/>
            <a:ext cx="3459480" cy="1143000"/>
          </a:xfrm>
          <a:prstGeom prst="rect">
            <a:avLst/>
          </a:prstGeom>
          <a:noFill/>
        </p:spPr>
        <p:txBody>
          <a:bodyPr wrap="square">
            <a:spAutoFit/>
          </a:bodyPr>
          <a:lstStyle/>
          <a:p>
            <a:pPr algn="l"/>
            <a:r>
              <a:rPr sz="1350" b="1" i="0">
                <a:solidFill>
                  <a:srgbClr val="1A3560"/>
                </a:solidFill>
              </a:rPr>
              <a:t>Créer et marquer un index</a:t>
            </a:r>
          </a:p>
        </p:txBody>
      </p:sp>
      <p:sp>
        <p:nvSpPr>
          <p:cNvPr id="31" name="Rectangle 30"/>
          <p:cNvSpPr/>
          <p:nvPr/>
        </p:nvSpPr>
        <p:spPr>
          <a:xfrm>
            <a:off x="8263128" y="3931920"/>
            <a:ext cx="3788664" cy="1965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63128" y="3931920"/>
            <a:ext cx="3788664" cy="9144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27720" y="4187952"/>
            <a:ext cx="3459480" cy="274320"/>
          </a:xfrm>
          <a:prstGeom prst="rect">
            <a:avLst/>
          </a:prstGeom>
          <a:noFill/>
        </p:spPr>
        <p:txBody>
          <a:bodyPr wrap="square">
            <a:spAutoFit/>
          </a:bodyPr>
          <a:lstStyle/>
          <a:p>
            <a:pPr algn="l"/>
            <a:r>
              <a:rPr sz="1500" b="1" i="0">
                <a:solidFill>
                  <a:srgbClr val="1A3560"/>
                </a:solidFill>
              </a:rPr>
              <a:t>06</a:t>
            </a:r>
          </a:p>
        </p:txBody>
      </p:sp>
      <p:sp>
        <p:nvSpPr>
          <p:cNvPr id="34" name="TextBox 33"/>
          <p:cNvSpPr txBox="1"/>
          <p:nvPr/>
        </p:nvSpPr>
        <p:spPr>
          <a:xfrm>
            <a:off x="8427720" y="4526280"/>
            <a:ext cx="3459480" cy="1143000"/>
          </a:xfrm>
          <a:prstGeom prst="rect">
            <a:avLst/>
          </a:prstGeom>
          <a:noFill/>
        </p:spPr>
        <p:txBody>
          <a:bodyPr wrap="square">
            <a:spAutoFit/>
          </a:bodyPr>
          <a:lstStyle/>
          <a:p>
            <a:pPr algn="l"/>
            <a:r>
              <a:rPr sz="1350" b="1" i="0">
                <a:solidFill>
                  <a:srgbClr val="1A3560"/>
                </a:solidFill>
              </a:rPr>
              <a:t>Modèles et styles de lettres</a:t>
            </a:r>
          </a:p>
        </p:txBody>
      </p:sp>
      <p:sp>
        <p:nvSpPr>
          <p:cNvPr id="35" name="Rectangle 34"/>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Recherche simple</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Retrouver instantanément un mot ou une expression</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57200" y="1783080"/>
          <a:ext cx="11064240" cy="2286000"/>
        </p:xfrm>
        <a:graphic>
          <a:graphicData uri="http://schemas.openxmlformats.org/drawingml/2006/table">
            <a:tbl>
              <a:tblPr firstRow="1" bandRow="1">
                <a:tableStyleId>{5C22544A-7EE6-4342-B048-85BDC9FD1C3A}</a:tableStyleId>
              </a:tblPr>
              <a:tblGrid>
                <a:gridCol w="3291840"/>
                <a:gridCol w="7772400"/>
              </a:tblGrid>
              <a:tr h="457200">
                <a:tc>
                  <a:txBody>
                    <a:bodyPr wrap="square"/>
                    <a:lstStyle/>
                    <a:p>
                      <a:pPr algn="l"/>
                      <a:r>
                        <a:rPr sz="1200" b="1">
                          <a:solidFill>
                            <a:srgbClr val="FFFFFF"/>
                          </a:solidFill>
                        </a:rPr>
                        <a:t>Action</a:t>
                      </a:r>
                    </a:p>
                  </a:txBody>
                  <a:tcPr>
                    <a:solidFill>
                      <a:srgbClr val="2D7A1F"/>
                    </a:solidFill>
                  </a:tcPr>
                </a:tc>
                <a:tc>
                  <a:txBody>
                    <a:bodyPr wrap="square"/>
                    <a:lstStyle/>
                    <a:p>
                      <a:pPr algn="l"/>
                      <a:r>
                        <a:rPr sz="1200" b="1">
                          <a:solidFill>
                            <a:srgbClr val="FFFFFF"/>
                          </a:solidFill>
                        </a:rPr>
                        <a:t>Détail</a:t>
                      </a:r>
                    </a:p>
                  </a:txBody>
                  <a:tcPr>
                    <a:solidFill>
                      <a:srgbClr val="2D7A1F"/>
                    </a:solidFill>
                  </a:tcPr>
                </a:tc>
              </a:tr>
              <a:tr h="457200">
                <a:tc>
                  <a:txBody>
                    <a:bodyPr wrap="square"/>
                    <a:lstStyle/>
                    <a:p>
                      <a:pPr algn="l"/>
                      <a:r>
                        <a:rPr sz="1150" b="0">
                          <a:solidFill>
                            <a:srgbClr val="595959"/>
                          </a:solidFill>
                        </a:rPr>
                        <a:t>Ouvrir la recherche</a:t>
                      </a:r>
                    </a:p>
                  </a:txBody>
                  <a:tcPr>
                    <a:solidFill>
                      <a:srgbClr val="F2F2F2"/>
                    </a:solidFill>
                  </a:tcPr>
                </a:tc>
                <a:tc>
                  <a:txBody>
                    <a:bodyPr wrap="square"/>
                    <a:lstStyle/>
                    <a:p>
                      <a:pPr algn="l"/>
                      <a:r>
                        <a:rPr sz="1150" b="0">
                          <a:solidFill>
                            <a:srgbClr val="595959"/>
                          </a:solidFill>
                        </a:rPr>
                        <a:t>Ctrl+F, ou Accueil &gt; Éditing &gt; Rechercher</a:t>
                      </a:r>
                    </a:p>
                  </a:txBody>
                  <a:tcPr>
                    <a:solidFill>
                      <a:srgbClr val="F2F2F2"/>
                    </a:solidFill>
                  </a:tcPr>
                </a:tc>
              </a:tr>
              <a:tr h="457200">
                <a:tc>
                  <a:txBody>
                    <a:bodyPr wrap="square"/>
                    <a:lstStyle/>
                    <a:p>
                      <a:pPr algn="l"/>
                      <a:r>
                        <a:rPr sz="1150" b="0">
                          <a:solidFill>
                            <a:srgbClr val="595959"/>
                          </a:solidFill>
                        </a:rPr>
                        <a:t>Résultats</a:t>
                      </a:r>
                    </a:p>
                  </a:txBody>
                  <a:tcPr>
                    <a:solidFill>
                      <a:srgbClr val="FFFFFF"/>
                    </a:solidFill>
                  </a:tcPr>
                </a:tc>
                <a:tc>
                  <a:txBody>
                    <a:bodyPr wrap="square"/>
                    <a:lstStyle/>
                    <a:p>
                      <a:pPr algn="l"/>
                      <a:r>
                        <a:rPr sz="1150" b="0">
                          <a:solidFill>
                            <a:srgbClr val="595959"/>
                          </a:solidFill>
                        </a:rPr>
                        <a:t>Toutes les occurrences sont surlignées et listées dans le volet</a:t>
                      </a:r>
                    </a:p>
                  </a:txBody>
                  <a:tcPr>
                    <a:solidFill>
                      <a:srgbClr val="FFFFFF"/>
                    </a:solidFill>
                  </a:tcPr>
                </a:tc>
              </a:tr>
              <a:tr h="457200">
                <a:tc>
                  <a:txBody>
                    <a:bodyPr wrap="square"/>
                    <a:lstStyle/>
                    <a:p>
                      <a:pPr algn="l"/>
                      <a:r>
                        <a:rPr sz="1150" b="0">
                          <a:solidFill>
                            <a:srgbClr val="595959"/>
                          </a:solidFill>
                        </a:rPr>
                        <a:t>Navigation</a:t>
                      </a:r>
                    </a:p>
                  </a:txBody>
                  <a:tcPr>
                    <a:solidFill>
                      <a:srgbClr val="F2F2F2"/>
                    </a:solidFill>
                  </a:tcPr>
                </a:tc>
                <a:tc>
                  <a:txBody>
                    <a:bodyPr wrap="square"/>
                    <a:lstStyle/>
                    <a:p>
                      <a:pPr algn="l"/>
                      <a:r>
                        <a:rPr sz="1150" b="0">
                          <a:solidFill>
                            <a:srgbClr val="595959"/>
                          </a:solidFill>
                        </a:rPr>
                        <a:t>Flèches haut/bas du volet pour passer d'un résultat à l'autre</a:t>
                      </a:r>
                    </a:p>
                  </a:txBody>
                  <a:tcPr>
                    <a:solidFill>
                      <a:srgbClr val="F2F2F2"/>
                    </a:solidFill>
                  </a:tcPr>
                </a:tc>
              </a:tr>
              <a:tr h="457200">
                <a:tc>
                  <a:txBody>
                    <a:bodyPr wrap="square"/>
                    <a:lstStyle/>
                    <a:p>
                      <a:pPr algn="l"/>
                      <a:r>
                        <a:rPr sz="1150" b="0">
                          <a:solidFill>
                            <a:srgbClr val="595959"/>
                          </a:solidFill>
                        </a:rPr>
                        <a:t>Recherche avancée</a:t>
                      </a:r>
                    </a:p>
                  </a:txBody>
                  <a:tcPr>
                    <a:solidFill>
                      <a:srgbClr val="FFFFFF"/>
                    </a:solidFill>
                  </a:tcPr>
                </a:tc>
                <a:tc>
                  <a:txBody>
                    <a:bodyPr wrap="square"/>
                    <a:lstStyle/>
                    <a:p>
                      <a:pPr algn="l"/>
                      <a:r>
                        <a:rPr sz="1150" b="0">
                          <a:solidFill>
                            <a:srgbClr val="595959"/>
                          </a:solidFill>
                        </a:rPr>
                        <a:t>Flèche à côté de Rechercher &gt; Recherche avancée pour plus d'options</a:t>
                      </a:r>
                    </a:p>
                  </a:txBody>
                  <a:tcPr>
                    <a:solidFill>
                      <a:srgbClr val="FFFFFF"/>
                    </a:solidFill>
                  </a:tcPr>
                </a:tc>
              </a:tr>
            </a:tbl>
          </a:graphicData>
        </a:graphic>
      </p:graphicFrame>
      <p:sp>
        <p:nvSpPr>
          <p:cNvPr id="12" name="Rectangle 11"/>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Remplacement</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Corriger un terme partout en une seule opération</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83080"/>
            <a:ext cx="5500116" cy="4297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783080"/>
            <a:ext cx="5500116" cy="45720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56231"/>
            <a:ext cx="5134355" cy="320040"/>
          </a:xfrm>
          <a:prstGeom prst="rect">
            <a:avLst/>
          </a:prstGeom>
          <a:noFill/>
        </p:spPr>
        <p:txBody>
          <a:bodyPr wrap="square">
            <a:spAutoFit/>
          </a:bodyPr>
          <a:lstStyle/>
          <a:p>
            <a:pPr algn="l"/>
            <a:r>
              <a:rPr sz="1400" b="1" i="0">
                <a:solidFill>
                  <a:srgbClr val="FFFFFF"/>
                </a:solidFill>
              </a:rPr>
              <a:t>Utilisation de base</a:t>
            </a:r>
          </a:p>
        </p:txBody>
      </p:sp>
      <p:sp>
        <p:nvSpPr>
          <p:cNvPr id="14" name="TextBox 13"/>
          <p:cNvSpPr txBox="1"/>
          <p:nvPr/>
        </p:nvSpPr>
        <p:spPr>
          <a:xfrm>
            <a:off x="685800" y="2423160"/>
            <a:ext cx="5042916" cy="457200"/>
          </a:xfrm>
          <a:prstGeom prst="rect">
            <a:avLst/>
          </a:prstGeom>
          <a:noFill/>
        </p:spPr>
        <p:txBody>
          <a:bodyPr wrap="square">
            <a:spAutoFit/>
          </a:bodyPr>
          <a:lstStyle/>
          <a:p>
            <a:pPr algn="l"/>
            <a:r>
              <a:rPr sz="1250" b="0" i="0">
                <a:solidFill>
                  <a:srgbClr val="595959"/>
                </a:solidFill>
              </a:rPr>
              <a:t>•  Ctrl+H ouvre Rechercher et remplacer</a:t>
            </a:r>
          </a:p>
        </p:txBody>
      </p:sp>
      <p:sp>
        <p:nvSpPr>
          <p:cNvPr id="15" name="TextBox 14"/>
          <p:cNvSpPr txBox="1"/>
          <p:nvPr/>
        </p:nvSpPr>
        <p:spPr>
          <a:xfrm>
            <a:off x="685800" y="2898648"/>
            <a:ext cx="5042916" cy="457200"/>
          </a:xfrm>
          <a:prstGeom prst="rect">
            <a:avLst/>
          </a:prstGeom>
          <a:noFill/>
        </p:spPr>
        <p:txBody>
          <a:bodyPr wrap="square">
            <a:spAutoFit/>
          </a:bodyPr>
          <a:lstStyle/>
          <a:p>
            <a:pPr algn="l"/>
            <a:r>
              <a:rPr sz="1250" b="0" i="0">
                <a:solidFill>
                  <a:srgbClr val="595959"/>
                </a:solidFill>
              </a:rPr>
              <a:t>•  Saisir le terme recherché et son remplacement</a:t>
            </a:r>
          </a:p>
        </p:txBody>
      </p:sp>
      <p:sp>
        <p:nvSpPr>
          <p:cNvPr id="16" name="TextBox 15"/>
          <p:cNvSpPr txBox="1"/>
          <p:nvPr/>
        </p:nvSpPr>
        <p:spPr>
          <a:xfrm>
            <a:off x="685800" y="3374136"/>
            <a:ext cx="5042916" cy="457200"/>
          </a:xfrm>
          <a:prstGeom prst="rect">
            <a:avLst/>
          </a:prstGeom>
          <a:noFill/>
        </p:spPr>
        <p:txBody>
          <a:bodyPr wrap="square">
            <a:spAutoFit/>
          </a:bodyPr>
          <a:lstStyle/>
          <a:p>
            <a:pPr algn="l"/>
            <a:r>
              <a:rPr sz="1250" b="0" i="0">
                <a:solidFill>
                  <a:srgbClr val="595959"/>
                </a:solidFill>
              </a:rPr>
              <a:t>•  Remplacer pour un remplacement au cas par cas, ou Remplacer tout</a:t>
            </a:r>
          </a:p>
        </p:txBody>
      </p:sp>
      <p:sp>
        <p:nvSpPr>
          <p:cNvPr id="17" name="Rectangle 16"/>
          <p:cNvSpPr/>
          <p:nvPr/>
        </p:nvSpPr>
        <p:spPr>
          <a:xfrm>
            <a:off x="6231636" y="1783080"/>
            <a:ext cx="5500116" cy="4297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1636" y="1783080"/>
            <a:ext cx="5500116" cy="45720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4516" y="1856231"/>
            <a:ext cx="5134355" cy="320040"/>
          </a:xfrm>
          <a:prstGeom prst="rect">
            <a:avLst/>
          </a:prstGeom>
          <a:noFill/>
        </p:spPr>
        <p:txBody>
          <a:bodyPr wrap="square">
            <a:spAutoFit/>
          </a:bodyPr>
          <a:lstStyle/>
          <a:p>
            <a:pPr algn="l"/>
            <a:r>
              <a:rPr sz="1400" b="1" i="0">
                <a:solidFill>
                  <a:srgbClr val="FFFFFF"/>
                </a:solidFill>
              </a:rPr>
              <a:t>Options utiles</a:t>
            </a:r>
          </a:p>
        </p:txBody>
      </p:sp>
      <p:sp>
        <p:nvSpPr>
          <p:cNvPr id="20" name="TextBox 19"/>
          <p:cNvSpPr txBox="1"/>
          <p:nvPr/>
        </p:nvSpPr>
        <p:spPr>
          <a:xfrm>
            <a:off x="6460236" y="2423160"/>
            <a:ext cx="5042916" cy="457200"/>
          </a:xfrm>
          <a:prstGeom prst="rect">
            <a:avLst/>
          </a:prstGeom>
          <a:noFill/>
        </p:spPr>
        <p:txBody>
          <a:bodyPr wrap="square">
            <a:spAutoFit/>
          </a:bodyPr>
          <a:lstStyle/>
          <a:p>
            <a:pPr algn="l"/>
            <a:r>
              <a:rPr sz="1250" b="0" i="0">
                <a:solidFill>
                  <a:srgbClr val="595959"/>
                </a:solidFill>
              </a:rPr>
              <a:t>•  Respecter la casse : distingue majuscules et minuscules</a:t>
            </a:r>
          </a:p>
        </p:txBody>
      </p:sp>
      <p:sp>
        <p:nvSpPr>
          <p:cNvPr id="21" name="TextBox 20"/>
          <p:cNvSpPr txBox="1"/>
          <p:nvPr/>
        </p:nvSpPr>
        <p:spPr>
          <a:xfrm>
            <a:off x="6460236" y="2898648"/>
            <a:ext cx="5042916" cy="457200"/>
          </a:xfrm>
          <a:prstGeom prst="rect">
            <a:avLst/>
          </a:prstGeom>
          <a:noFill/>
        </p:spPr>
        <p:txBody>
          <a:bodyPr wrap="square">
            <a:spAutoFit/>
          </a:bodyPr>
          <a:lstStyle/>
          <a:p>
            <a:pPr algn="l"/>
            <a:r>
              <a:rPr sz="1250" b="0" i="0">
                <a:solidFill>
                  <a:srgbClr val="595959"/>
                </a:solidFill>
              </a:rPr>
              <a:t>•  Mot entier : évite de modifier un mot contenu dans un autre</a:t>
            </a:r>
          </a:p>
        </p:txBody>
      </p:sp>
      <p:sp>
        <p:nvSpPr>
          <p:cNvPr id="22" name="TextBox 21"/>
          <p:cNvSpPr txBox="1"/>
          <p:nvPr/>
        </p:nvSpPr>
        <p:spPr>
          <a:xfrm>
            <a:off x="6460236" y="3374136"/>
            <a:ext cx="5042916" cy="457200"/>
          </a:xfrm>
          <a:prstGeom prst="rect">
            <a:avLst/>
          </a:prstGeom>
          <a:noFill/>
        </p:spPr>
        <p:txBody>
          <a:bodyPr wrap="square">
            <a:spAutoFit/>
          </a:bodyPr>
          <a:lstStyle/>
          <a:p>
            <a:pPr algn="l"/>
            <a:r>
              <a:rPr sz="1250" b="0" i="0">
                <a:solidFill>
                  <a:srgbClr val="595959"/>
                </a:solidFill>
              </a:rPr>
              <a:t>•  Plus &gt; format : rechercher aussi selon une mise en forme précise</a:t>
            </a:r>
          </a:p>
        </p:txBody>
      </p:sp>
      <p:sp>
        <p:nvSpPr>
          <p:cNvPr id="23" name="Rectangle 22"/>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Recherche avec caractères génériques</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Pour les utilisateurs qui veulent aller plus loin</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57200" y="1783080"/>
          <a:ext cx="10881360" cy="2286000"/>
        </p:xfrm>
        <a:graphic>
          <a:graphicData uri="http://schemas.openxmlformats.org/drawingml/2006/table">
            <a:tbl>
              <a:tblPr firstRow="1" bandRow="1">
                <a:tableStyleId>{5C22544A-7EE6-4342-B048-85BDC9FD1C3A}</a:tableStyleId>
              </a:tblPr>
              <a:tblGrid>
                <a:gridCol w="2743200"/>
                <a:gridCol w="8138160"/>
              </a:tblGrid>
              <a:tr h="457200">
                <a:tc>
                  <a:txBody>
                    <a:bodyPr wrap="square"/>
                    <a:lstStyle/>
                    <a:p>
                      <a:pPr algn="l"/>
                      <a:r>
                        <a:rPr sz="1200" b="1">
                          <a:solidFill>
                            <a:srgbClr val="FFFFFF"/>
                          </a:solidFill>
                        </a:rPr>
                        <a:t>Symbole</a:t>
                      </a:r>
                    </a:p>
                  </a:txBody>
                  <a:tcPr>
                    <a:solidFill>
                      <a:srgbClr val="2D7A1F"/>
                    </a:solidFill>
                  </a:tcPr>
                </a:tc>
                <a:tc>
                  <a:txBody>
                    <a:bodyPr wrap="square"/>
                    <a:lstStyle/>
                    <a:p>
                      <a:pPr algn="l"/>
                      <a:r>
                        <a:rPr sz="1200" b="1">
                          <a:solidFill>
                            <a:srgbClr val="FFFFFF"/>
                          </a:solidFill>
                        </a:rPr>
                        <a:t>Signification</a:t>
                      </a:r>
                    </a:p>
                  </a:txBody>
                  <a:tcPr>
                    <a:solidFill>
                      <a:srgbClr val="2D7A1F"/>
                    </a:solidFill>
                  </a:tcPr>
                </a:tc>
              </a:tr>
              <a:tr h="457200">
                <a:tc>
                  <a:txBody>
                    <a:bodyPr wrap="square"/>
                    <a:lstStyle/>
                    <a:p>
                      <a:pPr algn="l"/>
                      <a:r>
                        <a:rPr sz="1150" b="0">
                          <a:solidFill>
                            <a:srgbClr val="595959"/>
                          </a:solidFill>
                        </a:rPr>
                        <a:t>?</a:t>
                      </a:r>
                    </a:p>
                  </a:txBody>
                  <a:tcPr>
                    <a:solidFill>
                      <a:srgbClr val="F2F2F2"/>
                    </a:solidFill>
                  </a:tcPr>
                </a:tc>
                <a:tc>
                  <a:txBody>
                    <a:bodyPr wrap="square"/>
                    <a:lstStyle/>
                    <a:p>
                      <a:pPr algn="l"/>
                      <a:r>
                        <a:rPr sz="1150" b="0">
                          <a:solidFill>
                            <a:srgbClr val="595959"/>
                          </a:solidFill>
                        </a:rPr>
                        <a:t>Remplace n'importe quel caractère unique</a:t>
                      </a:r>
                    </a:p>
                  </a:txBody>
                  <a:tcPr>
                    <a:solidFill>
                      <a:srgbClr val="F2F2F2"/>
                    </a:solidFill>
                  </a:tcPr>
                </a:tc>
              </a:tr>
              <a:tr h="457200">
                <a:tc>
                  <a:txBody>
                    <a:bodyPr wrap="square"/>
                    <a:lstStyle/>
                    <a:p>
                      <a:pPr algn="l"/>
                      <a:r>
                        <a:rPr sz="1150" b="0">
                          <a:solidFill>
                            <a:srgbClr val="595959"/>
                          </a:solidFill>
                        </a:rPr>
                        <a:t>*</a:t>
                      </a:r>
                    </a:p>
                  </a:txBody>
                  <a:tcPr>
                    <a:solidFill>
                      <a:srgbClr val="FFFFFF"/>
                    </a:solidFill>
                  </a:tcPr>
                </a:tc>
                <a:tc>
                  <a:txBody>
                    <a:bodyPr wrap="square"/>
                    <a:lstStyle/>
                    <a:p>
                      <a:pPr algn="l"/>
                      <a:r>
                        <a:rPr sz="1150" b="0">
                          <a:solidFill>
                            <a:srgbClr val="595959"/>
                          </a:solidFill>
                        </a:rPr>
                        <a:t>Remplace n'importe quelle suite de caractères</a:t>
                      </a:r>
                    </a:p>
                  </a:txBody>
                  <a:tcPr>
                    <a:solidFill>
                      <a:srgbClr val="FFFFFF"/>
                    </a:solidFill>
                  </a:tcPr>
                </a:tc>
              </a:tr>
              <a:tr h="457200">
                <a:tc>
                  <a:txBody>
                    <a:bodyPr wrap="square"/>
                    <a:lstStyle/>
                    <a:p>
                      <a:pPr algn="l"/>
                      <a:r>
                        <a:rPr sz="1150" b="0">
                          <a:solidFill>
                            <a:srgbClr val="595959"/>
                          </a:solidFill>
                        </a:rPr>
                        <a:t>[ ]</a:t>
                      </a:r>
                    </a:p>
                  </a:txBody>
                  <a:tcPr>
                    <a:solidFill>
                      <a:srgbClr val="F2F2F2"/>
                    </a:solidFill>
                  </a:tcPr>
                </a:tc>
                <a:tc>
                  <a:txBody>
                    <a:bodyPr wrap="square"/>
                    <a:lstStyle/>
                    <a:p>
                      <a:pPr algn="l"/>
                      <a:r>
                        <a:rPr sz="1150" b="0">
                          <a:solidFill>
                            <a:srgbClr val="595959"/>
                          </a:solidFill>
                        </a:rPr>
                        <a:t>Remplace un caractère parmi ceux listés entre crochets</a:t>
                      </a:r>
                    </a:p>
                  </a:txBody>
                  <a:tcPr>
                    <a:solidFill>
                      <a:srgbClr val="F2F2F2"/>
                    </a:solidFill>
                  </a:tcPr>
                </a:tc>
              </a:tr>
              <a:tr h="457200">
                <a:tc>
                  <a:txBody>
                    <a:bodyPr wrap="square"/>
                    <a:lstStyle/>
                    <a:p>
                      <a:pPr algn="l"/>
                      <a:r>
                        <a:rPr sz="1150" b="0">
                          <a:solidFill>
                            <a:srgbClr val="595959"/>
                          </a:solidFill>
                        </a:rPr>
                        <a:t>Activation</a:t>
                      </a:r>
                    </a:p>
                  </a:txBody>
                  <a:tcPr>
                    <a:solidFill>
                      <a:srgbClr val="FFFFFF"/>
                    </a:solidFill>
                  </a:tcPr>
                </a:tc>
                <a:tc>
                  <a:txBody>
                    <a:bodyPr wrap="square"/>
                    <a:lstStyle/>
                    <a:p>
                      <a:pPr algn="l"/>
                      <a:r>
                        <a:rPr sz="1150" b="0">
                          <a:solidFill>
                            <a:srgbClr val="595959"/>
                          </a:solidFill>
                        </a:rPr>
                        <a:t>Recherche avancée &gt; cocher Utiliser les caractères génériques</a:t>
                      </a:r>
                    </a:p>
                  </a:txBody>
                  <a:tcPr>
                    <a:solidFill>
                      <a:srgbClr val="FFFFFF"/>
                    </a:solidFill>
                  </a:tcPr>
                </a:tc>
              </a:tr>
            </a:tbl>
          </a:graphicData>
        </a:graphic>
      </p:graphicFrame>
      <p:sp>
        <p:nvSpPr>
          <p:cNvPr id="12" name="Rectangle 11"/>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Créer des enveloppes</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Imprimer une enveloppe directement depuis Word</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83080"/>
            <a:ext cx="457200" cy="75895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961387"/>
            <a:ext cx="457200" cy="402336"/>
          </a:xfrm>
          <a:prstGeom prst="rect">
            <a:avLst/>
          </a:prstGeom>
          <a:noFill/>
        </p:spPr>
        <p:txBody>
          <a:bodyPr wrap="square">
            <a:spAutoFit/>
          </a:bodyPr>
          <a:lstStyle/>
          <a:p>
            <a:pPr algn="ctr"/>
            <a:r>
              <a:rPr sz="1600" b="1" i="0">
                <a:solidFill>
                  <a:srgbClr val="FFFFFF"/>
                </a:solidFill>
              </a:rPr>
              <a:t>1</a:t>
            </a:r>
          </a:p>
        </p:txBody>
      </p:sp>
      <p:sp>
        <p:nvSpPr>
          <p:cNvPr id="13" name="Rectangle 12"/>
          <p:cNvSpPr/>
          <p:nvPr/>
        </p:nvSpPr>
        <p:spPr>
          <a:xfrm>
            <a:off x="1005840" y="1783080"/>
            <a:ext cx="10725912" cy="7589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1837943"/>
            <a:ext cx="10451592" cy="292608"/>
          </a:xfrm>
          <a:prstGeom prst="rect">
            <a:avLst/>
          </a:prstGeom>
          <a:noFill/>
        </p:spPr>
        <p:txBody>
          <a:bodyPr wrap="square">
            <a:spAutoFit/>
          </a:bodyPr>
          <a:lstStyle/>
          <a:p>
            <a:pPr algn="l"/>
            <a:r>
              <a:rPr sz="1300" b="1" i="0">
                <a:solidFill>
                  <a:srgbClr val="1A3560"/>
                </a:solidFill>
              </a:rPr>
              <a:t>Ouvrir l'outil</a:t>
            </a:r>
          </a:p>
        </p:txBody>
      </p:sp>
      <p:sp>
        <p:nvSpPr>
          <p:cNvPr id="15" name="TextBox 14"/>
          <p:cNvSpPr txBox="1"/>
          <p:nvPr/>
        </p:nvSpPr>
        <p:spPr>
          <a:xfrm>
            <a:off x="1143000" y="2112264"/>
            <a:ext cx="10451592" cy="411479"/>
          </a:xfrm>
          <a:prstGeom prst="rect">
            <a:avLst/>
          </a:prstGeom>
          <a:noFill/>
        </p:spPr>
        <p:txBody>
          <a:bodyPr wrap="square">
            <a:spAutoFit/>
          </a:bodyPr>
          <a:lstStyle/>
          <a:p>
            <a:pPr algn="l"/>
            <a:r>
              <a:rPr sz="1100" b="0" i="0">
                <a:solidFill>
                  <a:srgbClr val="595959"/>
                </a:solidFill>
              </a:rPr>
              <a:t>Onglet Publipostage &gt; groupe Créer &gt; Enveloppes.</a:t>
            </a:r>
          </a:p>
        </p:txBody>
      </p:sp>
      <p:sp>
        <p:nvSpPr>
          <p:cNvPr id="16" name="Rectangle 15"/>
          <p:cNvSpPr/>
          <p:nvPr/>
        </p:nvSpPr>
        <p:spPr>
          <a:xfrm>
            <a:off x="457200" y="2651760"/>
            <a:ext cx="457200" cy="75895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830068"/>
            <a:ext cx="457200" cy="402336"/>
          </a:xfrm>
          <a:prstGeom prst="rect">
            <a:avLst/>
          </a:prstGeom>
          <a:noFill/>
        </p:spPr>
        <p:txBody>
          <a:bodyPr wrap="square">
            <a:spAutoFit/>
          </a:bodyPr>
          <a:lstStyle/>
          <a:p>
            <a:pPr algn="ctr"/>
            <a:r>
              <a:rPr sz="1600" b="1" i="0">
                <a:solidFill>
                  <a:srgbClr val="FFFFFF"/>
                </a:solidFill>
              </a:rPr>
              <a:t>2</a:t>
            </a:r>
          </a:p>
        </p:txBody>
      </p:sp>
      <p:sp>
        <p:nvSpPr>
          <p:cNvPr id="18" name="Rectangle 17"/>
          <p:cNvSpPr/>
          <p:nvPr/>
        </p:nvSpPr>
        <p:spPr>
          <a:xfrm>
            <a:off x="1005840" y="2651760"/>
            <a:ext cx="10725912"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2706624"/>
            <a:ext cx="10451592" cy="292608"/>
          </a:xfrm>
          <a:prstGeom prst="rect">
            <a:avLst/>
          </a:prstGeom>
          <a:noFill/>
        </p:spPr>
        <p:txBody>
          <a:bodyPr wrap="square">
            <a:spAutoFit/>
          </a:bodyPr>
          <a:lstStyle/>
          <a:p>
            <a:pPr algn="l"/>
            <a:r>
              <a:rPr sz="1300" b="1" i="0">
                <a:solidFill>
                  <a:srgbClr val="1A3560"/>
                </a:solidFill>
              </a:rPr>
              <a:t>Saisir l'adresse de livraison</a:t>
            </a:r>
          </a:p>
        </p:txBody>
      </p:sp>
      <p:sp>
        <p:nvSpPr>
          <p:cNvPr id="20" name="TextBox 19"/>
          <p:cNvSpPr txBox="1"/>
          <p:nvPr/>
        </p:nvSpPr>
        <p:spPr>
          <a:xfrm>
            <a:off x="1143000" y="2980944"/>
            <a:ext cx="10451592" cy="411479"/>
          </a:xfrm>
          <a:prstGeom prst="rect">
            <a:avLst/>
          </a:prstGeom>
          <a:noFill/>
        </p:spPr>
        <p:txBody>
          <a:bodyPr wrap="square">
            <a:spAutoFit/>
          </a:bodyPr>
          <a:lstStyle/>
          <a:p>
            <a:pPr algn="l"/>
            <a:r>
              <a:rPr sz="1100" b="0" i="0">
                <a:solidFill>
                  <a:srgbClr val="595959"/>
                </a:solidFill>
              </a:rPr>
              <a:t>Taper ou coller l'adresse du destinataire.</a:t>
            </a:r>
          </a:p>
        </p:txBody>
      </p:sp>
      <p:sp>
        <p:nvSpPr>
          <p:cNvPr id="21" name="Rectangle 20"/>
          <p:cNvSpPr/>
          <p:nvPr/>
        </p:nvSpPr>
        <p:spPr>
          <a:xfrm>
            <a:off x="457200" y="3520439"/>
            <a:ext cx="457200" cy="75895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698748"/>
            <a:ext cx="457200" cy="402336"/>
          </a:xfrm>
          <a:prstGeom prst="rect">
            <a:avLst/>
          </a:prstGeom>
          <a:noFill/>
        </p:spPr>
        <p:txBody>
          <a:bodyPr wrap="square">
            <a:spAutoFit/>
          </a:bodyPr>
          <a:lstStyle/>
          <a:p>
            <a:pPr algn="ctr"/>
            <a:r>
              <a:rPr sz="1600" b="1" i="0">
                <a:solidFill>
                  <a:srgbClr val="FFFFFF"/>
                </a:solidFill>
              </a:rPr>
              <a:t>3</a:t>
            </a:r>
          </a:p>
        </p:txBody>
      </p:sp>
      <p:sp>
        <p:nvSpPr>
          <p:cNvPr id="23" name="Rectangle 22"/>
          <p:cNvSpPr/>
          <p:nvPr/>
        </p:nvSpPr>
        <p:spPr>
          <a:xfrm>
            <a:off x="1005840" y="3520439"/>
            <a:ext cx="10725912" cy="7589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3575303"/>
            <a:ext cx="10451592" cy="292608"/>
          </a:xfrm>
          <a:prstGeom prst="rect">
            <a:avLst/>
          </a:prstGeom>
          <a:noFill/>
        </p:spPr>
        <p:txBody>
          <a:bodyPr wrap="square">
            <a:spAutoFit/>
          </a:bodyPr>
          <a:lstStyle/>
          <a:p>
            <a:pPr algn="l"/>
            <a:r>
              <a:rPr sz="1300" b="1" i="0">
                <a:solidFill>
                  <a:srgbClr val="1A3560"/>
                </a:solidFill>
              </a:rPr>
              <a:t>Ajouter l'adresse de retour</a:t>
            </a:r>
          </a:p>
        </p:txBody>
      </p:sp>
      <p:sp>
        <p:nvSpPr>
          <p:cNvPr id="25" name="TextBox 24"/>
          <p:cNvSpPr txBox="1"/>
          <p:nvPr/>
        </p:nvSpPr>
        <p:spPr>
          <a:xfrm>
            <a:off x="1143000" y="3849624"/>
            <a:ext cx="10451592" cy="411479"/>
          </a:xfrm>
          <a:prstGeom prst="rect">
            <a:avLst/>
          </a:prstGeom>
          <a:noFill/>
        </p:spPr>
        <p:txBody>
          <a:bodyPr wrap="square">
            <a:spAutoFit/>
          </a:bodyPr>
          <a:lstStyle/>
          <a:p>
            <a:pPr algn="l"/>
            <a:r>
              <a:rPr sz="1100" b="0" i="0">
                <a:solidFill>
                  <a:srgbClr val="595959"/>
                </a:solidFill>
              </a:rPr>
              <a:t>Cocher Omettre si non nécessaire, sinon saisir l'expéditeur.</a:t>
            </a:r>
          </a:p>
        </p:txBody>
      </p:sp>
      <p:sp>
        <p:nvSpPr>
          <p:cNvPr id="26" name="Rectangle 25"/>
          <p:cNvSpPr/>
          <p:nvPr/>
        </p:nvSpPr>
        <p:spPr>
          <a:xfrm>
            <a:off x="457200" y="4389120"/>
            <a:ext cx="457200" cy="75895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567428"/>
            <a:ext cx="457200" cy="402336"/>
          </a:xfrm>
          <a:prstGeom prst="rect">
            <a:avLst/>
          </a:prstGeom>
          <a:noFill/>
        </p:spPr>
        <p:txBody>
          <a:bodyPr wrap="square">
            <a:spAutoFit/>
          </a:bodyPr>
          <a:lstStyle/>
          <a:p>
            <a:pPr algn="ctr"/>
            <a:r>
              <a:rPr sz="1600" b="1" i="0">
                <a:solidFill>
                  <a:srgbClr val="FFFFFF"/>
                </a:solidFill>
              </a:rPr>
              <a:t>4</a:t>
            </a:r>
          </a:p>
        </p:txBody>
      </p:sp>
      <p:sp>
        <p:nvSpPr>
          <p:cNvPr id="28" name="Rectangle 27"/>
          <p:cNvSpPr/>
          <p:nvPr/>
        </p:nvSpPr>
        <p:spPr>
          <a:xfrm>
            <a:off x="1005840" y="4389120"/>
            <a:ext cx="10725912"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3000" y="4443983"/>
            <a:ext cx="10451592" cy="292608"/>
          </a:xfrm>
          <a:prstGeom prst="rect">
            <a:avLst/>
          </a:prstGeom>
          <a:noFill/>
        </p:spPr>
        <p:txBody>
          <a:bodyPr wrap="square">
            <a:spAutoFit/>
          </a:bodyPr>
          <a:lstStyle/>
          <a:p>
            <a:pPr algn="l"/>
            <a:r>
              <a:rPr sz="1300" b="1" i="0">
                <a:solidFill>
                  <a:srgbClr val="1A3560"/>
                </a:solidFill>
              </a:rPr>
              <a:t>Choisir le format</a:t>
            </a:r>
          </a:p>
        </p:txBody>
      </p:sp>
      <p:sp>
        <p:nvSpPr>
          <p:cNvPr id="30" name="TextBox 29"/>
          <p:cNvSpPr txBox="1"/>
          <p:nvPr/>
        </p:nvSpPr>
        <p:spPr>
          <a:xfrm>
            <a:off x="1143000" y="4718304"/>
            <a:ext cx="10451592" cy="411479"/>
          </a:xfrm>
          <a:prstGeom prst="rect">
            <a:avLst/>
          </a:prstGeom>
          <a:noFill/>
        </p:spPr>
        <p:txBody>
          <a:bodyPr wrap="square">
            <a:spAutoFit/>
          </a:bodyPr>
          <a:lstStyle/>
          <a:p>
            <a:pPr algn="l"/>
            <a:r>
              <a:rPr sz="1100" b="0" i="0">
                <a:solidFill>
                  <a:srgbClr val="595959"/>
                </a:solidFill>
              </a:rPr>
              <a:t>Options &gt; sélectionner la taille d'enveloppe standard utilisée.</a:t>
            </a:r>
          </a:p>
        </p:txBody>
      </p:sp>
      <p:sp>
        <p:nvSpPr>
          <p:cNvPr id="31" name="Rectangle 30"/>
          <p:cNvSpPr/>
          <p:nvPr/>
        </p:nvSpPr>
        <p:spPr>
          <a:xfrm>
            <a:off x="457200" y="5257800"/>
            <a:ext cx="457200" cy="75895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436108"/>
            <a:ext cx="457200" cy="402336"/>
          </a:xfrm>
          <a:prstGeom prst="rect">
            <a:avLst/>
          </a:prstGeom>
          <a:noFill/>
        </p:spPr>
        <p:txBody>
          <a:bodyPr wrap="square">
            <a:spAutoFit/>
          </a:bodyPr>
          <a:lstStyle/>
          <a:p>
            <a:pPr algn="ctr"/>
            <a:r>
              <a:rPr sz="1600" b="1" i="0">
                <a:solidFill>
                  <a:srgbClr val="FFFFFF"/>
                </a:solidFill>
              </a:rPr>
              <a:t>5</a:t>
            </a:r>
          </a:p>
        </p:txBody>
      </p:sp>
      <p:sp>
        <p:nvSpPr>
          <p:cNvPr id="33" name="Rectangle 32"/>
          <p:cNvSpPr/>
          <p:nvPr/>
        </p:nvSpPr>
        <p:spPr>
          <a:xfrm>
            <a:off x="1005840" y="5257800"/>
            <a:ext cx="10725912" cy="7589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43000" y="5312664"/>
            <a:ext cx="10451592" cy="292608"/>
          </a:xfrm>
          <a:prstGeom prst="rect">
            <a:avLst/>
          </a:prstGeom>
          <a:noFill/>
        </p:spPr>
        <p:txBody>
          <a:bodyPr wrap="square">
            <a:spAutoFit/>
          </a:bodyPr>
          <a:lstStyle/>
          <a:p>
            <a:pPr algn="l"/>
            <a:r>
              <a:rPr sz="1300" b="1" i="0">
                <a:solidFill>
                  <a:srgbClr val="1A3560"/>
                </a:solidFill>
              </a:rPr>
              <a:t>Imprimer ou ajouter au document</a:t>
            </a:r>
          </a:p>
        </p:txBody>
      </p:sp>
      <p:sp>
        <p:nvSpPr>
          <p:cNvPr id="35" name="TextBox 34"/>
          <p:cNvSpPr txBox="1"/>
          <p:nvPr/>
        </p:nvSpPr>
        <p:spPr>
          <a:xfrm>
            <a:off x="1143000" y="5586984"/>
            <a:ext cx="10451592" cy="411479"/>
          </a:xfrm>
          <a:prstGeom prst="rect">
            <a:avLst/>
          </a:prstGeom>
          <a:noFill/>
        </p:spPr>
        <p:txBody>
          <a:bodyPr wrap="square">
            <a:spAutoFit/>
          </a:bodyPr>
          <a:lstStyle/>
          <a:p>
            <a:pPr algn="l"/>
            <a:r>
              <a:rPr sz="1100" b="0" i="0">
                <a:solidFill>
                  <a:srgbClr val="595959"/>
                </a:solidFill>
              </a:rPr>
              <a:t>Imprimer directement, ou Ajouter au document pour la conserver.</a:t>
            </a:r>
          </a:p>
        </p:txBody>
      </p:sp>
      <p:sp>
        <p:nvSpPr>
          <p:cNvPr id="36" name="Rectangle 35"/>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Créer des étiquettes</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Générer une planche complète d'étiquettes identiques ou personnalisées</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57200" y="1783080"/>
          <a:ext cx="11064240" cy="2286000"/>
        </p:xfrm>
        <a:graphic>
          <a:graphicData uri="http://schemas.openxmlformats.org/drawingml/2006/table">
            <a:tbl>
              <a:tblPr firstRow="1" bandRow="1">
                <a:tableStyleId>{5C22544A-7EE6-4342-B048-85BDC9FD1C3A}</a:tableStyleId>
              </a:tblPr>
              <a:tblGrid>
                <a:gridCol w="2926080"/>
                <a:gridCol w="8138160"/>
              </a:tblGrid>
              <a:tr h="457200">
                <a:tc>
                  <a:txBody>
                    <a:bodyPr wrap="square"/>
                    <a:lstStyle/>
                    <a:p>
                      <a:pPr algn="l"/>
                      <a:r>
                        <a:rPr sz="1200" b="1">
                          <a:solidFill>
                            <a:srgbClr val="FFFFFF"/>
                          </a:solidFill>
                        </a:rPr>
                        <a:t>Étape</a:t>
                      </a:r>
                    </a:p>
                  </a:txBody>
                  <a:tcPr>
                    <a:solidFill>
                      <a:srgbClr val="2D7A1F"/>
                    </a:solidFill>
                  </a:tcPr>
                </a:tc>
                <a:tc>
                  <a:txBody>
                    <a:bodyPr wrap="square"/>
                    <a:lstStyle/>
                    <a:p>
                      <a:pPr algn="l"/>
                      <a:r>
                        <a:rPr sz="1200" b="1">
                          <a:solidFill>
                            <a:srgbClr val="FFFFFF"/>
                          </a:solidFill>
                        </a:rPr>
                        <a:t>Action</a:t>
                      </a:r>
                    </a:p>
                  </a:txBody>
                  <a:tcPr>
                    <a:solidFill>
                      <a:srgbClr val="2D7A1F"/>
                    </a:solidFill>
                  </a:tcPr>
                </a:tc>
              </a:tr>
              <a:tr h="457200">
                <a:tc>
                  <a:txBody>
                    <a:bodyPr wrap="square"/>
                    <a:lstStyle/>
                    <a:p>
                      <a:pPr algn="l"/>
                      <a:r>
                        <a:rPr sz="1150" b="0">
                          <a:solidFill>
                            <a:srgbClr val="595959"/>
                          </a:solidFill>
                        </a:rPr>
                        <a:t>1</a:t>
                      </a:r>
                    </a:p>
                  </a:txBody>
                  <a:tcPr>
                    <a:solidFill>
                      <a:srgbClr val="F2F2F2"/>
                    </a:solidFill>
                  </a:tcPr>
                </a:tc>
                <a:tc>
                  <a:txBody>
                    <a:bodyPr wrap="square"/>
                    <a:lstStyle/>
                    <a:p>
                      <a:pPr algn="l"/>
                      <a:r>
                        <a:rPr sz="1150" b="0">
                          <a:solidFill>
                            <a:srgbClr val="595959"/>
                          </a:solidFill>
                        </a:rPr>
                        <a:t>Publipostage &gt; groupe Créer &gt; Étiquettes</a:t>
                      </a:r>
                    </a:p>
                  </a:txBody>
                  <a:tcPr>
                    <a:solidFill>
                      <a:srgbClr val="F2F2F2"/>
                    </a:solidFill>
                  </a:tcPr>
                </a:tc>
              </a:tr>
              <a:tr h="457200">
                <a:tc>
                  <a:txBody>
                    <a:bodyPr wrap="square"/>
                    <a:lstStyle/>
                    <a:p>
                      <a:pPr algn="l"/>
                      <a:r>
                        <a:rPr sz="1150" b="0">
                          <a:solidFill>
                            <a:srgbClr val="595959"/>
                          </a:solidFill>
                        </a:rPr>
                        <a:t>2</a:t>
                      </a:r>
                    </a:p>
                  </a:txBody>
                  <a:tcPr>
                    <a:solidFill>
                      <a:srgbClr val="FFFFFF"/>
                    </a:solidFill>
                  </a:tcPr>
                </a:tc>
                <a:tc>
                  <a:txBody>
                    <a:bodyPr wrap="square"/>
                    <a:lstStyle/>
                    <a:p>
                      <a:pPr algn="l"/>
                      <a:r>
                        <a:rPr sz="1150" b="0">
                          <a:solidFill>
                            <a:srgbClr val="595959"/>
                          </a:solidFill>
                        </a:rPr>
                        <a:t>Saisir le texte de l'étiquette (adresse, nom, code)</a:t>
                      </a:r>
                    </a:p>
                  </a:txBody>
                  <a:tcPr>
                    <a:solidFill>
                      <a:srgbClr val="FFFFFF"/>
                    </a:solidFill>
                  </a:tcPr>
                </a:tc>
              </a:tr>
              <a:tr h="457200">
                <a:tc>
                  <a:txBody>
                    <a:bodyPr wrap="square"/>
                    <a:lstStyle/>
                    <a:p>
                      <a:pPr algn="l"/>
                      <a:r>
                        <a:rPr sz="1150" b="0">
                          <a:solidFill>
                            <a:srgbClr val="595959"/>
                          </a:solidFill>
                        </a:rPr>
                        <a:t>3</a:t>
                      </a:r>
                    </a:p>
                  </a:txBody>
                  <a:tcPr>
                    <a:solidFill>
                      <a:srgbClr val="F2F2F2"/>
                    </a:solidFill>
                  </a:tcPr>
                </a:tc>
                <a:tc>
                  <a:txBody>
                    <a:bodyPr wrap="square"/>
                    <a:lstStyle/>
                    <a:p>
                      <a:pPr algn="l"/>
                      <a:r>
                        <a:rPr sz="1150" b="0">
                          <a:solidFill>
                            <a:srgbClr val="595959"/>
                          </a:solidFill>
                        </a:rPr>
                        <a:t>Options &gt; choisir le fournisseur et la référence exacte du gabarit</a:t>
                      </a:r>
                    </a:p>
                  </a:txBody>
                  <a:tcPr>
                    <a:solidFill>
                      <a:srgbClr val="F2F2F2"/>
                    </a:solidFill>
                  </a:tcPr>
                </a:tc>
              </a:tr>
              <a:tr h="457200">
                <a:tc>
                  <a:txBody>
                    <a:bodyPr wrap="square"/>
                    <a:lstStyle/>
                    <a:p>
                      <a:pPr algn="l"/>
                      <a:r>
                        <a:rPr sz="1150" b="0">
                          <a:solidFill>
                            <a:srgbClr val="595959"/>
                          </a:solidFill>
                        </a:rPr>
                        <a:t>4</a:t>
                      </a:r>
                    </a:p>
                  </a:txBody>
                  <a:tcPr>
                    <a:solidFill>
                      <a:srgbClr val="FFFFFF"/>
                    </a:solidFill>
                  </a:tcPr>
                </a:tc>
                <a:tc>
                  <a:txBody>
                    <a:bodyPr wrap="square"/>
                    <a:lstStyle/>
                    <a:p>
                      <a:pPr algn="l"/>
                      <a:r>
                        <a:rPr sz="1150" b="0">
                          <a:solidFill>
                            <a:srgbClr val="595959"/>
                          </a:solidFill>
                        </a:rPr>
                        <a:t>Nouveau document pour générer toute la planche, prête à imprimer</a:t>
                      </a:r>
                    </a:p>
                  </a:txBody>
                  <a:tcPr>
                    <a:solidFill>
                      <a:srgbClr val="FFFFFF"/>
                    </a:solidFill>
                  </a:tcPr>
                </a:tc>
              </a:tr>
            </a:tbl>
          </a:graphicData>
        </a:graphic>
      </p:graphicFrame>
      <p:sp>
        <p:nvSpPr>
          <p:cNvPr id="12" name="Rectangle 11"/>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Recherche, enveloppes,
index et modèles de lettres</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Retrouver, remplacer, imprimer des envois et structurer avec un index</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28800"/>
            <a:ext cx="10908792" cy="4206240"/>
          </a:xfrm>
          <a:prstGeom prst="rect">
            <a:avLst/>
          </a:prstGeom>
          <a:solidFill>
            <a:srgbClr val="F7F7F7"/>
          </a:solidFill>
          <a:ln w="15240">
            <a:solidFill>
              <a:srgbClr val="99AA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1828800"/>
            <a:ext cx="10908792" cy="384048"/>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212848"/>
            <a:ext cx="10908792" cy="16459"/>
          </a:xfrm>
          <a:prstGeom prst="rect">
            <a:avLst/>
          </a:prstGeom>
          <a:solidFill>
            <a:srgbClr val="99AA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1892807"/>
            <a:ext cx="10579608" cy="274320"/>
          </a:xfrm>
          <a:prstGeom prst="rect">
            <a:avLst/>
          </a:prstGeom>
          <a:noFill/>
        </p:spPr>
        <p:txBody>
          <a:bodyPr wrap="square">
            <a:spAutoFit/>
          </a:bodyPr>
          <a:lstStyle/>
          <a:p>
            <a:pPr algn="l"/>
            <a:r>
              <a:rPr sz="1200" b="1" i="0">
                <a:solidFill>
                  <a:srgbClr val="1A3560"/>
                </a:solidFill>
              </a:rPr>
              <a:t>[ Screenshot ] Boîte de dialogue Rechercher et remplacer</a:t>
            </a:r>
          </a:p>
        </p:txBody>
      </p:sp>
      <p:sp>
        <p:nvSpPr>
          <p:cNvPr id="15" name="Rectangle 14"/>
          <p:cNvSpPr/>
          <p:nvPr/>
        </p:nvSpPr>
        <p:spPr>
          <a:xfrm>
            <a:off x="5591556" y="3547872"/>
            <a:ext cx="1005840" cy="594360"/>
          </a:xfrm>
          <a:prstGeom prst="rect">
            <a:avLst/>
          </a:prstGeom>
          <a:solidFill>
            <a:srgbClr val="DDE4EE"/>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29884" y="3383280"/>
            <a:ext cx="329184" cy="201168"/>
          </a:xfrm>
          <a:prstGeom prst="rect">
            <a:avLst/>
          </a:prstGeom>
          <a:solidFill>
            <a:srgbClr val="DDE4EE"/>
          </a:solidFill>
          <a:ln w="1016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3308" y="3712464"/>
            <a:ext cx="402336" cy="402336"/>
          </a:xfrm>
          <a:prstGeom prst="rect">
            <a:avLst/>
          </a:prstGeom>
          <a:solidFill>
            <a:srgbClr val="F7F7F7"/>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224528"/>
            <a:ext cx="10543032" cy="365760"/>
          </a:xfrm>
          <a:prstGeom prst="rect">
            <a:avLst/>
          </a:prstGeom>
          <a:noFill/>
        </p:spPr>
        <p:txBody>
          <a:bodyPr wrap="square">
            <a:spAutoFit/>
          </a:bodyPr>
          <a:lstStyle/>
          <a:p>
            <a:pPr algn="ctr"/>
            <a:r>
              <a:rPr sz="1300" b="0" i="1">
                <a:solidFill>
                  <a:srgbClr val="595959"/>
                </a:solidFill>
              </a:rPr>
              <a:t>Insérez ici une capture d'écran de l'onglet Remplacer avec les options avancées</a:t>
            </a:r>
          </a:p>
        </p:txBody>
      </p:sp>
      <p:sp>
        <p:nvSpPr>
          <p:cNvPr id="19" name="TextBox 18"/>
          <p:cNvSpPr txBox="1"/>
          <p:nvPr/>
        </p:nvSpPr>
        <p:spPr>
          <a:xfrm>
            <a:off x="822959" y="4572000"/>
            <a:ext cx="10543032" cy="292608"/>
          </a:xfrm>
          <a:prstGeom prst="rect">
            <a:avLst/>
          </a:prstGeom>
          <a:noFill/>
        </p:spPr>
        <p:txBody>
          <a:bodyPr wrap="square">
            <a:spAutoFit/>
          </a:bodyPr>
          <a:lstStyle/>
          <a:p>
            <a:pPr algn="ctr"/>
            <a:r>
              <a:rPr sz="1050" b="0" i="0">
                <a:solidFill>
                  <a:srgbClr val="AAAAAA"/>
                </a:solidFill>
              </a:rPr>
              <a:t>Recommandé : montrer Respecter la casse et Mot entier cochés</a:t>
            </a:r>
          </a:p>
        </p:txBody>
      </p:sp>
      <p:sp>
        <p:nvSpPr>
          <p:cNvPr id="20" name="Rectangle 19"/>
          <p:cNvSpPr/>
          <p:nvPr/>
        </p:nvSpPr>
        <p:spPr>
          <a:xfrm>
            <a:off x="640080" y="5705855"/>
            <a:ext cx="10908792" cy="329184"/>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5705855"/>
            <a:ext cx="10908792" cy="16459"/>
          </a:xfrm>
          <a:prstGeom prst="rect">
            <a:avLst/>
          </a:prstGeom>
          <a:solidFill>
            <a:srgbClr val="99AA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751576"/>
            <a:ext cx="10634472" cy="237744"/>
          </a:xfrm>
          <a:prstGeom prst="rect">
            <a:avLst/>
          </a:prstGeom>
          <a:noFill/>
        </p:spPr>
        <p:txBody>
          <a:bodyPr wrap="square">
            <a:spAutoFit/>
          </a:bodyPr>
          <a:lstStyle/>
          <a:p>
            <a:pPr algn="l"/>
            <a:r>
              <a:rPr sz="900" b="0" i="1">
                <a:solidFill>
                  <a:srgbClr val="556688"/>
                </a:solidFill>
              </a:rPr>
              <a:t>Clic droit sur cette zone → Modifier l'image → choisir votre screenshot</a:t>
            </a:r>
          </a:p>
        </p:txBody>
      </p:sp>
      <p:sp>
        <p:nvSpPr>
          <p:cNvPr id="23" name="Rectangle 22"/>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Créer un index</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Une liste alphabétique des termes importants, avec leurs pages</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83080"/>
            <a:ext cx="457200" cy="75895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961387"/>
            <a:ext cx="457200" cy="402336"/>
          </a:xfrm>
          <a:prstGeom prst="rect">
            <a:avLst/>
          </a:prstGeom>
          <a:noFill/>
        </p:spPr>
        <p:txBody>
          <a:bodyPr wrap="square">
            <a:spAutoFit/>
          </a:bodyPr>
          <a:lstStyle/>
          <a:p>
            <a:pPr algn="ctr"/>
            <a:r>
              <a:rPr sz="1600" b="1" i="0">
                <a:solidFill>
                  <a:srgbClr val="FFFFFF"/>
                </a:solidFill>
              </a:rPr>
              <a:t>1</a:t>
            </a:r>
          </a:p>
        </p:txBody>
      </p:sp>
      <p:sp>
        <p:nvSpPr>
          <p:cNvPr id="13" name="Rectangle 12"/>
          <p:cNvSpPr/>
          <p:nvPr/>
        </p:nvSpPr>
        <p:spPr>
          <a:xfrm>
            <a:off x="1005840" y="1783080"/>
            <a:ext cx="10725912" cy="7589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3000" y="1837943"/>
            <a:ext cx="10451592" cy="292608"/>
          </a:xfrm>
          <a:prstGeom prst="rect">
            <a:avLst/>
          </a:prstGeom>
          <a:noFill/>
        </p:spPr>
        <p:txBody>
          <a:bodyPr wrap="square">
            <a:spAutoFit/>
          </a:bodyPr>
          <a:lstStyle/>
          <a:p>
            <a:pPr algn="l"/>
            <a:r>
              <a:rPr sz="1300" b="1" i="0">
                <a:solidFill>
                  <a:srgbClr val="1A3560"/>
                </a:solidFill>
              </a:rPr>
              <a:t>Marquer les entrées</a:t>
            </a:r>
          </a:p>
        </p:txBody>
      </p:sp>
      <p:sp>
        <p:nvSpPr>
          <p:cNvPr id="15" name="TextBox 14"/>
          <p:cNvSpPr txBox="1"/>
          <p:nvPr/>
        </p:nvSpPr>
        <p:spPr>
          <a:xfrm>
            <a:off x="1143000" y="2112264"/>
            <a:ext cx="10451592" cy="411479"/>
          </a:xfrm>
          <a:prstGeom prst="rect">
            <a:avLst/>
          </a:prstGeom>
          <a:noFill/>
        </p:spPr>
        <p:txBody>
          <a:bodyPr wrap="square">
            <a:spAutoFit/>
          </a:bodyPr>
          <a:lstStyle/>
          <a:p>
            <a:pPr algn="l"/>
            <a:r>
              <a:rPr sz="1100" b="0" i="0">
                <a:solidFill>
                  <a:srgbClr val="595959"/>
                </a:solidFill>
              </a:rPr>
              <a:t>Sélectionner un terme, puis Alt+Maj+X pour ouvrir Marquer l'entrée d'index.</a:t>
            </a:r>
          </a:p>
        </p:txBody>
      </p:sp>
      <p:sp>
        <p:nvSpPr>
          <p:cNvPr id="16" name="Rectangle 15"/>
          <p:cNvSpPr/>
          <p:nvPr/>
        </p:nvSpPr>
        <p:spPr>
          <a:xfrm>
            <a:off x="457200" y="2651760"/>
            <a:ext cx="457200" cy="75895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830068"/>
            <a:ext cx="457200" cy="402336"/>
          </a:xfrm>
          <a:prstGeom prst="rect">
            <a:avLst/>
          </a:prstGeom>
          <a:noFill/>
        </p:spPr>
        <p:txBody>
          <a:bodyPr wrap="square">
            <a:spAutoFit/>
          </a:bodyPr>
          <a:lstStyle/>
          <a:p>
            <a:pPr algn="ctr"/>
            <a:r>
              <a:rPr sz="1600" b="1" i="0">
                <a:solidFill>
                  <a:srgbClr val="FFFFFF"/>
                </a:solidFill>
              </a:rPr>
              <a:t>2</a:t>
            </a:r>
          </a:p>
        </p:txBody>
      </p:sp>
      <p:sp>
        <p:nvSpPr>
          <p:cNvPr id="18" name="Rectangle 17"/>
          <p:cNvSpPr/>
          <p:nvPr/>
        </p:nvSpPr>
        <p:spPr>
          <a:xfrm>
            <a:off x="1005840" y="2651760"/>
            <a:ext cx="10725912"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2706624"/>
            <a:ext cx="10451592" cy="292608"/>
          </a:xfrm>
          <a:prstGeom prst="rect">
            <a:avLst/>
          </a:prstGeom>
          <a:noFill/>
        </p:spPr>
        <p:txBody>
          <a:bodyPr wrap="square">
            <a:spAutoFit/>
          </a:bodyPr>
          <a:lstStyle/>
          <a:p>
            <a:pPr algn="l"/>
            <a:r>
              <a:rPr sz="1300" b="1" i="0">
                <a:solidFill>
                  <a:srgbClr val="1A3560"/>
                </a:solidFill>
              </a:rPr>
              <a:t>Répéter pour chaque terme</a:t>
            </a:r>
          </a:p>
        </p:txBody>
      </p:sp>
      <p:sp>
        <p:nvSpPr>
          <p:cNvPr id="20" name="TextBox 19"/>
          <p:cNvSpPr txBox="1"/>
          <p:nvPr/>
        </p:nvSpPr>
        <p:spPr>
          <a:xfrm>
            <a:off x="1143000" y="2980944"/>
            <a:ext cx="10451592" cy="411479"/>
          </a:xfrm>
          <a:prstGeom prst="rect">
            <a:avLst/>
          </a:prstGeom>
          <a:noFill/>
        </p:spPr>
        <p:txBody>
          <a:bodyPr wrap="square">
            <a:spAutoFit/>
          </a:bodyPr>
          <a:lstStyle/>
          <a:p>
            <a:pPr algn="l"/>
            <a:r>
              <a:rPr sz="1100" b="0" i="0">
                <a:solidFill>
                  <a:srgbClr val="595959"/>
                </a:solidFill>
              </a:rPr>
              <a:t>Marquer toutes les occurrences importantes dans tout le document.</a:t>
            </a:r>
          </a:p>
        </p:txBody>
      </p:sp>
      <p:sp>
        <p:nvSpPr>
          <p:cNvPr id="21" name="Rectangle 20"/>
          <p:cNvSpPr/>
          <p:nvPr/>
        </p:nvSpPr>
        <p:spPr>
          <a:xfrm>
            <a:off x="457200" y="3520439"/>
            <a:ext cx="457200" cy="75895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698748"/>
            <a:ext cx="457200" cy="402336"/>
          </a:xfrm>
          <a:prstGeom prst="rect">
            <a:avLst/>
          </a:prstGeom>
          <a:noFill/>
        </p:spPr>
        <p:txBody>
          <a:bodyPr wrap="square">
            <a:spAutoFit/>
          </a:bodyPr>
          <a:lstStyle/>
          <a:p>
            <a:pPr algn="ctr"/>
            <a:r>
              <a:rPr sz="1600" b="1" i="0">
                <a:solidFill>
                  <a:srgbClr val="FFFFFF"/>
                </a:solidFill>
              </a:rPr>
              <a:t>3</a:t>
            </a:r>
          </a:p>
        </p:txBody>
      </p:sp>
      <p:sp>
        <p:nvSpPr>
          <p:cNvPr id="23" name="Rectangle 22"/>
          <p:cNvSpPr/>
          <p:nvPr/>
        </p:nvSpPr>
        <p:spPr>
          <a:xfrm>
            <a:off x="1005840" y="3520439"/>
            <a:ext cx="10725912" cy="7589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43000" y="3575303"/>
            <a:ext cx="10451592" cy="292608"/>
          </a:xfrm>
          <a:prstGeom prst="rect">
            <a:avLst/>
          </a:prstGeom>
          <a:noFill/>
        </p:spPr>
        <p:txBody>
          <a:bodyPr wrap="square">
            <a:spAutoFit/>
          </a:bodyPr>
          <a:lstStyle/>
          <a:p>
            <a:pPr algn="l"/>
            <a:r>
              <a:rPr sz="1300" b="1" i="0">
                <a:solidFill>
                  <a:srgbClr val="1A3560"/>
                </a:solidFill>
              </a:rPr>
              <a:t>Positionner le curseur</a:t>
            </a:r>
          </a:p>
        </p:txBody>
      </p:sp>
      <p:sp>
        <p:nvSpPr>
          <p:cNvPr id="25" name="TextBox 24"/>
          <p:cNvSpPr txBox="1"/>
          <p:nvPr/>
        </p:nvSpPr>
        <p:spPr>
          <a:xfrm>
            <a:off x="1143000" y="3849624"/>
            <a:ext cx="10451592" cy="411479"/>
          </a:xfrm>
          <a:prstGeom prst="rect">
            <a:avLst/>
          </a:prstGeom>
          <a:noFill/>
        </p:spPr>
        <p:txBody>
          <a:bodyPr wrap="square">
            <a:spAutoFit/>
          </a:bodyPr>
          <a:lstStyle/>
          <a:p>
            <a:pPr algn="l"/>
            <a:r>
              <a:rPr sz="1100" b="0" i="0">
                <a:solidFill>
                  <a:srgbClr val="595959"/>
                </a:solidFill>
              </a:rPr>
              <a:t>Aller à la fin du document, là où l'index doit apparaître.</a:t>
            </a:r>
          </a:p>
        </p:txBody>
      </p:sp>
      <p:sp>
        <p:nvSpPr>
          <p:cNvPr id="26" name="Rectangle 25"/>
          <p:cNvSpPr/>
          <p:nvPr/>
        </p:nvSpPr>
        <p:spPr>
          <a:xfrm>
            <a:off x="457200" y="4389120"/>
            <a:ext cx="457200" cy="75895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567428"/>
            <a:ext cx="457200" cy="402336"/>
          </a:xfrm>
          <a:prstGeom prst="rect">
            <a:avLst/>
          </a:prstGeom>
          <a:noFill/>
        </p:spPr>
        <p:txBody>
          <a:bodyPr wrap="square">
            <a:spAutoFit/>
          </a:bodyPr>
          <a:lstStyle/>
          <a:p>
            <a:pPr algn="ctr"/>
            <a:r>
              <a:rPr sz="1600" b="1" i="0">
                <a:solidFill>
                  <a:srgbClr val="FFFFFF"/>
                </a:solidFill>
              </a:rPr>
              <a:t>4</a:t>
            </a:r>
          </a:p>
        </p:txBody>
      </p:sp>
      <p:sp>
        <p:nvSpPr>
          <p:cNvPr id="28" name="Rectangle 27"/>
          <p:cNvSpPr/>
          <p:nvPr/>
        </p:nvSpPr>
        <p:spPr>
          <a:xfrm>
            <a:off x="1005840" y="4389120"/>
            <a:ext cx="10725912"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43000" y="4443983"/>
            <a:ext cx="10451592" cy="292608"/>
          </a:xfrm>
          <a:prstGeom prst="rect">
            <a:avLst/>
          </a:prstGeom>
          <a:noFill/>
        </p:spPr>
        <p:txBody>
          <a:bodyPr wrap="square">
            <a:spAutoFit/>
          </a:bodyPr>
          <a:lstStyle/>
          <a:p>
            <a:pPr algn="l"/>
            <a:r>
              <a:rPr sz="1300" b="1" i="0">
                <a:solidFill>
                  <a:srgbClr val="1A3560"/>
                </a:solidFill>
              </a:rPr>
              <a:t>Références &gt; Insérer un index</a:t>
            </a:r>
          </a:p>
        </p:txBody>
      </p:sp>
      <p:sp>
        <p:nvSpPr>
          <p:cNvPr id="30" name="TextBox 29"/>
          <p:cNvSpPr txBox="1"/>
          <p:nvPr/>
        </p:nvSpPr>
        <p:spPr>
          <a:xfrm>
            <a:off x="1143000" y="4718304"/>
            <a:ext cx="10451592" cy="411479"/>
          </a:xfrm>
          <a:prstGeom prst="rect">
            <a:avLst/>
          </a:prstGeom>
          <a:noFill/>
        </p:spPr>
        <p:txBody>
          <a:bodyPr wrap="square">
            <a:spAutoFit/>
          </a:bodyPr>
          <a:lstStyle/>
          <a:p>
            <a:pPr algn="l"/>
            <a:r>
              <a:rPr sz="1100" b="0" i="0">
                <a:solidFill>
                  <a:srgbClr val="595959"/>
                </a:solidFill>
              </a:rPr>
              <a:t>Choisir la mise en forme (colonnes, style d'alignement).</a:t>
            </a:r>
          </a:p>
        </p:txBody>
      </p:sp>
      <p:sp>
        <p:nvSpPr>
          <p:cNvPr id="31" name="Rectangle 30"/>
          <p:cNvSpPr/>
          <p:nvPr/>
        </p:nvSpPr>
        <p:spPr>
          <a:xfrm>
            <a:off x="457200" y="5257800"/>
            <a:ext cx="457200" cy="75895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436108"/>
            <a:ext cx="457200" cy="402336"/>
          </a:xfrm>
          <a:prstGeom prst="rect">
            <a:avLst/>
          </a:prstGeom>
          <a:noFill/>
        </p:spPr>
        <p:txBody>
          <a:bodyPr wrap="square">
            <a:spAutoFit/>
          </a:bodyPr>
          <a:lstStyle/>
          <a:p>
            <a:pPr algn="ctr"/>
            <a:r>
              <a:rPr sz="1600" b="1" i="0">
                <a:solidFill>
                  <a:srgbClr val="FFFFFF"/>
                </a:solidFill>
              </a:rPr>
              <a:t>5</a:t>
            </a:r>
          </a:p>
        </p:txBody>
      </p:sp>
      <p:sp>
        <p:nvSpPr>
          <p:cNvPr id="33" name="Rectangle 32"/>
          <p:cNvSpPr/>
          <p:nvPr/>
        </p:nvSpPr>
        <p:spPr>
          <a:xfrm>
            <a:off x="1005840" y="5257800"/>
            <a:ext cx="10725912" cy="7589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43000" y="5312664"/>
            <a:ext cx="10451592" cy="292608"/>
          </a:xfrm>
          <a:prstGeom prst="rect">
            <a:avLst/>
          </a:prstGeom>
          <a:noFill/>
        </p:spPr>
        <p:txBody>
          <a:bodyPr wrap="square">
            <a:spAutoFit/>
          </a:bodyPr>
          <a:lstStyle/>
          <a:p>
            <a:pPr algn="l"/>
            <a:r>
              <a:rPr sz="1300" b="1" i="0">
                <a:solidFill>
                  <a:srgbClr val="1A3560"/>
                </a:solidFill>
              </a:rPr>
              <a:t>Générer l'index</a:t>
            </a:r>
          </a:p>
        </p:txBody>
      </p:sp>
      <p:sp>
        <p:nvSpPr>
          <p:cNvPr id="35" name="TextBox 34"/>
          <p:cNvSpPr txBox="1"/>
          <p:nvPr/>
        </p:nvSpPr>
        <p:spPr>
          <a:xfrm>
            <a:off x="1143000" y="5586984"/>
            <a:ext cx="10451592" cy="411479"/>
          </a:xfrm>
          <a:prstGeom prst="rect">
            <a:avLst/>
          </a:prstGeom>
          <a:noFill/>
        </p:spPr>
        <p:txBody>
          <a:bodyPr wrap="square">
            <a:spAutoFit/>
          </a:bodyPr>
          <a:lstStyle/>
          <a:p>
            <a:pPr algn="l"/>
            <a:r>
              <a:rPr sz="1100" b="0" i="0">
                <a:solidFill>
                  <a:srgbClr val="595959"/>
                </a:solidFill>
              </a:rPr>
              <a:t>Word compile automatiquement la liste alphabétique avec les numéros de page.</a:t>
            </a:r>
          </a:p>
        </p:txBody>
      </p:sp>
      <p:sp>
        <p:nvSpPr>
          <p:cNvPr id="36" name="Rectangle 35"/>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Marquer des entrées d'index</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Le détail qui fait un bon index</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83080"/>
            <a:ext cx="5500116" cy="4297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783080"/>
            <a:ext cx="5500116" cy="45720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56231"/>
            <a:ext cx="5134355" cy="320040"/>
          </a:xfrm>
          <a:prstGeom prst="rect">
            <a:avLst/>
          </a:prstGeom>
          <a:noFill/>
        </p:spPr>
        <p:txBody>
          <a:bodyPr wrap="square">
            <a:spAutoFit/>
          </a:bodyPr>
          <a:lstStyle/>
          <a:p>
            <a:pPr algn="l"/>
            <a:r>
              <a:rPr sz="1400" b="1" i="0">
                <a:solidFill>
                  <a:srgbClr val="FFFFFF"/>
                </a:solidFill>
              </a:rPr>
              <a:t>Options de marquage</a:t>
            </a:r>
          </a:p>
        </p:txBody>
      </p:sp>
      <p:sp>
        <p:nvSpPr>
          <p:cNvPr id="14" name="TextBox 13"/>
          <p:cNvSpPr txBox="1"/>
          <p:nvPr/>
        </p:nvSpPr>
        <p:spPr>
          <a:xfrm>
            <a:off x="685800" y="2423160"/>
            <a:ext cx="5042916" cy="457200"/>
          </a:xfrm>
          <a:prstGeom prst="rect">
            <a:avLst/>
          </a:prstGeom>
          <a:noFill/>
        </p:spPr>
        <p:txBody>
          <a:bodyPr wrap="square">
            <a:spAutoFit/>
          </a:bodyPr>
          <a:lstStyle/>
          <a:p>
            <a:pPr algn="l"/>
            <a:r>
              <a:rPr sz="1250" b="0" i="0">
                <a:solidFill>
                  <a:srgbClr val="595959"/>
                </a:solidFill>
              </a:rPr>
              <a:t>•  Marquer : marque uniquement l'occurrence sélectionnée</a:t>
            </a:r>
          </a:p>
        </p:txBody>
      </p:sp>
      <p:sp>
        <p:nvSpPr>
          <p:cNvPr id="15" name="TextBox 14"/>
          <p:cNvSpPr txBox="1"/>
          <p:nvPr/>
        </p:nvSpPr>
        <p:spPr>
          <a:xfrm>
            <a:off x="685800" y="2898648"/>
            <a:ext cx="5042916" cy="457200"/>
          </a:xfrm>
          <a:prstGeom prst="rect">
            <a:avLst/>
          </a:prstGeom>
          <a:noFill/>
        </p:spPr>
        <p:txBody>
          <a:bodyPr wrap="square">
            <a:spAutoFit/>
          </a:bodyPr>
          <a:lstStyle/>
          <a:p>
            <a:pPr algn="l"/>
            <a:r>
              <a:rPr sz="1250" b="0" i="0">
                <a:solidFill>
                  <a:srgbClr val="595959"/>
                </a:solidFill>
              </a:rPr>
              <a:t>•  Marquer tout : marque toutes les occurrences identiques du terme</a:t>
            </a:r>
          </a:p>
        </p:txBody>
      </p:sp>
      <p:sp>
        <p:nvSpPr>
          <p:cNvPr id="16" name="TextBox 15"/>
          <p:cNvSpPr txBox="1"/>
          <p:nvPr/>
        </p:nvSpPr>
        <p:spPr>
          <a:xfrm>
            <a:off x="685800" y="3374136"/>
            <a:ext cx="5042916" cy="457200"/>
          </a:xfrm>
          <a:prstGeom prst="rect">
            <a:avLst/>
          </a:prstGeom>
          <a:noFill/>
        </p:spPr>
        <p:txBody>
          <a:bodyPr wrap="square">
            <a:spAutoFit/>
          </a:bodyPr>
          <a:lstStyle/>
          <a:p>
            <a:pPr algn="l"/>
            <a:r>
              <a:rPr sz="1250" b="0" i="0">
                <a:solidFill>
                  <a:srgbClr val="595959"/>
                </a:solidFill>
              </a:rPr>
              <a:t>•  Sous-entrée : permet de créer une hiérarchie dans l'index</a:t>
            </a:r>
          </a:p>
        </p:txBody>
      </p:sp>
      <p:sp>
        <p:nvSpPr>
          <p:cNvPr id="17" name="Rectangle 16"/>
          <p:cNvSpPr/>
          <p:nvPr/>
        </p:nvSpPr>
        <p:spPr>
          <a:xfrm>
            <a:off x="6231636" y="1783080"/>
            <a:ext cx="5500116" cy="4297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1636" y="1783080"/>
            <a:ext cx="5500116" cy="45720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4516" y="1856231"/>
            <a:ext cx="5134355" cy="320040"/>
          </a:xfrm>
          <a:prstGeom prst="rect">
            <a:avLst/>
          </a:prstGeom>
          <a:noFill/>
        </p:spPr>
        <p:txBody>
          <a:bodyPr wrap="square">
            <a:spAutoFit/>
          </a:bodyPr>
          <a:lstStyle/>
          <a:p>
            <a:pPr algn="l"/>
            <a:r>
              <a:rPr sz="1400" b="1" i="0">
                <a:solidFill>
                  <a:srgbClr val="FFFFFF"/>
                </a:solidFill>
              </a:rPr>
              <a:t>Bonnes pratiques</a:t>
            </a:r>
          </a:p>
        </p:txBody>
      </p:sp>
      <p:sp>
        <p:nvSpPr>
          <p:cNvPr id="20" name="TextBox 19"/>
          <p:cNvSpPr txBox="1"/>
          <p:nvPr/>
        </p:nvSpPr>
        <p:spPr>
          <a:xfrm>
            <a:off x="6460236" y="2423160"/>
            <a:ext cx="5042916" cy="457200"/>
          </a:xfrm>
          <a:prstGeom prst="rect">
            <a:avLst/>
          </a:prstGeom>
          <a:noFill/>
        </p:spPr>
        <p:txBody>
          <a:bodyPr wrap="square">
            <a:spAutoFit/>
          </a:bodyPr>
          <a:lstStyle/>
          <a:p>
            <a:pPr algn="l"/>
            <a:r>
              <a:rPr sz="1250" b="0" i="0">
                <a:solidFill>
                  <a:srgbClr val="595959"/>
                </a:solidFill>
              </a:rPr>
              <a:t>•  Choisir des termes vraiment recherchés par le lecteur</a:t>
            </a:r>
          </a:p>
        </p:txBody>
      </p:sp>
      <p:sp>
        <p:nvSpPr>
          <p:cNvPr id="21" name="TextBox 20"/>
          <p:cNvSpPr txBox="1"/>
          <p:nvPr/>
        </p:nvSpPr>
        <p:spPr>
          <a:xfrm>
            <a:off x="6460236" y="2898648"/>
            <a:ext cx="5042916" cy="457200"/>
          </a:xfrm>
          <a:prstGeom prst="rect">
            <a:avLst/>
          </a:prstGeom>
          <a:noFill/>
        </p:spPr>
        <p:txBody>
          <a:bodyPr wrap="square">
            <a:spAutoFit/>
          </a:bodyPr>
          <a:lstStyle/>
          <a:p>
            <a:pPr algn="l"/>
            <a:r>
              <a:rPr sz="1250" b="0" i="0">
                <a:solidFill>
                  <a:srgbClr val="595959"/>
                </a:solidFill>
              </a:rPr>
              <a:t>•  Éviter de marquer des mots trop courants ou vagues</a:t>
            </a:r>
          </a:p>
        </p:txBody>
      </p:sp>
      <p:sp>
        <p:nvSpPr>
          <p:cNvPr id="22" name="TextBox 21"/>
          <p:cNvSpPr txBox="1"/>
          <p:nvPr/>
        </p:nvSpPr>
        <p:spPr>
          <a:xfrm>
            <a:off x="6460236" y="3374136"/>
            <a:ext cx="5042916" cy="457200"/>
          </a:xfrm>
          <a:prstGeom prst="rect">
            <a:avLst/>
          </a:prstGeom>
          <a:noFill/>
        </p:spPr>
        <p:txBody>
          <a:bodyPr wrap="square">
            <a:spAutoFit/>
          </a:bodyPr>
          <a:lstStyle/>
          <a:p>
            <a:pPr algn="l"/>
            <a:r>
              <a:rPr sz="1250" b="0" i="0">
                <a:solidFill>
                  <a:srgbClr val="595959"/>
                </a:solidFill>
              </a:rPr>
              <a:t>•  Vérifier l'orthographe exacte du terme marqué</a:t>
            </a:r>
          </a:p>
        </p:txBody>
      </p:sp>
      <p:sp>
        <p:nvSpPr>
          <p:cNvPr id="23" name="Rectangle 22"/>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Supprimer un index</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Retirer l'index ou ses marques quand ils ne sont plus nécessaires</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57200" y="1783080"/>
          <a:ext cx="11064240" cy="1828800"/>
        </p:xfrm>
        <a:graphic>
          <a:graphicData uri="http://schemas.openxmlformats.org/drawingml/2006/table">
            <a:tbl>
              <a:tblPr firstRow="1" bandRow="1">
                <a:tableStyleId>{5C22544A-7EE6-4342-B048-85BDC9FD1C3A}</a:tableStyleId>
              </a:tblPr>
              <a:tblGrid>
                <a:gridCol w="3840480"/>
                <a:gridCol w="7223760"/>
              </a:tblGrid>
              <a:tr h="457200">
                <a:tc>
                  <a:txBody>
                    <a:bodyPr wrap="square"/>
                    <a:lstStyle/>
                    <a:p>
                      <a:pPr algn="l"/>
                      <a:r>
                        <a:rPr sz="1200" b="1">
                          <a:solidFill>
                            <a:srgbClr val="FFFFFF"/>
                          </a:solidFill>
                        </a:rPr>
                        <a:t>Action</a:t>
                      </a:r>
                    </a:p>
                  </a:txBody>
                  <a:tcPr>
                    <a:solidFill>
                      <a:srgbClr val="2D7A1F"/>
                    </a:solidFill>
                  </a:tcPr>
                </a:tc>
                <a:tc>
                  <a:txBody>
                    <a:bodyPr wrap="square"/>
                    <a:lstStyle/>
                    <a:p>
                      <a:pPr algn="l"/>
                      <a:r>
                        <a:rPr sz="1200" b="1">
                          <a:solidFill>
                            <a:srgbClr val="FFFFFF"/>
                          </a:solidFill>
                        </a:rPr>
                        <a:t>Méthode</a:t>
                      </a:r>
                    </a:p>
                  </a:txBody>
                  <a:tcPr>
                    <a:solidFill>
                      <a:srgbClr val="2D7A1F"/>
                    </a:solidFill>
                  </a:tcPr>
                </a:tc>
              </a:tr>
              <a:tr h="457200">
                <a:tc>
                  <a:txBody>
                    <a:bodyPr wrap="square"/>
                    <a:lstStyle/>
                    <a:p>
                      <a:pPr algn="l"/>
                      <a:r>
                        <a:rPr sz="1150" b="0">
                          <a:solidFill>
                            <a:srgbClr val="595959"/>
                          </a:solidFill>
                        </a:rPr>
                        <a:t>Supprimer le tableau d'index affiché</a:t>
                      </a:r>
                    </a:p>
                  </a:txBody>
                  <a:tcPr>
                    <a:solidFill>
                      <a:srgbClr val="F2F2F2"/>
                    </a:solidFill>
                  </a:tcPr>
                </a:tc>
                <a:tc>
                  <a:txBody>
                    <a:bodyPr wrap="square"/>
                    <a:lstStyle/>
                    <a:p>
                      <a:pPr algn="l"/>
                      <a:r>
                        <a:rPr sz="1150" b="0">
                          <a:solidFill>
                            <a:srgbClr val="595959"/>
                          </a:solidFill>
                        </a:rPr>
                        <a:t>Sélectionner l'index inséré et appuyer sur Suppr</a:t>
                      </a:r>
                    </a:p>
                  </a:txBody>
                  <a:tcPr>
                    <a:solidFill>
                      <a:srgbClr val="F2F2F2"/>
                    </a:solidFill>
                  </a:tcPr>
                </a:tc>
              </a:tr>
              <a:tr h="457200">
                <a:tc>
                  <a:txBody>
                    <a:bodyPr wrap="square"/>
                    <a:lstStyle/>
                    <a:p>
                      <a:pPr algn="l"/>
                      <a:r>
                        <a:rPr sz="1150" b="0">
                          <a:solidFill>
                            <a:srgbClr val="595959"/>
                          </a:solidFill>
                        </a:rPr>
                        <a:t>Retirer les marques d'entrée</a:t>
                      </a:r>
                    </a:p>
                  </a:txBody>
                  <a:tcPr>
                    <a:solidFill>
                      <a:srgbClr val="FFFFFF"/>
                    </a:solidFill>
                  </a:tcPr>
                </a:tc>
                <a:tc>
                  <a:txBody>
                    <a:bodyPr wrap="square"/>
                    <a:lstStyle/>
                    <a:p>
                      <a:pPr algn="l"/>
                      <a:r>
                        <a:rPr sz="1150" b="0">
                          <a:solidFill>
                            <a:srgbClr val="595959"/>
                          </a:solidFill>
                        </a:rPr>
                        <a:t>Afficher les marques (Ctrl+Maj+8), sélectionner le champ XE et le supprimer</a:t>
                      </a:r>
                    </a:p>
                  </a:txBody>
                  <a:tcPr>
                    <a:solidFill>
                      <a:srgbClr val="FFFFFF"/>
                    </a:solidFill>
                  </a:tcPr>
                </a:tc>
              </a:tr>
              <a:tr h="457200">
                <a:tc>
                  <a:txBody>
                    <a:bodyPr wrap="square"/>
                    <a:lstStyle/>
                    <a:p>
                      <a:pPr algn="l"/>
                      <a:r>
                        <a:rPr sz="1150" b="0">
                          <a:solidFill>
                            <a:srgbClr val="595959"/>
                          </a:solidFill>
                        </a:rPr>
                        <a:t>Mettre à jour après suppression</a:t>
                      </a:r>
                    </a:p>
                  </a:txBody>
                  <a:tcPr>
                    <a:solidFill>
                      <a:srgbClr val="F2F2F2"/>
                    </a:solidFill>
                  </a:tcPr>
                </a:tc>
                <a:tc>
                  <a:txBody>
                    <a:bodyPr wrap="square"/>
                    <a:lstStyle/>
                    <a:p>
                      <a:pPr algn="l"/>
                      <a:r>
                        <a:rPr sz="1150" b="0">
                          <a:solidFill>
                            <a:srgbClr val="595959"/>
                          </a:solidFill>
                        </a:rPr>
                        <a:t>Clic droit sur l'index restant &gt; Mettre à jour le champ</a:t>
                      </a:r>
                    </a:p>
                  </a:txBody>
                  <a:tcPr>
                    <a:solidFill>
                      <a:srgbClr val="F2F2F2"/>
                    </a:solidFill>
                  </a:tcPr>
                </a:tc>
              </a:tr>
            </a:tbl>
          </a:graphicData>
        </a:graphic>
      </p:graphicFrame>
      <p:sp>
        <p:nvSpPr>
          <p:cNvPr id="12" name="Rectangle 11"/>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Cas pratiques</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Trois situations vécues en atelier</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737360"/>
            <a:ext cx="3694176" cy="4709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737360"/>
            <a:ext cx="3694176" cy="45720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 y="1783080"/>
            <a:ext cx="3438144" cy="365760"/>
          </a:xfrm>
          <a:prstGeom prst="rect">
            <a:avLst/>
          </a:prstGeom>
          <a:noFill/>
        </p:spPr>
        <p:txBody>
          <a:bodyPr wrap="square">
            <a:spAutoFit/>
          </a:bodyPr>
          <a:lstStyle/>
          <a:p>
            <a:pPr algn="l"/>
            <a:r>
              <a:rPr sz="1250" b="1" i="0">
                <a:solidFill>
                  <a:srgbClr val="FFFFFF"/>
                </a:solidFill>
              </a:rPr>
              <a:t>Cas 1 — Simon</a:t>
            </a:r>
          </a:p>
        </p:txBody>
      </p:sp>
      <p:sp>
        <p:nvSpPr>
          <p:cNvPr id="14" name="TextBox 13"/>
          <p:cNvSpPr txBox="1"/>
          <p:nvPr/>
        </p:nvSpPr>
        <p:spPr>
          <a:xfrm>
            <a:off x="493776" y="2286000"/>
            <a:ext cx="3438144" cy="502920"/>
          </a:xfrm>
          <a:prstGeom prst="rect">
            <a:avLst/>
          </a:prstGeom>
          <a:noFill/>
        </p:spPr>
        <p:txBody>
          <a:bodyPr wrap="square">
            <a:spAutoFit/>
          </a:bodyPr>
          <a:lstStyle/>
          <a:p>
            <a:pPr algn="l"/>
            <a:r>
              <a:rPr sz="1150" b="1" i="0">
                <a:solidFill>
                  <a:srgbClr val="2D7A1F"/>
                </a:solidFill>
              </a:rPr>
              <a:t>Doit remplacer le nom d'une ancienne entreprise par le nouveau nom partout dans un contrat de 15 pages.</a:t>
            </a:r>
          </a:p>
        </p:txBody>
      </p:sp>
      <p:sp>
        <p:nvSpPr>
          <p:cNvPr id="15" name="TextBox 14"/>
          <p:cNvSpPr txBox="1"/>
          <p:nvPr/>
        </p:nvSpPr>
        <p:spPr>
          <a:xfrm>
            <a:off x="493776" y="2880360"/>
            <a:ext cx="3438144" cy="502920"/>
          </a:xfrm>
          <a:prstGeom prst="rect">
            <a:avLst/>
          </a:prstGeom>
          <a:noFill/>
        </p:spPr>
        <p:txBody>
          <a:bodyPr wrap="square">
            <a:spAutoFit/>
          </a:bodyPr>
          <a:lstStyle/>
          <a:p>
            <a:pPr algn="l"/>
            <a:r>
              <a:rPr sz="1080" b="0" i="0">
                <a:solidFill>
                  <a:srgbClr val="595959"/>
                </a:solidFill>
              </a:rPr>
              <a:t>• Quelle commande évite de le faire manuellement ?</a:t>
            </a:r>
          </a:p>
        </p:txBody>
      </p:sp>
      <p:sp>
        <p:nvSpPr>
          <p:cNvPr id="16" name="TextBox 15"/>
          <p:cNvSpPr txBox="1"/>
          <p:nvPr/>
        </p:nvSpPr>
        <p:spPr>
          <a:xfrm>
            <a:off x="493776" y="3410712"/>
            <a:ext cx="3438144" cy="502920"/>
          </a:xfrm>
          <a:prstGeom prst="rect">
            <a:avLst/>
          </a:prstGeom>
          <a:noFill/>
        </p:spPr>
        <p:txBody>
          <a:bodyPr wrap="square">
            <a:spAutoFit/>
          </a:bodyPr>
          <a:lstStyle/>
          <a:p>
            <a:pPr algn="l"/>
            <a:r>
              <a:rPr sz="1080" b="0" i="0">
                <a:solidFill>
                  <a:srgbClr val="595959"/>
                </a:solidFill>
              </a:rPr>
              <a:t>• Comment être sûr de ne rien manquer ?</a:t>
            </a:r>
          </a:p>
        </p:txBody>
      </p:sp>
      <p:sp>
        <p:nvSpPr>
          <p:cNvPr id="17" name="Rectangle 16"/>
          <p:cNvSpPr/>
          <p:nvPr/>
        </p:nvSpPr>
        <p:spPr>
          <a:xfrm>
            <a:off x="502920" y="5989320"/>
            <a:ext cx="3429000" cy="36576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6035040"/>
            <a:ext cx="3246120" cy="310896"/>
          </a:xfrm>
          <a:prstGeom prst="rect">
            <a:avLst/>
          </a:prstGeom>
          <a:noFill/>
        </p:spPr>
        <p:txBody>
          <a:bodyPr wrap="square">
            <a:spAutoFit/>
          </a:bodyPr>
          <a:lstStyle/>
          <a:p>
            <a:pPr algn="ctr"/>
            <a:r>
              <a:rPr sz="950" b="1" i="0">
                <a:solidFill>
                  <a:srgbClr val="FFFFFF"/>
                </a:solidFill>
              </a:rPr>
              <a:t>Piste : Ctrl+H, Remplacer tout, puis vérifier le nombre de remplacements effectués.</a:t>
            </a:r>
          </a:p>
        </p:txBody>
      </p:sp>
      <p:sp>
        <p:nvSpPr>
          <p:cNvPr id="19" name="Rectangle 18"/>
          <p:cNvSpPr/>
          <p:nvPr/>
        </p:nvSpPr>
        <p:spPr>
          <a:xfrm>
            <a:off x="4261104" y="1737360"/>
            <a:ext cx="3694176" cy="4709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61104" y="1737360"/>
            <a:ext cx="3694176" cy="45720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0" y="1783080"/>
            <a:ext cx="3438144" cy="365760"/>
          </a:xfrm>
          <a:prstGeom prst="rect">
            <a:avLst/>
          </a:prstGeom>
          <a:noFill/>
        </p:spPr>
        <p:txBody>
          <a:bodyPr wrap="square">
            <a:spAutoFit/>
          </a:bodyPr>
          <a:lstStyle/>
          <a:p>
            <a:pPr algn="l"/>
            <a:r>
              <a:rPr sz="1250" b="1" i="0">
                <a:solidFill>
                  <a:srgbClr val="FFFFFF"/>
                </a:solidFill>
              </a:rPr>
              <a:t>Cas 2 — Sophie</a:t>
            </a:r>
          </a:p>
        </p:txBody>
      </p:sp>
      <p:sp>
        <p:nvSpPr>
          <p:cNvPr id="22" name="TextBox 21"/>
          <p:cNvSpPr txBox="1"/>
          <p:nvPr/>
        </p:nvSpPr>
        <p:spPr>
          <a:xfrm>
            <a:off x="4389120" y="2286000"/>
            <a:ext cx="3438144" cy="502920"/>
          </a:xfrm>
          <a:prstGeom prst="rect">
            <a:avLst/>
          </a:prstGeom>
          <a:noFill/>
        </p:spPr>
        <p:txBody>
          <a:bodyPr wrap="square">
            <a:spAutoFit/>
          </a:bodyPr>
          <a:lstStyle/>
          <a:p>
            <a:pPr algn="l"/>
            <a:r>
              <a:rPr sz="1150" b="1" i="0">
                <a:solidFill>
                  <a:srgbClr val="1A3560"/>
                </a:solidFill>
              </a:rPr>
              <a:t>Doit imprimer 30 étiquettes d'adresses identiques pour un envoi postal.</a:t>
            </a:r>
          </a:p>
        </p:txBody>
      </p:sp>
      <p:sp>
        <p:nvSpPr>
          <p:cNvPr id="23" name="TextBox 22"/>
          <p:cNvSpPr txBox="1"/>
          <p:nvPr/>
        </p:nvSpPr>
        <p:spPr>
          <a:xfrm>
            <a:off x="4389120" y="2880360"/>
            <a:ext cx="3438144" cy="502920"/>
          </a:xfrm>
          <a:prstGeom prst="rect">
            <a:avLst/>
          </a:prstGeom>
          <a:noFill/>
        </p:spPr>
        <p:txBody>
          <a:bodyPr wrap="square">
            <a:spAutoFit/>
          </a:bodyPr>
          <a:lstStyle/>
          <a:p>
            <a:pPr algn="l"/>
            <a:r>
              <a:rPr sz="1080" b="0" i="0">
                <a:solidFill>
                  <a:srgbClr val="595959"/>
                </a:solidFill>
              </a:rPr>
              <a:t>• Quel outil génère une planche entière d'étiquettes ?</a:t>
            </a:r>
          </a:p>
        </p:txBody>
      </p:sp>
      <p:sp>
        <p:nvSpPr>
          <p:cNvPr id="24" name="TextBox 23"/>
          <p:cNvSpPr txBox="1"/>
          <p:nvPr/>
        </p:nvSpPr>
        <p:spPr>
          <a:xfrm>
            <a:off x="4389120" y="3410712"/>
            <a:ext cx="3438144" cy="502920"/>
          </a:xfrm>
          <a:prstGeom prst="rect">
            <a:avLst/>
          </a:prstGeom>
          <a:noFill/>
        </p:spPr>
        <p:txBody>
          <a:bodyPr wrap="square">
            <a:spAutoFit/>
          </a:bodyPr>
          <a:lstStyle/>
          <a:p>
            <a:pPr algn="l"/>
            <a:r>
              <a:rPr sz="1080" b="0" i="0">
                <a:solidFill>
                  <a:srgbClr val="595959"/>
                </a:solidFill>
              </a:rPr>
              <a:t>• Où choisir le format de l'étiquette ?</a:t>
            </a:r>
          </a:p>
        </p:txBody>
      </p:sp>
      <p:sp>
        <p:nvSpPr>
          <p:cNvPr id="25" name="Rectangle 24"/>
          <p:cNvSpPr/>
          <p:nvPr/>
        </p:nvSpPr>
        <p:spPr>
          <a:xfrm>
            <a:off x="4398264" y="5989320"/>
            <a:ext cx="3429000" cy="3657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6035040"/>
            <a:ext cx="3246120" cy="310896"/>
          </a:xfrm>
          <a:prstGeom prst="rect">
            <a:avLst/>
          </a:prstGeom>
          <a:noFill/>
        </p:spPr>
        <p:txBody>
          <a:bodyPr wrap="square">
            <a:spAutoFit/>
          </a:bodyPr>
          <a:lstStyle/>
          <a:p>
            <a:pPr algn="ctr"/>
            <a:r>
              <a:rPr sz="950" b="1" i="0">
                <a:solidFill>
                  <a:srgbClr val="FFFFFF"/>
                </a:solidFill>
              </a:rPr>
              <a:t>Piste : Publipostage &gt; Étiquettes &gt; choisir la référence du format (ex. Avery 5160).</a:t>
            </a:r>
          </a:p>
        </p:txBody>
      </p:sp>
      <p:sp>
        <p:nvSpPr>
          <p:cNvPr id="27" name="Rectangle 26"/>
          <p:cNvSpPr/>
          <p:nvPr/>
        </p:nvSpPr>
        <p:spPr>
          <a:xfrm>
            <a:off x="8156448" y="1737360"/>
            <a:ext cx="3694176" cy="47091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56448" y="1737360"/>
            <a:ext cx="3694176" cy="45720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84464" y="1783080"/>
            <a:ext cx="3438144" cy="365760"/>
          </a:xfrm>
          <a:prstGeom prst="rect">
            <a:avLst/>
          </a:prstGeom>
          <a:noFill/>
        </p:spPr>
        <p:txBody>
          <a:bodyPr wrap="square">
            <a:spAutoFit/>
          </a:bodyPr>
          <a:lstStyle/>
          <a:p>
            <a:pPr algn="l"/>
            <a:r>
              <a:rPr sz="1250" b="1" i="0">
                <a:solidFill>
                  <a:srgbClr val="FFFFFF"/>
                </a:solidFill>
              </a:rPr>
              <a:t>Cas 3 — André</a:t>
            </a:r>
          </a:p>
        </p:txBody>
      </p:sp>
      <p:sp>
        <p:nvSpPr>
          <p:cNvPr id="30" name="TextBox 29"/>
          <p:cNvSpPr txBox="1"/>
          <p:nvPr/>
        </p:nvSpPr>
        <p:spPr>
          <a:xfrm>
            <a:off x="8284464" y="2286000"/>
            <a:ext cx="3438144" cy="502920"/>
          </a:xfrm>
          <a:prstGeom prst="rect">
            <a:avLst/>
          </a:prstGeom>
          <a:noFill/>
        </p:spPr>
        <p:txBody>
          <a:bodyPr wrap="square">
            <a:spAutoFit/>
          </a:bodyPr>
          <a:lstStyle/>
          <a:p>
            <a:pPr algn="l"/>
            <a:r>
              <a:rPr sz="1150" b="1" i="0">
                <a:solidFill>
                  <a:srgbClr val="2D7A1F"/>
                </a:solidFill>
              </a:rPr>
              <a:t>Rédige un long guide et veut permettre au lecteur de retrouver un terme précis à la fin du document.</a:t>
            </a:r>
          </a:p>
        </p:txBody>
      </p:sp>
      <p:sp>
        <p:nvSpPr>
          <p:cNvPr id="31" name="TextBox 30"/>
          <p:cNvSpPr txBox="1"/>
          <p:nvPr/>
        </p:nvSpPr>
        <p:spPr>
          <a:xfrm>
            <a:off x="8284464" y="2880360"/>
            <a:ext cx="3438144" cy="502920"/>
          </a:xfrm>
          <a:prstGeom prst="rect">
            <a:avLst/>
          </a:prstGeom>
          <a:noFill/>
        </p:spPr>
        <p:txBody>
          <a:bodyPr wrap="square">
            <a:spAutoFit/>
          </a:bodyPr>
          <a:lstStyle/>
          <a:p>
            <a:pPr algn="l"/>
            <a:r>
              <a:rPr sz="1080" b="0" i="0">
                <a:solidFill>
                  <a:srgbClr val="595959"/>
                </a:solidFill>
              </a:rPr>
              <a:t>• Quel outil Word sert à cela, différent de la table des matières ?</a:t>
            </a:r>
          </a:p>
        </p:txBody>
      </p:sp>
      <p:sp>
        <p:nvSpPr>
          <p:cNvPr id="32" name="TextBox 31"/>
          <p:cNvSpPr txBox="1"/>
          <p:nvPr/>
        </p:nvSpPr>
        <p:spPr>
          <a:xfrm>
            <a:off x="8284464" y="3410712"/>
            <a:ext cx="3438144" cy="502920"/>
          </a:xfrm>
          <a:prstGeom prst="rect">
            <a:avLst/>
          </a:prstGeom>
          <a:noFill/>
        </p:spPr>
        <p:txBody>
          <a:bodyPr wrap="square">
            <a:spAutoFit/>
          </a:bodyPr>
          <a:lstStyle/>
          <a:p>
            <a:pPr algn="l"/>
            <a:r>
              <a:rPr sz="1080" b="0" i="0">
                <a:solidFill>
                  <a:srgbClr val="595959"/>
                </a:solidFill>
              </a:rPr>
              <a:t>• Comment ajouter un terme à la liste ?</a:t>
            </a:r>
          </a:p>
        </p:txBody>
      </p:sp>
      <p:sp>
        <p:nvSpPr>
          <p:cNvPr id="33" name="Rectangle 32"/>
          <p:cNvSpPr/>
          <p:nvPr/>
        </p:nvSpPr>
        <p:spPr>
          <a:xfrm>
            <a:off x="8293608" y="5989320"/>
            <a:ext cx="3429000" cy="36576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5048" y="6035040"/>
            <a:ext cx="3246120" cy="310896"/>
          </a:xfrm>
          <a:prstGeom prst="rect">
            <a:avLst/>
          </a:prstGeom>
          <a:noFill/>
        </p:spPr>
        <p:txBody>
          <a:bodyPr wrap="square">
            <a:spAutoFit/>
          </a:bodyPr>
          <a:lstStyle/>
          <a:p>
            <a:pPr algn="ctr"/>
            <a:r>
              <a:rPr sz="950" b="1" i="0">
                <a:solidFill>
                  <a:srgbClr val="FFFFFF"/>
                </a:solidFill>
              </a:rPr>
              <a:t>Piste : Créer un index : marquer chaque entrée avec Alt+Maj+X, puis insérer l'index en fin de document.</a:t>
            </a:r>
          </a:p>
        </p:txBody>
      </p:sp>
      <p:sp>
        <p:nvSpPr>
          <p:cNvPr id="35" name="Rectangle 34"/>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Modèles et styles de lettres</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Word propose plusieurs formats de lettres professionnelles prêts à l'emploi</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783080"/>
            <a:ext cx="2738628" cy="4297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83080"/>
            <a:ext cx="2738628" cy="5029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847088"/>
            <a:ext cx="2464308" cy="384048"/>
          </a:xfrm>
          <a:prstGeom prst="rect">
            <a:avLst/>
          </a:prstGeom>
          <a:noFill/>
        </p:spPr>
        <p:txBody>
          <a:bodyPr wrap="square">
            <a:spAutoFit/>
          </a:bodyPr>
          <a:lstStyle/>
          <a:p>
            <a:pPr algn="ctr"/>
            <a:r>
              <a:rPr sz="1300" b="1" i="0">
                <a:solidFill>
                  <a:srgbClr val="FFFFFF"/>
                </a:solidFill>
              </a:rPr>
              <a:t>Lettre bloc</a:t>
            </a:r>
          </a:p>
        </p:txBody>
      </p:sp>
      <p:sp>
        <p:nvSpPr>
          <p:cNvPr id="14" name="TextBox 13"/>
          <p:cNvSpPr txBox="1"/>
          <p:nvPr/>
        </p:nvSpPr>
        <p:spPr>
          <a:xfrm>
            <a:off x="576072" y="2468880"/>
            <a:ext cx="2409444" cy="3474720"/>
          </a:xfrm>
          <a:prstGeom prst="rect">
            <a:avLst/>
          </a:prstGeom>
          <a:noFill/>
        </p:spPr>
        <p:txBody>
          <a:bodyPr wrap="square">
            <a:spAutoFit/>
          </a:bodyPr>
          <a:lstStyle/>
          <a:p>
            <a:pPr algn="l"/>
            <a:r>
              <a:rPr sz="1150" b="0" i="0">
                <a:solidFill>
                  <a:srgbClr val="595959"/>
                </a:solidFill>
              </a:rPr>
              <a:t>Tous les éléments alignés à gauche, style nord-américain courant.</a:t>
            </a:r>
          </a:p>
        </p:txBody>
      </p:sp>
      <p:sp>
        <p:nvSpPr>
          <p:cNvPr id="15" name="Rectangle 14"/>
          <p:cNvSpPr/>
          <p:nvPr/>
        </p:nvSpPr>
        <p:spPr>
          <a:xfrm>
            <a:off x="3287268" y="1783080"/>
            <a:ext cx="2738628" cy="4297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87268" y="1783080"/>
            <a:ext cx="2738628" cy="50292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24428" y="1847088"/>
            <a:ext cx="2464308" cy="384048"/>
          </a:xfrm>
          <a:prstGeom prst="rect">
            <a:avLst/>
          </a:prstGeom>
          <a:noFill/>
        </p:spPr>
        <p:txBody>
          <a:bodyPr wrap="square">
            <a:spAutoFit/>
          </a:bodyPr>
          <a:lstStyle/>
          <a:p>
            <a:pPr algn="ctr"/>
            <a:r>
              <a:rPr sz="1300" b="1" i="0">
                <a:solidFill>
                  <a:srgbClr val="FFFFFF"/>
                </a:solidFill>
              </a:rPr>
              <a:t>Lettre semi-bloc</a:t>
            </a:r>
          </a:p>
        </p:txBody>
      </p:sp>
      <p:sp>
        <p:nvSpPr>
          <p:cNvPr id="18" name="TextBox 17"/>
          <p:cNvSpPr txBox="1"/>
          <p:nvPr/>
        </p:nvSpPr>
        <p:spPr>
          <a:xfrm>
            <a:off x="3451860" y="2468880"/>
            <a:ext cx="2409444" cy="3474720"/>
          </a:xfrm>
          <a:prstGeom prst="rect">
            <a:avLst/>
          </a:prstGeom>
          <a:noFill/>
        </p:spPr>
        <p:txBody>
          <a:bodyPr wrap="square">
            <a:spAutoFit/>
          </a:bodyPr>
          <a:lstStyle/>
          <a:p>
            <a:pPr algn="l"/>
            <a:r>
              <a:rPr sz="1150" b="0" i="0">
                <a:solidFill>
                  <a:srgbClr val="595959"/>
                </a:solidFill>
              </a:rPr>
              <a:t>Date et signature alignées à droite, corps aligné à gauche.</a:t>
            </a:r>
          </a:p>
        </p:txBody>
      </p:sp>
      <p:sp>
        <p:nvSpPr>
          <p:cNvPr id="19" name="Rectangle 18"/>
          <p:cNvSpPr/>
          <p:nvPr/>
        </p:nvSpPr>
        <p:spPr>
          <a:xfrm>
            <a:off x="6163056" y="1783080"/>
            <a:ext cx="2738628" cy="4297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3056" y="1783080"/>
            <a:ext cx="2738628" cy="5029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0216" y="1847088"/>
            <a:ext cx="2464308" cy="384048"/>
          </a:xfrm>
          <a:prstGeom prst="rect">
            <a:avLst/>
          </a:prstGeom>
          <a:noFill/>
        </p:spPr>
        <p:txBody>
          <a:bodyPr wrap="square">
            <a:spAutoFit/>
          </a:bodyPr>
          <a:lstStyle/>
          <a:p>
            <a:pPr algn="ctr"/>
            <a:r>
              <a:rPr sz="1300" b="1" i="0">
                <a:solidFill>
                  <a:srgbClr val="FFFFFF"/>
                </a:solidFill>
              </a:rPr>
              <a:t>Lettre officielle</a:t>
            </a:r>
          </a:p>
        </p:txBody>
      </p:sp>
      <p:sp>
        <p:nvSpPr>
          <p:cNvPr id="22" name="TextBox 21"/>
          <p:cNvSpPr txBox="1"/>
          <p:nvPr/>
        </p:nvSpPr>
        <p:spPr>
          <a:xfrm>
            <a:off x="6327648" y="2468880"/>
            <a:ext cx="2409444" cy="3474720"/>
          </a:xfrm>
          <a:prstGeom prst="rect">
            <a:avLst/>
          </a:prstGeom>
          <a:noFill/>
        </p:spPr>
        <p:txBody>
          <a:bodyPr wrap="square">
            <a:spAutoFit/>
          </a:bodyPr>
          <a:lstStyle/>
          <a:p>
            <a:pPr algn="l"/>
            <a:r>
              <a:rPr sz="1150" b="0" i="0">
                <a:solidFill>
                  <a:srgbClr val="595959"/>
                </a:solidFill>
              </a:rPr>
              <a:t>Mise en page formelle avec en-tête institutionnel.</a:t>
            </a:r>
          </a:p>
        </p:txBody>
      </p:sp>
      <p:sp>
        <p:nvSpPr>
          <p:cNvPr id="23" name="Rectangle 22"/>
          <p:cNvSpPr/>
          <p:nvPr/>
        </p:nvSpPr>
        <p:spPr>
          <a:xfrm>
            <a:off x="9038844" y="1783080"/>
            <a:ext cx="2738628" cy="4297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38844" y="1783080"/>
            <a:ext cx="2738628" cy="50292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76004" y="1847088"/>
            <a:ext cx="2464308" cy="384048"/>
          </a:xfrm>
          <a:prstGeom prst="rect">
            <a:avLst/>
          </a:prstGeom>
          <a:noFill/>
        </p:spPr>
        <p:txBody>
          <a:bodyPr wrap="square">
            <a:spAutoFit/>
          </a:bodyPr>
          <a:lstStyle/>
          <a:p>
            <a:pPr algn="ctr"/>
            <a:r>
              <a:rPr sz="1300" b="1" i="0">
                <a:solidFill>
                  <a:srgbClr val="FFFFFF"/>
                </a:solidFill>
              </a:rPr>
              <a:t>Modèle Word intégré</a:t>
            </a:r>
          </a:p>
        </p:txBody>
      </p:sp>
      <p:sp>
        <p:nvSpPr>
          <p:cNvPr id="26" name="TextBox 25"/>
          <p:cNvSpPr txBox="1"/>
          <p:nvPr/>
        </p:nvSpPr>
        <p:spPr>
          <a:xfrm>
            <a:off x="9203436" y="2468880"/>
            <a:ext cx="2409444" cy="3474720"/>
          </a:xfrm>
          <a:prstGeom prst="rect">
            <a:avLst/>
          </a:prstGeom>
          <a:noFill/>
        </p:spPr>
        <p:txBody>
          <a:bodyPr wrap="square">
            <a:spAutoFit/>
          </a:bodyPr>
          <a:lstStyle/>
          <a:p>
            <a:pPr algn="l"/>
            <a:r>
              <a:rPr sz="1150" b="0" i="0">
                <a:solidFill>
                  <a:srgbClr val="595959"/>
                </a:solidFill>
              </a:rPr>
              <a:t>Fichier &gt; Nouveau &gt; rechercher « lettre » dans les modèles en ligne.</a:t>
            </a:r>
          </a:p>
        </p:txBody>
      </p:sp>
      <p:sp>
        <p:nvSpPr>
          <p:cNvPr id="27" name="Rectangle 26"/>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Bonnes pratiques publipostage et index</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Éviter les erreurs les plus fréquentes</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457200" y="1783080"/>
          <a:ext cx="11064240" cy="2286000"/>
        </p:xfrm>
        <a:graphic>
          <a:graphicData uri="http://schemas.openxmlformats.org/drawingml/2006/table">
            <a:tbl>
              <a:tblPr firstRow="1" bandRow="1">
                <a:tableStyleId>{5C22544A-7EE6-4342-B048-85BDC9FD1C3A}</a:tableStyleId>
              </a:tblPr>
              <a:tblGrid>
                <a:gridCol w="4206240"/>
                <a:gridCol w="6858000"/>
              </a:tblGrid>
              <a:tr h="457200">
                <a:tc>
                  <a:txBody>
                    <a:bodyPr wrap="square"/>
                    <a:lstStyle/>
                    <a:p>
                      <a:pPr algn="l"/>
                      <a:r>
                        <a:rPr sz="1200" b="1">
                          <a:solidFill>
                            <a:srgbClr val="FFFFFF"/>
                          </a:solidFill>
                        </a:rPr>
                        <a:t>Bonne pratique</a:t>
                      </a:r>
                    </a:p>
                  </a:txBody>
                  <a:tcPr>
                    <a:solidFill>
                      <a:srgbClr val="2D7A1F"/>
                    </a:solidFill>
                  </a:tcPr>
                </a:tc>
                <a:tc>
                  <a:txBody>
                    <a:bodyPr wrap="square"/>
                    <a:lstStyle/>
                    <a:p>
                      <a:pPr algn="l"/>
                      <a:r>
                        <a:rPr sz="1200" b="1">
                          <a:solidFill>
                            <a:srgbClr val="FFFFFF"/>
                          </a:solidFill>
                        </a:rPr>
                        <a:t>Pourquoi</a:t>
                      </a:r>
                    </a:p>
                  </a:txBody>
                  <a:tcPr>
                    <a:solidFill>
                      <a:srgbClr val="2D7A1F"/>
                    </a:solidFill>
                  </a:tcPr>
                </a:tc>
              </a:tr>
              <a:tr h="457200">
                <a:tc>
                  <a:txBody>
                    <a:bodyPr wrap="square"/>
                    <a:lstStyle/>
                    <a:p>
                      <a:pPr algn="l"/>
                      <a:r>
                        <a:rPr sz="1150" b="0">
                          <a:solidFill>
                            <a:srgbClr val="595959"/>
                          </a:solidFill>
                        </a:rPr>
                        <a:t>Tester une étiquette avant d'imprimer toute la planche</a:t>
                      </a:r>
                    </a:p>
                  </a:txBody>
                  <a:tcPr>
                    <a:solidFill>
                      <a:srgbClr val="F2F2F2"/>
                    </a:solidFill>
                  </a:tcPr>
                </a:tc>
                <a:tc>
                  <a:txBody>
                    <a:bodyPr wrap="square"/>
                    <a:lstStyle/>
                    <a:p>
                      <a:pPr algn="l"/>
                      <a:r>
                        <a:rPr sz="1150" b="0">
                          <a:solidFill>
                            <a:srgbClr val="595959"/>
                          </a:solidFill>
                        </a:rPr>
                        <a:t>Évite de gaspiller une planche entière d'étiquettes physiques</a:t>
                      </a:r>
                    </a:p>
                  </a:txBody>
                  <a:tcPr>
                    <a:solidFill>
                      <a:srgbClr val="F2F2F2"/>
                    </a:solidFill>
                  </a:tcPr>
                </a:tc>
              </a:tr>
              <a:tr h="457200">
                <a:tc>
                  <a:txBody>
                    <a:bodyPr wrap="square"/>
                    <a:lstStyle/>
                    <a:p>
                      <a:pPr algn="l"/>
                      <a:r>
                        <a:rPr sz="1150" b="0">
                          <a:solidFill>
                            <a:srgbClr val="595959"/>
                          </a:solidFill>
                        </a:rPr>
                        <a:t>Vérifier la référence exacte du gabarit d'étiquette</a:t>
                      </a:r>
                    </a:p>
                  </a:txBody>
                  <a:tcPr>
                    <a:solidFill>
                      <a:srgbClr val="FFFFFF"/>
                    </a:solidFill>
                  </a:tcPr>
                </a:tc>
                <a:tc>
                  <a:txBody>
                    <a:bodyPr wrap="square"/>
                    <a:lstStyle/>
                    <a:p>
                      <a:pPr algn="l"/>
                      <a:r>
                        <a:rPr sz="1150" b="0">
                          <a:solidFill>
                            <a:srgbClr val="595959"/>
                          </a:solidFill>
                        </a:rPr>
                        <a:t>Un mauvais gabarit décale tout le contenu à l'impression</a:t>
                      </a:r>
                    </a:p>
                  </a:txBody>
                  <a:tcPr>
                    <a:solidFill>
                      <a:srgbClr val="FFFFFF"/>
                    </a:solidFill>
                  </a:tcPr>
                </a:tc>
              </a:tr>
              <a:tr h="457200">
                <a:tc>
                  <a:txBody>
                    <a:bodyPr wrap="square"/>
                    <a:lstStyle/>
                    <a:p>
                      <a:pPr algn="l"/>
                      <a:r>
                        <a:rPr sz="1150" b="0">
                          <a:solidFill>
                            <a:srgbClr val="595959"/>
                          </a:solidFill>
                        </a:rPr>
                        <a:t>Marquer les entrées d'index au fur et à mesure de la rédaction</a:t>
                      </a:r>
                    </a:p>
                  </a:txBody>
                  <a:tcPr>
                    <a:solidFill>
                      <a:srgbClr val="F2F2F2"/>
                    </a:solidFill>
                  </a:tcPr>
                </a:tc>
                <a:tc>
                  <a:txBody>
                    <a:bodyPr wrap="square"/>
                    <a:lstStyle/>
                    <a:p>
                      <a:pPr algn="l"/>
                      <a:r>
                        <a:rPr sz="1150" b="0">
                          <a:solidFill>
                            <a:srgbClr val="595959"/>
                          </a:solidFill>
                        </a:rPr>
                        <a:t>Évite d'avoir à tout relire à la fin pour les repérer</a:t>
                      </a:r>
                    </a:p>
                  </a:txBody>
                  <a:tcPr>
                    <a:solidFill>
                      <a:srgbClr val="F2F2F2"/>
                    </a:solidFill>
                  </a:tcPr>
                </a:tc>
              </a:tr>
              <a:tr h="457200">
                <a:tc>
                  <a:txBody>
                    <a:bodyPr wrap="square"/>
                    <a:lstStyle/>
                    <a:p>
                      <a:pPr algn="l"/>
                      <a:r>
                        <a:rPr sz="1150" b="0">
                          <a:solidFill>
                            <a:srgbClr val="595959"/>
                          </a:solidFill>
                        </a:rPr>
                        <a:t>Toujours prévisualiser une fusion avant l'impression finale</a:t>
                      </a:r>
                    </a:p>
                  </a:txBody>
                  <a:tcPr>
                    <a:solidFill>
                      <a:srgbClr val="FFFFFF"/>
                    </a:solidFill>
                  </a:tcPr>
                </a:tc>
                <a:tc>
                  <a:txBody>
                    <a:bodyPr wrap="square"/>
                    <a:lstStyle/>
                    <a:p>
                      <a:pPr algn="l"/>
                      <a:r>
                        <a:rPr sz="1150" b="0">
                          <a:solidFill>
                            <a:srgbClr val="595959"/>
                          </a:solidFill>
                        </a:rPr>
                        <a:t>Détecte les erreurs de données avant l'envoi</a:t>
                      </a:r>
                    </a:p>
                  </a:txBody>
                  <a:tcPr>
                    <a:solidFill>
                      <a:srgbClr val="FFFFFF"/>
                    </a:solidFill>
                  </a:tcPr>
                </a:tc>
              </a:tr>
            </a:tbl>
          </a:graphicData>
        </a:graphic>
      </p:graphicFrame>
      <p:sp>
        <p:nvSpPr>
          <p:cNvPr id="12" name="Rectangle 11"/>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Rectangle 7"/>
          <p:cNvSpPr/>
          <p:nvPr/>
        </p:nvSpPr>
        <p:spPr>
          <a:xfrm>
            <a:off x="0" y="594360"/>
            <a:ext cx="12188952" cy="626364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777240"/>
            <a:ext cx="11274552" cy="457200"/>
          </a:xfrm>
          <a:prstGeom prst="rect">
            <a:avLst/>
          </a:prstGeom>
          <a:noFill/>
        </p:spPr>
        <p:txBody>
          <a:bodyPr wrap="square">
            <a:spAutoFit/>
          </a:bodyPr>
          <a:lstStyle/>
          <a:p>
            <a:pPr algn="l"/>
            <a:r>
              <a:rPr sz="2200" b="1" i="0">
                <a:solidFill>
                  <a:srgbClr val="FFFFFF"/>
                </a:solidFill>
              </a:rPr>
              <a:t>Vocabulaire clé de la séance</a:t>
            </a:r>
          </a:p>
        </p:txBody>
      </p:sp>
      <p:sp>
        <p:nvSpPr>
          <p:cNvPr id="10" name="Rectangle 9"/>
          <p:cNvSpPr/>
          <p:nvPr/>
        </p:nvSpPr>
        <p:spPr>
          <a:xfrm>
            <a:off x="457200" y="12344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508760"/>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508760"/>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554480"/>
            <a:ext cx="3291840" cy="256032"/>
          </a:xfrm>
          <a:prstGeom prst="rect">
            <a:avLst/>
          </a:prstGeom>
          <a:noFill/>
        </p:spPr>
        <p:txBody>
          <a:bodyPr wrap="square">
            <a:spAutoFit/>
          </a:bodyPr>
          <a:lstStyle/>
          <a:p>
            <a:pPr algn="l"/>
            <a:r>
              <a:rPr sz="1250" b="1" i="0">
                <a:solidFill>
                  <a:srgbClr val="2D7A1F"/>
                </a:solidFill>
              </a:rPr>
              <a:t>Rechercher et remplacer</a:t>
            </a:r>
          </a:p>
        </p:txBody>
      </p:sp>
      <p:sp>
        <p:nvSpPr>
          <p:cNvPr id="14" name="TextBox 13"/>
          <p:cNvSpPr txBox="1"/>
          <p:nvPr/>
        </p:nvSpPr>
        <p:spPr>
          <a:xfrm>
            <a:off x="640080" y="1837943"/>
            <a:ext cx="3246120" cy="365760"/>
          </a:xfrm>
          <a:prstGeom prst="rect">
            <a:avLst/>
          </a:prstGeom>
          <a:noFill/>
        </p:spPr>
        <p:txBody>
          <a:bodyPr wrap="square">
            <a:spAutoFit/>
          </a:bodyPr>
          <a:lstStyle/>
          <a:p>
            <a:pPr algn="l"/>
            <a:r>
              <a:rPr sz="1000" b="0" i="0">
                <a:solidFill>
                  <a:srgbClr val="9999CC"/>
                </a:solidFill>
              </a:rPr>
              <a:t>Outil combiné pour retrouver et corriger un texte</a:t>
            </a:r>
          </a:p>
        </p:txBody>
      </p:sp>
      <p:sp>
        <p:nvSpPr>
          <p:cNvPr id="15" name="Rectangle 14"/>
          <p:cNvSpPr/>
          <p:nvPr/>
        </p:nvSpPr>
        <p:spPr>
          <a:xfrm>
            <a:off x="457200" y="2350008"/>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350008"/>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395727"/>
            <a:ext cx="3291840" cy="256032"/>
          </a:xfrm>
          <a:prstGeom prst="rect">
            <a:avLst/>
          </a:prstGeom>
          <a:noFill/>
        </p:spPr>
        <p:txBody>
          <a:bodyPr wrap="square">
            <a:spAutoFit/>
          </a:bodyPr>
          <a:lstStyle/>
          <a:p>
            <a:pPr algn="l"/>
            <a:r>
              <a:rPr sz="1250" b="1" i="0">
                <a:solidFill>
                  <a:srgbClr val="2D7A1F"/>
                </a:solidFill>
              </a:rPr>
              <a:t>Caractère générique</a:t>
            </a:r>
          </a:p>
        </p:txBody>
      </p:sp>
      <p:sp>
        <p:nvSpPr>
          <p:cNvPr id="18" name="TextBox 17"/>
          <p:cNvSpPr txBox="1"/>
          <p:nvPr/>
        </p:nvSpPr>
        <p:spPr>
          <a:xfrm>
            <a:off x="640080" y="2679191"/>
            <a:ext cx="3246120" cy="365760"/>
          </a:xfrm>
          <a:prstGeom prst="rect">
            <a:avLst/>
          </a:prstGeom>
          <a:noFill/>
        </p:spPr>
        <p:txBody>
          <a:bodyPr wrap="square">
            <a:spAutoFit/>
          </a:bodyPr>
          <a:lstStyle/>
          <a:p>
            <a:pPr algn="l"/>
            <a:r>
              <a:rPr sz="1000" b="0" i="0">
                <a:solidFill>
                  <a:srgbClr val="9999CC"/>
                </a:solidFill>
              </a:rPr>
              <a:t>Symbole représentant un ou plusieurs caractères dans une recherche</a:t>
            </a:r>
          </a:p>
        </p:txBody>
      </p:sp>
      <p:sp>
        <p:nvSpPr>
          <p:cNvPr id="19" name="Rectangle 18"/>
          <p:cNvSpPr/>
          <p:nvPr/>
        </p:nvSpPr>
        <p:spPr>
          <a:xfrm>
            <a:off x="457200" y="3191256"/>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191256"/>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236976"/>
            <a:ext cx="3291840" cy="256032"/>
          </a:xfrm>
          <a:prstGeom prst="rect">
            <a:avLst/>
          </a:prstGeom>
          <a:noFill/>
        </p:spPr>
        <p:txBody>
          <a:bodyPr wrap="square">
            <a:spAutoFit/>
          </a:bodyPr>
          <a:lstStyle/>
          <a:p>
            <a:pPr algn="l"/>
            <a:r>
              <a:rPr sz="1250" b="1" i="0">
                <a:solidFill>
                  <a:srgbClr val="2D7A1F"/>
                </a:solidFill>
              </a:rPr>
              <a:t>Mot entier</a:t>
            </a:r>
          </a:p>
        </p:txBody>
      </p:sp>
      <p:sp>
        <p:nvSpPr>
          <p:cNvPr id="22" name="TextBox 21"/>
          <p:cNvSpPr txBox="1"/>
          <p:nvPr/>
        </p:nvSpPr>
        <p:spPr>
          <a:xfrm>
            <a:off x="640080" y="3520440"/>
            <a:ext cx="3246120" cy="365760"/>
          </a:xfrm>
          <a:prstGeom prst="rect">
            <a:avLst/>
          </a:prstGeom>
          <a:noFill/>
        </p:spPr>
        <p:txBody>
          <a:bodyPr wrap="square">
            <a:spAutoFit/>
          </a:bodyPr>
          <a:lstStyle/>
          <a:p>
            <a:pPr algn="l"/>
            <a:r>
              <a:rPr sz="1000" b="0" i="0">
                <a:solidFill>
                  <a:srgbClr val="9999CC"/>
                </a:solidFill>
              </a:rPr>
              <a:t>Option limitant la recherche aux mots complets</a:t>
            </a:r>
          </a:p>
        </p:txBody>
      </p:sp>
      <p:sp>
        <p:nvSpPr>
          <p:cNvPr id="23" name="Rectangle 22"/>
          <p:cNvSpPr/>
          <p:nvPr/>
        </p:nvSpPr>
        <p:spPr>
          <a:xfrm>
            <a:off x="457200" y="4032504"/>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032504"/>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078224"/>
            <a:ext cx="3291840" cy="256032"/>
          </a:xfrm>
          <a:prstGeom prst="rect">
            <a:avLst/>
          </a:prstGeom>
          <a:noFill/>
        </p:spPr>
        <p:txBody>
          <a:bodyPr wrap="square">
            <a:spAutoFit/>
          </a:bodyPr>
          <a:lstStyle/>
          <a:p>
            <a:pPr algn="l"/>
            <a:r>
              <a:rPr sz="1250" b="1" i="0">
                <a:solidFill>
                  <a:srgbClr val="2D7A1F"/>
                </a:solidFill>
              </a:rPr>
              <a:t>Respecter la casse</a:t>
            </a:r>
          </a:p>
        </p:txBody>
      </p:sp>
      <p:sp>
        <p:nvSpPr>
          <p:cNvPr id="26" name="TextBox 25"/>
          <p:cNvSpPr txBox="1"/>
          <p:nvPr/>
        </p:nvSpPr>
        <p:spPr>
          <a:xfrm>
            <a:off x="640080" y="4361688"/>
            <a:ext cx="3246120" cy="365760"/>
          </a:xfrm>
          <a:prstGeom prst="rect">
            <a:avLst/>
          </a:prstGeom>
          <a:noFill/>
        </p:spPr>
        <p:txBody>
          <a:bodyPr wrap="square">
            <a:spAutoFit/>
          </a:bodyPr>
          <a:lstStyle/>
          <a:p>
            <a:pPr algn="l"/>
            <a:r>
              <a:rPr sz="1000" b="0" i="0">
                <a:solidFill>
                  <a:srgbClr val="9999CC"/>
                </a:solidFill>
              </a:rPr>
              <a:t>Option distinguant majuscules et minuscules dans une recherche</a:t>
            </a:r>
          </a:p>
        </p:txBody>
      </p:sp>
      <p:sp>
        <p:nvSpPr>
          <p:cNvPr id="27" name="Rectangle 26"/>
          <p:cNvSpPr/>
          <p:nvPr/>
        </p:nvSpPr>
        <p:spPr>
          <a:xfrm>
            <a:off x="457200" y="4873752"/>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4873752"/>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919472"/>
            <a:ext cx="3291840" cy="256032"/>
          </a:xfrm>
          <a:prstGeom prst="rect">
            <a:avLst/>
          </a:prstGeom>
          <a:noFill/>
        </p:spPr>
        <p:txBody>
          <a:bodyPr wrap="square">
            <a:spAutoFit/>
          </a:bodyPr>
          <a:lstStyle/>
          <a:p>
            <a:pPr algn="l"/>
            <a:r>
              <a:rPr sz="1250" b="1" i="0">
                <a:solidFill>
                  <a:srgbClr val="2D7A1F"/>
                </a:solidFill>
              </a:rPr>
              <a:t>Publipostage</a:t>
            </a:r>
          </a:p>
        </p:txBody>
      </p:sp>
      <p:sp>
        <p:nvSpPr>
          <p:cNvPr id="30" name="TextBox 29"/>
          <p:cNvSpPr txBox="1"/>
          <p:nvPr/>
        </p:nvSpPr>
        <p:spPr>
          <a:xfrm>
            <a:off x="640080" y="5202936"/>
            <a:ext cx="3246120" cy="365760"/>
          </a:xfrm>
          <a:prstGeom prst="rect">
            <a:avLst/>
          </a:prstGeom>
          <a:noFill/>
        </p:spPr>
        <p:txBody>
          <a:bodyPr wrap="square">
            <a:spAutoFit/>
          </a:bodyPr>
          <a:lstStyle/>
          <a:p>
            <a:pPr algn="l"/>
            <a:r>
              <a:rPr sz="1000" b="0" i="0">
                <a:solidFill>
                  <a:srgbClr val="9999CC"/>
                </a:solidFill>
              </a:rPr>
              <a:t>Fonction de génération de documents personnalisés en masse</a:t>
            </a:r>
          </a:p>
        </p:txBody>
      </p:sp>
      <p:sp>
        <p:nvSpPr>
          <p:cNvPr id="31" name="Rectangle 30"/>
          <p:cNvSpPr/>
          <p:nvPr/>
        </p:nvSpPr>
        <p:spPr>
          <a:xfrm>
            <a:off x="457200" y="5715000"/>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5715000"/>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760720"/>
            <a:ext cx="3291840" cy="256032"/>
          </a:xfrm>
          <a:prstGeom prst="rect">
            <a:avLst/>
          </a:prstGeom>
          <a:noFill/>
        </p:spPr>
        <p:txBody>
          <a:bodyPr wrap="square">
            <a:spAutoFit/>
          </a:bodyPr>
          <a:lstStyle/>
          <a:p>
            <a:pPr algn="l"/>
            <a:r>
              <a:rPr sz="1250" b="1" i="0">
                <a:solidFill>
                  <a:srgbClr val="2D7A1F"/>
                </a:solidFill>
              </a:rPr>
              <a:t>Enveloppe</a:t>
            </a:r>
          </a:p>
        </p:txBody>
      </p:sp>
      <p:sp>
        <p:nvSpPr>
          <p:cNvPr id="34" name="TextBox 33"/>
          <p:cNvSpPr txBox="1"/>
          <p:nvPr/>
        </p:nvSpPr>
        <p:spPr>
          <a:xfrm>
            <a:off x="640080" y="6044184"/>
            <a:ext cx="3246120" cy="365760"/>
          </a:xfrm>
          <a:prstGeom prst="rect">
            <a:avLst/>
          </a:prstGeom>
          <a:noFill/>
        </p:spPr>
        <p:txBody>
          <a:bodyPr wrap="square">
            <a:spAutoFit/>
          </a:bodyPr>
          <a:lstStyle/>
          <a:p>
            <a:pPr algn="l"/>
            <a:r>
              <a:rPr sz="1000" b="0" i="0">
                <a:solidFill>
                  <a:srgbClr val="9999CC"/>
                </a:solidFill>
              </a:rPr>
              <a:t>Document imprimable au format d'une enveloppe postale</a:t>
            </a:r>
          </a:p>
        </p:txBody>
      </p:sp>
      <p:sp>
        <p:nvSpPr>
          <p:cNvPr id="35" name="Rectangle 34"/>
          <p:cNvSpPr/>
          <p:nvPr/>
        </p:nvSpPr>
        <p:spPr>
          <a:xfrm>
            <a:off x="4297680" y="1508760"/>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97680" y="1508760"/>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60" y="1554480"/>
            <a:ext cx="3291840" cy="256032"/>
          </a:xfrm>
          <a:prstGeom prst="rect">
            <a:avLst/>
          </a:prstGeom>
          <a:noFill/>
        </p:spPr>
        <p:txBody>
          <a:bodyPr wrap="square">
            <a:spAutoFit/>
          </a:bodyPr>
          <a:lstStyle/>
          <a:p>
            <a:pPr algn="l"/>
            <a:r>
              <a:rPr sz="1250" b="1" i="0">
                <a:solidFill>
                  <a:srgbClr val="2D7A1F"/>
                </a:solidFill>
              </a:rPr>
              <a:t>Étiquette</a:t>
            </a:r>
          </a:p>
        </p:txBody>
      </p:sp>
      <p:sp>
        <p:nvSpPr>
          <p:cNvPr id="38" name="TextBox 37"/>
          <p:cNvSpPr txBox="1"/>
          <p:nvPr/>
        </p:nvSpPr>
        <p:spPr>
          <a:xfrm>
            <a:off x="4480560" y="1837943"/>
            <a:ext cx="3246120" cy="365760"/>
          </a:xfrm>
          <a:prstGeom prst="rect">
            <a:avLst/>
          </a:prstGeom>
          <a:noFill/>
        </p:spPr>
        <p:txBody>
          <a:bodyPr wrap="square">
            <a:spAutoFit/>
          </a:bodyPr>
          <a:lstStyle/>
          <a:p>
            <a:pPr algn="l"/>
            <a:r>
              <a:rPr sz="1000" b="0" i="0">
                <a:solidFill>
                  <a:srgbClr val="9999CC"/>
                </a:solidFill>
              </a:rPr>
              <a:t>Petit format imprimable réutilisé en planche</a:t>
            </a:r>
          </a:p>
        </p:txBody>
      </p:sp>
      <p:sp>
        <p:nvSpPr>
          <p:cNvPr id="39" name="Rectangle 38"/>
          <p:cNvSpPr/>
          <p:nvPr/>
        </p:nvSpPr>
        <p:spPr>
          <a:xfrm>
            <a:off x="4297680" y="2350008"/>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97680" y="2350008"/>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0560" y="2395727"/>
            <a:ext cx="3291840" cy="256032"/>
          </a:xfrm>
          <a:prstGeom prst="rect">
            <a:avLst/>
          </a:prstGeom>
          <a:noFill/>
        </p:spPr>
        <p:txBody>
          <a:bodyPr wrap="square">
            <a:spAutoFit/>
          </a:bodyPr>
          <a:lstStyle/>
          <a:p>
            <a:pPr algn="l"/>
            <a:r>
              <a:rPr sz="1250" b="1" i="0">
                <a:solidFill>
                  <a:srgbClr val="2D7A1F"/>
                </a:solidFill>
              </a:rPr>
              <a:t>Gabarit d'étiquette</a:t>
            </a:r>
          </a:p>
        </p:txBody>
      </p:sp>
      <p:sp>
        <p:nvSpPr>
          <p:cNvPr id="42" name="TextBox 41"/>
          <p:cNvSpPr txBox="1"/>
          <p:nvPr/>
        </p:nvSpPr>
        <p:spPr>
          <a:xfrm>
            <a:off x="4480560" y="2679191"/>
            <a:ext cx="3246120" cy="365760"/>
          </a:xfrm>
          <a:prstGeom prst="rect">
            <a:avLst/>
          </a:prstGeom>
          <a:noFill/>
        </p:spPr>
        <p:txBody>
          <a:bodyPr wrap="square">
            <a:spAutoFit/>
          </a:bodyPr>
          <a:lstStyle/>
          <a:p>
            <a:pPr algn="l"/>
            <a:r>
              <a:rPr sz="1000" b="0" i="0">
                <a:solidFill>
                  <a:srgbClr val="9999CC"/>
                </a:solidFill>
              </a:rPr>
              <a:t>Référence définissant la taille et l'agencement des étiquettes</a:t>
            </a:r>
          </a:p>
        </p:txBody>
      </p:sp>
      <p:sp>
        <p:nvSpPr>
          <p:cNvPr id="43" name="Rectangle 42"/>
          <p:cNvSpPr/>
          <p:nvPr/>
        </p:nvSpPr>
        <p:spPr>
          <a:xfrm>
            <a:off x="4297680" y="3191256"/>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297680" y="3191256"/>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80560" y="3236976"/>
            <a:ext cx="3291840" cy="256032"/>
          </a:xfrm>
          <a:prstGeom prst="rect">
            <a:avLst/>
          </a:prstGeom>
          <a:noFill/>
        </p:spPr>
        <p:txBody>
          <a:bodyPr wrap="square">
            <a:spAutoFit/>
          </a:bodyPr>
          <a:lstStyle/>
          <a:p>
            <a:pPr algn="l"/>
            <a:r>
              <a:rPr sz="1250" b="1" i="0">
                <a:solidFill>
                  <a:srgbClr val="2D7A1F"/>
                </a:solidFill>
              </a:rPr>
              <a:t>Index</a:t>
            </a:r>
          </a:p>
        </p:txBody>
      </p:sp>
      <p:sp>
        <p:nvSpPr>
          <p:cNvPr id="46" name="TextBox 45"/>
          <p:cNvSpPr txBox="1"/>
          <p:nvPr/>
        </p:nvSpPr>
        <p:spPr>
          <a:xfrm>
            <a:off x="4480560" y="3520440"/>
            <a:ext cx="3246120" cy="365760"/>
          </a:xfrm>
          <a:prstGeom prst="rect">
            <a:avLst/>
          </a:prstGeom>
          <a:noFill/>
        </p:spPr>
        <p:txBody>
          <a:bodyPr wrap="square">
            <a:spAutoFit/>
          </a:bodyPr>
          <a:lstStyle/>
          <a:p>
            <a:pPr algn="l"/>
            <a:r>
              <a:rPr sz="1000" b="0" i="0">
                <a:solidFill>
                  <a:srgbClr val="9999CC"/>
                </a:solidFill>
              </a:rPr>
              <a:t>Liste alphabétique des termes importants avec numéros de page</a:t>
            </a:r>
          </a:p>
        </p:txBody>
      </p:sp>
      <p:sp>
        <p:nvSpPr>
          <p:cNvPr id="47" name="Rectangle 46"/>
          <p:cNvSpPr/>
          <p:nvPr/>
        </p:nvSpPr>
        <p:spPr>
          <a:xfrm>
            <a:off x="4297680" y="4032504"/>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297680" y="4032504"/>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80560" y="4078224"/>
            <a:ext cx="3291840" cy="256032"/>
          </a:xfrm>
          <a:prstGeom prst="rect">
            <a:avLst/>
          </a:prstGeom>
          <a:noFill/>
        </p:spPr>
        <p:txBody>
          <a:bodyPr wrap="square">
            <a:spAutoFit/>
          </a:bodyPr>
          <a:lstStyle/>
          <a:p>
            <a:pPr algn="l"/>
            <a:r>
              <a:rPr sz="1250" b="1" i="0">
                <a:solidFill>
                  <a:srgbClr val="2D7A1F"/>
                </a:solidFill>
              </a:rPr>
              <a:t>Marquer une entrée</a:t>
            </a:r>
          </a:p>
        </p:txBody>
      </p:sp>
      <p:sp>
        <p:nvSpPr>
          <p:cNvPr id="50" name="TextBox 49"/>
          <p:cNvSpPr txBox="1"/>
          <p:nvPr/>
        </p:nvSpPr>
        <p:spPr>
          <a:xfrm>
            <a:off x="4480560" y="4361688"/>
            <a:ext cx="3246120" cy="365760"/>
          </a:xfrm>
          <a:prstGeom prst="rect">
            <a:avLst/>
          </a:prstGeom>
          <a:noFill/>
        </p:spPr>
        <p:txBody>
          <a:bodyPr wrap="square">
            <a:spAutoFit/>
          </a:bodyPr>
          <a:lstStyle/>
          <a:p>
            <a:pPr algn="l"/>
            <a:r>
              <a:rPr sz="1000" b="0" i="0">
                <a:solidFill>
                  <a:srgbClr val="9999CC"/>
                </a:solidFill>
              </a:rPr>
              <a:t>Action de sélectionner un terme pour l'inclure dans l'index</a:t>
            </a:r>
          </a:p>
        </p:txBody>
      </p:sp>
      <p:sp>
        <p:nvSpPr>
          <p:cNvPr id="51" name="Rectangle 50"/>
          <p:cNvSpPr/>
          <p:nvPr/>
        </p:nvSpPr>
        <p:spPr>
          <a:xfrm>
            <a:off x="4297680" y="4873752"/>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297680" y="4873752"/>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80560" y="4919472"/>
            <a:ext cx="3291840" cy="256032"/>
          </a:xfrm>
          <a:prstGeom prst="rect">
            <a:avLst/>
          </a:prstGeom>
          <a:noFill/>
        </p:spPr>
        <p:txBody>
          <a:bodyPr wrap="square">
            <a:spAutoFit/>
          </a:bodyPr>
          <a:lstStyle/>
          <a:p>
            <a:pPr algn="l"/>
            <a:r>
              <a:rPr sz="1250" b="1" i="0">
                <a:solidFill>
                  <a:srgbClr val="2D7A1F"/>
                </a:solidFill>
              </a:rPr>
              <a:t>Sous-entrée</a:t>
            </a:r>
          </a:p>
        </p:txBody>
      </p:sp>
      <p:sp>
        <p:nvSpPr>
          <p:cNvPr id="54" name="TextBox 53"/>
          <p:cNvSpPr txBox="1"/>
          <p:nvPr/>
        </p:nvSpPr>
        <p:spPr>
          <a:xfrm>
            <a:off x="4480560" y="5202936"/>
            <a:ext cx="3246120" cy="365760"/>
          </a:xfrm>
          <a:prstGeom prst="rect">
            <a:avLst/>
          </a:prstGeom>
          <a:noFill/>
        </p:spPr>
        <p:txBody>
          <a:bodyPr wrap="square">
            <a:spAutoFit/>
          </a:bodyPr>
          <a:lstStyle/>
          <a:p>
            <a:pPr algn="l"/>
            <a:r>
              <a:rPr sz="1000" b="0" i="0">
                <a:solidFill>
                  <a:srgbClr val="9999CC"/>
                </a:solidFill>
              </a:rPr>
              <a:t>Terme secondaire classé sous une entrée principale d'index</a:t>
            </a:r>
          </a:p>
        </p:txBody>
      </p:sp>
      <p:sp>
        <p:nvSpPr>
          <p:cNvPr id="55" name="Rectangle 54"/>
          <p:cNvSpPr/>
          <p:nvPr/>
        </p:nvSpPr>
        <p:spPr>
          <a:xfrm>
            <a:off x="4297680" y="5715000"/>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297680" y="5715000"/>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80560" y="5760720"/>
            <a:ext cx="3291840" cy="256032"/>
          </a:xfrm>
          <a:prstGeom prst="rect">
            <a:avLst/>
          </a:prstGeom>
          <a:noFill/>
        </p:spPr>
        <p:txBody>
          <a:bodyPr wrap="square">
            <a:spAutoFit/>
          </a:bodyPr>
          <a:lstStyle/>
          <a:p>
            <a:pPr algn="l"/>
            <a:r>
              <a:rPr sz="1250" b="1" i="0">
                <a:solidFill>
                  <a:srgbClr val="2D7A1F"/>
                </a:solidFill>
              </a:rPr>
              <a:t>Champ XE</a:t>
            </a:r>
          </a:p>
        </p:txBody>
      </p:sp>
      <p:sp>
        <p:nvSpPr>
          <p:cNvPr id="58" name="TextBox 57"/>
          <p:cNvSpPr txBox="1"/>
          <p:nvPr/>
        </p:nvSpPr>
        <p:spPr>
          <a:xfrm>
            <a:off x="4480560" y="6044184"/>
            <a:ext cx="3246120" cy="365760"/>
          </a:xfrm>
          <a:prstGeom prst="rect">
            <a:avLst/>
          </a:prstGeom>
          <a:noFill/>
        </p:spPr>
        <p:txBody>
          <a:bodyPr wrap="square">
            <a:spAutoFit/>
          </a:bodyPr>
          <a:lstStyle/>
          <a:p>
            <a:pPr algn="l"/>
            <a:r>
              <a:rPr sz="1000" b="0" i="0">
                <a:solidFill>
                  <a:srgbClr val="9999CC"/>
                </a:solidFill>
              </a:rPr>
              <a:t>Code caché représentant une entrée d'index marquée</a:t>
            </a:r>
          </a:p>
        </p:txBody>
      </p:sp>
      <p:sp>
        <p:nvSpPr>
          <p:cNvPr id="59" name="Rectangle 58"/>
          <p:cNvSpPr/>
          <p:nvPr/>
        </p:nvSpPr>
        <p:spPr>
          <a:xfrm>
            <a:off x="8138160" y="1508760"/>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138160" y="1508760"/>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21040" y="1554480"/>
            <a:ext cx="3291840" cy="256032"/>
          </a:xfrm>
          <a:prstGeom prst="rect">
            <a:avLst/>
          </a:prstGeom>
          <a:noFill/>
        </p:spPr>
        <p:txBody>
          <a:bodyPr wrap="square">
            <a:spAutoFit/>
          </a:bodyPr>
          <a:lstStyle/>
          <a:p>
            <a:pPr algn="l"/>
            <a:r>
              <a:rPr sz="1250" b="1" i="0">
                <a:solidFill>
                  <a:srgbClr val="2D7A1F"/>
                </a:solidFill>
              </a:rPr>
              <a:t>Lettre bloc</a:t>
            </a:r>
          </a:p>
        </p:txBody>
      </p:sp>
      <p:sp>
        <p:nvSpPr>
          <p:cNvPr id="62" name="TextBox 61"/>
          <p:cNvSpPr txBox="1"/>
          <p:nvPr/>
        </p:nvSpPr>
        <p:spPr>
          <a:xfrm>
            <a:off x="8321040" y="1837943"/>
            <a:ext cx="3246120" cy="365760"/>
          </a:xfrm>
          <a:prstGeom prst="rect">
            <a:avLst/>
          </a:prstGeom>
          <a:noFill/>
        </p:spPr>
        <p:txBody>
          <a:bodyPr wrap="square">
            <a:spAutoFit/>
          </a:bodyPr>
          <a:lstStyle/>
          <a:p>
            <a:pPr algn="l"/>
            <a:r>
              <a:rPr sz="1000" b="0" i="0">
                <a:solidFill>
                  <a:srgbClr val="9999CC"/>
                </a:solidFill>
              </a:rPr>
              <a:t>Style de lettre entièrement aligné à gauche</a:t>
            </a:r>
          </a:p>
        </p:txBody>
      </p:sp>
      <p:sp>
        <p:nvSpPr>
          <p:cNvPr id="63" name="Rectangle 62"/>
          <p:cNvSpPr/>
          <p:nvPr/>
        </p:nvSpPr>
        <p:spPr>
          <a:xfrm>
            <a:off x="8138160" y="2350008"/>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138160" y="2350008"/>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321040" y="2395727"/>
            <a:ext cx="3291840" cy="256032"/>
          </a:xfrm>
          <a:prstGeom prst="rect">
            <a:avLst/>
          </a:prstGeom>
          <a:noFill/>
        </p:spPr>
        <p:txBody>
          <a:bodyPr wrap="square">
            <a:spAutoFit/>
          </a:bodyPr>
          <a:lstStyle/>
          <a:p>
            <a:pPr algn="l"/>
            <a:r>
              <a:rPr sz="1250" b="1" i="0">
                <a:solidFill>
                  <a:srgbClr val="2D7A1F"/>
                </a:solidFill>
              </a:rPr>
              <a:t>Lettre semi-bloc</a:t>
            </a:r>
          </a:p>
        </p:txBody>
      </p:sp>
      <p:sp>
        <p:nvSpPr>
          <p:cNvPr id="66" name="TextBox 65"/>
          <p:cNvSpPr txBox="1"/>
          <p:nvPr/>
        </p:nvSpPr>
        <p:spPr>
          <a:xfrm>
            <a:off x="8321040" y="2679191"/>
            <a:ext cx="3246120" cy="365760"/>
          </a:xfrm>
          <a:prstGeom prst="rect">
            <a:avLst/>
          </a:prstGeom>
          <a:noFill/>
        </p:spPr>
        <p:txBody>
          <a:bodyPr wrap="square">
            <a:spAutoFit/>
          </a:bodyPr>
          <a:lstStyle/>
          <a:p>
            <a:pPr algn="l"/>
            <a:r>
              <a:rPr sz="1000" b="0" i="0">
                <a:solidFill>
                  <a:srgbClr val="9999CC"/>
                </a:solidFill>
              </a:rPr>
              <a:t>Style de lettre avec date et signature alignées à droite</a:t>
            </a:r>
          </a:p>
        </p:txBody>
      </p:sp>
      <p:sp>
        <p:nvSpPr>
          <p:cNvPr id="67" name="Rectangle 66"/>
          <p:cNvSpPr/>
          <p:nvPr/>
        </p:nvSpPr>
        <p:spPr>
          <a:xfrm>
            <a:off x="8138160" y="3191256"/>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138160" y="3191256"/>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321040" y="3236976"/>
            <a:ext cx="3291840" cy="256032"/>
          </a:xfrm>
          <a:prstGeom prst="rect">
            <a:avLst/>
          </a:prstGeom>
          <a:noFill/>
        </p:spPr>
        <p:txBody>
          <a:bodyPr wrap="square">
            <a:spAutoFit/>
          </a:bodyPr>
          <a:lstStyle/>
          <a:p>
            <a:pPr algn="l"/>
            <a:r>
              <a:rPr sz="1250" b="1" i="0">
                <a:solidFill>
                  <a:srgbClr val="2D7A1F"/>
                </a:solidFill>
              </a:rPr>
              <a:t>Modèle en ligne</a:t>
            </a:r>
          </a:p>
        </p:txBody>
      </p:sp>
      <p:sp>
        <p:nvSpPr>
          <p:cNvPr id="70" name="TextBox 69"/>
          <p:cNvSpPr txBox="1"/>
          <p:nvPr/>
        </p:nvSpPr>
        <p:spPr>
          <a:xfrm>
            <a:off x="8321040" y="3520440"/>
            <a:ext cx="3246120" cy="365760"/>
          </a:xfrm>
          <a:prstGeom prst="rect">
            <a:avLst/>
          </a:prstGeom>
          <a:noFill/>
        </p:spPr>
        <p:txBody>
          <a:bodyPr wrap="square">
            <a:spAutoFit/>
          </a:bodyPr>
          <a:lstStyle/>
          <a:p>
            <a:pPr algn="l"/>
            <a:r>
              <a:rPr sz="1000" b="0" i="0">
                <a:solidFill>
                  <a:srgbClr val="9999CC"/>
                </a:solidFill>
              </a:rPr>
              <a:t>Modèle téléchargeable depuis les serveurs Microsoft</a:t>
            </a:r>
          </a:p>
        </p:txBody>
      </p:sp>
      <p:sp>
        <p:nvSpPr>
          <p:cNvPr id="71" name="Rectangle 70"/>
          <p:cNvSpPr/>
          <p:nvPr/>
        </p:nvSpPr>
        <p:spPr>
          <a:xfrm>
            <a:off x="8138160" y="4032504"/>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138160" y="4032504"/>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321040" y="4078224"/>
            <a:ext cx="3291840" cy="256032"/>
          </a:xfrm>
          <a:prstGeom prst="rect">
            <a:avLst/>
          </a:prstGeom>
          <a:noFill/>
        </p:spPr>
        <p:txBody>
          <a:bodyPr wrap="square">
            <a:spAutoFit/>
          </a:bodyPr>
          <a:lstStyle/>
          <a:p>
            <a:pPr algn="l"/>
            <a:r>
              <a:rPr sz="1250" b="1" i="0">
                <a:solidFill>
                  <a:srgbClr val="2D7A1F"/>
                </a:solidFill>
              </a:rPr>
              <a:t>Adresse de retour</a:t>
            </a:r>
          </a:p>
        </p:txBody>
      </p:sp>
      <p:sp>
        <p:nvSpPr>
          <p:cNvPr id="74" name="TextBox 73"/>
          <p:cNvSpPr txBox="1"/>
          <p:nvPr/>
        </p:nvSpPr>
        <p:spPr>
          <a:xfrm>
            <a:off x="8321040" y="4361688"/>
            <a:ext cx="3246120" cy="365760"/>
          </a:xfrm>
          <a:prstGeom prst="rect">
            <a:avLst/>
          </a:prstGeom>
          <a:noFill/>
        </p:spPr>
        <p:txBody>
          <a:bodyPr wrap="square">
            <a:spAutoFit/>
          </a:bodyPr>
          <a:lstStyle/>
          <a:p>
            <a:pPr algn="l"/>
            <a:r>
              <a:rPr sz="1000" b="0" i="0">
                <a:solidFill>
                  <a:srgbClr val="9999CC"/>
                </a:solidFill>
              </a:rPr>
              <a:t>Adresse de l'expéditeur sur une enveloppe</a:t>
            </a:r>
          </a:p>
        </p:txBody>
      </p:sp>
      <p:sp>
        <p:nvSpPr>
          <p:cNvPr id="75" name="Rectangle 74"/>
          <p:cNvSpPr/>
          <p:nvPr/>
        </p:nvSpPr>
        <p:spPr>
          <a:xfrm>
            <a:off x="8138160" y="4873752"/>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138160" y="4873752"/>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321040" y="4919472"/>
            <a:ext cx="3291840" cy="256032"/>
          </a:xfrm>
          <a:prstGeom prst="rect">
            <a:avLst/>
          </a:prstGeom>
          <a:noFill/>
        </p:spPr>
        <p:txBody>
          <a:bodyPr wrap="square">
            <a:spAutoFit/>
          </a:bodyPr>
          <a:lstStyle/>
          <a:p>
            <a:pPr algn="l"/>
            <a:r>
              <a:rPr sz="1250" b="1" i="0">
                <a:solidFill>
                  <a:srgbClr val="2D7A1F"/>
                </a:solidFill>
              </a:rPr>
              <a:t>Volet de recherche</a:t>
            </a:r>
          </a:p>
        </p:txBody>
      </p:sp>
      <p:sp>
        <p:nvSpPr>
          <p:cNvPr id="78" name="TextBox 77"/>
          <p:cNvSpPr txBox="1"/>
          <p:nvPr/>
        </p:nvSpPr>
        <p:spPr>
          <a:xfrm>
            <a:off x="8321040" y="5202936"/>
            <a:ext cx="3246120" cy="365760"/>
          </a:xfrm>
          <a:prstGeom prst="rect">
            <a:avLst/>
          </a:prstGeom>
          <a:noFill/>
        </p:spPr>
        <p:txBody>
          <a:bodyPr wrap="square">
            <a:spAutoFit/>
          </a:bodyPr>
          <a:lstStyle/>
          <a:p>
            <a:pPr algn="l"/>
            <a:r>
              <a:rPr sz="1000" b="0" i="0">
                <a:solidFill>
                  <a:srgbClr val="9999CC"/>
                </a:solidFill>
              </a:rPr>
              <a:t>Panneau latéral affichant les résultats de recherche</a:t>
            </a:r>
          </a:p>
        </p:txBody>
      </p:sp>
      <p:sp>
        <p:nvSpPr>
          <p:cNvPr id="79" name="Rectangle 78"/>
          <p:cNvSpPr/>
          <p:nvPr/>
        </p:nvSpPr>
        <p:spPr>
          <a:xfrm>
            <a:off x="8138160" y="5715000"/>
            <a:ext cx="3566160" cy="731520"/>
          </a:xfrm>
          <a:prstGeom prst="rect">
            <a:avLst/>
          </a:prstGeom>
          <a:solidFill>
            <a:srgbClr val="12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138160" y="5715000"/>
            <a:ext cx="73152" cy="7315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321040" y="5760720"/>
            <a:ext cx="3291840" cy="256032"/>
          </a:xfrm>
          <a:prstGeom prst="rect">
            <a:avLst/>
          </a:prstGeom>
          <a:noFill/>
        </p:spPr>
        <p:txBody>
          <a:bodyPr wrap="square">
            <a:spAutoFit/>
          </a:bodyPr>
          <a:lstStyle/>
          <a:p>
            <a:pPr algn="l"/>
            <a:r>
              <a:rPr sz="1250" b="1" i="0">
                <a:solidFill>
                  <a:srgbClr val="2D7A1F"/>
                </a:solidFill>
              </a:rPr>
              <a:t>Recherche avancée</a:t>
            </a:r>
          </a:p>
        </p:txBody>
      </p:sp>
      <p:sp>
        <p:nvSpPr>
          <p:cNvPr id="82" name="TextBox 81"/>
          <p:cNvSpPr txBox="1"/>
          <p:nvPr/>
        </p:nvSpPr>
        <p:spPr>
          <a:xfrm>
            <a:off x="8321040" y="6044184"/>
            <a:ext cx="3246120" cy="365760"/>
          </a:xfrm>
          <a:prstGeom prst="rect">
            <a:avLst/>
          </a:prstGeom>
          <a:noFill/>
        </p:spPr>
        <p:txBody>
          <a:bodyPr wrap="square">
            <a:spAutoFit/>
          </a:bodyPr>
          <a:lstStyle/>
          <a:p>
            <a:pPr algn="l"/>
            <a:r>
              <a:rPr sz="1000" b="0" i="0">
                <a:solidFill>
                  <a:srgbClr val="9999CC"/>
                </a:solidFill>
              </a:rPr>
              <a:t>Mode de recherche avec options supplémentaires (casse, mot entier)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Rectangle 7"/>
          <p:cNvSpPr/>
          <p:nvPr/>
        </p:nvSpPr>
        <p:spPr>
          <a:xfrm>
            <a:off x="0" y="594360"/>
            <a:ext cx="12188952" cy="626364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777240"/>
            <a:ext cx="11274552" cy="457200"/>
          </a:xfrm>
          <a:prstGeom prst="rect">
            <a:avLst/>
          </a:prstGeom>
          <a:noFill/>
        </p:spPr>
        <p:txBody>
          <a:bodyPr wrap="square">
            <a:spAutoFit/>
          </a:bodyPr>
          <a:lstStyle/>
          <a:p>
            <a:pPr algn="l"/>
            <a:r>
              <a:rPr sz="2200" b="1" i="0">
                <a:solidFill>
                  <a:srgbClr val="FFFFFF"/>
                </a:solidFill>
              </a:rPr>
              <a:t>Mémo raccourcis clavier</a:t>
            </a:r>
          </a:p>
        </p:txBody>
      </p:sp>
      <p:sp>
        <p:nvSpPr>
          <p:cNvPr id="10" name="Rectangle 9"/>
          <p:cNvSpPr/>
          <p:nvPr/>
        </p:nvSpPr>
        <p:spPr>
          <a:xfrm>
            <a:off x="457200" y="12344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508760"/>
            <a:ext cx="2103120" cy="462915"/>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57337"/>
            <a:ext cx="2103120" cy="365760"/>
          </a:xfrm>
          <a:prstGeom prst="rect">
            <a:avLst/>
          </a:prstGeom>
          <a:noFill/>
        </p:spPr>
        <p:txBody>
          <a:bodyPr wrap="square">
            <a:spAutoFit/>
          </a:bodyPr>
          <a:lstStyle/>
          <a:p>
            <a:pPr algn="ctr"/>
            <a:r>
              <a:rPr sz="1400" b="1" i="0">
                <a:solidFill>
                  <a:srgbClr val="88DDAA"/>
                </a:solidFill>
              </a:rPr>
              <a:t>Ctrl+F</a:t>
            </a:r>
          </a:p>
        </p:txBody>
      </p:sp>
      <p:sp>
        <p:nvSpPr>
          <p:cNvPr id="13" name="Rectangle 12"/>
          <p:cNvSpPr/>
          <p:nvPr/>
        </p:nvSpPr>
        <p:spPr>
          <a:xfrm>
            <a:off x="2651760" y="1508760"/>
            <a:ext cx="9079992" cy="462915"/>
          </a:xfrm>
          <a:prstGeom prst="rect">
            <a:avLst/>
          </a:prstGeom>
          <a:solidFill>
            <a:srgbClr val="14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1575625"/>
            <a:ext cx="8805672" cy="365760"/>
          </a:xfrm>
          <a:prstGeom prst="rect">
            <a:avLst/>
          </a:prstGeom>
          <a:noFill/>
        </p:spPr>
        <p:txBody>
          <a:bodyPr wrap="square">
            <a:spAutoFit/>
          </a:bodyPr>
          <a:lstStyle/>
          <a:p>
            <a:pPr algn="l"/>
            <a:r>
              <a:rPr sz="1250" b="0" i="0">
                <a:solidFill>
                  <a:srgbClr val="DDDDEE"/>
                </a:solidFill>
              </a:rPr>
              <a:t>Ouvrir la recherche</a:t>
            </a:r>
          </a:p>
        </p:txBody>
      </p:sp>
      <p:sp>
        <p:nvSpPr>
          <p:cNvPr id="15" name="Rectangle 14"/>
          <p:cNvSpPr/>
          <p:nvPr/>
        </p:nvSpPr>
        <p:spPr>
          <a:xfrm>
            <a:off x="457200" y="2063114"/>
            <a:ext cx="2103120" cy="462915"/>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111692"/>
            <a:ext cx="2103120" cy="365760"/>
          </a:xfrm>
          <a:prstGeom prst="rect">
            <a:avLst/>
          </a:prstGeom>
          <a:noFill/>
        </p:spPr>
        <p:txBody>
          <a:bodyPr wrap="square">
            <a:spAutoFit/>
          </a:bodyPr>
          <a:lstStyle/>
          <a:p>
            <a:pPr algn="ctr"/>
            <a:r>
              <a:rPr sz="1400" b="1" i="0">
                <a:solidFill>
                  <a:srgbClr val="88DDAA"/>
                </a:solidFill>
              </a:rPr>
              <a:t>Ctrl+H</a:t>
            </a:r>
          </a:p>
        </p:txBody>
      </p:sp>
      <p:sp>
        <p:nvSpPr>
          <p:cNvPr id="17" name="Rectangle 16"/>
          <p:cNvSpPr/>
          <p:nvPr/>
        </p:nvSpPr>
        <p:spPr>
          <a:xfrm>
            <a:off x="2651760" y="2063114"/>
            <a:ext cx="9079992" cy="462915"/>
          </a:xfrm>
          <a:prstGeom prst="rect">
            <a:avLst/>
          </a:prstGeom>
          <a:solidFill>
            <a:srgbClr val="14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4640" y="2129980"/>
            <a:ext cx="8805672" cy="365760"/>
          </a:xfrm>
          <a:prstGeom prst="rect">
            <a:avLst/>
          </a:prstGeom>
          <a:noFill/>
        </p:spPr>
        <p:txBody>
          <a:bodyPr wrap="square">
            <a:spAutoFit/>
          </a:bodyPr>
          <a:lstStyle/>
          <a:p>
            <a:pPr algn="l"/>
            <a:r>
              <a:rPr sz="1250" b="0" i="0">
                <a:solidFill>
                  <a:srgbClr val="DDDDEE"/>
                </a:solidFill>
              </a:rPr>
              <a:t>Ouvrir Rechercher et remplacer</a:t>
            </a:r>
          </a:p>
        </p:txBody>
      </p:sp>
      <p:sp>
        <p:nvSpPr>
          <p:cNvPr id="19" name="Rectangle 18"/>
          <p:cNvSpPr/>
          <p:nvPr/>
        </p:nvSpPr>
        <p:spPr>
          <a:xfrm>
            <a:off x="457200" y="2617470"/>
            <a:ext cx="2103120" cy="462915"/>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666047"/>
            <a:ext cx="2103120" cy="365760"/>
          </a:xfrm>
          <a:prstGeom prst="rect">
            <a:avLst/>
          </a:prstGeom>
          <a:noFill/>
        </p:spPr>
        <p:txBody>
          <a:bodyPr wrap="square">
            <a:spAutoFit/>
          </a:bodyPr>
          <a:lstStyle/>
          <a:p>
            <a:pPr algn="ctr"/>
            <a:r>
              <a:rPr sz="1400" b="1" i="0">
                <a:solidFill>
                  <a:srgbClr val="88DDAA"/>
                </a:solidFill>
              </a:rPr>
              <a:t>Alt+Maj+X</a:t>
            </a:r>
          </a:p>
        </p:txBody>
      </p:sp>
      <p:sp>
        <p:nvSpPr>
          <p:cNvPr id="21" name="Rectangle 20"/>
          <p:cNvSpPr/>
          <p:nvPr/>
        </p:nvSpPr>
        <p:spPr>
          <a:xfrm>
            <a:off x="2651760" y="2617470"/>
            <a:ext cx="9079992" cy="462915"/>
          </a:xfrm>
          <a:prstGeom prst="rect">
            <a:avLst/>
          </a:prstGeom>
          <a:solidFill>
            <a:srgbClr val="14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34640" y="2684335"/>
            <a:ext cx="8805672" cy="365760"/>
          </a:xfrm>
          <a:prstGeom prst="rect">
            <a:avLst/>
          </a:prstGeom>
          <a:noFill/>
        </p:spPr>
        <p:txBody>
          <a:bodyPr wrap="square">
            <a:spAutoFit/>
          </a:bodyPr>
          <a:lstStyle/>
          <a:p>
            <a:pPr algn="l"/>
            <a:r>
              <a:rPr sz="1250" b="0" i="0">
                <a:solidFill>
                  <a:srgbClr val="DDDDEE"/>
                </a:solidFill>
              </a:rPr>
              <a:t>Marquer une entrée d'index</a:t>
            </a:r>
          </a:p>
        </p:txBody>
      </p:sp>
      <p:sp>
        <p:nvSpPr>
          <p:cNvPr id="23" name="Rectangle 22"/>
          <p:cNvSpPr/>
          <p:nvPr/>
        </p:nvSpPr>
        <p:spPr>
          <a:xfrm>
            <a:off x="457200" y="3171825"/>
            <a:ext cx="2103120" cy="462915"/>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220402"/>
            <a:ext cx="2103120" cy="365760"/>
          </a:xfrm>
          <a:prstGeom prst="rect">
            <a:avLst/>
          </a:prstGeom>
          <a:noFill/>
        </p:spPr>
        <p:txBody>
          <a:bodyPr wrap="square">
            <a:spAutoFit/>
          </a:bodyPr>
          <a:lstStyle/>
          <a:p>
            <a:pPr algn="ctr"/>
            <a:r>
              <a:rPr sz="1400" b="1" i="0">
                <a:solidFill>
                  <a:srgbClr val="88DDAA"/>
                </a:solidFill>
              </a:rPr>
              <a:t>F4</a:t>
            </a:r>
          </a:p>
        </p:txBody>
      </p:sp>
      <p:sp>
        <p:nvSpPr>
          <p:cNvPr id="25" name="Rectangle 24"/>
          <p:cNvSpPr/>
          <p:nvPr/>
        </p:nvSpPr>
        <p:spPr>
          <a:xfrm>
            <a:off x="2651760" y="3171825"/>
            <a:ext cx="9079992" cy="462915"/>
          </a:xfrm>
          <a:prstGeom prst="rect">
            <a:avLst/>
          </a:prstGeom>
          <a:solidFill>
            <a:srgbClr val="14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3238690"/>
            <a:ext cx="8805672" cy="365760"/>
          </a:xfrm>
          <a:prstGeom prst="rect">
            <a:avLst/>
          </a:prstGeom>
          <a:noFill/>
        </p:spPr>
        <p:txBody>
          <a:bodyPr wrap="square">
            <a:spAutoFit/>
          </a:bodyPr>
          <a:lstStyle/>
          <a:p>
            <a:pPr algn="l"/>
            <a:r>
              <a:rPr sz="1250" b="0" i="0">
                <a:solidFill>
                  <a:srgbClr val="DDDDEE"/>
                </a:solidFill>
              </a:rPr>
              <a:t>Répéter la dernière recherche</a:t>
            </a:r>
          </a:p>
        </p:txBody>
      </p:sp>
      <p:sp>
        <p:nvSpPr>
          <p:cNvPr id="27" name="Rectangle 26"/>
          <p:cNvSpPr/>
          <p:nvPr/>
        </p:nvSpPr>
        <p:spPr>
          <a:xfrm>
            <a:off x="457200" y="3726179"/>
            <a:ext cx="2103120" cy="462915"/>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774757"/>
            <a:ext cx="2103120" cy="365760"/>
          </a:xfrm>
          <a:prstGeom prst="rect">
            <a:avLst/>
          </a:prstGeom>
          <a:noFill/>
        </p:spPr>
        <p:txBody>
          <a:bodyPr wrap="square">
            <a:spAutoFit/>
          </a:bodyPr>
          <a:lstStyle/>
          <a:p>
            <a:pPr algn="ctr"/>
            <a:r>
              <a:rPr sz="1400" b="1" i="0">
                <a:solidFill>
                  <a:srgbClr val="88DDAA"/>
                </a:solidFill>
              </a:rPr>
              <a:t>Échap</a:t>
            </a:r>
          </a:p>
        </p:txBody>
      </p:sp>
      <p:sp>
        <p:nvSpPr>
          <p:cNvPr id="29" name="Rectangle 28"/>
          <p:cNvSpPr/>
          <p:nvPr/>
        </p:nvSpPr>
        <p:spPr>
          <a:xfrm>
            <a:off x="2651760" y="3726179"/>
            <a:ext cx="9079992" cy="462915"/>
          </a:xfrm>
          <a:prstGeom prst="rect">
            <a:avLst/>
          </a:prstGeom>
          <a:solidFill>
            <a:srgbClr val="14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34640" y="3793045"/>
            <a:ext cx="8805672" cy="365760"/>
          </a:xfrm>
          <a:prstGeom prst="rect">
            <a:avLst/>
          </a:prstGeom>
          <a:noFill/>
        </p:spPr>
        <p:txBody>
          <a:bodyPr wrap="square">
            <a:spAutoFit/>
          </a:bodyPr>
          <a:lstStyle/>
          <a:p>
            <a:pPr algn="l"/>
            <a:r>
              <a:rPr sz="1250" b="0" i="0">
                <a:solidFill>
                  <a:srgbClr val="DDDDEE"/>
                </a:solidFill>
              </a:rPr>
              <a:t>Fermer le volet de recherche</a:t>
            </a:r>
          </a:p>
        </p:txBody>
      </p:sp>
      <p:sp>
        <p:nvSpPr>
          <p:cNvPr id="31" name="Rectangle 30"/>
          <p:cNvSpPr/>
          <p:nvPr/>
        </p:nvSpPr>
        <p:spPr>
          <a:xfrm>
            <a:off x="457200" y="4280535"/>
            <a:ext cx="2103120" cy="462915"/>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329112"/>
            <a:ext cx="2103120" cy="365760"/>
          </a:xfrm>
          <a:prstGeom prst="rect">
            <a:avLst/>
          </a:prstGeom>
          <a:noFill/>
        </p:spPr>
        <p:txBody>
          <a:bodyPr wrap="square">
            <a:spAutoFit/>
          </a:bodyPr>
          <a:lstStyle/>
          <a:p>
            <a:pPr algn="ctr"/>
            <a:r>
              <a:rPr sz="1400" b="1" i="0">
                <a:solidFill>
                  <a:srgbClr val="88DDAA"/>
                </a:solidFill>
              </a:rPr>
              <a:t>Ctrl+Maj+8</a:t>
            </a:r>
          </a:p>
        </p:txBody>
      </p:sp>
      <p:sp>
        <p:nvSpPr>
          <p:cNvPr id="33" name="Rectangle 32"/>
          <p:cNvSpPr/>
          <p:nvPr/>
        </p:nvSpPr>
        <p:spPr>
          <a:xfrm>
            <a:off x="2651760" y="4280535"/>
            <a:ext cx="9079992" cy="462915"/>
          </a:xfrm>
          <a:prstGeom prst="rect">
            <a:avLst/>
          </a:prstGeom>
          <a:solidFill>
            <a:srgbClr val="14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34640" y="4347400"/>
            <a:ext cx="8805672" cy="365760"/>
          </a:xfrm>
          <a:prstGeom prst="rect">
            <a:avLst/>
          </a:prstGeom>
          <a:noFill/>
        </p:spPr>
        <p:txBody>
          <a:bodyPr wrap="square">
            <a:spAutoFit/>
          </a:bodyPr>
          <a:lstStyle/>
          <a:p>
            <a:pPr algn="l"/>
            <a:r>
              <a:rPr sz="1250" b="0" i="0">
                <a:solidFill>
                  <a:srgbClr val="DDDDEE"/>
                </a:solidFill>
              </a:rPr>
              <a:t>Afficher les champs XE de l'index</a:t>
            </a:r>
          </a:p>
        </p:txBody>
      </p:sp>
      <p:sp>
        <p:nvSpPr>
          <p:cNvPr id="35" name="Rectangle 34"/>
          <p:cNvSpPr/>
          <p:nvPr/>
        </p:nvSpPr>
        <p:spPr>
          <a:xfrm>
            <a:off x="457200" y="4834890"/>
            <a:ext cx="2103120" cy="462915"/>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883467"/>
            <a:ext cx="2103120" cy="365760"/>
          </a:xfrm>
          <a:prstGeom prst="rect">
            <a:avLst/>
          </a:prstGeom>
          <a:noFill/>
        </p:spPr>
        <p:txBody>
          <a:bodyPr wrap="square">
            <a:spAutoFit/>
          </a:bodyPr>
          <a:lstStyle/>
          <a:p>
            <a:pPr algn="ctr"/>
            <a:r>
              <a:rPr sz="1400" b="1" i="0">
                <a:solidFill>
                  <a:srgbClr val="88DDAA"/>
                </a:solidFill>
              </a:rPr>
              <a:t>F9 (sur l'index)</a:t>
            </a:r>
          </a:p>
        </p:txBody>
      </p:sp>
      <p:sp>
        <p:nvSpPr>
          <p:cNvPr id="37" name="Rectangle 36"/>
          <p:cNvSpPr/>
          <p:nvPr/>
        </p:nvSpPr>
        <p:spPr>
          <a:xfrm>
            <a:off x="2651760" y="4834890"/>
            <a:ext cx="9079992" cy="462915"/>
          </a:xfrm>
          <a:prstGeom prst="rect">
            <a:avLst/>
          </a:prstGeom>
          <a:solidFill>
            <a:srgbClr val="14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34640" y="4901755"/>
            <a:ext cx="8805672" cy="365760"/>
          </a:xfrm>
          <a:prstGeom prst="rect">
            <a:avLst/>
          </a:prstGeom>
          <a:noFill/>
        </p:spPr>
        <p:txBody>
          <a:bodyPr wrap="square">
            <a:spAutoFit/>
          </a:bodyPr>
          <a:lstStyle/>
          <a:p>
            <a:pPr algn="l"/>
            <a:r>
              <a:rPr sz="1250" b="0" i="0">
                <a:solidFill>
                  <a:srgbClr val="DDDDEE"/>
                </a:solidFill>
              </a:rPr>
              <a:t>Mettre à jour l'index après modification</a:t>
            </a:r>
          </a:p>
        </p:txBody>
      </p:sp>
      <p:sp>
        <p:nvSpPr>
          <p:cNvPr id="39" name="Rectangle 38"/>
          <p:cNvSpPr/>
          <p:nvPr/>
        </p:nvSpPr>
        <p:spPr>
          <a:xfrm>
            <a:off x="457200" y="5389244"/>
            <a:ext cx="2103120" cy="462915"/>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5437822"/>
            <a:ext cx="2103120" cy="365760"/>
          </a:xfrm>
          <a:prstGeom prst="rect">
            <a:avLst/>
          </a:prstGeom>
          <a:noFill/>
        </p:spPr>
        <p:txBody>
          <a:bodyPr wrap="square">
            <a:spAutoFit/>
          </a:bodyPr>
          <a:lstStyle/>
          <a:p>
            <a:pPr algn="ctr"/>
            <a:r>
              <a:rPr sz="1400" b="1" i="0">
                <a:solidFill>
                  <a:srgbClr val="88DDAA"/>
                </a:solidFill>
              </a:rPr>
              <a:t>Ctrl+P</a:t>
            </a:r>
          </a:p>
        </p:txBody>
      </p:sp>
      <p:sp>
        <p:nvSpPr>
          <p:cNvPr id="41" name="Rectangle 40"/>
          <p:cNvSpPr/>
          <p:nvPr/>
        </p:nvSpPr>
        <p:spPr>
          <a:xfrm>
            <a:off x="2651760" y="5389244"/>
            <a:ext cx="9079992" cy="462915"/>
          </a:xfrm>
          <a:prstGeom prst="rect">
            <a:avLst/>
          </a:prstGeom>
          <a:solidFill>
            <a:srgbClr val="14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34640" y="5456110"/>
            <a:ext cx="8805672" cy="365760"/>
          </a:xfrm>
          <a:prstGeom prst="rect">
            <a:avLst/>
          </a:prstGeom>
          <a:noFill/>
        </p:spPr>
        <p:txBody>
          <a:bodyPr wrap="square">
            <a:spAutoFit/>
          </a:bodyPr>
          <a:lstStyle/>
          <a:p>
            <a:pPr algn="l"/>
            <a:r>
              <a:rPr sz="1250" b="0" i="0">
                <a:solidFill>
                  <a:srgbClr val="DDDDEE"/>
                </a:solidFill>
              </a:rPr>
              <a:t>Imprimer enveloppe ou étiquette générée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Recherche, enveloppes,
index et modèles de lettres</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Retrouver, remplacer, imprimer des envois et structurer avec un index</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828800"/>
            <a:ext cx="10908792" cy="4206240"/>
          </a:xfrm>
          <a:prstGeom prst="rect">
            <a:avLst/>
          </a:prstGeom>
          <a:solidFill>
            <a:srgbClr val="F7F7F7"/>
          </a:solidFill>
          <a:ln w="15240">
            <a:solidFill>
              <a:srgbClr val="99AA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1828800"/>
            <a:ext cx="10908792" cy="384048"/>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212848"/>
            <a:ext cx="10908792" cy="16459"/>
          </a:xfrm>
          <a:prstGeom prst="rect">
            <a:avLst/>
          </a:prstGeom>
          <a:solidFill>
            <a:srgbClr val="99AA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 y="1892807"/>
            <a:ext cx="10579608" cy="274320"/>
          </a:xfrm>
          <a:prstGeom prst="rect">
            <a:avLst/>
          </a:prstGeom>
          <a:noFill/>
        </p:spPr>
        <p:txBody>
          <a:bodyPr wrap="square">
            <a:spAutoFit/>
          </a:bodyPr>
          <a:lstStyle/>
          <a:p>
            <a:pPr algn="l"/>
            <a:r>
              <a:rPr sz="1200" b="1" i="0">
                <a:solidFill>
                  <a:srgbClr val="1A3560"/>
                </a:solidFill>
              </a:rPr>
              <a:t>[ Screenshot ] Aperçu d'une planche d'étiquettes générée</a:t>
            </a:r>
          </a:p>
        </p:txBody>
      </p:sp>
      <p:sp>
        <p:nvSpPr>
          <p:cNvPr id="15" name="Rectangle 14"/>
          <p:cNvSpPr/>
          <p:nvPr/>
        </p:nvSpPr>
        <p:spPr>
          <a:xfrm>
            <a:off x="5591556" y="3547872"/>
            <a:ext cx="1005840" cy="594360"/>
          </a:xfrm>
          <a:prstGeom prst="rect">
            <a:avLst/>
          </a:prstGeom>
          <a:solidFill>
            <a:srgbClr val="DDE4EE"/>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29884" y="3383280"/>
            <a:ext cx="329184" cy="201168"/>
          </a:xfrm>
          <a:prstGeom prst="rect">
            <a:avLst/>
          </a:prstGeom>
          <a:solidFill>
            <a:srgbClr val="DDE4EE"/>
          </a:solidFill>
          <a:ln w="1016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3308" y="3712464"/>
            <a:ext cx="402336" cy="402336"/>
          </a:xfrm>
          <a:prstGeom prst="rect">
            <a:avLst/>
          </a:prstGeom>
          <a:solidFill>
            <a:srgbClr val="F7F7F7"/>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4224528"/>
            <a:ext cx="10543032" cy="365760"/>
          </a:xfrm>
          <a:prstGeom prst="rect">
            <a:avLst/>
          </a:prstGeom>
          <a:noFill/>
        </p:spPr>
        <p:txBody>
          <a:bodyPr wrap="square">
            <a:spAutoFit/>
          </a:bodyPr>
          <a:lstStyle/>
          <a:p>
            <a:pPr algn="ctr"/>
            <a:r>
              <a:rPr sz="1300" b="0" i="1">
                <a:solidFill>
                  <a:srgbClr val="595959"/>
                </a:solidFill>
              </a:rPr>
              <a:t>Insérez ici une capture d'écran du document d'étiquettes prêt à imprimer</a:t>
            </a:r>
          </a:p>
        </p:txBody>
      </p:sp>
      <p:sp>
        <p:nvSpPr>
          <p:cNvPr id="19" name="TextBox 18"/>
          <p:cNvSpPr txBox="1"/>
          <p:nvPr/>
        </p:nvSpPr>
        <p:spPr>
          <a:xfrm>
            <a:off x="822959" y="4572000"/>
            <a:ext cx="10543032" cy="292608"/>
          </a:xfrm>
          <a:prstGeom prst="rect">
            <a:avLst/>
          </a:prstGeom>
          <a:noFill/>
        </p:spPr>
        <p:txBody>
          <a:bodyPr wrap="square">
            <a:spAutoFit/>
          </a:bodyPr>
          <a:lstStyle/>
          <a:p>
            <a:pPr algn="ctr"/>
            <a:r>
              <a:rPr sz="1050" b="0" i="0">
                <a:solidFill>
                  <a:srgbClr val="AAAAAA"/>
                </a:solidFill>
              </a:rPr>
              <a:t>Recommandé : montrer la grille complète d'étiquettes identiques</a:t>
            </a:r>
          </a:p>
        </p:txBody>
      </p:sp>
      <p:sp>
        <p:nvSpPr>
          <p:cNvPr id="20" name="Rectangle 19"/>
          <p:cNvSpPr/>
          <p:nvPr/>
        </p:nvSpPr>
        <p:spPr>
          <a:xfrm>
            <a:off x="640080" y="5705855"/>
            <a:ext cx="10908792" cy="329184"/>
          </a:xfrm>
          <a:prstGeom prst="rect">
            <a:avLst/>
          </a:prstGeom>
          <a:solidFill>
            <a:srgbClr val="E8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5705855"/>
            <a:ext cx="10908792" cy="16459"/>
          </a:xfrm>
          <a:prstGeom prst="rect">
            <a:avLst/>
          </a:prstGeom>
          <a:solidFill>
            <a:srgbClr val="99AA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751576"/>
            <a:ext cx="10634472" cy="237744"/>
          </a:xfrm>
          <a:prstGeom prst="rect">
            <a:avLst/>
          </a:prstGeom>
          <a:noFill/>
        </p:spPr>
        <p:txBody>
          <a:bodyPr wrap="square">
            <a:spAutoFit/>
          </a:bodyPr>
          <a:lstStyle/>
          <a:p>
            <a:pPr algn="l"/>
            <a:r>
              <a:rPr sz="900" b="0" i="1">
                <a:solidFill>
                  <a:srgbClr val="556688"/>
                </a:solidFill>
              </a:rPr>
              <a:t>Clic droit sur cette zone → Modifier l'image → choisir votre screenshot</a:t>
            </a:r>
          </a:p>
        </p:txBody>
      </p:sp>
      <p:sp>
        <p:nvSpPr>
          <p:cNvPr id="23" name="Rectangle 22"/>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À vous de jouer</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4 exercices pratiques à réaliser dans Word</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83080"/>
            <a:ext cx="11274552" cy="1005840"/>
          </a:xfrm>
          <a:prstGeom prst="rect">
            <a:avLst/>
          </a:prstGeom>
          <a:solidFill>
            <a:srgbClr val="F2F2F2"/>
          </a:solidFill>
          <a:ln w="127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783080"/>
            <a:ext cx="502920" cy="100584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084831"/>
            <a:ext cx="502920" cy="402336"/>
          </a:xfrm>
          <a:prstGeom prst="rect">
            <a:avLst/>
          </a:prstGeom>
          <a:noFill/>
        </p:spPr>
        <p:txBody>
          <a:bodyPr wrap="square">
            <a:spAutoFit/>
          </a:bodyPr>
          <a:lstStyle/>
          <a:p>
            <a:pPr algn="ctr"/>
            <a:r>
              <a:rPr sz="1800" b="1" i="0">
                <a:solidFill>
                  <a:srgbClr val="FFFFFF"/>
                </a:solidFill>
              </a:rPr>
              <a:t>1</a:t>
            </a:r>
          </a:p>
        </p:txBody>
      </p:sp>
      <p:sp>
        <p:nvSpPr>
          <p:cNvPr id="14" name="TextBox 13"/>
          <p:cNvSpPr txBox="1"/>
          <p:nvPr/>
        </p:nvSpPr>
        <p:spPr>
          <a:xfrm>
            <a:off x="1097280" y="1874519"/>
            <a:ext cx="10451592" cy="292608"/>
          </a:xfrm>
          <a:prstGeom prst="rect">
            <a:avLst/>
          </a:prstGeom>
          <a:noFill/>
        </p:spPr>
        <p:txBody>
          <a:bodyPr wrap="square">
            <a:spAutoFit/>
          </a:bodyPr>
          <a:lstStyle/>
          <a:p>
            <a:pPr algn="l"/>
            <a:r>
              <a:rPr sz="1300" b="1" i="0">
                <a:solidFill>
                  <a:srgbClr val="1A3560"/>
                </a:solidFill>
              </a:rPr>
              <a:t>Exercice 42 — Rechercher et remplacer</a:t>
            </a:r>
          </a:p>
        </p:txBody>
      </p:sp>
      <p:sp>
        <p:nvSpPr>
          <p:cNvPr id="15" name="TextBox 14"/>
          <p:cNvSpPr txBox="1"/>
          <p:nvPr/>
        </p:nvSpPr>
        <p:spPr>
          <a:xfrm>
            <a:off x="1097280" y="2185416"/>
            <a:ext cx="10451592" cy="548640"/>
          </a:xfrm>
          <a:prstGeom prst="rect">
            <a:avLst/>
          </a:prstGeom>
          <a:noFill/>
        </p:spPr>
        <p:txBody>
          <a:bodyPr wrap="square">
            <a:spAutoFit/>
          </a:bodyPr>
          <a:lstStyle/>
          <a:p>
            <a:pPr algn="l"/>
            <a:r>
              <a:rPr sz="1100" b="0" i="0">
                <a:solidFill>
                  <a:srgbClr val="595959"/>
                </a:solidFill>
              </a:rPr>
              <a:t>Remplacez un terme répété quinze fois dans un document par un nouveau terme, en une seule opération.</a:t>
            </a:r>
          </a:p>
        </p:txBody>
      </p:sp>
      <p:sp>
        <p:nvSpPr>
          <p:cNvPr id="16" name="Rectangle 15"/>
          <p:cNvSpPr/>
          <p:nvPr/>
        </p:nvSpPr>
        <p:spPr>
          <a:xfrm>
            <a:off x="457200" y="2926080"/>
            <a:ext cx="11274552" cy="1005840"/>
          </a:xfrm>
          <a:prstGeom prst="rect">
            <a:avLst/>
          </a:prstGeom>
          <a:solidFill>
            <a:srgbClr val="FFFFFF"/>
          </a:solidFill>
          <a:ln w="127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926080"/>
            <a:ext cx="502920" cy="100584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227832"/>
            <a:ext cx="502920" cy="402336"/>
          </a:xfrm>
          <a:prstGeom prst="rect">
            <a:avLst/>
          </a:prstGeom>
          <a:noFill/>
        </p:spPr>
        <p:txBody>
          <a:bodyPr wrap="square">
            <a:spAutoFit/>
          </a:bodyPr>
          <a:lstStyle/>
          <a:p>
            <a:pPr algn="ctr"/>
            <a:r>
              <a:rPr sz="1800" b="1" i="0">
                <a:solidFill>
                  <a:srgbClr val="FFFFFF"/>
                </a:solidFill>
              </a:rPr>
              <a:t>2</a:t>
            </a:r>
          </a:p>
        </p:txBody>
      </p:sp>
      <p:sp>
        <p:nvSpPr>
          <p:cNvPr id="19" name="TextBox 18"/>
          <p:cNvSpPr txBox="1"/>
          <p:nvPr/>
        </p:nvSpPr>
        <p:spPr>
          <a:xfrm>
            <a:off x="1097280" y="3017520"/>
            <a:ext cx="10451592" cy="292608"/>
          </a:xfrm>
          <a:prstGeom prst="rect">
            <a:avLst/>
          </a:prstGeom>
          <a:noFill/>
        </p:spPr>
        <p:txBody>
          <a:bodyPr wrap="square">
            <a:spAutoFit/>
          </a:bodyPr>
          <a:lstStyle/>
          <a:p>
            <a:pPr algn="l"/>
            <a:r>
              <a:rPr sz="1300" b="1" i="0">
                <a:solidFill>
                  <a:srgbClr val="1A3560"/>
                </a:solidFill>
              </a:rPr>
              <a:t>Exercice — Enveloppe</a:t>
            </a:r>
          </a:p>
        </p:txBody>
      </p:sp>
      <p:sp>
        <p:nvSpPr>
          <p:cNvPr id="20" name="TextBox 19"/>
          <p:cNvSpPr txBox="1"/>
          <p:nvPr/>
        </p:nvSpPr>
        <p:spPr>
          <a:xfrm>
            <a:off x="1097280" y="3328416"/>
            <a:ext cx="10451592" cy="548640"/>
          </a:xfrm>
          <a:prstGeom prst="rect">
            <a:avLst/>
          </a:prstGeom>
          <a:noFill/>
        </p:spPr>
        <p:txBody>
          <a:bodyPr wrap="square">
            <a:spAutoFit/>
          </a:bodyPr>
          <a:lstStyle/>
          <a:p>
            <a:pPr algn="l"/>
            <a:r>
              <a:rPr sz="1100" b="0" i="0">
                <a:solidFill>
                  <a:srgbClr val="595959"/>
                </a:solidFill>
              </a:rPr>
              <a:t>Créez une enveloppe avec une adresse de livraison et une adresse de retour.</a:t>
            </a:r>
          </a:p>
        </p:txBody>
      </p:sp>
      <p:sp>
        <p:nvSpPr>
          <p:cNvPr id="21" name="Rectangle 20"/>
          <p:cNvSpPr/>
          <p:nvPr/>
        </p:nvSpPr>
        <p:spPr>
          <a:xfrm>
            <a:off x="457200" y="4069080"/>
            <a:ext cx="11274552" cy="1005840"/>
          </a:xfrm>
          <a:prstGeom prst="rect">
            <a:avLst/>
          </a:prstGeom>
          <a:solidFill>
            <a:srgbClr val="F2F2F2"/>
          </a:solidFill>
          <a:ln w="127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069080"/>
            <a:ext cx="502920" cy="100584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370832"/>
            <a:ext cx="502920" cy="402336"/>
          </a:xfrm>
          <a:prstGeom prst="rect">
            <a:avLst/>
          </a:prstGeom>
          <a:noFill/>
        </p:spPr>
        <p:txBody>
          <a:bodyPr wrap="square">
            <a:spAutoFit/>
          </a:bodyPr>
          <a:lstStyle/>
          <a:p>
            <a:pPr algn="ctr"/>
            <a:r>
              <a:rPr sz="1800" b="1" i="0">
                <a:solidFill>
                  <a:srgbClr val="FFFFFF"/>
                </a:solidFill>
              </a:rPr>
              <a:t>3</a:t>
            </a:r>
          </a:p>
        </p:txBody>
      </p:sp>
      <p:sp>
        <p:nvSpPr>
          <p:cNvPr id="24" name="TextBox 23"/>
          <p:cNvSpPr txBox="1"/>
          <p:nvPr/>
        </p:nvSpPr>
        <p:spPr>
          <a:xfrm>
            <a:off x="1097280" y="4160520"/>
            <a:ext cx="10451592" cy="292608"/>
          </a:xfrm>
          <a:prstGeom prst="rect">
            <a:avLst/>
          </a:prstGeom>
          <a:noFill/>
        </p:spPr>
        <p:txBody>
          <a:bodyPr wrap="square">
            <a:spAutoFit/>
          </a:bodyPr>
          <a:lstStyle/>
          <a:p>
            <a:pPr algn="l"/>
            <a:r>
              <a:rPr sz="1300" b="1" i="0">
                <a:solidFill>
                  <a:srgbClr val="1A3560"/>
                </a:solidFill>
              </a:rPr>
              <a:t>Exercice — Étiquettes</a:t>
            </a:r>
          </a:p>
        </p:txBody>
      </p:sp>
      <p:sp>
        <p:nvSpPr>
          <p:cNvPr id="25" name="TextBox 24"/>
          <p:cNvSpPr txBox="1"/>
          <p:nvPr/>
        </p:nvSpPr>
        <p:spPr>
          <a:xfrm>
            <a:off x="1097280" y="4471416"/>
            <a:ext cx="10451592" cy="548640"/>
          </a:xfrm>
          <a:prstGeom prst="rect">
            <a:avLst/>
          </a:prstGeom>
          <a:noFill/>
        </p:spPr>
        <p:txBody>
          <a:bodyPr wrap="square">
            <a:spAutoFit/>
          </a:bodyPr>
          <a:lstStyle/>
          <a:p>
            <a:pPr algn="l"/>
            <a:r>
              <a:rPr sz="1100" b="0" i="0">
                <a:solidFill>
                  <a:srgbClr val="595959"/>
                </a:solidFill>
              </a:rPr>
              <a:t>Générez une planche complète d'étiquettes identiques au format Avery 5160.</a:t>
            </a:r>
          </a:p>
        </p:txBody>
      </p:sp>
      <p:sp>
        <p:nvSpPr>
          <p:cNvPr id="26" name="Rectangle 25"/>
          <p:cNvSpPr/>
          <p:nvPr/>
        </p:nvSpPr>
        <p:spPr>
          <a:xfrm>
            <a:off x="457200" y="5212080"/>
            <a:ext cx="11274552" cy="1005840"/>
          </a:xfrm>
          <a:prstGeom prst="rect">
            <a:avLst/>
          </a:prstGeom>
          <a:solidFill>
            <a:srgbClr val="FFFFFF"/>
          </a:solidFill>
          <a:ln w="127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5212080"/>
            <a:ext cx="502920" cy="100584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513832"/>
            <a:ext cx="502920" cy="402336"/>
          </a:xfrm>
          <a:prstGeom prst="rect">
            <a:avLst/>
          </a:prstGeom>
          <a:noFill/>
        </p:spPr>
        <p:txBody>
          <a:bodyPr wrap="square">
            <a:spAutoFit/>
          </a:bodyPr>
          <a:lstStyle/>
          <a:p>
            <a:pPr algn="ctr"/>
            <a:r>
              <a:rPr sz="1800" b="1" i="0">
                <a:solidFill>
                  <a:srgbClr val="FFFFFF"/>
                </a:solidFill>
              </a:rPr>
              <a:t>4</a:t>
            </a:r>
          </a:p>
        </p:txBody>
      </p:sp>
      <p:sp>
        <p:nvSpPr>
          <p:cNvPr id="29" name="TextBox 28"/>
          <p:cNvSpPr txBox="1"/>
          <p:nvPr/>
        </p:nvSpPr>
        <p:spPr>
          <a:xfrm>
            <a:off x="1097280" y="5303520"/>
            <a:ext cx="10451592" cy="292608"/>
          </a:xfrm>
          <a:prstGeom prst="rect">
            <a:avLst/>
          </a:prstGeom>
          <a:noFill/>
        </p:spPr>
        <p:txBody>
          <a:bodyPr wrap="square">
            <a:spAutoFit/>
          </a:bodyPr>
          <a:lstStyle/>
          <a:p>
            <a:pPr algn="l"/>
            <a:r>
              <a:rPr sz="1300" b="1" i="0">
                <a:solidFill>
                  <a:srgbClr val="1A3560"/>
                </a:solidFill>
              </a:rPr>
              <a:t>Exercice — Index</a:t>
            </a:r>
          </a:p>
        </p:txBody>
      </p:sp>
      <p:sp>
        <p:nvSpPr>
          <p:cNvPr id="30" name="TextBox 29"/>
          <p:cNvSpPr txBox="1"/>
          <p:nvPr/>
        </p:nvSpPr>
        <p:spPr>
          <a:xfrm>
            <a:off x="1097280" y="5614416"/>
            <a:ext cx="10451592" cy="548640"/>
          </a:xfrm>
          <a:prstGeom prst="rect">
            <a:avLst/>
          </a:prstGeom>
          <a:noFill/>
        </p:spPr>
        <p:txBody>
          <a:bodyPr wrap="square">
            <a:spAutoFit/>
          </a:bodyPr>
          <a:lstStyle/>
          <a:p>
            <a:pPr algn="l"/>
            <a:r>
              <a:rPr sz="1100" b="0" i="0">
                <a:solidFill>
                  <a:srgbClr val="595959"/>
                </a:solidFill>
              </a:rPr>
              <a:t>Marquez huit termes importants dans un document et générez l'index correspondant.</a:t>
            </a:r>
          </a:p>
        </p:txBody>
      </p:sp>
      <p:sp>
        <p:nvSpPr>
          <p:cNvPr id="31" name="Rectangle 30"/>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Récapitulatif</a:t>
            </a:r>
          </a:p>
        </p:txBody>
      </p:sp>
      <p:sp>
        <p:nvSpPr>
          <p:cNvPr id="9" name="TextBox 8"/>
          <p:cNvSpPr txBox="1"/>
          <p:nvPr/>
        </p:nvSpPr>
        <p:spPr>
          <a:xfrm>
            <a:off x="457200" y="1188720"/>
            <a:ext cx="11274552" cy="310896"/>
          </a:xfrm>
          <a:prstGeom prst="rect">
            <a:avLst/>
          </a:prstGeom>
          <a:noFill/>
        </p:spPr>
        <p:txBody>
          <a:bodyPr wrap="square">
            <a:spAutoFit/>
          </a:bodyPr>
          <a:lstStyle/>
          <a:p>
            <a:pPr algn="l"/>
            <a:r>
              <a:rPr sz="1350" b="0" i="0">
                <a:solidFill>
                  <a:srgbClr val="595959"/>
                </a:solidFill>
              </a:rPr>
              <a:t>Ce qu'il faut retenir de cette séance</a:t>
            </a:r>
          </a:p>
        </p:txBody>
      </p:sp>
      <p:sp>
        <p:nvSpPr>
          <p:cNvPr id="10" name="Rectangle 9"/>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83080"/>
            <a:ext cx="11274552" cy="7498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783080"/>
            <a:ext cx="91440" cy="749808"/>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1856231"/>
            <a:ext cx="10908792" cy="603504"/>
          </a:xfrm>
          <a:prstGeom prst="rect">
            <a:avLst/>
          </a:prstGeom>
          <a:noFill/>
        </p:spPr>
        <p:txBody>
          <a:bodyPr wrap="square">
            <a:spAutoFit/>
          </a:bodyPr>
          <a:lstStyle/>
          <a:p>
            <a:pPr algn="l"/>
            <a:r>
              <a:rPr sz="1300" b="0" i="0">
                <a:solidFill>
                  <a:srgbClr val="1A3560"/>
                </a:solidFill>
              </a:rPr>
              <a:t>Ctrl+F et Ctrl+H couvrent la majorité des besoins de recherche et de remplacement.</a:t>
            </a:r>
          </a:p>
        </p:txBody>
      </p:sp>
      <p:sp>
        <p:nvSpPr>
          <p:cNvPr id="14" name="Rectangle 13"/>
          <p:cNvSpPr/>
          <p:nvPr/>
        </p:nvSpPr>
        <p:spPr>
          <a:xfrm>
            <a:off x="457200" y="2642616"/>
            <a:ext cx="11274552"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642616"/>
            <a:ext cx="91440" cy="749808"/>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715768"/>
            <a:ext cx="10908792" cy="603504"/>
          </a:xfrm>
          <a:prstGeom prst="rect">
            <a:avLst/>
          </a:prstGeom>
          <a:noFill/>
        </p:spPr>
        <p:txBody>
          <a:bodyPr wrap="square">
            <a:spAutoFit/>
          </a:bodyPr>
          <a:lstStyle/>
          <a:p>
            <a:pPr algn="l"/>
            <a:r>
              <a:rPr sz="1300" b="0" i="0">
                <a:solidFill>
                  <a:srgbClr val="1A3560"/>
                </a:solidFill>
              </a:rPr>
              <a:t>Les caractères génériques permettent des recherches complexes basées sur un motif.</a:t>
            </a:r>
          </a:p>
        </p:txBody>
      </p:sp>
      <p:sp>
        <p:nvSpPr>
          <p:cNvPr id="17" name="Rectangle 16"/>
          <p:cNvSpPr/>
          <p:nvPr/>
        </p:nvSpPr>
        <p:spPr>
          <a:xfrm>
            <a:off x="457200" y="3502152"/>
            <a:ext cx="11274552" cy="7498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502152"/>
            <a:ext cx="91440" cy="749808"/>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575304"/>
            <a:ext cx="10908792" cy="603504"/>
          </a:xfrm>
          <a:prstGeom prst="rect">
            <a:avLst/>
          </a:prstGeom>
          <a:noFill/>
        </p:spPr>
        <p:txBody>
          <a:bodyPr wrap="square">
            <a:spAutoFit/>
          </a:bodyPr>
          <a:lstStyle/>
          <a:p>
            <a:pPr algn="l"/>
            <a:r>
              <a:rPr sz="1300" b="0" i="0">
                <a:solidFill>
                  <a:srgbClr val="1A3560"/>
                </a:solidFill>
              </a:rPr>
              <a:t>Le publipostage génère enveloppes et étiquettes prêtes à l'impression en quelques clics.</a:t>
            </a:r>
          </a:p>
        </p:txBody>
      </p:sp>
      <p:sp>
        <p:nvSpPr>
          <p:cNvPr id="20" name="Rectangle 19"/>
          <p:cNvSpPr/>
          <p:nvPr/>
        </p:nvSpPr>
        <p:spPr>
          <a:xfrm>
            <a:off x="457200" y="4361688"/>
            <a:ext cx="11274552" cy="7498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361688"/>
            <a:ext cx="91440" cy="749808"/>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434840"/>
            <a:ext cx="10908792" cy="603504"/>
          </a:xfrm>
          <a:prstGeom prst="rect">
            <a:avLst/>
          </a:prstGeom>
          <a:noFill/>
        </p:spPr>
        <p:txBody>
          <a:bodyPr wrap="square">
            <a:spAutoFit/>
          </a:bodyPr>
          <a:lstStyle/>
          <a:p>
            <a:pPr algn="l"/>
            <a:r>
              <a:rPr sz="1300" b="0" i="0">
                <a:solidFill>
                  <a:srgbClr val="1A3560"/>
                </a:solidFill>
              </a:rPr>
              <a:t>Un index se construit en marquant des termes puis en générant la liste alphabétique.</a:t>
            </a:r>
          </a:p>
        </p:txBody>
      </p:sp>
      <p:sp>
        <p:nvSpPr>
          <p:cNvPr id="23" name="Rectangle 22"/>
          <p:cNvSpPr/>
          <p:nvPr/>
        </p:nvSpPr>
        <p:spPr>
          <a:xfrm>
            <a:off x="457200" y="5221224"/>
            <a:ext cx="11274552" cy="7498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5221224"/>
            <a:ext cx="91440" cy="749808"/>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294376"/>
            <a:ext cx="10908792" cy="603504"/>
          </a:xfrm>
          <a:prstGeom prst="rect">
            <a:avLst/>
          </a:prstGeom>
          <a:noFill/>
        </p:spPr>
        <p:txBody>
          <a:bodyPr wrap="square">
            <a:spAutoFit/>
          </a:bodyPr>
          <a:lstStyle/>
          <a:p>
            <a:pPr algn="l"/>
            <a:r>
              <a:rPr sz="1300" b="0" i="0">
                <a:solidFill>
                  <a:srgbClr val="1A3560"/>
                </a:solidFill>
              </a:rPr>
              <a:t>Les modèles de lettres intégrés à Word accélèrent la rédaction de courriers professionnels.</a:t>
            </a:r>
          </a:p>
        </p:txBody>
      </p:sp>
      <p:sp>
        <p:nvSpPr>
          <p:cNvPr id="26" name="Rectangle 25"/>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Astuce de pro</a:t>
            </a:r>
          </a:p>
        </p:txBody>
      </p:sp>
      <p:sp>
        <p:nvSpPr>
          <p:cNvPr id="9" name="Rectangle 8"/>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920240"/>
            <a:ext cx="10908792" cy="1463040"/>
          </a:xfrm>
          <a:prstGeom prst="rect">
            <a:avLst/>
          </a:prstGeom>
          <a:solidFill>
            <a:srgbClr val="FFF0E0"/>
          </a:solidFill>
          <a:ln w="254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920240"/>
            <a:ext cx="502920" cy="146304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2450592"/>
            <a:ext cx="393192" cy="402336"/>
          </a:xfrm>
          <a:prstGeom prst="rect">
            <a:avLst/>
          </a:prstGeom>
          <a:noFill/>
        </p:spPr>
        <p:txBody>
          <a:bodyPr wrap="square">
            <a:spAutoFit/>
          </a:bodyPr>
          <a:lstStyle/>
          <a:p>
            <a:pPr algn="ctr"/>
            <a:r>
              <a:rPr sz="2200" b="1" i="0">
                <a:solidFill>
                  <a:srgbClr val="FFFFFF"/>
                </a:solidFill>
              </a:rPr>
              <a:t>★</a:t>
            </a:r>
          </a:p>
        </p:txBody>
      </p:sp>
      <p:sp>
        <p:nvSpPr>
          <p:cNvPr id="13" name="TextBox 12"/>
          <p:cNvSpPr txBox="1"/>
          <p:nvPr/>
        </p:nvSpPr>
        <p:spPr>
          <a:xfrm>
            <a:off x="1234440" y="1993392"/>
            <a:ext cx="10222992" cy="292608"/>
          </a:xfrm>
          <a:prstGeom prst="rect">
            <a:avLst/>
          </a:prstGeom>
          <a:noFill/>
        </p:spPr>
        <p:txBody>
          <a:bodyPr wrap="square">
            <a:spAutoFit/>
          </a:bodyPr>
          <a:lstStyle/>
          <a:p>
            <a:pPr algn="l"/>
            <a:r>
              <a:rPr sz="1400" b="1" i="0">
                <a:solidFill>
                  <a:srgbClr val="002A00"/>
                </a:solidFill>
              </a:rPr>
              <a:t>Vérifiez toujours avant de cliquer sur Remplacer tout</a:t>
            </a:r>
          </a:p>
        </p:txBody>
      </p:sp>
      <p:sp>
        <p:nvSpPr>
          <p:cNvPr id="14" name="TextBox 13"/>
          <p:cNvSpPr txBox="1"/>
          <p:nvPr/>
        </p:nvSpPr>
        <p:spPr>
          <a:xfrm>
            <a:off x="1234440" y="2286000"/>
            <a:ext cx="10222992" cy="1005840"/>
          </a:xfrm>
          <a:prstGeom prst="rect">
            <a:avLst/>
          </a:prstGeom>
          <a:noFill/>
        </p:spPr>
        <p:txBody>
          <a:bodyPr wrap="square">
            <a:spAutoFit/>
          </a:bodyPr>
          <a:lstStyle/>
          <a:p>
            <a:pPr algn="l"/>
            <a:r>
              <a:rPr sz="1200" b="0" i="0">
                <a:solidFill>
                  <a:srgbClr val="595959"/>
                </a:solidFill>
              </a:rPr>
              <a:t>Remplacer tout applique le changement sans confirmation individuelle. Avant de l'utiliser sur un document important, testez d'abord avec Suivant et Remplacer, un par un, sur les premières occurrences pour confirmer que le résultat est celui attendu.</a:t>
            </a:r>
          </a:p>
        </p:txBody>
      </p:sp>
      <p:sp>
        <p:nvSpPr>
          <p:cNvPr id="15" name="TextBox 14"/>
          <p:cNvSpPr txBox="1"/>
          <p:nvPr/>
        </p:nvSpPr>
        <p:spPr>
          <a:xfrm>
            <a:off x="640080" y="3657600"/>
            <a:ext cx="10908792" cy="365760"/>
          </a:xfrm>
          <a:prstGeom prst="rect">
            <a:avLst/>
          </a:prstGeom>
          <a:noFill/>
        </p:spPr>
        <p:txBody>
          <a:bodyPr wrap="square">
            <a:spAutoFit/>
          </a:bodyPr>
          <a:lstStyle/>
          <a:p>
            <a:pPr algn="l"/>
            <a:r>
              <a:rPr sz="1500" b="1" i="0">
                <a:solidFill>
                  <a:srgbClr val="1A3560"/>
                </a:solidFill>
              </a:rPr>
              <a:t>Pièges fréquents à éviter :</a:t>
            </a:r>
          </a:p>
        </p:txBody>
      </p:sp>
      <p:sp>
        <p:nvSpPr>
          <p:cNvPr id="16" name="TextBox 15"/>
          <p:cNvSpPr txBox="1"/>
          <p:nvPr/>
        </p:nvSpPr>
        <p:spPr>
          <a:xfrm>
            <a:off x="822960" y="4114800"/>
            <a:ext cx="10543032" cy="411480"/>
          </a:xfrm>
          <a:prstGeom prst="rect">
            <a:avLst/>
          </a:prstGeom>
          <a:noFill/>
        </p:spPr>
        <p:txBody>
          <a:bodyPr wrap="square">
            <a:spAutoFit/>
          </a:bodyPr>
          <a:lstStyle/>
          <a:p>
            <a:pPr algn="l"/>
            <a:r>
              <a:rPr sz="1250" b="0" i="0">
                <a:solidFill>
                  <a:srgbClr val="595959"/>
                </a:solidFill>
              </a:rPr>
              <a:t>⚠  Utiliser Remplacer tout sans vérifier le nombre de remplacements effectués.</a:t>
            </a:r>
          </a:p>
        </p:txBody>
      </p:sp>
      <p:sp>
        <p:nvSpPr>
          <p:cNvPr id="17" name="TextBox 16"/>
          <p:cNvSpPr txBox="1"/>
          <p:nvPr/>
        </p:nvSpPr>
        <p:spPr>
          <a:xfrm>
            <a:off x="822960" y="4572000"/>
            <a:ext cx="10543032" cy="411480"/>
          </a:xfrm>
          <a:prstGeom prst="rect">
            <a:avLst/>
          </a:prstGeom>
          <a:noFill/>
        </p:spPr>
        <p:txBody>
          <a:bodyPr wrap="square">
            <a:spAutoFit/>
          </a:bodyPr>
          <a:lstStyle/>
          <a:p>
            <a:pPr algn="l"/>
            <a:r>
              <a:rPr sz="1250" b="0" i="0">
                <a:solidFill>
                  <a:srgbClr val="595959"/>
                </a:solidFill>
              </a:rPr>
              <a:t>⚠  Choisir la mauvaise référence de gabarit pour des étiquettes physiques.</a:t>
            </a:r>
          </a:p>
        </p:txBody>
      </p:sp>
      <p:sp>
        <p:nvSpPr>
          <p:cNvPr id="18" name="TextBox 17"/>
          <p:cNvSpPr txBox="1"/>
          <p:nvPr/>
        </p:nvSpPr>
        <p:spPr>
          <a:xfrm>
            <a:off x="822960" y="5029200"/>
            <a:ext cx="10543032" cy="411480"/>
          </a:xfrm>
          <a:prstGeom prst="rect">
            <a:avLst/>
          </a:prstGeom>
          <a:noFill/>
        </p:spPr>
        <p:txBody>
          <a:bodyPr wrap="square">
            <a:spAutoFit/>
          </a:bodyPr>
          <a:lstStyle/>
          <a:p>
            <a:pPr algn="l"/>
            <a:r>
              <a:rPr sz="1250" b="0" i="0">
                <a:solidFill>
                  <a:srgbClr val="595959"/>
                </a:solidFill>
              </a:rPr>
              <a:t>⚠  Marquer trop de termes dans un index, le rendant inutilisable.</a:t>
            </a:r>
          </a:p>
        </p:txBody>
      </p:sp>
      <p:sp>
        <p:nvSpPr>
          <p:cNvPr id="19" name="Rectangle 18"/>
          <p:cNvSpPr/>
          <p:nvPr/>
        </p:nvSpPr>
        <p:spPr>
          <a:xfrm>
            <a:off x="0" y="6693408"/>
            <a:ext cx="12188952" cy="32004"/>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0040" y="6675120"/>
            <a:ext cx="11548872" cy="201168"/>
          </a:xfrm>
          <a:prstGeom prst="rect">
            <a:avLst/>
          </a:prstGeom>
          <a:noFill/>
        </p:spPr>
        <p:txBody>
          <a:bodyPr wrap="square">
            <a:spAutoFit/>
          </a:bodyPr>
          <a:lstStyle/>
          <a:p>
            <a:pPr algn="l"/>
            <a:r>
              <a:rPr sz="850" b="0" i="1">
                <a:solidFill>
                  <a:srgbClr val="AAAAAA"/>
                </a:solidFill>
              </a:rPr>
              <a:t>Séance 10 — Recherche, enveloppes, index et lettres | Formation SAMO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594360"/>
          </a:xfrm>
          <a:prstGeom prst="rect">
            <a:avLst/>
          </a:prstGeom>
          <a:solidFill>
            <a:srgbClr val="1A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
            <a:ext cx="12188952"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2"/>
          <a:stretch>
            <a:fillRect/>
          </a:stretch>
        </p:blipFill>
        <p:spPr>
          <a:xfrm>
            <a:off x="164592" y="109728"/>
            <a:ext cx="1158240" cy="347472"/>
          </a:xfrm>
          <a:prstGeom prst="rect">
            <a:avLst/>
          </a:prstGeom>
        </p:spPr>
      </p:pic>
      <p:sp>
        <p:nvSpPr>
          <p:cNvPr id="5" name="TextBox 4"/>
          <p:cNvSpPr txBox="1"/>
          <p:nvPr/>
        </p:nvSpPr>
        <p:spPr>
          <a:xfrm>
            <a:off x="1426464" y="73152"/>
            <a:ext cx="4754880" cy="237744"/>
          </a:xfrm>
          <a:prstGeom prst="rect">
            <a:avLst/>
          </a:prstGeom>
          <a:noFill/>
        </p:spPr>
        <p:txBody>
          <a:bodyPr wrap="square">
            <a:spAutoFit/>
          </a:bodyPr>
          <a:lstStyle/>
          <a:p>
            <a:pPr algn="l"/>
            <a:r>
              <a:rPr sz="1250" b="0" i="0">
                <a:solidFill>
                  <a:srgbClr val="FFFFFF"/>
                </a:solidFill>
              </a:rPr>
              <a:t>Séance 10 — Recherche, enveloppes, index et modèles de lettres</a:t>
            </a:r>
          </a:p>
        </p:txBody>
      </p:sp>
      <p:sp>
        <p:nvSpPr>
          <p:cNvPr id="6" name="TextBox 5"/>
          <p:cNvSpPr txBox="1"/>
          <p:nvPr/>
        </p:nvSpPr>
        <p:spPr>
          <a:xfrm>
            <a:off x="8714232" y="45720"/>
            <a:ext cx="3291840" cy="246888"/>
          </a:xfrm>
          <a:prstGeom prst="rect">
            <a:avLst/>
          </a:prstGeom>
          <a:noFill/>
        </p:spPr>
        <p:txBody>
          <a:bodyPr wrap="square">
            <a:spAutoFit/>
          </a:bodyPr>
          <a:lstStyle/>
          <a:p>
            <a:pPr algn="r"/>
            <a:r>
              <a:rPr sz="1100" b="1" i="0">
                <a:solidFill>
                  <a:srgbClr val="FFFFFF"/>
                </a:solidFill>
              </a:rPr>
              <a:t>CHAFIK MOUSTAID — FORMATEUR</a:t>
            </a:r>
          </a:p>
        </p:txBody>
      </p:sp>
      <p:sp>
        <p:nvSpPr>
          <p:cNvPr id="7" name="TextBox 6"/>
          <p:cNvSpPr txBox="1"/>
          <p:nvPr/>
        </p:nvSpPr>
        <p:spPr>
          <a:xfrm>
            <a:off x="8714232" y="310896"/>
            <a:ext cx="3291840" cy="182880"/>
          </a:xfrm>
          <a:prstGeom prst="rect">
            <a:avLst/>
          </a:prstGeom>
          <a:noFill/>
        </p:spPr>
        <p:txBody>
          <a:bodyPr wrap="square">
            <a:spAutoFit/>
          </a:bodyPr>
          <a:lstStyle/>
          <a:p>
            <a:pPr algn="r"/>
            <a:r>
              <a:rPr sz="900" b="0" i="0">
                <a:solidFill>
                  <a:srgbClr val="99BB99"/>
                </a:solidFill>
              </a:rPr>
              <a:t>Version 1 — Juillet 2026</a:t>
            </a:r>
          </a:p>
        </p:txBody>
      </p:sp>
      <p:sp>
        <p:nvSpPr>
          <p:cNvPr id="8" name="TextBox 7"/>
          <p:cNvSpPr txBox="1"/>
          <p:nvPr/>
        </p:nvSpPr>
        <p:spPr>
          <a:xfrm>
            <a:off x="457200" y="685800"/>
            <a:ext cx="11274552" cy="530352"/>
          </a:xfrm>
          <a:prstGeom prst="rect">
            <a:avLst/>
          </a:prstGeom>
          <a:noFill/>
        </p:spPr>
        <p:txBody>
          <a:bodyPr wrap="square">
            <a:spAutoFit/>
          </a:bodyPr>
          <a:lstStyle/>
          <a:p>
            <a:pPr algn="l"/>
            <a:r>
              <a:rPr sz="2700" b="1" i="0">
                <a:solidFill>
                  <a:srgbClr val="1A3560"/>
                </a:solidFill>
              </a:rPr>
              <a:t>Compétences acquises — À valider avec votre formateur</a:t>
            </a:r>
          </a:p>
        </p:txBody>
      </p:sp>
      <p:sp>
        <p:nvSpPr>
          <p:cNvPr id="9" name="Rectangle 8"/>
          <p:cNvSpPr/>
          <p:nvPr/>
        </p:nvSpPr>
        <p:spPr>
          <a:xfrm>
            <a:off x="457200" y="1463040"/>
            <a:ext cx="1280160" cy="45720"/>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84048" y="1746504"/>
            <a:ext cx="384048" cy="384048"/>
          </a:xfrm>
          <a:prstGeom prst="rect">
            <a:avLst/>
          </a:prstGeom>
          <a:solidFill>
            <a:srgbClr val="FFFFFF"/>
          </a:solidFill>
          <a:ln w="254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1719072"/>
            <a:ext cx="384048" cy="384048"/>
          </a:xfrm>
          <a:prstGeom prst="rect">
            <a:avLst/>
          </a:prstGeom>
          <a:noFill/>
        </p:spPr>
        <p:txBody>
          <a:bodyPr wrap="square">
            <a:spAutoFit/>
          </a:bodyPr>
          <a:lstStyle/>
          <a:p>
            <a:pPr algn="ctr"/>
            <a:r>
              <a:rPr sz="1700" b="1" i="0">
                <a:solidFill>
                  <a:srgbClr val="2D7A1F"/>
                </a:solidFill>
              </a:rPr>
              <a:t>☐</a:t>
            </a:r>
          </a:p>
        </p:txBody>
      </p:sp>
      <p:sp>
        <p:nvSpPr>
          <p:cNvPr id="12" name="Rectangle 11"/>
          <p:cNvSpPr/>
          <p:nvPr/>
        </p:nvSpPr>
        <p:spPr>
          <a:xfrm>
            <a:off x="896112" y="1719072"/>
            <a:ext cx="10890504"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773936"/>
            <a:ext cx="10725912" cy="329184"/>
          </a:xfrm>
          <a:prstGeom prst="rect">
            <a:avLst/>
          </a:prstGeom>
          <a:noFill/>
        </p:spPr>
        <p:txBody>
          <a:bodyPr wrap="square">
            <a:spAutoFit/>
          </a:bodyPr>
          <a:lstStyle/>
          <a:p>
            <a:pPr algn="l"/>
            <a:r>
              <a:rPr sz="1250" b="0" i="0">
                <a:solidFill>
                  <a:srgbClr val="1A3560"/>
                </a:solidFill>
              </a:rPr>
              <a:t>Je sais utiliser la recherche simple pour retrouver un mot rapidement.</a:t>
            </a:r>
          </a:p>
        </p:txBody>
      </p:sp>
      <p:sp>
        <p:nvSpPr>
          <p:cNvPr id="14" name="Rectangle 13"/>
          <p:cNvSpPr/>
          <p:nvPr/>
        </p:nvSpPr>
        <p:spPr>
          <a:xfrm>
            <a:off x="384048" y="2322576"/>
            <a:ext cx="384048" cy="384048"/>
          </a:xfrm>
          <a:prstGeom prst="rect">
            <a:avLst/>
          </a:prstGeom>
          <a:solidFill>
            <a:srgbClr val="FFFFFF"/>
          </a:solidFill>
          <a:ln w="254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2295144"/>
            <a:ext cx="384048" cy="384048"/>
          </a:xfrm>
          <a:prstGeom prst="rect">
            <a:avLst/>
          </a:prstGeom>
          <a:noFill/>
        </p:spPr>
        <p:txBody>
          <a:bodyPr wrap="square">
            <a:spAutoFit/>
          </a:bodyPr>
          <a:lstStyle/>
          <a:p>
            <a:pPr algn="ctr"/>
            <a:r>
              <a:rPr sz="1700" b="1" i="0">
                <a:solidFill>
                  <a:srgbClr val="2D7A1F"/>
                </a:solidFill>
              </a:rPr>
              <a:t>☐</a:t>
            </a:r>
          </a:p>
        </p:txBody>
      </p:sp>
      <p:sp>
        <p:nvSpPr>
          <p:cNvPr id="16" name="Rectangle 15"/>
          <p:cNvSpPr/>
          <p:nvPr/>
        </p:nvSpPr>
        <p:spPr>
          <a:xfrm>
            <a:off x="896112" y="2295144"/>
            <a:ext cx="10890504"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350008"/>
            <a:ext cx="10725912" cy="329184"/>
          </a:xfrm>
          <a:prstGeom prst="rect">
            <a:avLst/>
          </a:prstGeom>
          <a:noFill/>
        </p:spPr>
        <p:txBody>
          <a:bodyPr wrap="square">
            <a:spAutoFit/>
          </a:bodyPr>
          <a:lstStyle/>
          <a:p>
            <a:pPr algn="l"/>
            <a:r>
              <a:rPr sz="1250" b="0" i="0">
                <a:solidFill>
                  <a:srgbClr val="595959"/>
                </a:solidFill>
              </a:rPr>
              <a:t>Je sais utiliser Rechercher et remplacer avec les options avancées.</a:t>
            </a:r>
          </a:p>
        </p:txBody>
      </p:sp>
      <p:sp>
        <p:nvSpPr>
          <p:cNvPr id="18" name="Rectangle 17"/>
          <p:cNvSpPr/>
          <p:nvPr/>
        </p:nvSpPr>
        <p:spPr>
          <a:xfrm>
            <a:off x="384048" y="2898648"/>
            <a:ext cx="384048" cy="384048"/>
          </a:xfrm>
          <a:prstGeom prst="rect">
            <a:avLst/>
          </a:prstGeom>
          <a:solidFill>
            <a:srgbClr val="FFFFFF"/>
          </a:solidFill>
          <a:ln w="254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2871216"/>
            <a:ext cx="384048" cy="384048"/>
          </a:xfrm>
          <a:prstGeom prst="rect">
            <a:avLst/>
          </a:prstGeom>
          <a:noFill/>
        </p:spPr>
        <p:txBody>
          <a:bodyPr wrap="square">
            <a:spAutoFit/>
          </a:bodyPr>
          <a:lstStyle/>
          <a:p>
            <a:pPr algn="ctr"/>
            <a:r>
              <a:rPr sz="1700" b="1" i="0">
                <a:solidFill>
                  <a:srgbClr val="2D7A1F"/>
                </a:solidFill>
              </a:rPr>
              <a:t>☐</a:t>
            </a:r>
          </a:p>
        </p:txBody>
      </p:sp>
      <p:sp>
        <p:nvSpPr>
          <p:cNvPr id="20" name="Rectangle 19"/>
          <p:cNvSpPr/>
          <p:nvPr/>
        </p:nvSpPr>
        <p:spPr>
          <a:xfrm>
            <a:off x="896112" y="2871216"/>
            <a:ext cx="10890504"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2926080"/>
            <a:ext cx="10725912" cy="329184"/>
          </a:xfrm>
          <a:prstGeom prst="rect">
            <a:avLst/>
          </a:prstGeom>
          <a:noFill/>
        </p:spPr>
        <p:txBody>
          <a:bodyPr wrap="square">
            <a:spAutoFit/>
          </a:bodyPr>
          <a:lstStyle/>
          <a:p>
            <a:pPr algn="l"/>
            <a:r>
              <a:rPr sz="1250" b="0" i="0">
                <a:solidFill>
                  <a:srgbClr val="1A3560"/>
                </a:solidFill>
              </a:rPr>
              <a:t>Je sais créer et imprimer une enveloppe.</a:t>
            </a:r>
          </a:p>
        </p:txBody>
      </p:sp>
      <p:sp>
        <p:nvSpPr>
          <p:cNvPr id="22" name="Rectangle 21"/>
          <p:cNvSpPr/>
          <p:nvPr/>
        </p:nvSpPr>
        <p:spPr>
          <a:xfrm>
            <a:off x="384048" y="3474720"/>
            <a:ext cx="384048" cy="384048"/>
          </a:xfrm>
          <a:prstGeom prst="rect">
            <a:avLst/>
          </a:prstGeom>
          <a:solidFill>
            <a:srgbClr val="FFFFFF"/>
          </a:solidFill>
          <a:ln w="254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3447288"/>
            <a:ext cx="384048" cy="384048"/>
          </a:xfrm>
          <a:prstGeom prst="rect">
            <a:avLst/>
          </a:prstGeom>
          <a:noFill/>
        </p:spPr>
        <p:txBody>
          <a:bodyPr wrap="square">
            <a:spAutoFit/>
          </a:bodyPr>
          <a:lstStyle/>
          <a:p>
            <a:pPr algn="ctr"/>
            <a:r>
              <a:rPr sz="1700" b="1" i="0">
                <a:solidFill>
                  <a:srgbClr val="2D7A1F"/>
                </a:solidFill>
              </a:rPr>
              <a:t>☐</a:t>
            </a:r>
          </a:p>
        </p:txBody>
      </p:sp>
      <p:sp>
        <p:nvSpPr>
          <p:cNvPr id="24" name="Rectangle 23"/>
          <p:cNvSpPr/>
          <p:nvPr/>
        </p:nvSpPr>
        <p:spPr>
          <a:xfrm>
            <a:off x="896112" y="3447288"/>
            <a:ext cx="10890504"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3502152"/>
            <a:ext cx="10725912" cy="329184"/>
          </a:xfrm>
          <a:prstGeom prst="rect">
            <a:avLst/>
          </a:prstGeom>
          <a:noFill/>
        </p:spPr>
        <p:txBody>
          <a:bodyPr wrap="square">
            <a:spAutoFit/>
          </a:bodyPr>
          <a:lstStyle/>
          <a:p>
            <a:pPr algn="l"/>
            <a:r>
              <a:rPr sz="1250" b="0" i="0">
                <a:solidFill>
                  <a:srgbClr val="595959"/>
                </a:solidFill>
              </a:rPr>
              <a:t>Je sais générer une planche d'étiquettes personnalisées.</a:t>
            </a:r>
          </a:p>
        </p:txBody>
      </p:sp>
      <p:sp>
        <p:nvSpPr>
          <p:cNvPr id="26" name="Rectangle 25"/>
          <p:cNvSpPr/>
          <p:nvPr/>
        </p:nvSpPr>
        <p:spPr>
          <a:xfrm>
            <a:off x="384048" y="4050791"/>
            <a:ext cx="384048" cy="384048"/>
          </a:xfrm>
          <a:prstGeom prst="rect">
            <a:avLst/>
          </a:prstGeom>
          <a:solidFill>
            <a:srgbClr val="FFFFFF"/>
          </a:solidFill>
          <a:ln w="254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4023360"/>
            <a:ext cx="384048" cy="384048"/>
          </a:xfrm>
          <a:prstGeom prst="rect">
            <a:avLst/>
          </a:prstGeom>
          <a:noFill/>
        </p:spPr>
        <p:txBody>
          <a:bodyPr wrap="square">
            <a:spAutoFit/>
          </a:bodyPr>
          <a:lstStyle/>
          <a:p>
            <a:pPr algn="ctr"/>
            <a:r>
              <a:rPr sz="1700" b="1" i="0">
                <a:solidFill>
                  <a:srgbClr val="2D7A1F"/>
                </a:solidFill>
              </a:rPr>
              <a:t>☐</a:t>
            </a:r>
          </a:p>
        </p:txBody>
      </p:sp>
      <p:sp>
        <p:nvSpPr>
          <p:cNvPr id="28" name="Rectangle 27"/>
          <p:cNvSpPr/>
          <p:nvPr/>
        </p:nvSpPr>
        <p:spPr>
          <a:xfrm>
            <a:off x="896112" y="4023360"/>
            <a:ext cx="10890504"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078224"/>
            <a:ext cx="10725912" cy="329184"/>
          </a:xfrm>
          <a:prstGeom prst="rect">
            <a:avLst/>
          </a:prstGeom>
          <a:noFill/>
        </p:spPr>
        <p:txBody>
          <a:bodyPr wrap="square">
            <a:spAutoFit/>
          </a:bodyPr>
          <a:lstStyle/>
          <a:p>
            <a:pPr algn="l"/>
            <a:r>
              <a:rPr sz="1250" b="0" i="0">
                <a:solidFill>
                  <a:srgbClr val="1A3560"/>
                </a:solidFill>
              </a:rPr>
              <a:t>Je sais marquer des entrées et créer un index.</a:t>
            </a:r>
          </a:p>
        </p:txBody>
      </p:sp>
      <p:sp>
        <p:nvSpPr>
          <p:cNvPr id="30" name="Rectangle 29"/>
          <p:cNvSpPr/>
          <p:nvPr/>
        </p:nvSpPr>
        <p:spPr>
          <a:xfrm>
            <a:off x="384048" y="4626864"/>
            <a:ext cx="384048" cy="384048"/>
          </a:xfrm>
          <a:prstGeom prst="rect">
            <a:avLst/>
          </a:prstGeom>
          <a:solidFill>
            <a:srgbClr val="FFFFFF"/>
          </a:solidFill>
          <a:ln w="254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4599432"/>
            <a:ext cx="384048" cy="384048"/>
          </a:xfrm>
          <a:prstGeom prst="rect">
            <a:avLst/>
          </a:prstGeom>
          <a:noFill/>
        </p:spPr>
        <p:txBody>
          <a:bodyPr wrap="square">
            <a:spAutoFit/>
          </a:bodyPr>
          <a:lstStyle/>
          <a:p>
            <a:pPr algn="ctr"/>
            <a:r>
              <a:rPr sz="1700" b="1" i="0">
                <a:solidFill>
                  <a:srgbClr val="2D7A1F"/>
                </a:solidFill>
              </a:rPr>
              <a:t>☐</a:t>
            </a:r>
          </a:p>
        </p:txBody>
      </p:sp>
      <p:sp>
        <p:nvSpPr>
          <p:cNvPr id="32" name="Rectangle 31"/>
          <p:cNvSpPr/>
          <p:nvPr/>
        </p:nvSpPr>
        <p:spPr>
          <a:xfrm>
            <a:off x="896112" y="4599432"/>
            <a:ext cx="10890504"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4654296"/>
            <a:ext cx="10725912" cy="329184"/>
          </a:xfrm>
          <a:prstGeom prst="rect">
            <a:avLst/>
          </a:prstGeom>
          <a:noFill/>
        </p:spPr>
        <p:txBody>
          <a:bodyPr wrap="square">
            <a:spAutoFit/>
          </a:bodyPr>
          <a:lstStyle/>
          <a:p>
            <a:pPr algn="l"/>
            <a:r>
              <a:rPr sz="1250" b="0" i="0">
                <a:solidFill>
                  <a:srgbClr val="595959"/>
                </a:solidFill>
              </a:rPr>
              <a:t>Je sais mettre à jour ou supprimer un index existant.</a:t>
            </a:r>
          </a:p>
        </p:txBody>
      </p:sp>
      <p:sp>
        <p:nvSpPr>
          <p:cNvPr id="34" name="Rectangle 33"/>
          <p:cNvSpPr/>
          <p:nvPr/>
        </p:nvSpPr>
        <p:spPr>
          <a:xfrm>
            <a:off x="384048" y="5202936"/>
            <a:ext cx="384048" cy="384048"/>
          </a:xfrm>
          <a:prstGeom prst="rect">
            <a:avLst/>
          </a:prstGeom>
          <a:solidFill>
            <a:srgbClr val="FFFFFF"/>
          </a:solidFill>
          <a:ln w="254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048" y="5175504"/>
            <a:ext cx="384048" cy="384048"/>
          </a:xfrm>
          <a:prstGeom prst="rect">
            <a:avLst/>
          </a:prstGeom>
          <a:noFill/>
        </p:spPr>
        <p:txBody>
          <a:bodyPr wrap="square">
            <a:spAutoFit/>
          </a:bodyPr>
          <a:lstStyle/>
          <a:p>
            <a:pPr algn="ctr"/>
            <a:r>
              <a:rPr sz="1700" b="1" i="0">
                <a:solidFill>
                  <a:srgbClr val="2D7A1F"/>
                </a:solidFill>
              </a:rPr>
              <a:t>☐</a:t>
            </a:r>
          </a:p>
        </p:txBody>
      </p:sp>
      <p:sp>
        <p:nvSpPr>
          <p:cNvPr id="36" name="Rectangle 35"/>
          <p:cNvSpPr/>
          <p:nvPr/>
        </p:nvSpPr>
        <p:spPr>
          <a:xfrm>
            <a:off x="896112" y="5175504"/>
            <a:ext cx="10890504" cy="457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5230368"/>
            <a:ext cx="10725912" cy="329184"/>
          </a:xfrm>
          <a:prstGeom prst="rect">
            <a:avLst/>
          </a:prstGeom>
          <a:noFill/>
        </p:spPr>
        <p:txBody>
          <a:bodyPr wrap="square">
            <a:spAutoFit/>
          </a:bodyPr>
          <a:lstStyle/>
          <a:p>
            <a:pPr algn="l"/>
            <a:r>
              <a:rPr sz="1250" b="0" i="0">
                <a:solidFill>
                  <a:srgbClr val="1A3560"/>
                </a:solidFill>
              </a:rPr>
              <a:t>Je connais au moins deux styles de lettres professionnelles.</a:t>
            </a:r>
          </a:p>
        </p:txBody>
      </p:sp>
      <p:sp>
        <p:nvSpPr>
          <p:cNvPr id="38" name="Rectangle 37"/>
          <p:cNvSpPr/>
          <p:nvPr/>
        </p:nvSpPr>
        <p:spPr>
          <a:xfrm>
            <a:off x="384048" y="5779007"/>
            <a:ext cx="384048" cy="384048"/>
          </a:xfrm>
          <a:prstGeom prst="rect">
            <a:avLst/>
          </a:prstGeom>
          <a:solidFill>
            <a:srgbClr val="FFFFFF"/>
          </a:solidFill>
          <a:ln w="25400">
            <a:solidFill>
              <a:srgbClr val="2D7A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4048" y="5751576"/>
            <a:ext cx="384048" cy="384048"/>
          </a:xfrm>
          <a:prstGeom prst="rect">
            <a:avLst/>
          </a:prstGeom>
          <a:noFill/>
        </p:spPr>
        <p:txBody>
          <a:bodyPr wrap="square">
            <a:spAutoFit/>
          </a:bodyPr>
          <a:lstStyle/>
          <a:p>
            <a:pPr algn="ctr"/>
            <a:r>
              <a:rPr sz="1700" b="1" i="0">
                <a:solidFill>
                  <a:srgbClr val="2D7A1F"/>
                </a:solidFill>
              </a:rPr>
              <a:t>☐</a:t>
            </a:r>
          </a:p>
        </p:txBody>
      </p:sp>
      <p:sp>
        <p:nvSpPr>
          <p:cNvPr id="40" name="Rectangle 39"/>
          <p:cNvSpPr/>
          <p:nvPr/>
        </p:nvSpPr>
        <p:spPr>
          <a:xfrm>
            <a:off x="896112" y="5751576"/>
            <a:ext cx="10890504"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 y="5806440"/>
            <a:ext cx="10725912" cy="329184"/>
          </a:xfrm>
          <a:prstGeom prst="rect">
            <a:avLst/>
          </a:prstGeom>
          <a:noFill/>
        </p:spPr>
        <p:txBody>
          <a:bodyPr wrap="square">
            <a:spAutoFit/>
          </a:bodyPr>
          <a:lstStyle/>
          <a:p>
            <a:pPr algn="l"/>
            <a:r>
              <a:rPr sz="1250" b="0" i="0">
                <a:solidFill>
                  <a:srgbClr val="595959"/>
                </a:solidFill>
              </a:rPr>
              <a:t>Je sais utiliser un modèle de lettre intégré à Word.</a:t>
            </a:r>
          </a:p>
        </p:txBody>
      </p:sp>
      <p:sp>
        <p:nvSpPr>
          <p:cNvPr id="42" name="Rectangle 41"/>
          <p:cNvSpPr/>
          <p:nvPr/>
        </p:nvSpPr>
        <p:spPr>
          <a:xfrm>
            <a:off x="384048" y="6419088"/>
            <a:ext cx="11420856" cy="256032"/>
          </a:xfrm>
          <a:prstGeom prst="rect">
            <a:avLst/>
          </a:prstGeom>
          <a:solidFill>
            <a:srgbClr val="2D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 y="6409944"/>
            <a:ext cx="11237976" cy="310896"/>
          </a:xfrm>
          <a:prstGeom prst="rect">
            <a:avLst/>
          </a:prstGeom>
          <a:noFill/>
        </p:spPr>
        <p:txBody>
          <a:bodyPr wrap="square">
            <a:spAutoFit/>
          </a:bodyPr>
          <a:lstStyle/>
          <a:p>
            <a:pPr algn="ctr"/>
            <a:r>
              <a:rPr sz="1150" b="1" i="0">
                <a:solidFill>
                  <a:srgbClr val="FFFFFF"/>
                </a:solidFill>
              </a:rPr>
              <a:t>FIN SÉANCE 10 — Valider avec votre formateur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