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944" y="-9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9D048-2ECD-4283-8E9D-5F08EC66CB48}" type="datetimeFigureOut">
              <a:rPr lang="fr-CA" smtClean="0"/>
              <a:t>2026-07-06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5EF82-5A54-44DC-AC1C-E359BA973B8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2780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2B4E"/>
                </a:solidFill>
              </a:rPr>
              <a:t>TECHNIQUE SUPPORT INFORMATIQUE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B4E"/>
                </a:solidFill>
              </a:rPr>
              <a:t>Séance 2 : Carte mère, CPU et RAM — Diagnostic matériel approfondi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0" y="3063240"/>
            <a:ext cx="1828800" cy="64008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A7A"/>
                </a:solidFill>
              </a:rPr>
              <a:t>Manuel de Formation Maître  —  Durée : 4 Heures  —  Niveau 1–2  —  Formation distance individuelle Teams</a:t>
            </a:r>
            <a:endParaRPr lang="en-US" sz="110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2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62150" y="37515"/>
            <a:ext cx="1915175" cy="203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📋  SOMMAIRE DE LA SÉANCE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88720"/>
            <a:ext cx="41605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1280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C24A"/>
                </a:solidFill>
              </a:rPr>
              <a:t>BLOC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5910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B4E"/>
                </a:solidFill>
              </a:rPr>
              <a:t>Rappel logique Séance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377440"/>
            <a:ext cx="41605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C24A"/>
                </a:solidFill>
              </a:rPr>
              <a:t>BLOC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2779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B4E"/>
                </a:solidFill>
              </a:rPr>
              <a:t>Carte mère : rôle et diagnostic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3566160"/>
            <a:ext cx="41605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C24A"/>
                </a:solidFill>
              </a:rPr>
              <a:t>BLOC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9684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B4E"/>
                </a:solidFill>
              </a:rPr>
              <a:t>Processeur (CPU) : fonctionnement et pannes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82312" y="1188720"/>
            <a:ext cx="41605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1280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C24A"/>
                </a:solidFill>
              </a:rPr>
              <a:t>BLOC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10328" y="15910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B4E"/>
                </a:solidFill>
              </a:rPr>
              <a:t>RAM : cause n°1 des pannes aléatoires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82312" y="2377440"/>
            <a:ext cx="41605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0328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C24A"/>
                </a:solidFill>
              </a:rPr>
              <a:t>BLOC 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0328" y="2779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B4E"/>
                </a:solidFill>
              </a:rPr>
              <a:t>Méthodologie ciblée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82312" y="3566160"/>
            <a:ext cx="41605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0328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C24A"/>
                </a:solidFill>
              </a:rPr>
              <a:t>BLOC 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0328" y="39684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B4E"/>
                </a:solidFill>
              </a:rPr>
              <a:t>Exercices pratiques de synthèse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3464" y="470916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7A7A"/>
                </a:solidFill>
              </a:rPr>
              <a:t>Chaque bloc s'imbrique logiquement pour former la grille de diagnostic du technicien.</a:t>
            </a:r>
            <a:endParaRPr lang="en-US" sz="1050" dirty="0"/>
          </a:p>
        </p:txBody>
      </p:sp>
      <p:pic>
        <p:nvPicPr>
          <p:cNvPr id="38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30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75488"/>
            <a:ext cx="64008" cy="4663440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BLOC 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C24A"/>
                </a:solidFill>
              </a:rPr>
              <a:t>Rappel logique de la Séance 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7A7A"/>
                </a:solidFill>
              </a:rPr>
              <a:t>≈ 10 minutes</a:t>
            </a:r>
            <a:endParaRPr lang="en-US" sz="120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2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🔁  UN PC NE TOMBE PAS EN PANNE « AU HASARD »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7043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52B4E"/>
                </a:solidFill>
              </a:rPr>
              <a:t>Pour quelqu'un qui vient du bâtiment, de la mécanique ou du camionnage 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1450" y="1536192"/>
            <a:ext cx="4446270" cy="1243584"/>
          </a:xfrm>
          <a:prstGeom prst="roundRect">
            <a:avLst>
              <a:gd name="adj" fmla="val 3871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450" y="1536192"/>
            <a:ext cx="45719" cy="1243584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164592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A0"/>
                </a:solidFill>
              </a:rPr>
              <a:t>🔧  Analogie métier 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8125" y="1938528"/>
            <a:ext cx="4333875" cy="70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Mécanique : voiture qui ne démarre pas → vérifier la batterie AVANT le moteur.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Bâtiment : prise HS → contrôler le disjoncteur AVANT de changer la prise.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Informatique : même logique — on remonte toujours depuis la source d'énergie.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5072" y="2904488"/>
            <a:ext cx="4422648" cy="701552"/>
          </a:xfrm>
          <a:prstGeom prst="roundRect">
            <a:avLst>
              <a:gd name="adj" fmla="val 8333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5072" y="2904488"/>
            <a:ext cx="45720" cy="658368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938" y="2992755"/>
            <a:ext cx="3950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A0"/>
                </a:solidFill>
              </a:rPr>
              <a:t>🎓  Objectif 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" y="3192677"/>
            <a:ext cx="3917397" cy="29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Identifier à quelle ÉTAPE exacte un PC s'est arrêté.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Observer, puis tester méthodiquement. Jamais supposer.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7932" y="3721608"/>
            <a:ext cx="4399788" cy="640080"/>
          </a:xfrm>
          <a:prstGeom prst="roundRect">
            <a:avLst>
              <a:gd name="adj" fmla="val 9677"/>
            </a:avLst>
          </a:prstGeom>
          <a:solidFill>
            <a:srgbClr val="FDE8E8"/>
          </a:solidFill>
          <a:ln w="15240">
            <a:solidFill>
              <a:srgbClr val="D002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4597" y="3721608"/>
            <a:ext cx="45719" cy="64008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8587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Plus de 70 % des pannes surviennent AVANT le chargement de Windows.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→ Pas besoin de connaître Windows pour les diagnostiquer !</a:t>
            </a:r>
            <a:endParaRPr lang="en-US" sz="1050" dirty="0"/>
          </a:p>
        </p:txBody>
      </p:sp>
      <p:pic>
        <p:nvPicPr>
          <p:cNvPr id="22" name="Image 0" descr="Schéma chaîne de démarr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17720" y="1170432"/>
            <a:ext cx="4178808" cy="32186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617720" y="4434840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A7A7A"/>
                </a:solidFill>
              </a:rPr>
              <a:t>Schéma pédagogique — SAMO Formation</a:t>
            </a:r>
            <a:endParaRPr lang="en-US" sz="750" dirty="0"/>
          </a:p>
        </p:txBody>
      </p:sp>
      <p:pic>
        <p:nvPicPr>
          <p:cNvPr id="33" name="LogoSam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24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75488"/>
            <a:ext cx="64008" cy="4663440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BLOC 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C24A"/>
                </a:solidFill>
              </a:rPr>
              <a:t>Carte mère : rôle réel et diagnostic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7A7A"/>
                </a:solidFill>
              </a:rPr>
              <a:t>≈ 1 heure</a:t>
            </a:r>
            <a:endParaRPr lang="en-US" sz="120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2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🖥️  RÔLE TECHNIQUE RÉEL DE LA CARTE MÈRE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8449056" cy="566928"/>
          </a:xfrm>
          <a:prstGeom prst="roundRect">
            <a:avLst>
              <a:gd name="adj" fmla="val 9677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143000"/>
            <a:ext cx="45720" cy="566928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1252728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Imaginez la carte mère comme le coffret électrique principal d'un chantier : elle distribue le courant, relie tous les composants et coordonne le démarrage. Sans elle, rien ne fonctionne.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1810512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1938528"/>
            <a:ext cx="384048" cy="384048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19019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B4E"/>
                </a:solidFill>
              </a:rPr>
              <a:t>Distribution électrique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22199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</a:rPr>
              <a:t>Achemine les tensions ATX (+12V, +5V, +3.3V) vers chaque composant via les VRM. Comme un tableau électrique qui distribue le courant sur un chantier.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82312" y="1810512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0328" y="1938528"/>
            <a:ext cx="384048" cy="384048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67528" y="19019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B4E"/>
                </a:solidFill>
              </a:rPr>
              <a:t>Bus de communication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67528" y="222199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</a:rPr>
              <a:t>Fait transiter les données entre CPU, RAM, GPU et stockage. Comme les tuyaux hydrauliques d'un engin de chantier.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310896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236976"/>
            <a:ext cx="384048" cy="384048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3200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B4E"/>
                </a:solidFill>
              </a:rPr>
              <a:t>Initialisation matérielle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352044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</a:rPr>
              <a:t>Lance le POST (auto-test) via le BIOS/UEFI au démarrage. Vérifie que tout est présent avant de passer la main à Windows.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82312" y="310896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0328" y="3236976"/>
            <a:ext cx="384048" cy="384048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67528" y="3200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B4E"/>
                </a:solidFill>
              </a:rPr>
              <a:t>Contrôleurs intégrés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67528" y="352044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</a:rPr>
              <a:t>Gère directement les ports USB, SATA, PCIe, audio et réseau. Tout ce qu'on branche passe obligatoirement par elle.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4498848"/>
            <a:ext cx="8449056" cy="438144"/>
          </a:xfrm>
          <a:prstGeom prst="roundRect">
            <a:avLst>
              <a:gd name="adj" fmla="val 14286"/>
            </a:avLst>
          </a:prstGeom>
          <a:solidFill>
            <a:srgbClr val="FFF3DC"/>
          </a:solidFill>
          <a:ln w="15240">
            <a:solidFill>
              <a:srgbClr val="E07B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498848"/>
            <a:ext cx="45720" cy="38404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" y="4608576"/>
            <a:ext cx="8266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Si la carte mère est défaillante → le PC peut ne pas s'allumer, s'allumer partiellement ou démarrer aléatoirement. On la suspecte EN DERNIER (après PSU, RAM et CPU).</a:t>
            </a:r>
            <a:endParaRPr lang="en-US" sz="1000" dirty="0"/>
          </a:p>
        </p:txBody>
      </p:sp>
      <p:pic>
        <p:nvPicPr>
          <p:cNvPr id="45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36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🔍  ANATOMIE D'UNE CARTE MÈRE — Vue complète (1/2)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462272"/>
            <a:ext cx="5084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Carte mère ATX — Vue complète — Photo réelle</a:t>
            </a:r>
            <a:endParaRPr lang="en-US" sz="85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71" y="1164581"/>
            <a:ext cx="3191025" cy="3759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Rectangle 37"/>
          <p:cNvSpPr/>
          <p:nvPr/>
        </p:nvSpPr>
        <p:spPr>
          <a:xfrm>
            <a:off x="3895805" y="1143680"/>
            <a:ext cx="5028739" cy="21236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numCol="1">
            <a:spAutoFit/>
          </a:bodyPr>
          <a:lstStyle/>
          <a:p>
            <a:r>
              <a:rPr lang="fr-CA" sz="1200" dirty="0" smtClean="0">
                <a:solidFill>
                  <a:srgbClr val="FF0000"/>
                </a:solidFill>
              </a:rPr>
              <a:t>1</a:t>
            </a:r>
            <a:r>
              <a:rPr lang="fr-CA" sz="1200" dirty="0" smtClean="0"/>
              <a:t>   : </a:t>
            </a:r>
            <a:r>
              <a:rPr lang="fr-CA" sz="1200" dirty="0"/>
              <a:t>Le connecteur d'alimentation du processeur.</a:t>
            </a:r>
            <a:br>
              <a:rPr lang="fr-CA" sz="1200" dirty="0"/>
            </a:br>
            <a:r>
              <a:rPr lang="fr-CA" sz="1200" dirty="0" smtClean="0">
                <a:solidFill>
                  <a:srgbClr val="FF0000"/>
                </a:solidFill>
              </a:rPr>
              <a:t>2  </a:t>
            </a:r>
            <a:r>
              <a:rPr lang="fr-CA" sz="1200" dirty="0" smtClean="0"/>
              <a:t> </a:t>
            </a:r>
            <a:r>
              <a:rPr lang="fr-CA" sz="1200" dirty="0"/>
              <a:t>: L'emplacement du processeur</a:t>
            </a:r>
            <a:r>
              <a:rPr lang="fr-CA" sz="1200" dirty="0" smtClean="0"/>
              <a:t>.</a:t>
            </a:r>
            <a:br>
              <a:rPr lang="fr-CA" sz="1200" dirty="0" smtClean="0"/>
            </a:br>
            <a:r>
              <a:rPr lang="fr-CA" sz="1200" dirty="0" smtClean="0">
                <a:solidFill>
                  <a:srgbClr val="FF0000"/>
                </a:solidFill>
              </a:rPr>
              <a:t>3</a:t>
            </a:r>
            <a:r>
              <a:rPr lang="fr-CA" sz="1200" dirty="0" smtClean="0"/>
              <a:t>   : </a:t>
            </a:r>
            <a:r>
              <a:rPr lang="fr-CA" sz="1200" dirty="0"/>
              <a:t>Les modules de mémoire RAM.</a:t>
            </a:r>
            <a:br>
              <a:rPr lang="fr-CA" sz="1200" dirty="0"/>
            </a:br>
            <a:r>
              <a:rPr lang="fr-CA" sz="1200" dirty="0" smtClean="0">
                <a:solidFill>
                  <a:srgbClr val="FF0000"/>
                </a:solidFill>
              </a:rPr>
              <a:t>4</a:t>
            </a:r>
            <a:r>
              <a:rPr lang="fr-CA" sz="1200" dirty="0" smtClean="0"/>
              <a:t>   : </a:t>
            </a:r>
            <a:r>
              <a:rPr lang="fr-CA" sz="1200" dirty="0"/>
              <a:t>Le connecteur d'alimentation de la carte mère.</a:t>
            </a:r>
            <a:br>
              <a:rPr lang="fr-CA" sz="1200" dirty="0"/>
            </a:br>
            <a:r>
              <a:rPr lang="fr-CA" sz="1200" dirty="0" smtClean="0">
                <a:solidFill>
                  <a:srgbClr val="FF0000"/>
                </a:solidFill>
              </a:rPr>
              <a:t>5</a:t>
            </a:r>
            <a:r>
              <a:rPr lang="fr-CA" sz="1200" dirty="0" smtClean="0"/>
              <a:t>   : </a:t>
            </a:r>
            <a:r>
              <a:rPr lang="fr-CA" sz="1200" dirty="0"/>
              <a:t>Le connecteur pour les prises </a:t>
            </a:r>
            <a:r>
              <a:rPr lang="fr-CA" sz="1200" dirty="0" err="1"/>
              <a:t>usb</a:t>
            </a:r>
            <a:r>
              <a:rPr lang="fr-CA" sz="1200" dirty="0"/>
              <a:t> 3.0 en </a:t>
            </a:r>
            <a:r>
              <a:rPr lang="fr-CA" sz="1200" dirty="0" smtClean="0"/>
              <a:t>façade.</a:t>
            </a:r>
            <a:r>
              <a:rPr lang="fr-CA" sz="1200" dirty="0"/>
              <a:t/>
            </a:r>
            <a:br>
              <a:rPr lang="fr-CA" sz="1200" dirty="0"/>
            </a:br>
            <a:r>
              <a:rPr lang="fr-CA" sz="1200" dirty="0" smtClean="0">
                <a:solidFill>
                  <a:srgbClr val="FF0000"/>
                </a:solidFill>
              </a:rPr>
              <a:t>6</a:t>
            </a:r>
            <a:r>
              <a:rPr lang="fr-CA" sz="1200" dirty="0" smtClean="0"/>
              <a:t>   : </a:t>
            </a:r>
            <a:r>
              <a:rPr lang="fr-CA" sz="1200" dirty="0"/>
              <a:t>Les connecteurs SATA pour les </a:t>
            </a:r>
            <a:r>
              <a:rPr lang="fr-CA" sz="1200" dirty="0" smtClean="0"/>
              <a:t>périphériques </a:t>
            </a:r>
            <a:r>
              <a:rPr lang="fr-CA" sz="1200" dirty="0"/>
              <a:t>tiers </a:t>
            </a:r>
            <a:r>
              <a:rPr lang="fr-CA" sz="1200" dirty="0" smtClean="0"/>
              <a:t>(disque </a:t>
            </a:r>
            <a:r>
              <a:rPr lang="fr-CA" sz="1200" dirty="0"/>
              <a:t>dur, lecteur </a:t>
            </a:r>
            <a:r>
              <a:rPr lang="fr-CA" sz="1200" dirty="0" smtClean="0"/>
              <a:t>cd).</a:t>
            </a:r>
            <a:r>
              <a:rPr lang="fr-CA" sz="1200" dirty="0"/>
              <a:t/>
            </a:r>
            <a:br>
              <a:rPr lang="fr-CA" sz="1200" dirty="0"/>
            </a:br>
            <a:r>
              <a:rPr lang="fr-CA" sz="1200" dirty="0" smtClean="0">
                <a:solidFill>
                  <a:srgbClr val="FF0000"/>
                </a:solidFill>
              </a:rPr>
              <a:t>7</a:t>
            </a:r>
            <a:r>
              <a:rPr lang="fr-CA" sz="1200" dirty="0" smtClean="0"/>
              <a:t>   : </a:t>
            </a:r>
            <a:r>
              <a:rPr lang="fr-CA" sz="1200" dirty="0"/>
              <a:t>Les connecteurs du boîtier, bouton power, reset, led d'activité disque.</a:t>
            </a:r>
            <a:br>
              <a:rPr lang="fr-CA" sz="1200" dirty="0"/>
            </a:br>
            <a:r>
              <a:rPr lang="fr-CA" sz="1200" dirty="0" smtClean="0">
                <a:solidFill>
                  <a:srgbClr val="FF0000"/>
                </a:solidFill>
              </a:rPr>
              <a:t>8</a:t>
            </a:r>
            <a:r>
              <a:rPr lang="fr-CA" sz="1200" dirty="0" smtClean="0"/>
              <a:t>   : </a:t>
            </a:r>
            <a:r>
              <a:rPr lang="fr-CA" sz="1200" dirty="0"/>
              <a:t>La pile bios.</a:t>
            </a:r>
            <a:br>
              <a:rPr lang="fr-CA" sz="1200" dirty="0"/>
            </a:br>
            <a:r>
              <a:rPr lang="fr-CA" sz="1200" dirty="0" smtClean="0">
                <a:solidFill>
                  <a:srgbClr val="FF0000"/>
                </a:solidFill>
              </a:rPr>
              <a:t>9</a:t>
            </a:r>
            <a:r>
              <a:rPr lang="fr-CA" sz="1200" dirty="0" smtClean="0"/>
              <a:t>   : </a:t>
            </a:r>
            <a:r>
              <a:rPr lang="fr-CA" sz="1200" dirty="0"/>
              <a:t>Les port PCIE X8/X16.</a:t>
            </a:r>
            <a:br>
              <a:rPr lang="fr-CA" sz="1200" dirty="0"/>
            </a:br>
            <a:r>
              <a:rPr lang="fr-CA" sz="1200" dirty="0" smtClean="0">
                <a:solidFill>
                  <a:srgbClr val="FF0000"/>
                </a:solidFill>
              </a:rPr>
              <a:t>10</a:t>
            </a:r>
            <a:r>
              <a:rPr lang="fr-CA" sz="1200" dirty="0" smtClean="0"/>
              <a:t> </a:t>
            </a:r>
            <a:r>
              <a:rPr lang="fr-CA" sz="1200" dirty="0"/>
              <a:t>: Les ports PCIE X4.</a:t>
            </a:r>
            <a:br>
              <a:rPr lang="fr-CA" sz="1200" dirty="0"/>
            </a:br>
            <a:r>
              <a:rPr lang="fr-CA" sz="1200" dirty="0" smtClean="0">
                <a:solidFill>
                  <a:srgbClr val="FF0000"/>
                </a:solidFill>
              </a:rPr>
              <a:t>11</a:t>
            </a:r>
            <a:r>
              <a:rPr lang="fr-CA" sz="1200" dirty="0" smtClean="0"/>
              <a:t> </a:t>
            </a:r>
            <a:r>
              <a:rPr lang="fr-CA" sz="1200" dirty="0"/>
              <a:t>: Le port type</a:t>
            </a:r>
          </a:p>
        </p:txBody>
      </p:sp>
      <p:pic>
        <p:nvPicPr>
          <p:cNvPr id="3085" name="LogoSam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3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🔍  ANATOMIE D'UNE CARTE MÈRE — Zoom Slots RAM (2/2)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43000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06440" y="150876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B4E"/>
                </a:solidFill>
              </a:rPr>
              <a:t>Règles d'installation RAM :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1847088"/>
            <a:ext cx="2990088" cy="1335024"/>
          </a:xfrm>
          <a:prstGeom prst="roundRect">
            <a:avLst>
              <a:gd name="adj" fmla="val 4110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06440" y="1847088"/>
            <a:ext cx="45720" cy="1335024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25312" y="1956816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0"/>
                </a:solidFill>
              </a:rPr>
              <a:t>Dual Channel 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925312" y="2249424"/>
            <a:ext cx="2807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Insérer 2 barrettes identiques dans les slots de MÊME couleur.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Ex : A1 + B1, ou A2 + B2.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Gain de performance : +15 à 30 % sur les calculs mémoire.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Les couleurs sur la carte mère vous guident.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06440" y="3255264"/>
            <a:ext cx="2990088" cy="841248"/>
          </a:xfrm>
          <a:prstGeom prst="roundRect">
            <a:avLst>
              <a:gd name="adj" fmla="val 6522"/>
            </a:avLst>
          </a:prstGeom>
          <a:solidFill>
            <a:srgbClr val="FFF3DC"/>
          </a:solidFill>
          <a:ln w="15240">
            <a:solidFill>
              <a:srgbClr val="E07B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06440" y="3255264"/>
            <a:ext cx="45720" cy="84124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25312" y="3364992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00"/>
                </a:solidFill>
              </a:rPr>
              <a:t>⚠️  Règle de départ 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925312" y="365760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Si vous avez UNE seule barrette pour tester →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toujours commencer par le slot A2 (ou DIMM2).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C'est le slot prioritaire indiqué dans le manuel.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06440" y="4160520"/>
            <a:ext cx="2990088" cy="877824"/>
          </a:xfrm>
          <a:prstGeom prst="roundRect">
            <a:avLst>
              <a:gd name="adj" fmla="val 6250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06440" y="4160520"/>
            <a:ext cx="45720" cy="877824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25312" y="4270248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0"/>
                </a:solidFill>
              </a:rPr>
              <a:t>À reconnaître :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25312" y="4562856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Verrou blanc/noir en bas de chaque slot.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Détrompeur → empêche la mauvaise insertion.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Broches dorées visibles = contacts électriques.</a:t>
            </a:r>
            <a:endParaRPr lang="en-US" sz="950" dirty="0"/>
          </a:p>
        </p:txBody>
      </p:sp>
      <p:pic>
        <p:nvPicPr>
          <p:cNvPr id="4101" name="Picture 5" descr="C:\Users\Senmout\OneDrive\Images\Photod cours Samo\zoom slot R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920" y="1151772"/>
            <a:ext cx="3100508" cy="378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1" name="LogoSam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28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⚠️  SYMPTÔMES TYPIQUES DE PANNE CARTE MÈRE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43000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52B4E"/>
                </a:solidFill>
              </a:rPr>
              <a:t>Ces symptômes correspondent à ce qu'un non-technicien dit au téléphone. Notre rôle : traduire en piste de diagnostic.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517904"/>
          <a:ext cx="8449056" cy="2414016"/>
        </p:xfrm>
        <a:graphic>
          <a:graphicData uri="http://schemas.openxmlformats.org/drawingml/2006/table">
            <a:tbl>
              <a:tblPr/>
              <a:tblGrid>
                <a:gridCol w="2816352"/>
                <a:gridCol w="2816352"/>
                <a:gridCol w="2816352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Ce que dit l'usager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Symptôme technique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Cible d'investigation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« Ça ne s'allume plus du tout »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Aucun voyant, aucun mouvement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Carte mère ou PSU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« Ça s'allume mais rien ne s'affiche »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Voyants instables / clignotants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Problème électrique PCB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« Mes clés USB ne marchent plus »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Ports USB hors service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Contrôleur USB endommagé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« Messages bizarres au démarrage »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POST incohérent ou bips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Chipset ou BIOS corrompu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« Ça démarre une fois sur deux »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Démarrage aléatoire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Carte mère instable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47472" y="3803904"/>
            <a:ext cx="8449056" cy="1078992"/>
          </a:xfrm>
          <a:prstGeom prst="roundRect">
            <a:avLst>
              <a:gd name="adj" fmla="val 5085"/>
            </a:avLst>
          </a:prstGeom>
          <a:solidFill>
            <a:srgbClr val="FDE8E8"/>
          </a:solidFill>
          <a:ln w="15240">
            <a:solidFill>
              <a:srgbClr val="D0021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" y="3803904"/>
            <a:ext cx="45720" cy="1078992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" y="3913632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021B"/>
                </a:solidFill>
              </a:rPr>
              <a:t>⚠️  Piège classique du débutant 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344" y="4206240"/>
            <a:ext cx="8266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La carte mère est SOUVENT accusée à tort. Avant de conclure, vous devez avoir PROUVÉ que PSU, RAM et CPU sont sains.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Un remplacement prématuré </a:t>
            </a:r>
            <a:r>
              <a:rPr lang="en-US" sz="1050" dirty="0" err="1">
                <a:solidFill>
                  <a:srgbClr val="152B4E"/>
                </a:solidFill>
              </a:rPr>
              <a:t>coûte</a:t>
            </a:r>
            <a:r>
              <a:rPr lang="en-US" sz="1050" dirty="0">
                <a:solidFill>
                  <a:srgbClr val="152B4E"/>
                </a:solidFill>
              </a:rPr>
              <a:t> </a:t>
            </a:r>
            <a:r>
              <a:rPr lang="en-US" sz="1050" dirty="0" err="1" smtClean="0">
                <a:solidFill>
                  <a:srgbClr val="152B4E"/>
                </a:solidFill>
              </a:rPr>
              <a:t>cher</a:t>
            </a:r>
            <a:r>
              <a:rPr lang="en-US" sz="1050" dirty="0" smtClean="0">
                <a:solidFill>
                  <a:srgbClr val="152B4E"/>
                </a:solidFill>
              </a:rPr>
              <a:t> et </a:t>
            </a:r>
            <a:r>
              <a:rPr lang="en-US" sz="1050" dirty="0">
                <a:solidFill>
                  <a:srgbClr val="152B4E"/>
                </a:solidFill>
              </a:rPr>
              <a:t>ne résout rien si le vrai coupable est une barrette RAM à 30 </a:t>
            </a:r>
            <a:r>
              <a:rPr lang="en-US" sz="1050" dirty="0" smtClean="0">
                <a:solidFill>
                  <a:srgbClr val="152B4E"/>
                </a:solidFill>
              </a:rPr>
              <a:t>$.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Règle absolue : la carte mère est toujours suspecte EN DERNIER.</a:t>
            </a:r>
            <a:endParaRPr lang="en-US" sz="1050" dirty="0"/>
          </a:p>
        </p:txBody>
      </p:sp>
      <p:pic>
        <p:nvPicPr>
          <p:cNvPr id="25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6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75488"/>
            <a:ext cx="64008" cy="4663440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BLOC 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C24A"/>
                </a:solidFill>
              </a:rPr>
              <a:t>Processeur (CPU) : fonctionnement et pannes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7A7A"/>
                </a:solidFill>
              </a:rPr>
              <a:t>≈ 45 minutes</a:t>
            </a:r>
            <a:endParaRPr lang="en-US" sz="120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2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⚙️  </a:t>
            </a:r>
            <a:r>
              <a:rPr lang="en-US" sz="1800" b="1" dirty="0" smtClean="0">
                <a:solidFill>
                  <a:srgbClr val="152B4E"/>
                </a:solidFill>
              </a:rPr>
              <a:t>Le </a:t>
            </a:r>
            <a:r>
              <a:rPr lang="en-US" sz="1800" b="1" dirty="0" err="1" smtClean="0">
                <a:solidFill>
                  <a:srgbClr val="152B4E"/>
                </a:solidFill>
              </a:rPr>
              <a:t>Processeur</a:t>
            </a:r>
            <a:r>
              <a:rPr lang="en-US" sz="1800" b="1" dirty="0" smtClean="0">
                <a:solidFill>
                  <a:srgbClr val="152B4E"/>
                </a:solidFill>
              </a:rPr>
              <a:t> CPU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" y="4800600"/>
            <a:ext cx="8449056" cy="164592"/>
          </a:xfrm>
          <a:prstGeom prst="rect">
            <a:avLst/>
          </a:prstGeom>
          <a:solidFill>
            <a:srgbClr val="152B4E"/>
          </a:solidFill>
          <a:ln w="12700">
            <a:solidFill>
              <a:srgbClr val="152B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006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Processeur — Vue dessus — Photo réelle cours SAMO Formation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0060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CCAA"/>
                </a:solidFill>
              </a:rPr>
              <a:t>Séance 2 — Teams</a:t>
            </a:r>
            <a:endParaRPr lang="en-US" sz="700" dirty="0"/>
          </a:p>
        </p:txBody>
      </p:sp>
      <p:pic>
        <p:nvPicPr>
          <p:cNvPr id="2050" name="Picture 2" descr="C:\Users\Senmout\OneDrive\Images\Photod cours Samo\AMD-vs-intel-CPU-graphi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27" y="1180433"/>
            <a:ext cx="5775165" cy="359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LogoSam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4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⚙️  LE PROCESSEUR (CPU) — LE CERVEAU DE LA MACHINE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8449056" cy="749808"/>
          </a:xfrm>
          <a:prstGeom prst="roundRect">
            <a:avLst>
              <a:gd name="adj" fmla="val 7317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143000"/>
            <a:ext cx="45720" cy="749808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1252728"/>
            <a:ext cx="8266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2B4E"/>
                </a:solidFill>
              </a:rPr>
              <a:t>Le CPU c'est comme le conducteur d'un camion : il reçoit les instructions, prend les décisions et coordonne tout.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B4E"/>
                </a:solidFill>
              </a:rPr>
              <a:t>Sans lui, la machine est une carcasse vide. Mal refroidi, il ralentit ou s'éteint d'urgence sans prévenir.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993392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B4E"/>
                </a:solidFill>
              </a:rPr>
              <a:t>Notions essentielles 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331720"/>
          <a:ext cx="4133088" cy="2011680"/>
        </p:xfrm>
        <a:graphic>
          <a:graphicData uri="http://schemas.openxmlformats.org/drawingml/2006/table">
            <a:tbl>
              <a:tblPr/>
              <a:tblGrid>
                <a:gridCol w="2066544"/>
                <a:gridCol w="2066544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Explication simple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Cœurs (cores)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Nombre d'ouvriers en parallèle. 6 cœurs = 6 tâches simultanées.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Threads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Chaque ouvrier peut faire 2 choses à la fois → optimisation.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Fréquence (GHz)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Vitesse réelle. 3,5 GHz = 3,5 milliards d'opérations/seconde.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Throttling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Auto-ralentissement si trop chaud — protection avant la coupure.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709160" y="1993392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B4E"/>
                </a:solidFill>
              </a:rPr>
              <a:t>Ce qu'il faut savoir en terrain :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331720"/>
          <a:ext cx="4087368" cy="2011680"/>
        </p:xfrm>
        <a:graphic>
          <a:graphicData uri="http://schemas.openxmlformats.org/drawingml/2006/table">
            <a:tbl>
              <a:tblPr/>
              <a:tblGrid>
                <a:gridCol w="2043684"/>
                <a:gridCol w="2043684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Symptôme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Cause probable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PC s'éteint brutalement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Thermal Shutdown (&gt; 100°C)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PC très lent sous charge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Throttling actif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Pas d'image au démarrage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CPU mal installé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PC lent depuis des semaines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Pâte thermique desséchée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347472" y="4291533"/>
            <a:ext cx="8449056" cy="649455"/>
          </a:xfrm>
          <a:prstGeom prst="roundRect">
            <a:avLst>
              <a:gd name="adj" fmla="val 10000"/>
            </a:avLst>
          </a:prstGeom>
          <a:solidFill>
            <a:srgbClr val="FFF3DC"/>
          </a:solidFill>
          <a:ln w="15240">
            <a:solidFill>
              <a:srgbClr val="E07B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7472" y="4260029"/>
            <a:ext cx="45719" cy="65652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6344" y="4291533"/>
            <a:ext cx="8266176" cy="1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00"/>
                </a:solidFill>
              </a:rPr>
              <a:t>💡  À retenir :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6344" y="4498848"/>
            <a:ext cx="8266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2B4E"/>
                </a:solidFill>
              </a:rPr>
              <a:t>Un CPU défectueux d'usine : rarissime (moins de 1 % des cas).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B4E"/>
                </a:solidFill>
              </a:rPr>
              <a:t>Un CPU mal refroidi ou dont la pâte thermique est desséchée : très fréquent sur les vieux PC — c'est LA cause n°1 de lenteur inexpliquée.</a:t>
            </a:r>
            <a:endParaRPr lang="en-US" sz="1100" dirty="0"/>
          </a:p>
        </p:txBody>
      </p:sp>
      <p:pic>
        <p:nvPicPr>
          <p:cNvPr id="35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21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🌡️  PROTECTION THERMIQUE — PC portable ouvert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70432"/>
            <a:ext cx="7200000" cy="307792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7472" y="4800600"/>
            <a:ext cx="8449056" cy="164592"/>
          </a:xfrm>
          <a:prstGeom prst="rect">
            <a:avLst/>
          </a:prstGeom>
          <a:solidFill>
            <a:srgbClr val="152B4E"/>
          </a:solidFill>
          <a:ln w="12700">
            <a:solidFill>
              <a:srgbClr val="152B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006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PC portable ouvert — ventilateur CPU, dissipateur et câbles visibles — Photo réelle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0060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CCAA"/>
                </a:solidFill>
              </a:rPr>
              <a:t>Séance 2 — Teams</a:t>
            </a:r>
            <a:endParaRPr lang="en-US" sz="700" dirty="0"/>
          </a:p>
        </p:txBody>
      </p:sp>
      <p:pic>
        <p:nvPicPr>
          <p:cNvPr id="23" name="LogoSam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4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🌡️  PROTECTION THERMIQUE DU CPU — CE QUI SE PASSE VRAIMENT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4151376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A7A7A"/>
                </a:solidFill>
              </a:rPr>
              <a:t>Schéma pédagogique SAMO Formation — températures indicatives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645152" y="1143000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B4E"/>
                </a:solidFill>
              </a:rPr>
              <a:t>Checklist de vérification CPU :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45152" y="1591056"/>
            <a:ext cx="4155180" cy="1593976"/>
          </a:xfrm>
          <a:prstGeom prst="roundRect">
            <a:avLst>
              <a:gd name="adj" fmla="val 2927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1591056"/>
            <a:ext cx="45719" cy="1593976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64024" y="159105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0"/>
                </a:solidFill>
              </a:rPr>
              <a:t>🔍  Les 4 vérifications obligatoires 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64024" y="1883664"/>
            <a:ext cx="396849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1. Le ventilateur CPU tourne-t-il normalement 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(Vérifier visuellement en démarrant le PC)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2. La pâte thermique est-elle présente et non craquelée 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(Gris argenté entre CPU et dissipateur)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3. Le dissipateur est-il bien fixé 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(4 clips plastiques ou 4 vis — aucun jeu)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4. Lire la température en direct avec HWMonitor (gratuit).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→ Normal : &lt; 75°C en charge  |  &lt; 45°C au repos.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45152" y="3328416"/>
            <a:ext cx="4151376" cy="822960"/>
          </a:xfrm>
          <a:prstGeom prst="roundRect">
            <a:avLst>
              <a:gd name="adj" fmla="val 7317"/>
            </a:avLst>
          </a:prstGeom>
          <a:solidFill>
            <a:srgbClr val="FDE8E8"/>
          </a:solidFill>
          <a:ln w="15240">
            <a:solidFill>
              <a:srgbClr val="D0021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8724" y="3328416"/>
            <a:ext cx="45719" cy="82296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81121" y="3328416"/>
            <a:ext cx="4032504" cy="255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021B"/>
                </a:solidFill>
              </a:rPr>
              <a:t>⛔  Thermal Shutdown 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64024" y="3583910"/>
            <a:ext cx="3934302" cy="470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Coupure nette à 100°C — le CPU se protège.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L'usager dit : « Mon PC s'éteint tout seul sans raison ».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→ Vérifier TOUJOURS le refroidissement en premier.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48956" y="4304288"/>
            <a:ext cx="4151376" cy="771016"/>
          </a:xfrm>
          <a:prstGeom prst="roundRect">
            <a:avLst>
              <a:gd name="adj" fmla="val 7692"/>
            </a:avLst>
          </a:prstGeom>
          <a:solidFill>
            <a:srgbClr val="FFF3DC"/>
          </a:solidFill>
          <a:ln w="15240">
            <a:solidFill>
              <a:srgbClr val="E07B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48685" y="4302290"/>
            <a:ext cx="45719" cy="77101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64024" y="4274397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00"/>
                </a:solidFill>
              </a:rPr>
              <a:t>⚠️  Thermal Throttling 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64024" y="4535424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Ralentissement automatique pour refroidir.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L'usager dit : « Mon PC est devenu très lent ».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→ Même cause : refroidissement insuffisant.</a:t>
            </a:r>
            <a:endParaRPr lang="en-US" sz="1000" dirty="0"/>
          </a:p>
        </p:txBody>
      </p:sp>
      <p:pic>
        <p:nvPicPr>
          <p:cNvPr id="1026" name="Picture 2" descr="C:\Users\Senmout\OneDrive\Images\Photod cours Samo\🌡️  PROTECTION THERMIQUE DU CPU — CE QUI SE PASSE VRAIM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1591056"/>
            <a:ext cx="4345257" cy="256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LogoSam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25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75488"/>
            <a:ext cx="64008" cy="4663440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BLOC 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C24A"/>
                </a:solidFill>
              </a:rPr>
              <a:t>RAM : cause n°1 des pannes aléatoires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7A7A"/>
                </a:solidFill>
              </a:rPr>
              <a:t>≈ 1 heure</a:t>
            </a:r>
            <a:endParaRPr lang="en-US" sz="120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2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152B4E"/>
                </a:solidFill>
              </a:rPr>
              <a:t> Les </a:t>
            </a:r>
            <a:r>
              <a:rPr lang="en-US" sz="1800" b="1" dirty="0" err="1" smtClean="0">
                <a:solidFill>
                  <a:srgbClr val="152B4E"/>
                </a:solidFill>
              </a:rPr>
              <a:t>Générations</a:t>
            </a:r>
            <a:r>
              <a:rPr lang="en-US" sz="1800" b="1" dirty="0" smtClean="0">
                <a:solidFill>
                  <a:srgbClr val="152B4E"/>
                </a:solidFill>
              </a:rPr>
              <a:t> de RAM </a:t>
            </a:r>
            <a:r>
              <a:rPr lang="en-US" sz="1800" b="1" dirty="0">
                <a:solidFill>
                  <a:srgbClr val="152B4E"/>
                </a:solidFill>
              </a:rPr>
              <a:t>— Évolution et identification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" y="4800600"/>
            <a:ext cx="8449056" cy="164592"/>
          </a:xfrm>
          <a:prstGeom prst="rect">
            <a:avLst/>
          </a:prstGeom>
          <a:solidFill>
            <a:srgbClr val="152B4E"/>
          </a:solidFill>
          <a:ln w="12700">
            <a:solidFill>
              <a:srgbClr val="152B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006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Évolution des générations RAM : SIMM 30p → DIMM 168p → DDR → DDR2 → DDR3 → DDR4 — Photo réelle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0060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CCAA"/>
                </a:solidFill>
              </a:rPr>
              <a:t>Séance 2 — Teams</a:t>
            </a:r>
            <a:endParaRPr lang="en-US" sz="700" dirty="0"/>
          </a:p>
        </p:txBody>
      </p:sp>
      <p:pic>
        <p:nvPicPr>
          <p:cNvPr id="5122" name="Picture 2" descr="C:\Users\Senmout\OneDrive\Images\Photod cours Samo\RAM evolu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1095375"/>
            <a:ext cx="3115414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LogoSam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4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💾  RÔLE EXACT DE LA RAM — POURQUOI ELLE TOMBE EN PANNE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8449056" cy="822960"/>
          </a:xfrm>
          <a:prstGeom prst="roundRect">
            <a:avLst>
              <a:gd name="adj" fmla="val 6667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143000"/>
            <a:ext cx="45720" cy="822960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1252728"/>
            <a:ext cx="8266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2B4E"/>
                </a:solidFill>
              </a:rPr>
              <a:t>La RAM (mémoire vive) = la table de travail du CPU. Elle stocke TEMPORAIREMENT les données en cours d'utilisation. Au redémarrage, tout est effacé.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B4E"/>
                </a:solidFill>
              </a:rPr>
              <a:t>Analogie bâtiment : la RAM c'est l'établi. Si l'établi est instable, tout ce qu'on pose dessus tombe. RAM instable = pannes aléatoires impossibles à prévoir.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20848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B4E"/>
                </a:solidFill>
              </a:rPr>
              <a:t>Types de RAM et contexte terrain :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423160"/>
          <a:ext cx="4069080" cy="2011680"/>
        </p:xfrm>
        <a:graphic>
          <a:graphicData uri="http://schemas.openxmlformats.org/drawingml/2006/table">
            <a:tbl>
              <a:tblPr/>
              <a:tblGrid>
                <a:gridCol w="2034540"/>
                <a:gridCol w="2034540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Contexte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DDR3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PC avant 2015 — parcs reconditionnés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DDR4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Standard entreprises 2015–2024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DDR5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PC récents (Intel 12e gén+)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SO-DIMM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Format compact pour ordinateurs portables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617720" y="20848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B4E"/>
                </a:solidFill>
              </a:rPr>
              <a:t>Symptômes RAM fréquents en terrain :</a:t>
            </a:r>
            <a:endParaRPr lang="en-US" sz="1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2423160"/>
          <a:ext cx="4178808" cy="2011680"/>
        </p:xfrm>
        <a:graphic>
          <a:graphicData uri="http://schemas.openxmlformats.org/drawingml/2006/table">
            <a:tbl>
              <a:tblPr/>
              <a:tblGrid>
                <a:gridCol w="2089404"/>
                <a:gridCol w="2089404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Symptôme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Indice fort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Bips répétés au démarrage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RAM absente ou HS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Écran bleu (BSOD) aléatoire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RAM instable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Redémarrage spontané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Incompatibilité fréquence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Freeze complet du système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2B4E"/>
                          </a:solidFill>
                        </a:rPr>
                        <a:t>Erreurs mémoire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370332" y="4537038"/>
            <a:ext cx="8449056" cy="401644"/>
          </a:xfrm>
          <a:prstGeom prst="roundRect">
            <a:avLst>
              <a:gd name="adj" fmla="val 7692"/>
            </a:avLst>
          </a:prstGeom>
          <a:solidFill>
            <a:srgbClr val="FFF3DC"/>
          </a:solidFill>
          <a:ln w="15240">
            <a:solidFill>
              <a:srgbClr val="E07B00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347472" y="4537038"/>
            <a:ext cx="45720" cy="40164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4632" y="4517136"/>
            <a:ext cx="74183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00"/>
                </a:solidFill>
              </a:rPr>
              <a:t>👉  Règle terrain absolue — testez la RAM EN PREMIER :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6344" y="4719226"/>
            <a:ext cx="8266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152B4E"/>
                </a:solidFill>
              </a:rPr>
              <a:t>Une</a:t>
            </a:r>
            <a:r>
              <a:rPr lang="en-US" sz="1100" dirty="0" smtClean="0">
                <a:solidFill>
                  <a:srgbClr val="152B4E"/>
                </a:solidFill>
              </a:rPr>
              <a:t> </a:t>
            </a:r>
            <a:r>
              <a:rPr lang="en-US" sz="1100" dirty="0">
                <a:solidFill>
                  <a:srgbClr val="152B4E"/>
                </a:solidFill>
              </a:rPr>
              <a:t>panne RAM peut imiter une panne carte mère, CPU ou même Windows. C'est LE premier test systématique à effectuer.</a:t>
            </a:r>
            <a:endParaRPr lang="en-US" sz="1100" dirty="0"/>
          </a:p>
        </p:txBody>
      </p:sp>
      <p:pic>
        <p:nvPicPr>
          <p:cNvPr id="45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21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🔌  IDENTIFIER LA RAM — Barrettes SO-DIMM DDR2/DDR3/DDR4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70432"/>
            <a:ext cx="8449056" cy="3611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7472" y="4800600"/>
            <a:ext cx="8449056" cy="164592"/>
          </a:xfrm>
          <a:prstGeom prst="rect">
            <a:avLst/>
          </a:prstGeom>
          <a:solidFill>
            <a:srgbClr val="152B4E"/>
          </a:solidFill>
          <a:ln w="12700">
            <a:solidFill>
              <a:srgbClr val="152B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006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Barrettes RAM SO-DIMM — de haut en bas : DDR2 2 Go, DDR3L 4 Go, DDR4 4 Go — Photo réelle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0060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CCAA"/>
                </a:solidFill>
              </a:rPr>
              <a:t>Séance 2 — Teams</a:t>
            </a:r>
            <a:endParaRPr lang="en-US" sz="700" dirty="0"/>
          </a:p>
        </p:txBody>
      </p:sp>
      <p:pic>
        <p:nvPicPr>
          <p:cNvPr id="23" name="LogoSam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4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🔌  IDENTIFIER LA RAM — Barrettes installées sur carte mère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70432"/>
            <a:ext cx="8449056" cy="3611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7472" y="4800600"/>
            <a:ext cx="8449056" cy="164592"/>
          </a:xfrm>
          <a:prstGeom prst="rect">
            <a:avLst/>
          </a:prstGeom>
          <a:solidFill>
            <a:srgbClr val="152B4E"/>
          </a:solidFill>
          <a:ln w="12700">
            <a:solidFill>
              <a:srgbClr val="152B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006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RAM G.Skill Trident Z installée dans les slots d'une carte mère — broches et verrous visibles — Photo réelle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0060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CCAA"/>
                </a:solidFill>
              </a:rPr>
              <a:t>Séance 2 — Teams</a:t>
            </a:r>
            <a:endParaRPr lang="en-US" sz="700" dirty="0"/>
          </a:p>
        </p:txBody>
      </p:sp>
      <p:pic>
        <p:nvPicPr>
          <p:cNvPr id="23" name="LogoSam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4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🔌  IDENTIFIER LA RAM PHYSIQUEMENT — DDR3 / DDR4 / DDR5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43000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</a:rPr>
              <a:t>Sur Teams, le formateur vous montre des barrettes réelles. Voici le comparatif pour identifier la génération en un coup d'œil.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908158"/>
              </p:ext>
            </p:extLst>
          </p:nvPr>
        </p:nvGraphicFramePr>
        <p:xfrm>
          <a:off x="339131" y="1469416"/>
          <a:ext cx="8433883" cy="2059012"/>
        </p:xfrm>
        <a:graphic>
          <a:graphicData uri="http://schemas.openxmlformats.org/drawingml/2006/table">
            <a:tbl>
              <a:tblPr/>
              <a:tblGrid>
                <a:gridCol w="1045658"/>
                <a:gridCol w="954732"/>
                <a:gridCol w="2291356"/>
                <a:gridCol w="909268"/>
                <a:gridCol w="1927649"/>
                <a:gridCol w="1305220"/>
              </a:tblGrid>
              <a:tr h="51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Génération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Broches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Position du détrompeur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Tension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Fréquences typiques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Usage courant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B4E"/>
                    </a:solidFill>
                  </a:tcPr>
                </a:tc>
              </a:tr>
              <a:tr h="51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DDR3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240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Fortement excentré vers la gauche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1.50 V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1 066 – 1 600 MHz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PC avant 2015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DDR4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288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Légèrement décalé centre-gauche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1.20 V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2 133 – 3 200 MHz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Standard entreprises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1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DDR5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288 + PMIC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Au centre, encoche plus profonde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1.10 V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4 800 – 7 200 MHz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52B4E"/>
                          </a:solidFill>
                        </a:rPr>
                        <a:t>PC récents (2022+)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3958" y="3538728"/>
            <a:ext cx="8449056" cy="6858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5240">
            <a:solidFill>
              <a:srgbClr val="D0021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6272" y="3528430"/>
            <a:ext cx="45719" cy="714385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" y="349300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021B"/>
                </a:solidFill>
              </a:rPr>
              <a:t>⚠️  Incompatibilité physique absolue 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" y="3785616"/>
            <a:ext cx="8266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2B4E"/>
                </a:solidFill>
              </a:rPr>
              <a:t>DDR3 / DDR4 / DDR5 sont INCOMPATIBLES entre elles — le détrompeur (encoche) empêche physiquement la mauvaise insertion.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B4E"/>
                </a:solidFill>
              </a:rPr>
              <a:t>Si ça force lors de l'insertion → c'est le mauvais type. Ne JAMAIS forcer un composant électronique.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" y="4288536"/>
            <a:ext cx="8449056" cy="786384"/>
          </a:xfrm>
          <a:prstGeom prst="roundRect">
            <a:avLst>
              <a:gd name="adj" fmla="val 6977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3958" y="4288536"/>
            <a:ext cx="45720" cy="786384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" y="424281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A0"/>
                </a:solidFill>
              </a:rPr>
              <a:t>💡  Comment identifier sans regarder l'étiquette 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6344" y="4535424"/>
            <a:ext cx="8266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Comptez les broches dorées en bas : 240 = DDR3  |  288 = DDR4 ou DDR5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Regardez la position de l'encoche (détrompeur) : à gauche = DDR3  |  centre-gauche = DDR4  |  centre = DDR5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La tension d'alimentation est aussi marquée sur l'étiquette collée sur la barrette : 1.50V = DDR3 / 1.20V = DDR4 / 1.10V = DDR5</a:t>
            </a:r>
            <a:endParaRPr lang="en-US" sz="1050" dirty="0"/>
          </a:p>
        </p:txBody>
      </p:sp>
      <p:pic>
        <p:nvPicPr>
          <p:cNvPr id="3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20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🚨  DIAGNOSTIC &amp; PANNES DE RAM — MÉTHODE PAS À PAS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8449056" cy="384048"/>
          </a:xfrm>
          <a:prstGeom prst="roundRect">
            <a:avLst>
              <a:gd name="adj" fmla="val 14286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143000"/>
            <a:ext cx="45720" cy="384048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1252728"/>
            <a:ext cx="8266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2B4E"/>
                </a:solidFill>
              </a:rPr>
              <a:t>Une défaillance RAM bloque immédiatement le cycle de démarrage à l'étape 4 (POST mémoire). Le PC ne peut pas continuer vers Windows.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609344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B4E"/>
                </a:solidFill>
              </a:rPr>
              <a:t>Signaux physiques d'alerte 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1947672"/>
            <a:ext cx="4133088" cy="2121408"/>
          </a:xfrm>
          <a:prstGeom prst="roundRect">
            <a:avLst>
              <a:gd name="adj" fmla="val 2586"/>
            </a:avLst>
          </a:prstGeom>
          <a:solidFill>
            <a:srgbClr val="FDE8E8"/>
          </a:solidFill>
          <a:ln w="15240">
            <a:solidFill>
              <a:srgbClr val="D002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947672"/>
            <a:ext cx="45720" cy="2121408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2057400"/>
            <a:ext cx="3950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🔊  Bips répétés longs et stridents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 La carte mère envoie un code sonore d'erreur RAM.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 → Série de 3 bips longs = RAM non détectée.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🔴  Q-LED DRAM allumée fixe (orange ou rouge)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 Visible sur la carte mère à côté des slots RAM.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 → Indique exactement l'étape bloquée.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📺  Écran totalement noir au démarrage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 Le POST n'atteint pas l'étape affichage vidéo.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    → Ni logo, ni texte, ni bip unique de validation.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5152" y="1609344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B4E"/>
                </a:solidFill>
              </a:rPr>
              <a:t>Méthode d'isolation — étape par étape 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984248"/>
            <a:ext cx="310896" cy="31089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10912" y="1993392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Éteindre PC + procédure décharge résiduelle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2386584"/>
            <a:ext cx="310896" cy="31089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10912" y="239572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Retirer TOUTES les barrettes RAM du PC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5152" y="2788920"/>
            <a:ext cx="310896" cy="31089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10912" y="279806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Souffler les slots à la bombe d'air sec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45152" y="3191256"/>
            <a:ext cx="310896" cy="31089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0912" y="320040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Insérer UNE SEULE barrette dans le slot A2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45152" y="3593592"/>
            <a:ext cx="310896" cy="31089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10912" y="3602736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Démarrer → si OK, tester les autres une à une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45152" y="3995928"/>
            <a:ext cx="310896" cy="31089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10912" y="4005072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Si toujours KO → tester dans un autre slot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83464" y="4306824"/>
            <a:ext cx="8449056" cy="749808"/>
          </a:xfrm>
          <a:prstGeom prst="roundRect">
            <a:avLst>
              <a:gd name="adj" fmla="val 7317"/>
            </a:avLst>
          </a:prstGeom>
          <a:solidFill>
            <a:srgbClr val="FFF3DC"/>
          </a:solidFill>
          <a:ln w="15240">
            <a:solidFill>
              <a:srgbClr val="E07B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3464" y="4306824"/>
            <a:ext cx="45720" cy="74980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" y="427024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B00"/>
                </a:solidFill>
              </a:rPr>
              <a:t>🧰  Test approfondi : MemTest86 (gratuit — www.memtest86.com)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6344" y="456285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→ Créer une clé USB bootable avec Rufus (rufus.ie) — démarrer dessus, totalement SANS Windows.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→ Lancer au moins 2 passes complètes (1 à 3 h selon quantité RAM).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→ Un seul bloc rouge = barrette défectueuse → remplacement immédiat.</a:t>
            </a:r>
            <a:endParaRPr lang="en-US" sz="1050" dirty="0"/>
          </a:p>
        </p:txBody>
      </p:sp>
      <p:pic>
        <p:nvPicPr>
          <p:cNvPr id="49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40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75488"/>
            <a:ext cx="64008" cy="4663440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BLOC 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C24A"/>
                </a:solidFill>
              </a:rPr>
              <a:t>Méthodologie ciblée Carte mère / CPU / RAM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7A7A"/>
                </a:solidFill>
              </a:rPr>
              <a:t>≈ 20 minutes</a:t>
            </a:r>
            <a:endParaRPr lang="en-US" sz="120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2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✅  ORDRE STRICT DE TEST — LA MÉTHODE QUI NE TROMPE PAS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06039"/>
            <a:ext cx="8449056" cy="569079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15240">
            <a:solidFill>
              <a:srgbClr val="D002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106039"/>
            <a:ext cx="45719" cy="569079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1206624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RÈGLE ABSOLUE : Ne jamais changer plusieurs éléments à la fois.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Si vous changez RAM + câble + BIOS en même temps → vous ne saurez jamais lequel a résolu le problème.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→ UNE seule variable à la fois. Toujours noter chaque action dans le ticket support.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1773936"/>
            <a:ext cx="402336" cy="40233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176272"/>
            <a:ext cx="0" cy="566928"/>
          </a:xfrm>
          <a:prstGeom prst="line">
            <a:avLst/>
          </a:prstGeom>
          <a:noFill/>
          <a:ln w="19050">
            <a:solidFill>
              <a:srgbClr val="6CC24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59536" y="17739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B4E"/>
                </a:solidFill>
              </a:rPr>
              <a:t>⚡  PSU — Alimentation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20440" y="1773936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Vérifier les tensions ATX avec un multimètre. Câbles ATX 24 broches et EPS 8 broches bien branchés. Voyant arrière allumé 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16368" y="1792224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EDF9E0"/>
          </a:solidFill>
          <a:ln w="10160">
            <a:solidFill>
              <a:srgbClr val="6CC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1792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52B4E"/>
                </a:solidFill>
              </a:rPr>
              <a:t>Pas de voyant → PSU mort ou prise HS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59536" y="2240280"/>
            <a:ext cx="7936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340864"/>
            <a:ext cx="402336" cy="40233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2743200"/>
            <a:ext cx="0" cy="566928"/>
          </a:xfrm>
          <a:prstGeom prst="line">
            <a:avLst/>
          </a:prstGeom>
          <a:noFill/>
          <a:ln w="19050">
            <a:solidFill>
              <a:srgbClr val="6CC24A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59536" y="234086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B4E"/>
                </a:solidFill>
              </a:rPr>
              <a:t>💾  RAM — Une seule barrette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20440" y="234086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Retirer toutes les barrettes → 1 seule dans slot A2. Souffler les slots à l'air sec. Tester une par une si plusieurs barrettes.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16368" y="2359152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EDF9E0"/>
          </a:solidFill>
          <a:ln w="10160">
            <a:solidFill>
              <a:srgbClr val="6CC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6368" y="23591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52B4E"/>
                </a:solidFill>
              </a:rPr>
              <a:t>Cause n°1 — toujours commencer ICI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59536" y="2807208"/>
            <a:ext cx="7936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2907792"/>
            <a:ext cx="402336" cy="40233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3310128"/>
            <a:ext cx="0" cy="566928"/>
          </a:xfrm>
          <a:prstGeom prst="line">
            <a:avLst/>
          </a:prstGeom>
          <a:noFill/>
          <a:ln w="19050">
            <a:solidFill>
              <a:srgbClr val="6CC24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59536" y="29077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B4E"/>
                </a:solidFill>
              </a:rPr>
              <a:t>🔧  Reset BIOS / pile CMOS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20440" y="2907792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Retirer pile CR2032 → attendre 30 s → remettre. Reconfigurer l'heure et l'ordre de boot. Résout 30 % des pannes de démarrage.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16368" y="2926080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EDF9E0"/>
          </a:solidFill>
          <a:ln w="10160">
            <a:solidFill>
              <a:srgbClr val="6CC2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16368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52B4E"/>
                </a:solidFill>
              </a:rPr>
              <a:t>Résout les bugs de config BIOS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59536" y="3374136"/>
            <a:ext cx="7936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3474720"/>
            <a:ext cx="402336" cy="402336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3877056"/>
            <a:ext cx="0" cy="566928"/>
          </a:xfrm>
          <a:prstGeom prst="line">
            <a:avLst/>
          </a:prstGeom>
          <a:noFill/>
          <a:ln w="19050">
            <a:solidFill>
              <a:srgbClr val="D0021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859536" y="34747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B4E"/>
                </a:solidFill>
              </a:rPr>
              <a:t>⚙️  CPU — Refroidissement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520440" y="347472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Vérifier pâte thermique, rotation ventilateur, fixation dissipateur (4 clips). Lire températures avec HWMonitor (logiciel gratuit).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16368" y="3493008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FFF3DC"/>
          </a:solidFill>
          <a:ln w="10160">
            <a:solidFill>
              <a:srgbClr val="E07B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52B4E"/>
                </a:solidFill>
              </a:rPr>
              <a:t>Shutdown = CPU surchauffé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59536" y="3941064"/>
            <a:ext cx="7936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4041648"/>
            <a:ext cx="402336" cy="402336"/>
          </a:xfrm>
          <a:prstGeom prst="ellipse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59536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021B"/>
                </a:solidFill>
              </a:rPr>
              <a:t>🖥️  Carte mère — EN DERNIER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520440" y="4041648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Suspecter UNIQUEMENT après avoir prouvé que les 4 étapes précédentes sont saines. Remplacement coûteux et irréversible.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516368" y="4059936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FDE8E8"/>
          </a:solidFill>
          <a:ln w="10160">
            <a:solidFill>
              <a:srgbClr val="D0021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16368" y="40599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52B4E"/>
                </a:solidFill>
              </a:rPr>
              <a:t>Coûteux — ne pas précipiter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59536" y="4507992"/>
            <a:ext cx="7936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16368" y="1719072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111111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34656" y="1737360"/>
            <a:ext cx="1243584" cy="475488"/>
          </a:xfrm>
          <a:prstGeom prst="rect">
            <a:avLst/>
          </a:prstGeom>
        </p:spPr>
      </p:pic>
      <p:pic>
        <p:nvPicPr>
          <p:cNvPr id="63" name="LogoSam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54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75488"/>
            <a:ext cx="64008" cy="4663440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BLOC 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C24A"/>
                </a:solidFill>
              </a:rPr>
              <a:t>Exercices pratiques de synthèse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7A7A"/>
                </a:solidFill>
              </a:rPr>
              <a:t>30 minutes</a:t>
            </a:r>
            <a:endParaRPr lang="en-US" sz="120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12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🧪  CAS PRATIQUES — CE QUE VOUS VERREZ EN VRAI SUR TEAMS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4300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</a:rPr>
              <a:t>Le formateur joue le rôle de l'usager et partage son écran. Vous posez les questions et guidez le diagnostic.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2761488" cy="345643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463040"/>
            <a:ext cx="2761488" cy="45720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0876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2B4E"/>
                </a:solidFill>
              </a:rPr>
              <a:t>🧪  Exercice 1 — Écran Noir Total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A7A"/>
                </a:solidFill>
              </a:rPr>
              <a:t>Mise en situation 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49424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Gilles, ancien maçon, appuie sur Power. Les ventilateurs tournent à fond en continu. L'écran affiche « Pas de signal ». Aucun bip sonore.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254203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01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C24A"/>
                </a:solidFill>
              </a:rPr>
              <a:t>Questions 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54787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52B4E"/>
                </a:solidFill>
              </a:rPr>
              <a:t>Quelle étape est bloquée dans la chaîne 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52B4E"/>
                </a:solidFill>
              </a:rPr>
              <a:t>Quels composants sont suspects 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52B4E"/>
                </a:solidFill>
              </a:rPr>
              <a:t>Quel est le premier test à réaliser 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407408"/>
            <a:ext cx="2542032" cy="347472"/>
          </a:xfrm>
          <a:prstGeom prst="roundRect">
            <a:avLst>
              <a:gd name="adj" fmla="val 10526"/>
            </a:avLst>
          </a:prstGeom>
          <a:solidFill>
            <a:srgbClr val="D6E8F7"/>
          </a:solidFill>
          <a:ln w="10160">
            <a:solidFill>
              <a:srgbClr val="2563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44074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A0"/>
                </a:solidFill>
              </a:rPr>
              <a:t>💡  Indice : ventilateurs = PSU OK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463040"/>
            <a:ext cx="2761488" cy="345643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463040"/>
            <a:ext cx="2761488" cy="45720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50876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2B4E"/>
                </a:solidFill>
              </a:rPr>
              <a:t>🧪  Exercice 2 — Redémarrages Aléatoires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2011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A7A"/>
                </a:solidFill>
              </a:rPr>
              <a:t>Mise en situation 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2249424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Mohammed, ancien camionneur, dit que son PC redémarre tout seul, surtout quand il regarde des vidéos ou fait plusieurs choses à la fois.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01568" y="3264408"/>
            <a:ext cx="254203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33101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C24A"/>
                </a:solidFill>
              </a:rPr>
              <a:t>Questions 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01568" y="354787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52B4E"/>
                </a:solidFill>
              </a:rPr>
              <a:t>Causes les plus probables 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52B4E"/>
                </a:solidFill>
              </a:rPr>
              <a:t>Quel test simple effectuer en premier 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01568" y="4407408"/>
            <a:ext cx="2542032" cy="347472"/>
          </a:xfrm>
          <a:prstGeom prst="roundRect">
            <a:avLst>
              <a:gd name="adj" fmla="val 10526"/>
            </a:avLst>
          </a:prstGeom>
          <a:solidFill>
            <a:srgbClr val="D6E8F7"/>
          </a:solidFill>
          <a:ln w="10160">
            <a:solidFill>
              <a:srgbClr val="2563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4074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A0"/>
                </a:solidFill>
              </a:rPr>
              <a:t>💡  Indice : chaleur ou RAM 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36208" y="1463040"/>
            <a:ext cx="2761488" cy="345643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36208" y="1463040"/>
            <a:ext cx="2761488" cy="45720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150876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2B4E"/>
                </a:solidFill>
              </a:rPr>
              <a:t>🧪  Exercice 3 — Bips au Démarrage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45936" y="2011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A7A"/>
                </a:solidFill>
              </a:rPr>
              <a:t>Mise en situation 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45936" y="2249424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B4E"/>
                </a:solidFill>
              </a:rPr>
              <a:t>Jean-Pierre, ancien électricien, entend 3 bips longs répétés à chaque démarrage. Écran noir. Ça a commencé après avoir nettoyé son PC.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45936" y="3264408"/>
            <a:ext cx="254203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5936" y="33101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C24A"/>
                </a:solidFill>
              </a:rPr>
              <a:t>Questions 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45936" y="354787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52B4E"/>
                </a:solidFill>
              </a:rPr>
              <a:t>Quel composant est concerné 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52B4E"/>
                </a:solidFill>
              </a:rPr>
              <a:t>Quelle action immédiate réaliser ?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45936" y="4407408"/>
            <a:ext cx="2542032" cy="347472"/>
          </a:xfrm>
          <a:prstGeom prst="roundRect">
            <a:avLst>
              <a:gd name="adj" fmla="val 10526"/>
            </a:avLst>
          </a:prstGeom>
          <a:solidFill>
            <a:srgbClr val="D6E8F7"/>
          </a:solidFill>
          <a:ln w="10160">
            <a:solidFill>
              <a:srgbClr val="2563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4074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A0"/>
                </a:solidFill>
              </a:rPr>
              <a:t>💡  Indice : nettoyage + bips = ?</a:t>
            </a:r>
            <a:endParaRPr lang="en-US" sz="900" dirty="0"/>
          </a:p>
        </p:txBody>
      </p:sp>
      <p:pic>
        <p:nvPicPr>
          <p:cNvPr id="50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41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✅  CORRIGÉS — RAISONNEMENT DU TECHNICIEN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4300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</a:rPr>
              <a:t>Le raisonnement compte autant que la réponse — expliquez POURQUOI à votre formateur sur Teams.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517904"/>
            <a:ext cx="402336" cy="40233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" y="15361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2B4E"/>
                </a:solidFill>
              </a:rPr>
              <a:t>Écran noir + ventilateurs à fond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53619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C24A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21024" y="1545336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15453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RAM / GPU / BIOS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1517904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</a:rPr>
              <a:t>1. Vérifier Q-LED.  2. Retirer RAM → 1 barrette slot A2.  3. Si KO → câble vidéo.  4. Reset BIOS.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1956816"/>
            <a:ext cx="8449056" cy="420624"/>
          </a:xfrm>
          <a:prstGeom prst="roundRect">
            <a:avLst>
              <a:gd name="adj" fmla="val 10714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1956816"/>
            <a:ext cx="45720" cy="420624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" y="2066544"/>
            <a:ext cx="8266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🧠  Pourquoi ? — Ventilateurs = PSU OK (étape 1 passée). Pas d'image = bloqué étapes 2–4.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651760"/>
            <a:ext cx="402336" cy="40233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26700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2B4E"/>
                </a:solidFill>
              </a:rPr>
              <a:t>Redémarrages aléatoires en charge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267004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C24A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21024" y="2679192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2679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RAM / CPU / PSU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265176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</a:rPr>
              <a:t>1. Tester RAM une barrette.  2. Vérifier temp CPU avec HWMonitor.  3. Mesurer tensions PSU.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3090672"/>
            <a:ext cx="8449056" cy="420624"/>
          </a:xfrm>
          <a:prstGeom prst="roundRect">
            <a:avLst>
              <a:gd name="adj" fmla="val 10714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090672"/>
            <a:ext cx="45719" cy="420624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" y="3200400"/>
            <a:ext cx="8266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🧠  Pourquoi ? — Redémarrage = coupure de protection → thermique ou instabilité mémoire.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3785616"/>
            <a:ext cx="402336" cy="402336"/>
          </a:xfrm>
          <a:prstGeom prst="ellipse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" y="380390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2B4E"/>
                </a:solidFill>
              </a:rPr>
              <a:t>3 bips longs après nettoyage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380390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C24A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21024" y="381304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21024" y="3813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RAM mal réinsérée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3785616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</a:rPr>
              <a:t>1. Éteindre + décharge.  2. Retirer barrettes → souffler slots.  3. Réinsérer 1 seule en A2 — appuyer FORT jusqu'au clic.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" y="4224528"/>
            <a:ext cx="8449056" cy="382050"/>
          </a:xfrm>
          <a:prstGeom prst="roundRect">
            <a:avLst>
              <a:gd name="adj" fmla="val 10714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4224528"/>
            <a:ext cx="45720" cy="382050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" y="4334256"/>
            <a:ext cx="8266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B4E"/>
                </a:solidFill>
              </a:rPr>
              <a:t>🧠  Pourquoi ? — Nettoyage = barrette déplacée. 3 bips longs = code POST « mémoire non détectée ».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74904" y="4790841"/>
            <a:ext cx="8449056" cy="201168"/>
          </a:xfrm>
          <a:prstGeom prst="roundRect">
            <a:avLst>
              <a:gd name="adj" fmla="val 27273"/>
            </a:avLst>
          </a:prstGeom>
          <a:solidFill>
            <a:srgbClr val="D6E8F7"/>
          </a:solidFill>
          <a:ln w="15240">
            <a:solidFill>
              <a:srgbClr val="2563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52" y="4790841"/>
            <a:ext cx="45720" cy="201168"/>
          </a:xfrm>
          <a:prstGeom prst="rect">
            <a:avLst/>
          </a:prstGeom>
          <a:solidFill>
            <a:srgbClr val="2563A0"/>
          </a:solidFill>
          <a:ln w="12700">
            <a:solidFill>
              <a:srgbClr val="2563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846781"/>
            <a:ext cx="82661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52B4E"/>
                </a:solidFill>
              </a:rPr>
              <a:t>Synthèse : Bips → RAM  |  Écran noir → tester depuis étape 2  |  Redémarrages → RAM puis CPU puis PSU. Toujours dans cet ordre.</a:t>
            </a:r>
            <a:endParaRPr lang="en-US" sz="900" dirty="0"/>
          </a:p>
        </p:txBody>
      </p:sp>
      <p:pic>
        <p:nvPicPr>
          <p:cNvPr id="53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44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566928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B4E"/>
                </a:solidFill>
              </a:rPr>
              <a:t>✅  CHECKLIST OBLIGATOIRE — FIN DE SÉANCE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1051560"/>
            <a:ext cx="914400" cy="36576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4300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7A"/>
                </a:solidFill>
              </a:rPr>
              <a:t>Validez mentalement chaque point avec votre formateur sur Teams avant de déclarer la séance terminée 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5087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6CC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50876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J'identifie visuellement les éléments clés d'une carte mère : socket, slots RAM, chipset, PCIe, SATA, M.2, pile CMOS, ATX 24 broches.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199339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6CC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1993392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Je sais distinguer DDR3 / DDR4 / DDR5 par leur détrompeur physique — et je sais qu'ils sont incompatibles entre eux.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47802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6CC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478024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Je connais les symptômes d'une panne carte mère, CPU (thermal shutdown / throttling) et RAM (bips, BSOD, freeze).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96265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6CC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962656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J'applique l'ordre STRICT : PSU → RAM → BIOS/CMOS → CPU → Carte mère. Jamais l'inverse.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344728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6CC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447288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Je ne change jamais plusieurs composants en même temps — une seule variable à la fois.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93192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6CC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39319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Je sais interpréter les bips POST et les Q-LEDs de diagnostic (DRAM, CPU, VGA, BOOT).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441655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6CC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416552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B4E"/>
                </a:solidFill>
              </a:rPr>
              <a:t>Je connais MemTest86 (memtest86.com) comme outil de test RAM indépendant de tout système d'exploitation.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" y="49194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C24A"/>
                </a:solidFill>
              </a:rPr>
              <a:t>FIN DE LA SÉANCE 2 — SUPPORT VALIDÉ</a:t>
            </a:r>
            <a:endParaRPr lang="en-US" sz="1500" dirty="0"/>
          </a:p>
        </p:txBody>
      </p:sp>
      <p:pic>
        <p:nvPicPr>
          <p:cNvPr id="35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eanceHeader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2 — Carte mère, CPU et RAM</a:t>
            </a:r>
          </a:p>
        </p:txBody>
      </p:sp>
      <p:sp>
        <p:nvSpPr>
          <p:cNvPr id="26" name="FooterVersion"/>
          <p:cNvSpPr/>
          <p:nvPr/>
        </p:nvSpPr>
        <p:spPr>
          <a:xfrm>
            <a:off x="7162150" y="269690"/>
            <a:ext cx="1847850" cy="2435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1000" i="1" dirty="0">
                <a:solidFill>
                  <a:schemeClr val="accent6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3315</Words>
  <Application>Microsoft Office PowerPoint</Application>
  <PresentationFormat>Affichage à l'écran (16:9)</PresentationFormat>
  <Paragraphs>445</Paragraphs>
  <Slides>27</Slides>
  <Notes>27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8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2 – Carte mère, CPU et RAM</dc:title>
  <dc:subject>PptxGenJS Presentation</dc:subject>
  <dc:creator>PptxGenJS</dc:creator>
  <cp:lastModifiedBy>Chafik Moustaid</cp:lastModifiedBy>
  <cp:revision>9</cp:revision>
  <dcterms:created xsi:type="dcterms:W3CDTF">2026-06-18T14:23:37Z</dcterms:created>
  <dcterms:modified xsi:type="dcterms:W3CDTF">2026-07-07T02:48:00Z</dcterms:modified>
</cp:coreProperties>
</file>