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3A0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2A0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5240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SÉANCE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Affichage, impression
et mise en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6559" y="2377440"/>
            <a:ext cx="6155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TECHNIQUE SUPPORT INFORMATIQUE —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6559" y="2834640"/>
            <a:ext cx="6155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Modes d'affichage, marges, format, orientation et page de garde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6559" y="3977639"/>
            <a:ext cx="118872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Formation SAMO — Chafik Moustaid,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0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Un document bien mis en page se 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6A0DAD"/>
                </a:solidFill>
              </a:rPr>
              <a:t>avant même d'être lu.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Séance 5 sur 12 — Formation Word, Formation SAMO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que nous allons couvrir aujourd'hui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3788664" cy="91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A0DAD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Les modes d'affichage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7304" y="178308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Aperçu et impression avancée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3128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3128" y="1783080"/>
            <a:ext cx="3788664" cy="91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7720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A0DAD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720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Les marges du document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Format et orientation du papier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7304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7304" y="3931920"/>
            <a:ext cx="3788664" cy="914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1896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A0DAD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1896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Fin de ligne : retour vs nouveau paragraphe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3128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3128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7720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720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La page de garde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modes d'affichage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Word propose plusieurs façons de visualiser un même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Mode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Usage principal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Page (par défaut)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Affiche le document tel qu'il sera imprimé, avec les marges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Plein écran, optimisé pour lire sans modifier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Web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Affiche le document comme une page web continue, sans pages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Affiche la structure par titres et sous-titres, utile pour réorganiser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Brouillon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Vue simplifiée, sans en-têtes ni images, pour une saisie rapide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Aperçu et impression avancée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Vérifier avant d'imprimer, éviter le gaspillage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Aperçu avant impression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Fichier &gt; Imprimer affiche l'aperçu à droite en temps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Naviguer entre les pages avec les flèches en bas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Zoomer pour vérifier les détails avant impression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Impression pages précises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Zone Pages : « 3-5 » pour une plage, « 2,4,7 » pour des pages isolées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Imprimer la sélection : n'imprime que le texte sélectionné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Nombre de copies réglable directement dans la fenêtre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marges du 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L'espace blanc entre le texte et le bord de la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52120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 de marge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Valeur approximative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Usage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Normal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2,54 cm partout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Réglage par défaut, convient à la majorité des documents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Étroit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1,27 cm partout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Maximise l'espace de texte disponible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Modéré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2,54 cm haut/bas, 1,91 cm gauche/droite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Bon compromis lisibilité / espace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2,54 cm haut/bas, 5,08 cm gauche/droite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Documents avec annotations en marge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Personnalisée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Valeurs définies par l'utilisateur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Mise en page &gt; Marges &gt; Marges personnalisées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Format du papier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Le format standard varie selon la région et l'usage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2738628" cy="5029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Lettre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21,59 × 27,94 cm — format standard en Amérique du Nord.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87268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87268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4428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Légal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1860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21,59 × 35,56 cm — plus long, utilisé pour les contrats.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1783080"/>
            <a:ext cx="2738628" cy="5029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21 × 29,7 cm — format standard international (Europe).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38844" y="1783080"/>
            <a:ext cx="2738628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38844" y="1783080"/>
            <a:ext cx="2738628" cy="50292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6004" y="1847088"/>
            <a:ext cx="24643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Personnalisé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3436" y="2468880"/>
            <a:ext cx="24094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Dimensions définies manuellement dans Mise en page.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Configurer une mise en page complète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L'ordre logique pour préparer un document avant la rédaction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7589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13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Choisir le format de papier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Mise en page &gt; Taille — sélectionner Lettre, Légal ou A4.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457200" cy="7589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300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65176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70662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Définir l'orientation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8094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Mise en page &gt; Orientation — Portrait ou Paysage selon le contenu.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457200" cy="7589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987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520439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7530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Régler les marges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4962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Mise en page &gt; Marges — choisir un préréglage ou personnaliser.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457200" cy="7589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674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38912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4398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Ajouter des colonnes si besoin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1830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Mise en page &gt; Colonnes — pour un bulletin ou une brochure.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457200" cy="75895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361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5780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1266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Vérifier en aperçu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8698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Fichier &gt; Imprimer pour valider le rendu final avant de continuer.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Affichage, impression
et mise en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Modes d'affichage, marges, format, orientation et page de garde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Boîte de dialogue Mise en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de l'onglet Marges de la boîte Mise en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les valeurs de marges et l'aperçu miniature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Orientation du papier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Deux orientations possibles, à choisir selon le contenu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114800"/>
                <a:gridCol w="4754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Orientation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Cas d'usage typique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Portrait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Page plus haute que large (par défaut)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Lettres, rapports, CV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Paysage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Page plus large que haute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Tableaux larges, présentations, diagrammes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Fin de ligne : deux touches, deux résultats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Une confusion très fréquente chez les nouveaux utilisateurs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Touche Entrée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Crée un nouveau paragraphe complet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Applique l'espacement défini avant/après paragraphe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Visible comme un pied-de-mouche ¶ avec Ctrl+Maj+8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Maj+Entrée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Insère un simple retour à la ligne, sans nouveau paragraphe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Utile pour les adresses ou les listes courtes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Visible comme une flèche coudée avec Ctrl+Maj+8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La page de garde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Une première page professionnelle en quelques clics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3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Étape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Insertion &gt; Pages &gt; Page de garde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Choisir un modèle prédéfini dans la galerie proposée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Remplacer les zones de texte (titre, auteur, date) par vos informations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Supprimer une page de garde : réouvrir la galerie et choisir Supprimer la page de garde actuelle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Trois situations vécues en atelier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3694176" cy="4572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Isabelle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A0DAD"/>
                </a:solidFill>
              </a:rPr>
              <a:t>Son rapport imprimé a un texte qui touche presque le bord de la feuille.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Où régler les marges du document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Quelle marge est recommandée pour un rapport formel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89320"/>
            <a:ext cx="3429000" cy="3657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Mise en page &gt; Marges &gt; Normal (2,54 cm) ou personnaliser au besoin.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737360"/>
            <a:ext cx="3694176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Chantal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560"/>
                </a:solidFill>
              </a:rPr>
              <a:t>A appuyé sur Entrée après chaque ligne d'une adresse, créant plein de petits paragraphes.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Quelle touche aurait dû être utilisée à la place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Quelle est la différence visuelle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5989320"/>
            <a:ext cx="3429000" cy="3657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Maj+Entrée insère un retour à la ligne sans créer un nouveau paragraphe.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1737360"/>
            <a:ext cx="3694176" cy="4572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Martin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A0DAD"/>
                </a:solidFill>
              </a:rPr>
              <a:t>Doit présenter un tableau très large qui ne rentre pas en orientation portrait.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changer l'orientation d'une seule page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Faut-il changer tout le document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5989320"/>
            <a:ext cx="3429000" cy="36576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Utiliser une section avec orientation Paysage uniquement pour cette page.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 — les trois piliers de la mise en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Marges, format et orientation travaillent toujours ensemble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3605784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3605784" cy="4572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847088"/>
            <a:ext cx="333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Marges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42316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Définissent l'espace de texte utile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97180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Se règlent en centimètres ou pouces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1584" y="1783080"/>
            <a:ext cx="3605784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1584" y="1783080"/>
            <a:ext cx="3605784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8744" y="1847088"/>
            <a:ext cx="333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6176" y="242316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Détermine la taille physique de la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6176" y="297180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Lettre, Légal, A4 ou personnalisé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25968" y="1783080"/>
            <a:ext cx="3605784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5968" y="1783080"/>
            <a:ext cx="3605784" cy="45720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3128" y="1847088"/>
            <a:ext cx="333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Orientation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0560" y="242316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Portrait pour le texte, Paysage pour les tableaux larges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0560" y="2971800"/>
            <a:ext cx="3276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•  Peut varier par section dans un même document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Bonnes pratiques de mise en page professionnelle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que les documents soignés ont en commun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Bonne pratique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Pourquoi</a:t>
                      </a:r>
                    </a:p>
                  </a:txBody>
                  <a:tcPr>
                    <a:solidFill>
                      <a:srgbClr val="6A0DA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Marges cohérentes sur tout le document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Donne une impression de rigueur et de professionnalisme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Une seule orientation, sauf exception justifiée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Évite de désorienter le lecteur à l'impression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Page de garde sobre pour les documents formels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Un excès de couleurs ou d'images nuit au sérieux perçu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Vérifier l'aperçu avant chaque impression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Économise du papier et évite les mauvaises surprises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Vocabulaire clé de la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Mode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Affichage par défaut, fidèle à l'impression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Mode Brouillon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Vue simplifiée sans en-têtes ni images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91256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Mode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Vue structurée par titres et sous-titres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32504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Marge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Espace blanc entre le texte et le bord de la page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73752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Format Lettre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Format de papier standard en Amérique du Nord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Format A4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Format de papier standard international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1508760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Orientation Portrait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Page plus haute que large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2350008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Orientation Paysage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Page plus large que haute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3191256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Page de garde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Première page décorative d'un document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4032504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Retour à la ligne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Saut de ligne sans nouveau paragraphe (Maj+Entrée)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4873752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Nouveau paragraphe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Créé par la touche Entrée seule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5715000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Pied-de-mouche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Symbole ¶ marquant la fin d'un paragraphe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1508760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Aperçu avant impression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Visualisation du rendu final avant impression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2350008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Section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Partie d'un document pouvant avoir sa propre mise en page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38160" y="3191256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Colonnes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Division du texte en plusieurs bandes verticales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38160" y="4032504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Marges personnalisées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Valeurs de marges définies manuellement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38160" y="4873752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Impression de sélection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Impression limitée au texte sélectionné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38160" y="5715000"/>
            <a:ext cx="73152" cy="7315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A0DAD"/>
                </a:solidFill>
              </a:rPr>
              <a:t>Zoom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Agrandissement ou réduction de l'affichage à l'écran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Mémo raccourcis clavier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733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Maj+Entrée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7562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Retour à la ligne sans nouveau paragraphe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6311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116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Ctrl+Entrée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6311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12998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Saut de 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747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660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Ctrl+Maj+8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61747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68433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Afficher les marques de mise en forme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182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2040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17182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3869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Ouvrir l'aperçu et l'impression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26179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7475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Alt+Ctrl+P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726179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79304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Basculer en mode 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8053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29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Alt+Ctrl+O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8053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434740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Basculer en mode Plan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3489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834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Alt+Ctrl+N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83489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90175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Basculer en mode Brouillon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8924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3782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Ctrl+Molette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38924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545611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Zoomer ou dézoomer l'affichage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Affichage, impression
et mise en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Modes d'affichage, marges, format, orientation et page de garde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Galerie de pages de garde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de la galerie de pages de garde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au moins trois modèles différents proposés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4 exercices pratiques à réaliser dans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02920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19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19 — Explorer les modes d'affichage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85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Basculez entre les cinq modes d'affichage sur un même document et notez les différences.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02920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20 — Régler les marges et l'orientation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Appliquez des marges personnalisées et passez le document en orientation Paysage.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502920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— Page de garde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71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Insérez une page de garde prédéfinie et personnalisez le titre, l'auteur et la date.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502920" cy="10058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13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— Fin de ligne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14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Créez une adresse sur trois lignes en utilisant Maj+Entrée, puis comparez avec la touche Entrée seule.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qu'il faut retenir de cette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56231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Chaque mode d'affichage sert un objectif différent : lecture, rédaction, structure ou brouillon.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marges, le format et l'orientation forment les trois piliers de la mise en page.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91440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Maj+Entrée crée un retour à la ligne sans démarrer un nouveau paragraphe.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91440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La page de garde s'insère et se personnalise entièrement depuis une galerie prédéfinie.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21224"/>
            <a:ext cx="91440" cy="749808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94376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L'aperçu avant impression évite les erreurs coûteuses en papier.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Astuce de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08792" cy="1463040"/>
          </a:xfrm>
          <a:prstGeom prst="rect">
            <a:avLst/>
          </a:prstGeom>
          <a:solidFill>
            <a:srgbClr val="FFF0E0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02920" cy="146304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505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93392"/>
            <a:ext cx="10222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005D"/>
                </a:solidFill>
              </a:rPr>
              <a:t>Changez l'orientation d'une seule page grâce aux sections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86000"/>
            <a:ext cx="10222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Pour insérer un tableau large en Paysage au milieu d'un rapport en Portrait, insérez un saut de section (Mise en page &gt; Sauts de page &gt; Page suivante) avant et après la page concernée, puis changez l'orientation uniquement pour cette section.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Pièges fréquents à éviter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Confondre Entrée et Maj+Entrée dans une liste d'adresses.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Changer l'orientation de tout le document pour une seule page large.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Oublier de vérifier l'aperçu avant une grosse impression.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5 — Affichage, impression et mise en page | Formation SAMO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5 — Affichage, impression et mise en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74650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19072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connais l'usage de chacun des cinq modes d'affichage.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2257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95144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imprimer une plage de pages précise.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71216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régler les marges d'un document, y compris personnalisées.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447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447288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502152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connais la différence entre format Lettre, Légal et A4.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050791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023360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changer l'orientation d'un document.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599432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65429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utiliser Maj+Entrée pour un retour à la ligne sans nouveau paragraphe.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0293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175504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insérer et personnaliser une page de garde.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779007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6A0D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751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A0DAD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751576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vérifier un document en aperçu avant impression.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19088"/>
            <a:ext cx="11420856" cy="256032"/>
          </a:xfrm>
          <a:prstGeom prst="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6409944"/>
            <a:ext cx="11237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FIN SÉANCE 5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