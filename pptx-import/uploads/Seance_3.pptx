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356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8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57900" y="0"/>
            <a:ext cx="73152" cy="685800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"/>
            <a:ext cx="1158240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1280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CC"/>
                </a:solidFill>
              </a:rPr>
              <a:t>Séance 3 — Mémoire vive et Stockage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8552" y="91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799BB"/>
                </a:solidFill>
              </a:rPr>
              <a:t>CHAFIK MOUSTAID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8552" y="3108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6677"/>
                </a:solidFill>
              </a:rPr>
              <a:t>Version 1 — Juin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28016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Mémoire vive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019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8AA"/>
                </a:solidFill>
              </a:rPr>
              <a:t>RAM · DDR4 · DDR5 · Dual Channel · MemTest86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Ce que votre PC utilise
en ce moment même.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2286000" cy="43891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3200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VOLATILE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28016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Stockage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019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AACC"/>
                </a:solidFill>
              </a:rPr>
              <a:t>SSD · HDD · NVMe M.2 · S.M.A.R.T. · Crystal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Vos fichiers qui restent
même après extinction.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200400"/>
            <a:ext cx="2286000" cy="438912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200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PERMANENT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02920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Séance 3 / 15  ·  Durée : 4 heures  ·  Niveau N1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799"/>
                </a:solidFill>
              </a:rPr>
              <a:t>Séance 3 — Mémoire vive et Stockage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57799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55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4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Votre PC perd tout.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9994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0088AA"/>
                </a:solidFill>
              </a:rPr>
              <a:t>À chaque extinction.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154680"/>
            <a:ext cx="9994392" cy="36576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CCEE"/>
                </a:solidFill>
              </a:rPr>
              <a:t>Ce qui disparaît à l'extinction → la RAM.  Ce qui reste → le disque.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Comprendre cette distinction vous permet de diagnostiquer correctement 30 % des pannes
et d'expliquer clairement à vos clients ce qui se passe.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Au programme — 4 heures, 6 blocs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719072"/>
            <a:ext cx="3657600" cy="42062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01 — La RAM en profondeur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DDR4/DDR5 · Dual Channel · Rôle exact · Diagnostiquer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1719072"/>
            <a:ext cx="3657600" cy="420624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02 — MemTest86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Tester la RAM hors Windows · Interpréter les erreurs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719072"/>
            <a:ext cx="3657600" cy="42062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03 — HDD vs SSD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Technologie · Comparatif · Migration HDD→SSD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3895344"/>
            <a:ext cx="3657600" cy="420624"/>
          </a:xfrm>
          <a:prstGeom prst="rect">
            <a:avLst/>
          </a:prstGeom>
          <a:solidFill>
            <a:srgbClr val="00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04 — NVMe M.2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Formats · PCIe Gen3/4/5 · Compatibility slot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42816" y="3895344"/>
            <a:ext cx="3657600" cy="420624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9976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05 — S.M.A.R.T. + CrystalDisk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Santé disque · Attributs critiques · CrystalDiskInfo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3" y="3895344"/>
            <a:ext cx="3657600" cy="420624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8744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06 — Diagnostics et 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Méthode panne RAM · Méthode panne disque · Cas terrain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3 — Mémoire vive et Stockage · SAMO 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La RAM — Comment elle interagit avec le 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A4A"/>
                </a:solidFill>
              </a:rPr>
              <a:t>Cycle lecture/écriture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576986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95959"/>
                </a:solidFill>
              </a:rPr>
              <a:t>1. Le CPU a </a:t>
            </a:r>
            <a:r>
              <a:rPr sz="1300" b="0" i="0" dirty="0" err="1">
                <a:solidFill>
                  <a:srgbClr val="595959"/>
                </a:solidFill>
              </a:rPr>
              <a:t>besoin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d'une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donnée</a:t>
            </a:r>
            <a:r>
              <a:rPr sz="1300" b="0" i="0" dirty="0">
                <a:solidFill>
                  <a:srgbClr val="595959"/>
                </a:solidFill>
              </a:rPr>
              <a:t> → </a:t>
            </a:r>
            <a:r>
              <a:rPr sz="1300" b="0" i="0" dirty="0" err="1">
                <a:solidFill>
                  <a:srgbClr val="595959"/>
                </a:solidFill>
              </a:rPr>
              <a:t>il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cherche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d'abord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dans</a:t>
            </a:r>
            <a:r>
              <a:rPr sz="1300" b="0" i="0" dirty="0">
                <a:solidFill>
                  <a:srgbClr val="595959"/>
                </a:solidFill>
              </a:rPr>
              <a:t> son cache (L1/L2/L3)
2. Si absent du cache → </a:t>
            </a:r>
            <a:r>
              <a:rPr sz="1300" b="0" i="0" dirty="0" err="1">
                <a:solidFill>
                  <a:srgbClr val="595959"/>
                </a:solidFill>
              </a:rPr>
              <a:t>il</a:t>
            </a:r>
            <a:r>
              <a:rPr sz="1300" b="0" i="0" dirty="0">
                <a:solidFill>
                  <a:srgbClr val="595959"/>
                </a:solidFill>
              </a:rPr>
              <a:t> lit </a:t>
            </a:r>
            <a:r>
              <a:rPr sz="1300" b="0" i="0" dirty="0" err="1">
                <a:solidFill>
                  <a:srgbClr val="595959"/>
                </a:solidFill>
              </a:rPr>
              <a:t>depuis</a:t>
            </a:r>
            <a:r>
              <a:rPr sz="1300" b="0" i="0" dirty="0">
                <a:solidFill>
                  <a:srgbClr val="595959"/>
                </a:solidFill>
              </a:rPr>
              <a:t> la RAM (</a:t>
            </a:r>
            <a:r>
              <a:rPr sz="1300" b="0" i="0" dirty="0" err="1">
                <a:solidFill>
                  <a:srgbClr val="595959"/>
                </a:solidFill>
              </a:rPr>
              <a:t>quelques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nanosecondes</a:t>
            </a:r>
            <a:r>
              <a:rPr sz="1300" b="0" i="0" dirty="0">
                <a:solidFill>
                  <a:srgbClr val="595959"/>
                </a:solidFill>
              </a:rPr>
              <a:t>)
3. Si absent de la RAM → </a:t>
            </a:r>
            <a:r>
              <a:rPr sz="1300" b="0" i="0" dirty="0" err="1">
                <a:solidFill>
                  <a:srgbClr val="595959"/>
                </a:solidFill>
              </a:rPr>
              <a:t>il</a:t>
            </a:r>
            <a:r>
              <a:rPr sz="1300" b="0" i="0" dirty="0">
                <a:solidFill>
                  <a:srgbClr val="595959"/>
                </a:solidFill>
              </a:rPr>
              <a:t> lit </a:t>
            </a:r>
            <a:r>
              <a:rPr sz="1300" b="0" i="0" dirty="0" err="1">
                <a:solidFill>
                  <a:srgbClr val="595959"/>
                </a:solidFill>
              </a:rPr>
              <a:t>depuis</a:t>
            </a:r>
            <a:r>
              <a:rPr sz="1300" b="0" i="0" dirty="0">
                <a:solidFill>
                  <a:srgbClr val="595959"/>
                </a:solidFill>
              </a:rPr>
              <a:t> le </a:t>
            </a:r>
            <a:r>
              <a:rPr sz="1300" b="0" i="0" dirty="0" err="1">
                <a:solidFill>
                  <a:srgbClr val="595959"/>
                </a:solidFill>
              </a:rPr>
              <a:t>disque</a:t>
            </a:r>
            <a:r>
              <a:rPr sz="1300" b="0" i="0" dirty="0">
                <a:solidFill>
                  <a:srgbClr val="595959"/>
                </a:solidFill>
              </a:rPr>
              <a:t> (</a:t>
            </a:r>
            <a:r>
              <a:rPr sz="1300" b="0" i="0" dirty="0" err="1">
                <a:solidFill>
                  <a:srgbClr val="595959"/>
                </a:solidFill>
              </a:rPr>
              <a:t>fichier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d'échange</a:t>
            </a:r>
            <a:r>
              <a:rPr sz="1300" b="0" i="0" dirty="0">
                <a:solidFill>
                  <a:srgbClr val="595959"/>
                </a:solidFill>
              </a:rPr>
              <a:t> = TRÈS lent)
4. Après </a:t>
            </a:r>
            <a:r>
              <a:rPr sz="1300" b="0" i="0" dirty="0" err="1">
                <a:solidFill>
                  <a:srgbClr val="595959"/>
                </a:solidFill>
              </a:rPr>
              <a:t>traitement</a:t>
            </a:r>
            <a:r>
              <a:rPr sz="1300" b="0" i="0" dirty="0">
                <a:solidFill>
                  <a:srgbClr val="595959"/>
                </a:solidFill>
              </a:rPr>
              <a:t> → le CPU </a:t>
            </a:r>
            <a:r>
              <a:rPr sz="1300" b="0" i="0" dirty="0" err="1">
                <a:solidFill>
                  <a:srgbClr val="595959"/>
                </a:solidFill>
              </a:rPr>
              <a:t>écrit</a:t>
            </a:r>
            <a:r>
              <a:rPr sz="1300" b="0" i="0" dirty="0">
                <a:solidFill>
                  <a:srgbClr val="595959"/>
                </a:solidFill>
              </a:rPr>
              <a:t> le </a:t>
            </a:r>
            <a:r>
              <a:rPr sz="1300" b="0" i="0" dirty="0" err="1">
                <a:solidFill>
                  <a:srgbClr val="595959"/>
                </a:solidFill>
              </a:rPr>
              <a:t>résultat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en</a:t>
            </a:r>
            <a:r>
              <a:rPr sz="1300" b="0" i="0" dirty="0">
                <a:solidFill>
                  <a:srgbClr val="595959"/>
                </a:solidFill>
              </a:rPr>
              <a:t> 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" y="2871543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99923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1C1C"/>
                </a:solidFill>
              </a:rPr>
              <a:t>Ce que la RAM ne fait PAS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1012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Stocker des fichiers de façon permanente
• Accélérer un disque lent
• Remplacer un SSD manquant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05072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00507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7A1F"/>
                </a:solidFill>
              </a:rPr>
              <a:t>Impact sur les performances 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07408"/>
            <a:ext cx="1463040" cy="36576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407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44074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Windows 11 + 1 app lourde = déjà saturé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882896"/>
            <a:ext cx="1463040" cy="36576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8828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48828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Correct bureautique · Quelques onglets Chrome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358384"/>
            <a:ext cx="1463040" cy="36576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3583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16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535838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Recommandé 2024 · Tout confortable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833872"/>
            <a:ext cx="1463040" cy="36576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8338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32 GB+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5833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Montage vidéo / développement / jeux AAA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627632"/>
            <a:ext cx="5577840" cy="4892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1627632"/>
            <a:ext cx="557784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16642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HIÉRARCHIE MÉMOIRE — Vitesse vs Capacité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103120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103120"/>
            <a:ext cx="1463040" cy="62179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2103120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Cache L1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2157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quelques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157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2A4A"/>
                </a:solidFill>
              </a:rPr>
              <a:t>&lt; 1 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816352"/>
            <a:ext cx="5303520" cy="62179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55080" y="2816352"/>
            <a:ext cx="1463040" cy="6217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2816352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Cache L2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2871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256 kB - 4 MB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28712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2A4A"/>
                </a:solidFill>
              </a:rPr>
              <a:t>2-5 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529584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3529584"/>
            <a:ext cx="1463040" cy="62179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29584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Cache L3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35844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4-64 MB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35844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2A4A"/>
                </a:solidFill>
              </a:rPr>
              <a:t>10-40 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242816"/>
            <a:ext cx="5303520" cy="62179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4242816"/>
            <a:ext cx="1463040" cy="62179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4242816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RAM (DDR4/5)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2976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8-128 GB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42976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2A4A"/>
                </a:solidFill>
              </a:rPr>
              <a:t>50-100 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956048"/>
            <a:ext cx="5303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55080" y="4956048"/>
            <a:ext cx="1463040" cy="621792"/>
          </a:xfrm>
          <a:prstGeom prst="rect">
            <a:avLst/>
          </a:prstGeom>
          <a:solidFill>
            <a:srgbClr val="33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55080" y="4956048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SSD NVMe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5010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256 GB-4 TB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50109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2A4A"/>
                </a:solidFill>
              </a:rPr>
              <a:t>20-100 µs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5669280"/>
            <a:ext cx="5303520" cy="62179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55080" y="5669280"/>
            <a:ext cx="1463040" cy="62179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80" y="5669280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HDD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7241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500 GB-10 TB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5724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2A4A"/>
                </a:solidFill>
              </a:rPr>
              <a:t>5-10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Accès RAM ≈ 100 ns · Accès disque ≈ 1 000 000 ns → 10 000× plus lent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DDR4 vs DDR5 — Tout ce que vous devez savoir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719072"/>
          <a:ext cx="11457431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3593591"/>
              </a:tblGrid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Caractéristique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DDR4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DDR5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Impact terrain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Fréquence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2133–3200 MHz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4800–7200+ MHz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DDR5 = +50 % bande passante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Voltage 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1.2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1.1 V (PMIC intégré)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DDR5 consomme moins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Latence (CAS)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CL14–CL18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CL30–CL40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DDR4 gagne en latence brute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Capacité par barrette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Max 32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Max 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DDR5 = serveurs et workstations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Nombre broches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288 (1 encoche)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288 (encoche différente)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INCOMPATIBLES — ne pas forcer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Contrôleur PMIC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Non — sur carte mère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Oui — sur la barrette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DDR5 auto-régule sa 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Compatibilité Intel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Depuis LGA1151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LGA1700 + (12e gen+)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Vérifier socket avant achat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262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3560"/>
                          </a:solidFill>
                        </a:rPr>
                        <a:t>Compatibilité AMD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63A0"/>
                          </a:solidFill>
                        </a:rPr>
                        <a:t>Depuis AM4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88AA"/>
                          </a:solidFill>
                        </a:rPr>
                        <a:t>AM5 uniquement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AM4 = DDR4 · AM5 = DDR5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6528816"/>
            <a:ext cx="11457432" cy="228600"/>
          </a:xfrm>
          <a:prstGeom prst="rect">
            <a:avLst/>
          </a:prstGeom>
          <a:solidFill>
            <a:srgbClr val="FFEBEB"/>
          </a:solidFill>
          <a:ln w="25400">
            <a:solidFill>
              <a:srgbClr val="BB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6528816"/>
            <a:ext cx="502920" cy="228600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" y="6441948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496812"/>
            <a:ext cx="10771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0000"/>
                </a:solidFill>
              </a:rPr>
              <a:t>DDR4 et DDR5 physiquement incompatibles — encoche différente. Vérifier AVANT tout achat.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894576"/>
            <a:ext cx="107716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Dual Channel — Doubler la bande passante et bien installer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Dual Channel = 2 barrettes identiques fonctionnant en parallèle → bande passante doublée (+15 à 30 % perfs).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10241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685800" cy="1024128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0848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1 barrette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43230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Slots : Slot A2 (prioritaire selon manuel)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066544"/>
            <a:ext cx="2743200" cy="365760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2066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Single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066544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Minimal — pas de gain Dual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1145743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685800" cy="102412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2144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2 barrettes identiques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354787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Slots : A1+B1 OU A2+B2 (même couleur)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182112"/>
            <a:ext cx="2743200" cy="365760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DUAL CHANNEL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182112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Gain de +15 à 30 % sur les perfs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24528"/>
            <a:ext cx="11457432" cy="10241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224528"/>
            <a:ext cx="685800" cy="102412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52144" y="43159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2 barrettes différentes (taille/marque)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46634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Slots : A1+B1 OU A2+B2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297680"/>
            <a:ext cx="2743200" cy="36576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Dual Channel (limité)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297680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Fonctionne mais moins optimal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0096"/>
            <a:ext cx="1145743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340096"/>
            <a:ext cx="685800" cy="10241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52144" y="54315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4 barrettes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577900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Slots : A1+A2+B1+B2 (tous les slots)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413248"/>
            <a:ext cx="274320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0" y="5413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DUAL CHANNEL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5413248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Max mémoire — optimal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510528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11365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Comment identifier les slots dans le manuel : chercher 'Memory Installation' ou 'DIMM Population Guide'.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CPU-Z onglet Memory — Ce que vous devez lire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1627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Ce qu'on cherche 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084831"/>
            <a:ext cx="1371600" cy="32918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2084831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084831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Single = 1 barrette · Dual = 2 barrettes bien installées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2980944"/>
            <a:ext cx="1371600" cy="32918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0" y="29809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DRAM Freq.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98094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La moitié de la vitesse annoncée (DDR3200 → 1600 MHz affiché)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877056"/>
            <a:ext cx="1371600" cy="32918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0" y="387705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NB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877056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Fréquence interconnexion CPU-RAM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773168"/>
            <a:ext cx="1371600" cy="32918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47731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Slots SPD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47731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Quel slot est utilisé, quelle marque, quelle capacité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5669279"/>
            <a:ext cx="1371600" cy="32918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5669279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Slot vide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66927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Indiquer si ajout possible sans retirer l'existant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CPU-Z : Gratuit sur cpuid.com  ·  Onglet SPD = 1 onglet par slot physique de RAM</a:t>
            </a:r>
          </a:p>
        </p:txBody>
      </p:sp>
      <p:pic>
        <p:nvPicPr>
          <p:cNvPr id="1026" name="Picture 2" descr="Ram not detected by windows. - Microsoft Q&amp;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8" y="1303400"/>
            <a:ext cx="3654494" cy="407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mory - CPU-Z say the SPD RANK number is &quot;dual&quot; and “single?” - Super Us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732" y="1303399"/>
            <a:ext cx="3577583" cy="407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MemTest86 — Tester la RAM hors de Windows (indispensable)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L'outil de diagnostic mémoire Windows est insuffisant. MemTest86 teste réellement chaque cellule hors 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658368" cy="14447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Télécharger MemTest86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322576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memtest86.com → Free Download → ISO ou image USB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901952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1901952"/>
            <a:ext cx="658368" cy="14447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901952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Créer la clé bootable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322576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Rufus → sélectionner l'ISO MemTest86 → Écrire sur clé USB 8 GB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658368" cy="14447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474720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Démarrer sur la clé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895344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BIOS → Boot sur la clé USB → MemTest86 démarre automatiquement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3474720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3474720"/>
            <a:ext cx="658368" cy="14447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3474720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Lancer le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895344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Test → All Tests → Minimum 2 passes complètes (1 passe = 15-45 min selon RAM)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47488"/>
            <a:ext cx="557784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047488"/>
            <a:ext cx="658368" cy="144475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047488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51389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Interpréter les résultats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468112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0 erreur → RAM saine  ·  Erreur rouge → barrette défectueuse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5047488"/>
            <a:ext cx="5577840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91072" y="5047488"/>
            <a:ext cx="658368" cy="1444752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91072" y="5047488"/>
            <a:ext cx="6583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51389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Si erreurs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5468112"/>
            <a:ext cx="4663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Tester une barrette à la fois dans slot A2 → identifier la défectueuse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675120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6729984"/>
            <a:ext cx="11365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Durée totale recommandée : 2 passes = 30 à 90 min selon la quantité de RAM. Faire tourner la nuit si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HDD — Technologie magnétique, fragilité et usure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A4A"/>
                </a:solidFill>
              </a:rPr>
              <a:t>Comment fonctionne un HDD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938528"/>
            <a:ext cx="601675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95959"/>
                </a:solidFill>
              </a:rPr>
              <a:t>Un HDD (Hard Disk Drive) </a:t>
            </a:r>
            <a:r>
              <a:rPr sz="1300" b="0" i="0" dirty="0" err="1">
                <a:solidFill>
                  <a:srgbClr val="595959"/>
                </a:solidFill>
              </a:rPr>
              <a:t>contient</a:t>
            </a:r>
            <a:r>
              <a:rPr sz="1300" b="0" i="0" dirty="0">
                <a:solidFill>
                  <a:srgbClr val="595959"/>
                </a:solidFill>
              </a:rPr>
              <a:t> des </a:t>
            </a:r>
            <a:r>
              <a:rPr sz="1300" b="0" i="0" dirty="0" err="1">
                <a:solidFill>
                  <a:srgbClr val="595959"/>
                </a:solidFill>
              </a:rPr>
              <a:t>plateaux</a:t>
            </a:r>
            <a:r>
              <a:rPr sz="1300" b="0" i="0" dirty="0">
                <a:solidFill>
                  <a:srgbClr val="595959"/>
                </a:solidFill>
              </a:rPr>
              <a:t> </a:t>
            </a:r>
            <a:r>
              <a:rPr sz="1300" b="0" i="0" dirty="0" err="1">
                <a:solidFill>
                  <a:srgbClr val="595959"/>
                </a:solidFill>
              </a:rPr>
              <a:t>métalliques</a:t>
            </a:r>
            <a:r>
              <a:rPr sz="1300" b="0" i="0" dirty="0">
                <a:solidFill>
                  <a:srgbClr val="595959"/>
                </a:solidFill>
              </a:rPr>
              <a:t> qui </a:t>
            </a:r>
            <a:r>
              <a:rPr sz="1300" b="0" i="0" dirty="0" err="1">
                <a:solidFill>
                  <a:srgbClr val="595959"/>
                </a:solidFill>
              </a:rPr>
              <a:t>tournent</a:t>
            </a:r>
            <a:r>
              <a:rPr sz="1300" b="0" i="0" dirty="0">
                <a:solidFill>
                  <a:srgbClr val="595959"/>
                </a:solidFill>
              </a:rPr>
              <a:t> à 5400 </a:t>
            </a:r>
            <a:r>
              <a:rPr sz="1300" b="0" i="0" dirty="0" err="1">
                <a:solidFill>
                  <a:srgbClr val="595959"/>
                </a:solidFill>
              </a:rPr>
              <a:t>ou</a:t>
            </a:r>
            <a:r>
              <a:rPr sz="1300" b="0" i="0" dirty="0">
                <a:solidFill>
                  <a:srgbClr val="595959"/>
                </a:solidFill>
              </a:rPr>
              <a:t> 7200 RPM.
</a:t>
            </a:r>
            <a:r>
              <a:rPr sz="1300" b="0" i="0" dirty="0" err="1">
                <a:solidFill>
                  <a:srgbClr val="595959"/>
                </a:solidFill>
              </a:rPr>
              <a:t>Une</a:t>
            </a:r>
            <a:r>
              <a:rPr sz="1300" b="0" i="0" dirty="0">
                <a:solidFill>
                  <a:srgbClr val="595959"/>
                </a:solidFill>
              </a:rPr>
              <a:t> tête de lecture/</a:t>
            </a:r>
            <a:r>
              <a:rPr sz="1300" b="0" i="0" dirty="0" err="1">
                <a:solidFill>
                  <a:srgbClr val="595959"/>
                </a:solidFill>
              </a:rPr>
              <a:t>écriture</a:t>
            </a:r>
            <a:r>
              <a:rPr sz="1300" b="0" i="0" dirty="0">
                <a:solidFill>
                  <a:srgbClr val="595959"/>
                </a:solidFill>
              </a:rPr>
              <a:t> se </a:t>
            </a:r>
            <a:r>
              <a:rPr sz="1300" b="0" i="0" dirty="0" err="1">
                <a:solidFill>
                  <a:srgbClr val="595959"/>
                </a:solidFill>
              </a:rPr>
              <a:t>déplace</a:t>
            </a:r>
            <a:r>
              <a:rPr sz="1300" b="0" i="0" dirty="0">
                <a:solidFill>
                  <a:srgbClr val="595959"/>
                </a:solidFill>
              </a:rPr>
              <a:t> au-</a:t>
            </a:r>
            <a:r>
              <a:rPr sz="1300" b="0" i="0" dirty="0" err="1">
                <a:solidFill>
                  <a:srgbClr val="595959"/>
                </a:solidFill>
              </a:rPr>
              <a:t>dessus</a:t>
            </a:r>
            <a:r>
              <a:rPr sz="1300" b="0" i="0" dirty="0">
                <a:solidFill>
                  <a:srgbClr val="595959"/>
                </a:solidFill>
              </a:rPr>
              <a:t> des </a:t>
            </a:r>
            <a:r>
              <a:rPr sz="1300" b="0" i="0" dirty="0" err="1">
                <a:solidFill>
                  <a:srgbClr val="595959"/>
                </a:solidFill>
              </a:rPr>
              <a:t>plateaux</a:t>
            </a:r>
            <a:r>
              <a:rPr sz="1300" b="0" i="0" dirty="0">
                <a:solidFill>
                  <a:srgbClr val="595959"/>
                </a:solidFill>
              </a:rPr>
              <a:t> pour lire les </a:t>
            </a:r>
            <a:r>
              <a:rPr sz="1300" b="0" i="0" dirty="0" err="1">
                <a:solidFill>
                  <a:srgbClr val="595959"/>
                </a:solidFill>
              </a:rPr>
              <a:t>données</a:t>
            </a:r>
            <a:r>
              <a:rPr sz="1300" b="0" i="0" dirty="0">
                <a:solidFill>
                  <a:srgbClr val="595959"/>
                </a:solidFill>
              </a:rPr>
              <a:t>.
Temps </a:t>
            </a:r>
            <a:r>
              <a:rPr sz="1300" b="0" i="0" dirty="0" err="1">
                <a:solidFill>
                  <a:srgbClr val="595959"/>
                </a:solidFill>
              </a:rPr>
              <a:t>d'accès</a:t>
            </a:r>
            <a:r>
              <a:rPr sz="1300" b="0" i="0" dirty="0">
                <a:solidFill>
                  <a:srgbClr val="595959"/>
                </a:solidFill>
              </a:rPr>
              <a:t> : 5 à 15 </a:t>
            </a:r>
            <a:r>
              <a:rPr sz="1300" b="0" i="0" dirty="0" err="1">
                <a:solidFill>
                  <a:srgbClr val="595959"/>
                </a:solidFill>
              </a:rPr>
              <a:t>ms</a:t>
            </a:r>
            <a:r>
              <a:rPr sz="1300" b="0" i="0" dirty="0">
                <a:solidFill>
                  <a:srgbClr val="595959"/>
                </a:solidFill>
              </a:rPr>
              <a:t> par </a:t>
            </a:r>
            <a:r>
              <a:rPr sz="1300" b="0" i="0" dirty="0" err="1">
                <a:solidFill>
                  <a:srgbClr val="595959"/>
                </a:solidFill>
              </a:rPr>
              <a:t>requête</a:t>
            </a:r>
            <a:r>
              <a:rPr sz="1300" b="0" i="0" dirty="0">
                <a:solidFill>
                  <a:srgbClr val="595959"/>
                </a:solidFill>
              </a:rPr>
              <a:t> (vs 0.1 </a:t>
            </a:r>
            <a:r>
              <a:rPr sz="1300" b="0" i="0" dirty="0" err="1">
                <a:solidFill>
                  <a:srgbClr val="595959"/>
                </a:solidFill>
              </a:rPr>
              <a:t>ms</a:t>
            </a:r>
            <a:r>
              <a:rPr sz="1300" b="0" i="0" dirty="0">
                <a:solidFill>
                  <a:srgbClr val="595959"/>
                </a:solidFill>
              </a:rPr>
              <a:t> pour un SSD </a:t>
            </a:r>
            <a:r>
              <a:rPr sz="1300" b="0" i="0" dirty="0" err="1">
                <a:solidFill>
                  <a:srgbClr val="595959"/>
                </a:solidFill>
              </a:rPr>
              <a:t>NVMe</a:t>
            </a:r>
            <a:r>
              <a:rPr sz="1300" b="0" i="0" dirty="0">
                <a:solidFill>
                  <a:srgbClr val="595959"/>
                </a:solidFill>
              </a:rPr>
              <a:t>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12724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1C1C"/>
                </a:solidFill>
              </a:rPr>
              <a:t>Points faibles du HDD 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29584"/>
            <a:ext cx="128016" cy="128016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7" y="3483864"/>
            <a:ext cx="280945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BB1C1C"/>
                </a:solidFill>
              </a:rPr>
              <a:t>Pièces</a:t>
            </a:r>
            <a:r>
              <a:rPr sz="1250" b="1" i="0" dirty="0">
                <a:solidFill>
                  <a:srgbClr val="BB1C1C"/>
                </a:solidFill>
              </a:rPr>
              <a:t> </a:t>
            </a:r>
            <a:r>
              <a:rPr sz="1250" b="1" i="0" dirty="0" err="1">
                <a:solidFill>
                  <a:srgbClr val="BB1C1C"/>
                </a:solidFill>
              </a:rPr>
              <a:t>mécaniques</a:t>
            </a:r>
            <a:r>
              <a:rPr sz="1250" b="1" i="0" dirty="0">
                <a:solidFill>
                  <a:srgbClr val="BB1C1C"/>
                </a:solidFill>
              </a:rPr>
              <a:t> </a:t>
            </a:r>
            <a:r>
              <a:rPr sz="1250" b="1" i="0" dirty="0" err="1">
                <a:solidFill>
                  <a:srgbClr val="BB1C1C"/>
                </a:solidFill>
              </a:rPr>
              <a:t>en</a:t>
            </a:r>
            <a:r>
              <a:rPr sz="1250" b="1" i="0" dirty="0">
                <a:solidFill>
                  <a:srgbClr val="BB1C1C"/>
                </a:solidFill>
              </a:rPr>
              <a:t> </a:t>
            </a:r>
            <a:r>
              <a:rPr sz="1250" b="1" i="0" dirty="0" err="1">
                <a:solidFill>
                  <a:srgbClr val="BB1C1C"/>
                </a:solidFill>
              </a:rPr>
              <a:t>mouvement</a:t>
            </a:r>
            <a:endParaRPr sz="1250" b="1" i="0" dirty="0">
              <a:solidFill>
                <a:srgbClr val="BB1C1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3767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Fragile aux chocs — surtout si allumé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42816"/>
            <a:ext cx="128016" cy="128016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1970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B1C1C"/>
                </a:solidFill>
              </a:rPr>
              <a:t>Temps d'accès élevé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8055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Lenteur perçue sur démarrage et ouverture d'apps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956048"/>
            <a:ext cx="128016" cy="128016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91032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BB1C1C"/>
                </a:solidFill>
              </a:rPr>
              <a:t>Sensibilité</a:t>
            </a:r>
            <a:r>
              <a:rPr sz="1250" b="1" i="0" dirty="0">
                <a:solidFill>
                  <a:srgbClr val="BB1C1C"/>
                </a:solidFill>
              </a:rPr>
              <a:t> aux champs </a:t>
            </a:r>
            <a:r>
              <a:rPr sz="1250" b="1" i="0" dirty="0" err="1">
                <a:solidFill>
                  <a:srgbClr val="BB1C1C"/>
                </a:solidFill>
              </a:rPr>
              <a:t>magnétiques</a:t>
            </a:r>
            <a:endParaRPr sz="1250" b="1" i="0" dirty="0">
              <a:solidFill>
                <a:srgbClr val="BB1C1C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51937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Jamais d'aimant près d'un HDD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669279"/>
            <a:ext cx="128016" cy="128016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562355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B1C1C"/>
                </a:solidFill>
              </a:rPr>
              <a:t>Bruit de fonctionnement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907023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Clic au démarrage = piste en cours de lecture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27632"/>
            <a:ext cx="5577840" cy="4892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627632"/>
            <a:ext cx="557784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16642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SPECS HDD À CONNAÎTRE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103120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157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RPM (rotation/min)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21579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5400 RPM = laptop/NAS  ·  7200 RPM = desktop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651760"/>
            <a:ext cx="5303520" cy="4754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2706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SATA III (6 Gb/s) · Rare : SAS (entreprise)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200400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32552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Vitesse lecture séquentielle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32552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80-180 Mo/s selon RPM et densité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749039"/>
            <a:ext cx="5303520" cy="4754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380390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Temps accès moyen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380390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10-15 ms — 10 000× plus lent que NVMe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4297679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435254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35254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3.5" = desktop  ·  2.5" = laptop et NAS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846320"/>
            <a:ext cx="5303520" cy="4754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73952" y="490118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TBW (endurance)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490118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Non applicable — usure mécanique, pas flash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394959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544982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Bruit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544982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Clic normal · Clic répété anormal → panne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943600"/>
            <a:ext cx="5303520" cy="47548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73952" y="59984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0"/>
                </a:solidFill>
              </a:rPr>
              <a:t>SMART clé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59984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Reallocated Sectors (5) &gt; 0 = panne en cours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Clic répété du HDD = signe d'alerte → sauvegarder IMMÉDIATEMENT avant toute autre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SSD — Technologie NAND flash et types de cellules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Un SSD stocke les données dans des cellules flash (NAND) — aucune pièce mobile, lecture/écriture électronique.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914400" cy="98755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914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SLC (Single Level Cell)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1401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1 bit/cellule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066544"/>
            <a:ext cx="2011680" cy="310896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20665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100 000+ 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066544"/>
            <a:ext cx="4114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Serveurs critiques — très fiable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11512" y="2066544"/>
            <a:ext cx="2011680" cy="310896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20665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Très 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72384"/>
            <a:ext cx="1145743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072384"/>
            <a:ext cx="914400" cy="9875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072384"/>
            <a:ext cx="914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163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MLC (Multi Level Cell)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4930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2 bits/cellule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145536"/>
            <a:ext cx="2011680" cy="31089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314553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10 000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145536"/>
            <a:ext cx="4114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Pro et stockage intensif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2" y="3145536"/>
            <a:ext cx="2011680" cy="31089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11512" y="314553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51376"/>
            <a:ext cx="11457432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151376"/>
            <a:ext cx="914400" cy="9875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4151376"/>
            <a:ext cx="914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42428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TLC (Triple Level Cell)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45720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3 bits/cellule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224528"/>
            <a:ext cx="201168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0" y="42245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3 000 cycles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24528"/>
            <a:ext cx="4114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Grand public — standard 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11512" y="4224528"/>
            <a:ext cx="201168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11512" y="42245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Abordable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30368"/>
            <a:ext cx="1145743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5230368"/>
            <a:ext cx="914400" cy="98755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230368"/>
            <a:ext cx="9144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QLC (Quad Level Cell)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9888" y="56509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4 bits/cellule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303520"/>
            <a:ext cx="20116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83280" y="530352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1 000 cycles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5303520"/>
            <a:ext cx="41148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Stockage froid, archives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11512" y="5303520"/>
            <a:ext cx="20116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11512" y="530352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 moins cher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364224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6419088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La majorité des SSD grand public sont TLC · Un SSD TLC de bonne marque dure 5-10 ans en usage normal.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HDD vs SSD SATA vs NVMe — Comparatif complet terrain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719072"/>
          <a:ext cx="1145743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3776472"/>
              </a:tblGrid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HDD (7200 RPM)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SSD SATA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SSD NVMe PCIe 4.0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Lecture séquentielle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BB4444"/>
                          </a:solidFill>
                        </a:rPr>
                        <a:t>~180 Mo/s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~550 Mo/s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~7 000 Mo/s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Écriture séquentielle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BB4444"/>
                          </a:solidFill>
                        </a:rPr>
                        <a:t>~150 Mo/s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~500 Mo/s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~6 500 Mo/s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IOPS (4K random)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BB4444"/>
                          </a:solidFill>
                        </a:rPr>
                        <a:t>~150 IOPS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~90 000 IOPS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D7A1F"/>
                          </a:solidFill>
                        </a:rPr>
                        <a:t>~1 000 000 IOPS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Temps démarrage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BB4444"/>
                          </a:solidFill>
                        </a:rPr>
                        <a:t>60-120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10-20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5-10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Temps ouverture app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BB4444"/>
                          </a:solidFill>
                        </a:rPr>
                        <a:t>3-8 sec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0.5-2 sec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&lt; 0.5 sec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Résistance aux chocs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Fragile en marche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Bruit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Clic / vibration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Silencieux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Silencieux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Prix pour 1 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~40-60$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~80-120$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~100-150$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94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Durée de vie estimée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3-5 ans (mécanique)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6644"/>
                          </a:solidFill>
                        </a:rPr>
                        <a:t>5-10 ans (TLC)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5-10 ans (TLC/MLC)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SSD M.2 — Formats, interfaces et compatibilité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Le M.2 est un format de slot sur la carte mère. Il peut accueillir des SSD SATA ou NVMe (PCIe) — pas interchangeables.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1280160" cy="98755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1280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M.2 SATA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066544"/>
            <a:ext cx="2011680" cy="36576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2066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~550 Mo/s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0665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Mise à niveau laptop/NAS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46888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Connecteur : Encoche B+M — slot M.2 SATA ou universel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72384"/>
            <a:ext cx="1145743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072384"/>
            <a:ext cx="1280160" cy="9875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072384"/>
            <a:ext cx="1280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M.2 NVMe PCIe 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145536"/>
            <a:ext cx="2011680" cy="36576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37360" y="31455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~3 500 Mo/s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145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Standard PC 2017-2021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54787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Connecteur : Encoche M — slot PCIe 3.0 x4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51376"/>
            <a:ext cx="11457432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151376"/>
            <a:ext cx="1280160" cy="9875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151376"/>
            <a:ext cx="1280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M.2 NVMe PCIe 4.0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4224528"/>
            <a:ext cx="201168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37360" y="4224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~7 000 Mo/s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4224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Standard 2021+ (Intel 12e/AMD 5000)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4626864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Connecteur : Encoche M — slot PCIe 4.0 x4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30368"/>
            <a:ext cx="1145743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230368"/>
            <a:ext cx="1280160" cy="98755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230368"/>
            <a:ext cx="12801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M.2 NVMe PCIe 5.0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5303520"/>
            <a:ext cx="2011680" cy="365760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~14 000 Mo/s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8768" y="5303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Haut de gamme 2023+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5705856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Connecteur : Encoche M — slot PCIe 5.0 x4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64224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419088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Formats physiques M.2 : 2230 (tablettes) · 2242 (compact) · 2280 (standard desktop/laptop) — le 22 = largeur en mm.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S.M.A.R.T. — Surveiller la santé d'un disque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S.M.A.R.T. = Self-Monitoring Analysis and Reporting Technology · Tous les disques modernes l'implémentent.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847088"/>
          <a:ext cx="11457431" cy="464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3200400"/>
                <a:gridCol w="3959351"/>
              </a:tblGrid>
              <a:tr h="5161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Attribut #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Nom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Que surveiller ?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Seuil d'alerte</a:t>
                      </a:r>
                    </a:p>
                  </a:txBody>
                  <a:tcPr>
                    <a:solidFill>
                      <a:srgbClr val="0A2A4A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05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Reallocated Sectors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Secteurs défaillants remplacés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Toute valeur &gt; 0 = disque en dégradation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Seek Error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Taux d'erreurs de positionnement (HDD)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Valeur élevée = tête mécanique 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187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Reported Uncorrectable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Erreurs non corrigées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Toute valeur &gt; 0 = urgence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Command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Commandes avec délai dépassé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&gt; 10 = investigation requise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197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Pending Sector Count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Secteurs en attente de réallocation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Toute valeur &gt; 0 = en train de mourir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Uncorrectable Sector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Secteurs irrécupérables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B1C1C"/>
                          </a:solidFill>
                        </a:rPr>
                        <a:t>Toute valeur &gt; 0 = perte de données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231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SSD Life Left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% de vie SSD restante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&lt; 20 % = prévoir le remplacement</a:t>
                      </a:r>
                    </a:p>
                  </a:txBody>
                  <a:tcPr>
                    <a:solidFill>
                      <a:srgbClr val="EEF5F8"/>
                    </a:solidFill>
                  </a:tcPr>
                </a:tc>
              </a:tr>
              <a:tr h="5161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466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3560"/>
                          </a:solidFill>
                        </a:rPr>
                        <a:t>Total 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Données écrites depuis début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Comparer au TBW annoncé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CrystalDiskInfo : crystalmark.info  ·  Statuts : Bon = OK · Prudence = sauvegarder · Mauvais = urgence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CrystalDiskInfo — Interface et lecture des attributs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162763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Interpréter le statut 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084831"/>
            <a:ext cx="3931920" cy="1261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0" y="2084831"/>
            <a:ext cx="201168" cy="126187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21945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7A1F"/>
                </a:solidFill>
              </a:rPr>
              <a:t>Bon (Good)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56032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Disque sain · Surveiller régulièrement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474720"/>
            <a:ext cx="3931920" cy="1261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63840" y="3474720"/>
            <a:ext cx="201168" cy="126187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358444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7000"/>
                </a:solidFill>
              </a:rPr>
              <a:t>Prudence (Caution)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950208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Sauvegarder IMMÉDIATEMENT · Planifier remplacement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864608"/>
            <a:ext cx="3931920" cy="1261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863840" y="4864608"/>
            <a:ext cx="201168" cy="1261872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497433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1C1C"/>
                </a:solidFill>
              </a:rPr>
              <a:t>Mauvais (Bad)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40096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Remplacer EN URGENCE · Données à risque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CrystalDiskInfo gratuit sur crystalmark.info  ·  CrystalDiskMark pour tester les vitesses réelles</a:t>
            </a:r>
          </a:p>
        </p:txBody>
      </p:sp>
      <p:pic>
        <p:nvPicPr>
          <p:cNvPr id="2050" name="Picture 2" descr="Vérifier l'état de santé de vos disques durs / SSD avec CrystalDiskInfo -  Labo JNG WE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877" y="1463040"/>
            <a:ext cx="5042965" cy="513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Diagnostiquer une panne RAM — Méthode d'élimination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Symptômes typiques RAM défaillante : BSOD aléatoire · Freeze complet · PC ne démarre plus · Erreurs aléatoires d'apps.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5577840" cy="1353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658368" cy="135331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658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95681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Observer les symptômes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24942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BSOD avec code MEMORY_MANAGEMENT ou IRQL_NOT_LESS_OR_EQUAL = RAM probable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74320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Note le code BSOD exact et la fréquence d'apparition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901952"/>
            <a:ext cx="557784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91072" y="1901952"/>
            <a:ext cx="658368" cy="135331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1901952"/>
            <a:ext cx="658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5681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Souffler les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24942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PC éteint + débranché · Bombe d'air comprimé dans les slots DDR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74320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Poussière dans les slots = contact intermittent = symptômes aléatoires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80"/>
            <a:ext cx="5577840" cy="1353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383280"/>
            <a:ext cx="658368" cy="135331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383280"/>
            <a:ext cx="658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34381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1 barrette en slot A2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73075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Retirer toutes les barrettes sauf 1 · L'installer en slot A2 (le plus proche du CPU selon manuel)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422452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Démarrer et tester 30 min · Si stable → passer à l'étape suivante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3383280"/>
            <a:ext cx="557784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91072" y="3383280"/>
            <a:ext cx="658368" cy="135331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3383280"/>
            <a:ext cx="658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4381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Tester chaque barrette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73075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 BSOD avec 1 seule barrette → cette barrette est suspecte · Tester l'autre barrette seule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22452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Identifier précisément quelle barrette cause le problème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64608"/>
            <a:ext cx="5577840" cy="1353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864608"/>
            <a:ext cx="658368" cy="1353312"/>
          </a:xfrm>
          <a:prstGeom prst="rect">
            <a:avLst/>
          </a:prstGeom>
          <a:solidFill>
            <a:srgbClr val="2D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864608"/>
            <a:ext cx="658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49194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MemTest86 pour confirmer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" y="521208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Clé bootable MemTest86 → 2 passes minimum → 0 erreur = sain · Erreur = remplacement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570585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Documenter : slot testé + nombre d'erreurs + numéro de passe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4864608"/>
            <a:ext cx="557784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91072" y="4864608"/>
            <a:ext cx="658368" cy="135331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1072" y="4864608"/>
            <a:ext cx="6583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49194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Vérifier aussi les slots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521208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Parfois le slot carte mère est défaillant · Tester la même barrette dans un autre slot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570585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563A0"/>
                </a:solidFill>
              </a:rPr>
              <a:t>⚡ Si même barrette fait erreur dans slot A2 mais pas B2 → slot carte mère 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Diagnostiquer une panne disque — Ordre d'intervention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Symptômes typiques : PC lent · Fichiers corrompus · Windows ne démarre plus · Disque absent du BIOS · Clics.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566928" cy="71323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0665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Vérifier le BIOS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377440"/>
            <a:ext cx="67396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595959"/>
                </a:solidFill>
              </a:rPr>
              <a:t>BIOS → section Storage → le </a:t>
            </a:r>
            <a:r>
              <a:rPr sz="1150" b="0" i="0" dirty="0" err="1">
                <a:solidFill>
                  <a:srgbClr val="595959"/>
                </a:solidFill>
              </a:rPr>
              <a:t>disque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apparaît-il</a:t>
            </a:r>
            <a:r>
              <a:rPr sz="1150" b="0" i="0" dirty="0">
                <a:solidFill>
                  <a:srgbClr val="595959"/>
                </a:solidFill>
              </a:rPr>
              <a:t> ?  Si absent → </a:t>
            </a:r>
            <a:r>
              <a:rPr sz="1150" b="0" i="0" dirty="0" err="1">
                <a:solidFill>
                  <a:srgbClr val="595959"/>
                </a:solidFill>
              </a:rPr>
              <a:t>câble</a:t>
            </a:r>
            <a:r>
              <a:rPr sz="1150" b="0" i="0" dirty="0">
                <a:solidFill>
                  <a:srgbClr val="595959"/>
                </a:solidFill>
              </a:rPr>
              <a:t> SATA/M.2 </a:t>
            </a:r>
            <a:r>
              <a:rPr sz="1150" b="0" i="0" dirty="0" err="1">
                <a:solidFill>
                  <a:srgbClr val="595959"/>
                </a:solidFill>
              </a:rPr>
              <a:t>débranché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ou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disque</a:t>
            </a:r>
            <a:r>
              <a:rPr sz="1150" b="0" i="0" dirty="0">
                <a:solidFill>
                  <a:srgbClr val="595959"/>
                </a:solidFill>
              </a:rPr>
              <a:t> mort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7112" y="2066544"/>
            <a:ext cx="2926080" cy="31089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7112" y="20665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Physique d'abord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98064"/>
            <a:ext cx="11457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798064"/>
            <a:ext cx="566928" cy="71323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798064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2871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CrystalDiskInfo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1821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Statut S.M.A.R.T. → Good / Caution / Bad  ·  Attribut 05 (Reallocated) et 197 (Pending)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7112" y="2871216"/>
            <a:ext cx="2926080" cy="31089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2" y="28712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Diagnostic santé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02736"/>
            <a:ext cx="11457432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602736"/>
            <a:ext cx="566928" cy="71323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602736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675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Si Caution ou Bad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9867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Sauvegarder IMMÉDIATEMENT avant toute autre action  ·  Même si le PC semble fonctionner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7112" y="3675888"/>
            <a:ext cx="2926080" cy="310896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7112" y="367588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URGENCE données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07408"/>
            <a:ext cx="11457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4407408"/>
            <a:ext cx="566928" cy="713232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407408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480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CHKDSK si Windows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79145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CMD admin → chkdsk C: /f /r → redémarrer → Windows répare les secteurs défaillants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7112" y="4480560"/>
            <a:ext cx="2926080" cy="310896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97112" y="44805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20-120 min selon disque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212080"/>
            <a:ext cx="11457432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5212080"/>
            <a:ext cx="566928" cy="71323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5212080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5285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CrystalDiskMark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5961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Tester les vitesses réelles · Comparaison SSD sain vs dégradé révèle les problèmes de contrôleur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7112" y="5285232"/>
            <a:ext cx="2926080" cy="310896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97112" y="528523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Validation performance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016752"/>
            <a:ext cx="114574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6016752"/>
            <a:ext cx="566928" cy="71323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016752"/>
            <a:ext cx="5669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6089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Si disque absent BIOS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Tester un autre câble SATA · Tester dans un autre port SATA · Tester sur un autre PC si possible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97112" y="6089904"/>
            <a:ext cx="2926080" cy="310896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97112" y="608990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Exclusion carte mère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839712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6858000"/>
            <a:ext cx="11365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Commande CMD rapide : wmic diskdrive get status  ·  Résultat 'OK' = disque reconnu par Windows.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Cas pratiques — Séance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7548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Sophie, ex-ex-coiffeuse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BSOD MEMORY_MANAGEMENT 3x par semaine depuis 2 semaines. PC propre, aucun virus.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98094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Quelle est votre hypothèse principale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62102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Par où commencez-vous le diagnostic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26110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prouver que c'est la RAM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035040"/>
            <a:ext cx="320040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RAM · MemTest86 · barrette par barrette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61104" y="1719072"/>
            <a:ext cx="3694176" cy="47548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Karim, ex-ex-plombier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PC très lent au démarrage depuis migration vers nouveau SSD. HDD d'avant était plus rapide.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26080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298094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Pourquoi un nouveau SSD peut être plus lent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2102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 vérifier dans CrystalDiskMark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6110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CrystalDiskInfo montre 'Caution' — que faire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9704" y="6035040"/>
            <a:ext cx="32004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9704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Mode SATA AHCI · TRIM activé · Santé SSD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56448" y="1719072"/>
            <a:ext cx="3694176" cy="47548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Linda, ex-ex-serveuse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Disque externe de backup n'apparaît plus dans l'Explorateur après un choc.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926080"/>
            <a:ext cx="11457432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298094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diagnostiquer un disque externe qui n'apparaît pas 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362102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 vérifier d'abord physiquement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26110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Quel outil tenter pour récupérer les données 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5048" y="6035040"/>
            <a:ext cx="3200400" cy="34747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8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Câble USB · autre port · CrystalDiskInfo · Recuva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799"/>
                </a:solidFill>
              </a:rPr>
              <a:t>Séance 3 — Mémoire vive et Stockage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57799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55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8AA"/>
                </a:solidFill>
              </a:rPr>
              <a:t>VOCABULAIRE STOCKAGE ET MÉMOIRE — 18 termes essentiels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078992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DDR4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Standard RAM jusqu'aux Intel 11e/AMD 5000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975104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DDR5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Standard RAM Intel 12e+ / AMD 7000+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71215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Dual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2 barrettes en parallèle = +15-30 % perfs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67328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DIMM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Format barrette RAM bureau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SO-DIMM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Format barrette RAM laptop — plus petit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559552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MemTest86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Testeur RAM hors OS — bootable USB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1078992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SLC/MLC/TLC/QLC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Types cellules NAND — endurance décroissante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1975104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NAND Flash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Mémoire stockage des SSD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2871215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NVMe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Protocole rapide pour SSD M.2 via PCIe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3767328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PCIe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Bus interne ultra-rapide — GPU et NVMe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97680" y="4663440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SATA III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Interface disque — max 600 Mo/s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97680" y="5559552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M.2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Format slot sur carte mère — SATA ou PCIe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1078992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TBW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Total Bytes Written — endurance SSD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38160" y="1975104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S.M.A.R.T.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Auto-diagnostic intégré aux disques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2871215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Reallocated Sectors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Secteurs défaillants remplacés — attribut 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3767328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RPM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Tours/minute disque dur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138160" y="4663440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2104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IOPS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Input/Output per second — rapidité disques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38160" y="5559552"/>
            <a:ext cx="73152" cy="7498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DDAA"/>
                </a:solidFill>
              </a:rPr>
              <a:t>Seek time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Temps déplacement tête HDD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Commandes de référence — Mémoire et Stockage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8AA"/>
                </a:solidFill>
              </a:rPr>
              <a:t>CMD admin ou PowerShell admin requis pour certaines commandes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64208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7373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wmic memorychip get capacity,speed,manufacturer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396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RAM : capacité, vitesse, fabricant de chaque barrette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664208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1664208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Get-PhysicalMemory | Select-Object 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396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PowerShell : infos RAM complètes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98064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798064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871216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chkdsk C: /f /r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735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Vérifier et réparer le disque C: (reboot requis pour C:)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798064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2798064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871216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wmic diskdrive get model,size,status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735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Liste tous les disques et leur statut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005072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fsutil volume diskfree C: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Espace libre sur le disque C: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3931920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3931920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005072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Get-Disk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PowerShell : liste les disques et leur état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65776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5065776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51389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Optimize-Volume -DriveLetter C -ReTrim -Verbose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541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PowerShell : forcer le TRIM sur SSD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5065776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91072" y="5065776"/>
            <a:ext cx="73152" cy="1005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1389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88DDAA"/>
                </a:solidFill>
              </a:rPr>
              <a:t>chkntfs C: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541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Vérifier si chkdsk est planifié au prochain démarrage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2A4A"/>
                </a:solidFill>
              </a:rPr>
              <a:t>Séance 3 — Mémoire vive et Stockage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91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A2A4A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65905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0A2A4A"/>
                </a:solidFill>
              </a:rPr>
              <a:t>À </a:t>
            </a:r>
            <a:r>
              <a:rPr sz="5200" b="1" i="0" dirty="0" err="1">
                <a:solidFill>
                  <a:srgbClr val="0A2A4A"/>
                </a:solidFill>
              </a:rPr>
              <a:t>vous</a:t>
            </a:r>
            <a:r>
              <a:rPr sz="5200" b="1" i="0" dirty="0">
                <a:solidFill>
                  <a:srgbClr val="0A2A4A"/>
                </a:solidFill>
              </a:rPr>
              <a:t> de </a:t>
            </a:r>
            <a:r>
              <a:rPr sz="5200" b="1" i="0" dirty="0" err="1">
                <a:solidFill>
                  <a:srgbClr val="0A2A4A"/>
                </a:solidFill>
              </a:rPr>
              <a:t>jouer</a:t>
            </a:r>
            <a:r>
              <a:rPr sz="5200" b="1" i="0" dirty="0">
                <a:solidFill>
                  <a:srgbClr val="0A2A4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8AA"/>
                </a:solidFill>
              </a:rPr>
              <a:t>Explorez la RAM et le stockage de votre VM avec les bons outils.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93392"/>
            <a:ext cx="11365992" cy="45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8AA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CPU-Z — onglet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Note Channel (Single/Dual), DRAM Freq, Type DDR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8AA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CPU-Z — onglet SPD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Identifie combien de slots et lesquels sont occupés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8AA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CrystalDiskInfo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Installe + lit statut S.M.A.R.T. + température du disque VM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59" y="2148840"/>
            <a:ext cx="2743200" cy="4251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8AA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7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CrystalDiskMark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7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Lance un benchmark → note les vitesses Seq. lecture/écriture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 min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MemTest86 — Interface et résultats à interpréter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27632"/>
            <a:ext cx="11457432" cy="4005072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1145743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1145743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303520"/>
            <a:ext cx="1145743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303520"/>
            <a:ext cx="1145743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6364224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2A4A"/>
                </a:solidFill>
              </a:rPr>
              <a:t>0 </a:t>
            </a:r>
            <a:r>
              <a:rPr sz="1300" b="1" i="0" dirty="0" err="1">
                <a:solidFill>
                  <a:srgbClr val="0A2A4A"/>
                </a:solidFill>
              </a:rPr>
              <a:t>erreurs</a:t>
            </a:r>
            <a:r>
              <a:rPr sz="1300" b="1" i="0" dirty="0">
                <a:solidFill>
                  <a:srgbClr val="0A2A4A"/>
                </a:solidFill>
              </a:rPr>
              <a:t> après 2 passes = RAM </a:t>
            </a:r>
            <a:r>
              <a:rPr sz="1300" b="1" i="0" dirty="0" err="1">
                <a:solidFill>
                  <a:srgbClr val="0A2A4A"/>
                </a:solidFill>
              </a:rPr>
              <a:t>saine</a:t>
            </a:r>
            <a:r>
              <a:rPr sz="1300" b="1" i="0" dirty="0">
                <a:solidFill>
                  <a:srgbClr val="0A2A4A"/>
                </a:solidFill>
              </a:rPr>
              <a:t> · 1+ </a:t>
            </a:r>
            <a:r>
              <a:rPr sz="1300" b="1" i="0" dirty="0" err="1">
                <a:solidFill>
                  <a:srgbClr val="0A2A4A"/>
                </a:solidFill>
              </a:rPr>
              <a:t>erreur</a:t>
            </a:r>
            <a:r>
              <a:rPr sz="1300" b="1" i="0" dirty="0">
                <a:solidFill>
                  <a:srgbClr val="0A2A4A"/>
                </a:solidFill>
              </a:rPr>
              <a:t> = RAM </a:t>
            </a:r>
            <a:r>
              <a:rPr sz="1300" b="1" i="0" dirty="0" err="1">
                <a:solidFill>
                  <a:srgbClr val="0A2A4A"/>
                </a:solidFill>
              </a:rPr>
              <a:t>défaillante</a:t>
            </a:r>
            <a:r>
              <a:rPr sz="1300" b="1" i="0" dirty="0">
                <a:solidFill>
                  <a:srgbClr val="0A2A4A"/>
                </a:solidFill>
              </a:rPr>
              <a:t> → tester barrette par barrette.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memtest86.com — Version gratuite suffisante  ·  Durée : 15-45 min par passe selon quantité RAM</a:t>
            </a:r>
          </a:p>
        </p:txBody>
      </p:sp>
      <p:pic>
        <p:nvPicPr>
          <p:cNvPr id="4098" name="Picture 2" descr="File:Memtest86+ v. 4.10 test 8 (cropped).JP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577659"/>
            <a:ext cx="11503152" cy="478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3 — Mémoire vive et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A2A4A"/>
                </a:solidFill>
              </a:rPr>
              <a:t>Compétences Séance 3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6479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28216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2A4A"/>
                </a:solidFill>
              </a:rPr>
              <a:t>Je distingue DDR4 et DDR5 physiquement (encoche) et leurs caractéristiques clés.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7286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3362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336292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39115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J'installe une barrette RAM dans le bon slot (A2 seul · A1+B1 pour Dual Channel).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98094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944368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9923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2A4A"/>
                </a:solidFill>
              </a:rPr>
              <a:t>Je lance MemTest86 depuis une clé USB et j'interprète 0 erreur vs erreur rouge.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589020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5524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552444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607308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connais les types SSD : SATA (550 Mo/s) · NVMe PCIe 3.0 (3500) · PCIe 4.0 (7000).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197096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1605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160520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215383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2A4A"/>
                </a:solidFill>
              </a:rPr>
              <a:t>Je distingue M.2 SATA et M.2 NVMe et je vérifie la compatibilité avec le slot carte mère.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80517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7685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768596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82346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lis CrystalDiskInfo et j'interprète Good / Caution / Bad + attribut 05 (Reallocated).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41324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3766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376672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2A4A"/>
                </a:solidFill>
              </a:rPr>
              <a:t>J'applique le protocole RAM : souffler slots → 1 barrette slot A2 → MemTest86.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602132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9847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8AA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984748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60396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sais quand déclencher une sauvegarde urgente (Caution ou Bad dans CrystalDiskInfo).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 DE LA SÉANCE 3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3098</Words>
  <Application>Microsoft Office PowerPoint</Application>
  <PresentationFormat>Personnalisé</PresentationFormat>
  <Paragraphs>549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Chafik Moustaid</dc:creator>
  <dc:description>generated using python-pptx</dc:description>
  <cp:lastModifiedBy>Chafik Moustaid</cp:lastModifiedBy>
  <cp:revision>3</cp:revision>
  <dcterms:created xsi:type="dcterms:W3CDTF">2013-01-27T09:14:16Z</dcterms:created>
  <dcterms:modified xsi:type="dcterms:W3CDTF">2026-07-07T03:09:16Z</dcterms:modified>
</cp:coreProperties>
</file>