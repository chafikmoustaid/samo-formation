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19359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19359" y="0"/>
            <a:ext cx="7069592" cy="6858000"/>
          </a:xfrm>
          <a:prstGeom prst="rect">
            <a:avLst/>
          </a:prstGeom>
          <a:solidFill>
            <a:srgbClr val="005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82783" y="0"/>
            <a:ext cx="73152" cy="68580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1480"/>
            <a:ext cx="15240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103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SÉANCE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4206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Tabulations, en-tête
et pied de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6559" y="2377440"/>
            <a:ext cx="6155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TECHNIQUE SUPPORT INFORMATIQUE — MICROSOFT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6559" y="2834640"/>
            <a:ext cx="61551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Aligner du texte avec précision et habiller chaque page automatiquement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6559" y="3977639"/>
            <a:ext cx="118872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0350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Formation SAMO — Chafik Moustaid, formateur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01568"/>
            <a:ext cx="12188952" cy="54864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Aligner du texte avec des espaces,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7259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BDD"/>
                </a:solidFill>
              </a:rPr>
              <a:t>c'est comme mesurer avec le pouce.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Séance 7 sur 12 — Formation Word, Formation SAMO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Plan de la séance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que nous allons couvrir aujourd'hui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783080"/>
            <a:ext cx="3788664" cy="914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BDD"/>
                </a:solidFill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L'unité de mesure et la règle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7304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7304" y="178308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1896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1896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Les types de tabulations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3128" y="178308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3128" y="1783080"/>
            <a:ext cx="3788664" cy="914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7720" y="203911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BDD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27720" y="237744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Poser et supprimer une tabulation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Tabulation avec point de suite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37304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37304" y="3931920"/>
            <a:ext cx="3788664" cy="914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01896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BDD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1896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Créer un en-tête et un pied de 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3128" y="3931920"/>
            <a:ext cx="3788664" cy="1965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3128" y="3931920"/>
            <a:ext cx="3788664" cy="9144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27720" y="4187952"/>
            <a:ext cx="3459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7720" y="4526280"/>
            <a:ext cx="3459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A3560"/>
                </a:solidFill>
              </a:rPr>
              <a:t>Numérotation des pages et sections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L'unité de mesure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Choisir l'unité affichée sur la règle et dans les boîtes de dialogue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Réglage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Emplacement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Changer l'unité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Fichier &gt; Options &gt; Avancé &gt; section Affichage &gt; Unités de mesure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Unités disponibles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Centimètres, millimètres, points, picas, pouces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Unité par défaut (Canada)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Centimètres, généralement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Affichage de la règle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Affichage &gt; cocher Règle pour la faire apparaître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Les types de tabulations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Chaque taquet de tabulation aligne le texte différemment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59436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Symbole sur la règle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Alignement produit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Gauche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texte s'aligne à partir du taquet, vers la droite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Centrée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Triangle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texte se centre sur le taquet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Droite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J inversé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Le texte s'aligne à partir du taquet, vers la gauche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Décimale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Avec un point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Aligne les nombres sur leur virgule décimale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Barre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Trait vertical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Insère une ligne verticale, sans aligner de texte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Poser une tabulation à partir de la règle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La méthode la plus rapide, directement à la souris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Afficher la règle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Affichage &gt; cocher Règle si elle n'est pas déjà visible.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Choisir le type de taquet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sur l'icône à l'extrême gauche de la règle pour cycler entre les types.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Cliquer sur la règle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Cliquer à l'endroit voulu sur la règle horizontale pour poser le taquet.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Appuyer sur Tab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Dans le texte, la touche Tab déplace le curseur jusqu'au taquet posé.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Ajuster au besoin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Glisser le taquet sur la règle pour affiner sa position.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Supprimer une tabulation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Retirer un taquet devenu inutile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À la souris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sur le taquet dans la règle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Le glisser vers le bas, hors de la règle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Relâcher : le taquet disparaît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Par la boîte de dialogue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Accueil &gt; lanceur Paragraphe &gt; bouton Tabulations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Sélectionner le taquet dans la liste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Cliquer sur Supprimer, puis OK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Tabulation avec point de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Idéale pour relier un titre à son numéro de page manuellement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75895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Style de point de suite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Rendu visuel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Aucun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Espace vide entre le texte et le taquet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Pointillé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Ligne de points (le plus courant pour les tables des matières)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Tirets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Ligne de petits tirets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Trait plein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Ligne continue ininterrompue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Tabulations, en-tête
et pied de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Aligner du texte avec précision et habiller chaque page automatiquement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Règle avec plusieurs types de taquets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la règle avec des taquets posés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un taquet gauche, un centré et un décimal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Créer un en-tête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Ajouter un contenu répété en haut de chaque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1387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178308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183794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Ouvrir l'en-tête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11226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Insertion &gt; En-tête et pied de page &gt; En-tête &gt; choisir un style ou Modifier l'en-tête.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83006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5176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70662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Saisir le contenu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98094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Taper le texte voulu — nom du document, entreprise, chapitre en cours.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520439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69874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3520439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57530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Insérer des champs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84962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Utiliser Insertion rapide pour ajouter la date ou le nom de fichier automatiquement.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8912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56742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389120"/>
            <a:ext cx="10725912" cy="7589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443983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Ajuster la position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471830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Onglet En-tête et pied de page &gt; régler la distance par rapport au bord.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57800"/>
            <a:ext cx="457200" cy="75895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436108"/>
            <a:ext cx="457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" y="5257800"/>
            <a:ext cx="10725912" cy="7589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12664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Fermer l'en-tête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586984"/>
            <a:ext cx="1045159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Double-cliquer dans le corps du document, ou bouton Fermer l'en-tête et le pied de page.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Numérotation des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Insérer et personnaliser les numéros de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Où la trouver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Insérer un numéro de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Insertion &gt; En-tête et pied de page &gt; Numéro de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Choisir la 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Haut de page, bas de page, ou marges de la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Changer le format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Numéro de page &gt; Format des numéros de page — chiffres, lettres, romains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Recommencer à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Format des numéros de page &gt; Commencer à &gt; saisir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Créer un pied de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Même logique que l'en-tête, mais en bas de chaque page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Contenu typique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Numéro de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Nom de l'entreprise ou du 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Mentions légales ou coordonnées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Comment procéder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Insertion &gt; En-tête et pied de page &gt; Pied de page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Choisir un style ou Modifier le pied de page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Double-clic en bas de page pour y accéder directement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Cas pratiques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Trois situations vécues en atelier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369417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1 — Simon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BDD"/>
                </a:solidFill>
              </a:rPr>
              <a:t>Utilise la barre d'espacement pour aligner une colonne de prix, qui se décale à chaque modification.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Pourquoi les espaces ne fonctionnent-ils pas bien pour aligner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 outil utiliser à la place 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989320"/>
            <a:ext cx="3429000" cy="36576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Poser une tabulation décimale sur la règle pour aligner automatiquement les prix.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1104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1104" y="1737360"/>
            <a:ext cx="3694176" cy="45720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2 — Sophie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A3560"/>
                </a:solidFill>
              </a:rPr>
              <a:t>Veut que chaque page de son rapport affiche son numéro, sauf la page de titre.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exclure la première page de la numérotation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Où se trouve cette option 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98264" y="5989320"/>
            <a:ext cx="3429000" cy="3657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4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Outils En-tête et pied de page &gt; cocher Première page différente.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6448" y="1737360"/>
            <a:ext cx="3694176" cy="4709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737360"/>
            <a:ext cx="369417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84464" y="1783080"/>
            <a:ext cx="343814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Cas 3 — André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4464" y="228600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0BBDD"/>
                </a:solidFill>
              </a:rPr>
              <a:t>Fait une table des matières manuelle avec des points entre le titre et le numéro de page.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4464" y="2880360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Comment créer cette ligne de points automatiquement 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464" y="3410712"/>
            <a:ext cx="34381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 i="0">
                <a:solidFill>
                  <a:srgbClr val="595959"/>
                </a:solidFill>
              </a:rPr>
              <a:t>• Quel réglage de tabulation utiliser 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3608" y="5989320"/>
            <a:ext cx="3429000" cy="36576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85048" y="6035040"/>
            <a:ext cx="3246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Piste : Tabulation droite avec point de suite pointillé, positionnée en bord de marge droite.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En-tête et pied de page avec saut de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Faire varier l'en-tête ou la numérotation entre les parties d'un document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8308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Réglage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</a:t>
                      </a:r>
                    </a:p>
                  </a:txBody>
                  <a:tcPr>
                    <a:solidFill>
                      <a:srgbClr val="00BBD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Lier au précédent (activé)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L'en-tête reste identique à celui de la section précédente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Lier au précédent (désactivé)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Permet un en-tête différent pour la nouvelle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Première page différente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Retire l'en-tête ou le pied sur la toute première page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Recommencer la numérotation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595959"/>
                          </a:solidFill>
                        </a:rPr>
                        <a:t>Format des numéros de page &gt; Commencer à 1, section par section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Bonnes pratiques tabulations et en-têtes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qui distingue un document soigné d'un document brouillon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Tabulations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Ne jamais aligner avec la barre d'espacement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Utiliser la tabulation décimale pour les colonnes de chiffres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Vérifier l'alignement avec les marques de mise en forme visibles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783080"/>
            <a:ext cx="5500116" cy="4297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1636" y="1783080"/>
            <a:ext cx="5500116" cy="45720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4516" y="1856231"/>
            <a:ext cx="51343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En-tête et pied de page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242316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Garder le contenu sobre : nom, date, numéro de page suffisent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898648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Toujours vérifier Première page différente si nécessaire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3374136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•  Tester l'aperçu avant impression pour valider le rendu final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0F1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Vocabulaire clé de la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50876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Taquet de tabulation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Marque posée sur la règle définissant un point d'alignement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50008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Tabulation décimale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Aligne les nombres sur leur virgule ou point décimal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191256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Point de suite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Ligne de points ou de tirets reliant deux éléments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32504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Règle horizontale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Outil visuel affichant marges et taquets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73752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En-tête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Zone répétée en haut de chaque 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71500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Pied de page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Zone répétée en bas de chaque page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80" y="150876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8056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Lier au précédent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synchronisant l'en-tête entre sections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2350008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Première page différente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Option retirant l'en-tête sur la première page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97680" y="3191256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Numéro de page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Champ automatique affichant la pagination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97680" y="4032504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8056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Insertion rapide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Menu ajoutant des champs prédéfinis dans l'en-tête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0" y="4873752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8056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Unité de mesure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Système utilisé pour la règle (cm, pouces, points)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9768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97680" y="571500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Tabulation gauche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Aligne le texte à droite du taquet posé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150876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138160" y="150876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155448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Tabulation droite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183794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Aligne le texte à gauche du taquet posé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350008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138160" y="2350008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1040" y="2395727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Tabulation centrée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79191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Centre le texte sur le taquet posé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91256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38160" y="3191256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21040" y="323697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Tabulation barre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35204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Insère une ligne verticale sans aligner de texte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4032504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38160" y="4032504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21040" y="4078224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Section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436168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Partie du document pouvant avoir son propre en-tête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4873752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38160" y="4873752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21040" y="491947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Champ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321040" y="520293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Contenu généré automatiquement, comme la date ou le numéro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138160" y="5715000"/>
            <a:ext cx="3566160" cy="73152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138160" y="5715000"/>
            <a:ext cx="73152" cy="7315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321040" y="5760720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BBDD"/>
                </a:solidFill>
              </a:rPr>
              <a:t>Format des numéros de page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21040" y="6044184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999CC"/>
                </a:solidFill>
              </a:rPr>
              <a:t>Boîte de dialogue pour choisir le style de numérotation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"/>
            <a:ext cx="12188952" cy="6263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772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Mémo raccourcis clavier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55733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Tab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150876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57562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Avancer jusqu'au prochain taquet de tabulation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06311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116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Maj+Tab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6311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12998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Reculer jusqu'au taquet précédent (dans un tableau)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61747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66604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Double-clic haut de page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261747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268433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l'en-tête en édition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7182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22040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Double-clic bas de page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17182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323869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Ouvrir le pied de page en édition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726179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7475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Alt+Maj+P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3726179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34640" y="379304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Insérer le numéro de page (certains claviers)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80535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291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Ctrl+Maj+8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51760" y="4280535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34640" y="434740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Afficher les marques de tabulation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834890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883467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Échap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834890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4901755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Fermer l'édition de l'en-tête ou du pied de page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89244"/>
            <a:ext cx="2103120" cy="462915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43782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DDAA"/>
                </a:solidFill>
              </a:rPr>
              <a:t>F9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51760" y="5389244"/>
            <a:ext cx="9079992" cy="462915"/>
          </a:xfrm>
          <a:prstGeom prst="rect">
            <a:avLst/>
          </a:prstGeom>
          <a:solidFill>
            <a:srgbClr val="14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34640" y="5456110"/>
            <a:ext cx="8805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DDDEE"/>
                </a:solidFill>
              </a:rPr>
              <a:t>Mettre à jour un champ de l'en-tête ou du pied de page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Tabulations, en-tête
et pied de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Aligner du texte avec précision et habiller chaque page automatiquement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28800"/>
            <a:ext cx="10908792" cy="4206240"/>
          </a:xfrm>
          <a:prstGeom prst="rect">
            <a:avLst/>
          </a:prstGeom>
          <a:solidFill>
            <a:srgbClr val="F7F7F7"/>
          </a:solidFill>
          <a:ln w="15240">
            <a:solidFill>
              <a:srgbClr val="99A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828800"/>
            <a:ext cx="10908792" cy="384048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212848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" y="1892807"/>
            <a:ext cx="10579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60"/>
                </a:solidFill>
              </a:rPr>
              <a:t>[ Screenshot ] En-tête et pied de page en mode édition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91556" y="3547872"/>
            <a:ext cx="1005840" cy="594360"/>
          </a:xfrm>
          <a:prstGeom prst="rect">
            <a:avLst/>
          </a:prstGeom>
          <a:solidFill>
            <a:srgbClr val="DDE4E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29884" y="3383280"/>
            <a:ext cx="329184" cy="201168"/>
          </a:xfrm>
          <a:prstGeom prst="rect">
            <a:avLst/>
          </a:prstGeom>
          <a:solidFill>
            <a:srgbClr val="DDE4E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3308" y="3712464"/>
            <a:ext cx="402336" cy="402336"/>
          </a:xfrm>
          <a:prstGeom prst="rect">
            <a:avLst/>
          </a:prstGeom>
          <a:solidFill>
            <a:srgbClr val="F7F7F7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4224528"/>
            <a:ext cx="105430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95959"/>
                </a:solidFill>
              </a:rPr>
              <a:t>Insérez ici une capture d'écran de l'onglet contextuel En-tête et pied de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572000"/>
            <a:ext cx="105430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AAAA"/>
                </a:solidFill>
              </a:rPr>
              <a:t>Recommandé : montrer les boutons Lier au précédent et Première page différente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705855"/>
            <a:ext cx="10908792" cy="32918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5705855"/>
            <a:ext cx="10908792" cy="16459"/>
          </a:xfrm>
          <a:prstGeom prst="rect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751576"/>
            <a:ext cx="10634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6688"/>
                </a:solidFill>
              </a:rPr>
              <a:t>Clic droit sur cette zone → Modifier l'image → choisir votre screenshot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À vous de jouer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4 exercices pratiques à réaliser dans 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502920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1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74519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24-A — Poser des tabulations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85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 tableau de prix aligné avec une tabulation décimale, sans utiliser de vrai tableau Word.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26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02920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24-B — Point de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328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Créez une fausse table des matières avec des tabulations à point de suite pointillé.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11274552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69080"/>
            <a:ext cx="502920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70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160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27 — En-tête et pied de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71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Ajoutez un en-tête avec le titre du document et un pied de page avec la numérotation.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212080"/>
            <a:ext cx="1127455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502920" cy="10058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1383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303520"/>
            <a:ext cx="104515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60"/>
                </a:solidFill>
              </a:rPr>
              <a:t>Exercice 29 — Section et numérotation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6144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Faites en sorte que la page de titre n'affiche pas de numéro, et que la page suivante commence à 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Récapitulatif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7455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95959"/>
                </a:solidFill>
              </a:rPr>
              <a:t>Ce qu'il faut retenir de cette séance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783080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783080"/>
            <a:ext cx="9144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56231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tabulations remplacent avantageusement les espaces pour aligner du texte avec précision.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42616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642616"/>
            <a:ext cx="9144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Il existe cinq types de taquets : gauche, centré, droit, décimal et barre.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02152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502152"/>
            <a:ext cx="9144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575304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Les points de suite relient visuellement un texte à un élément aligné à droite.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61688"/>
            <a:ext cx="11274552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61688"/>
            <a:ext cx="9144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L'en-tête et le pied de page se répètent automatiquement sur chaque page.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1224"/>
            <a:ext cx="11274552" cy="7498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21224"/>
            <a:ext cx="91440" cy="749808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94376"/>
            <a:ext cx="10908792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3560"/>
                </a:solidFill>
              </a:rPr>
              <a:t>Lier au précédent et Première page différente contrôlent la variation entre sections.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Astuce de pro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10908792" cy="1463040"/>
          </a:xfrm>
          <a:prstGeom prst="rect">
            <a:avLst/>
          </a:prstGeom>
          <a:solidFill>
            <a:srgbClr val="FFF0E0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02920" cy="146304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450592"/>
            <a:ext cx="3931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93392"/>
            <a:ext cx="10222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6B8D"/>
                </a:solidFill>
              </a:rPr>
              <a:t>Double-cliquez directement en haut ou en bas de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286000"/>
            <a:ext cx="102229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Pas besoin de passer par le ruban pour modifier un en-tête ou un pied de page : un double-clic direct dans la zone concernée ouvre immédiatement le mode d'édition, avec l'onglet contextuel En-tête et pied de page activé.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560"/>
                </a:solidFill>
              </a:rPr>
              <a:t>Pièges fréquents à éviter 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Aligner du texte avec la barre d'espacement au lieu de tabulations.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720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Oublier de désactiver Lier au précédent avant de changer un en-tête.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29200"/>
            <a:ext cx="105430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⚠  Confondre tabulation décimale et tabulation droite pour des colonnes de chiffres.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88952" cy="3200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6675120"/>
            <a:ext cx="11548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AAAAAA"/>
                </a:solidFill>
              </a:rPr>
              <a:t>Séance 7 — Tabulations, en-tête et pied de page | Formation SAMO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12188952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" y="109728"/>
            <a:ext cx="115824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26464" y="73152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Séance 7 — Tabulations, en-tête et pied de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457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</a:rPr>
              <a:t>CHAFIK MOUSTAID — FORMATEUR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310896"/>
            <a:ext cx="3291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9BB99"/>
                </a:solidFill>
              </a:rPr>
              <a:t>Version 1 — Juillet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85800"/>
            <a:ext cx="112745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A3560"/>
                </a:solidFill>
              </a:rPr>
              <a:t>Compétences acquises — À valider avec votre formateur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280160" cy="45720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74650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71907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1719072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77393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changer l'unité de mesure de la règle.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32257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29514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" y="2295144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35000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connais les cinq types de taquets de tabulation.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2898648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8712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" y="2871216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292608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poser et supprimer une tabulation depuis la règle.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3474720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4472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3447288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02152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créer une tabulation avec point de suite.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4050791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4023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" y="4023360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078224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créer et personnaliser un en-tête.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4626864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459943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" y="4599432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654296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insérer et formater la numérotation des pages.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" y="5202936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51755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5175504"/>
            <a:ext cx="10890504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230368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3560"/>
                </a:solidFill>
              </a:rPr>
              <a:t>Je sais créer un pied de page avec du contenu personnalisé.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5779007"/>
            <a:ext cx="384048" cy="384048"/>
          </a:xfrm>
          <a:prstGeom prst="rect">
            <a:avLst/>
          </a:prstGeom>
          <a:solidFill>
            <a:srgbClr val="FFFFFF"/>
          </a:solidFill>
          <a:ln w="25400">
            <a:solidFill>
              <a:srgbClr val="00BB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57515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BBDD"/>
                </a:solidFill>
              </a:rPr>
              <a:t>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" y="5751576"/>
            <a:ext cx="1089050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806440"/>
            <a:ext cx="10725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95959"/>
                </a:solidFill>
              </a:rPr>
              <a:t>Je sais faire varier l'en-tête entre plusieurs sections d'un document.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" y="6419088"/>
            <a:ext cx="11420856" cy="256032"/>
          </a:xfrm>
          <a:prstGeom prst="rect">
            <a:avLst/>
          </a:prstGeom>
          <a:solidFill>
            <a:srgbClr val="00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6409944"/>
            <a:ext cx="1123797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</a:rPr>
              <a:t>FIN SÉANCE 7 — Valider avec votre formateur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