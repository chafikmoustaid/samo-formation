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-56" y="7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45720" cy="68580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65079" y="0"/>
            <a:ext cx="702387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128016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1417320"/>
            <a:ext cx="463180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A" sz="1350" b="1" i="0" dirty="0" smtClean="0">
                <a:solidFill>
                  <a:schemeClr val="bg2">
                    <a:lumMod val="90000"/>
                  </a:schemeClr>
                </a:solidFill>
              </a:rPr>
              <a:t>Soutien Réseautique</a:t>
            </a:r>
            <a:endParaRPr lang="fr-CA" sz="1250" b="1" i="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438802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FFFFFF"/>
                </a:solidFill>
              </a:rPr>
              <a:t>Administration
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852160"/>
            <a:ext cx="43880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Chafik Moustaid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144768"/>
            <a:ext cx="43880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B6E0"/>
                </a:solidFill>
              </a:rPr>
              <a:t>Formateur — SAMO 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2279" y="960120"/>
            <a:ext cx="610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A0DAD"/>
                </a:solidFill>
              </a:rPr>
              <a:t>SÉANCE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2279" y="1298448"/>
            <a:ext cx="6109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1" i="0">
                <a:solidFill>
                  <a:srgbClr val="1A3560"/>
                </a:solidFill>
              </a:rPr>
              <a:t>VMs AD1 &amp; AD2 : création,
OS et post-installation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2279" y="2395728"/>
            <a:ext cx="610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595959"/>
                </a:solidFill>
              </a:rPr>
              <a:t>Les deux premiers contrôleurs de domaine prennent vie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2279" y="2724912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2279" y="306324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6327" y="3063240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4 heures — à distance (Teams)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2279" y="3483864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6327" y="3483864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Bloc Fondations — 3ᵉ séance sur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2279" y="3904488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6327" y="3904488"/>
            <a:ext cx="574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560"/>
                </a:solidFill>
              </a:rPr>
              <a:t>Prérequis : bac à sable Hyper-V opérationnel (Séance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22960"/>
            <a:ext cx="11274552" cy="10515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Aujourd'hui, votre bac à sable cesse d'être une coquille vide : AD1 et AD2 deviennent
les deux premières machines réelles de la maquette du cours.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75" b="1" i="0">
                <a:solidFill>
                  <a:srgbClr val="1A3560"/>
                </a:solidFill>
              </a:rPr>
              <a:t>Pourquoi deux contrôleurs de domaine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64008" cy="1828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 dirty="0" smtClean="0">
                <a:solidFill>
                  <a:srgbClr val="595959"/>
                </a:solidFill>
              </a:rPr>
              <a:t>🏗</a:t>
            </a:r>
            <a:endParaRPr sz="1800" b="0" i="0" dirty="0">
              <a:solidFill>
                <a:srgbClr val="59595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Construction, pas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Avant de parler Active Directory (Séance 7), il faut d'abord que les machines physiques-virtuelles existent.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6824" y="2743200"/>
            <a:ext cx="64008" cy="1828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4" y="287121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Tolérance de panne dès le départ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Un second DC (AD2) habitue à la redondance avant même la promotion en contrôleur de domaine.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2743200"/>
            <a:ext cx="357530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56448" y="2743200"/>
            <a:ext cx="64008" cy="1828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7" y="2871216"/>
            <a:ext cx="3209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182112"/>
            <a:ext cx="3209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Rigueur dans la méthode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511296"/>
            <a:ext cx="320954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Nommage, génération de VM, ressources allouées : les choix d'aujourd'hui structurent tout le reste du cours.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6 blocs pour donner vie à AD1 et AD2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26563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975104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Rappel de la maquette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340864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Où en sommes-nous ? Ce qui se construit aujourd'hui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828800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828800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7356" y="2226563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0588" y="1975104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Création des VMs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0588" y="2340864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L'assistant Nouvelle machine virtuelle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27832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227832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2559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374136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Génération et ressources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39896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Gen 1/Gen 2, mémoire, processeurs, VHDX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3227832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7356" y="3227832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7356" y="362559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0588" y="3374136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Installation de l'OS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0588" y="3739896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Monter l'ISO et suivre l'assistant Windows 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26864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626864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02462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773168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Post-installation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5138928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Renommage, adresse IP statique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7356" y="4626864"/>
            <a:ext cx="5454396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77356" y="4626864"/>
            <a:ext cx="566928" cy="123444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77356" y="502462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0588" y="4773168"/>
            <a:ext cx="45399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A3560"/>
                </a:solidFill>
              </a:rPr>
              <a:t>Vérifications finales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0588" y="5138928"/>
            <a:ext cx="45399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Checkpoint et checklist avant la Séance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Plan de la séance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Où en est la maquette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Deux VMs à construire aujourd'hui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962302" cy="1463040"/>
          </a:xfrm>
          <a:prstGeom prst="rect">
            <a:avLst/>
          </a:prstGeom>
          <a:solidFill>
            <a:srgbClr val="F3EAFB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231136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AD1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52927"/>
            <a:ext cx="18708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Contrôleur de domaine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39"/>
            <a:ext cx="187086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A0DAD"/>
                </a:solidFill>
              </a:rPr>
              <a:t>★ Aujourd'hui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5262" y="2103120"/>
            <a:ext cx="1962302" cy="1463040"/>
          </a:xfrm>
          <a:prstGeom prst="rect">
            <a:avLst/>
          </a:prstGeom>
          <a:solidFill>
            <a:srgbClr val="F3EAFB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85262" y="2231136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0982" y="2560320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AD2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0982" y="2852927"/>
            <a:ext cx="18708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Contrôleur de domaine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0982" y="3291839"/>
            <a:ext cx="187086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A0DAD"/>
                </a:solidFill>
              </a:rPr>
              <a:t>★ Aujourd'hui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13324" y="2103120"/>
            <a:ext cx="196230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3324" y="2231136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9044" y="2560320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SV1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2852927"/>
            <a:ext cx="18708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Serveur membre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41387" y="2103120"/>
            <a:ext cx="196230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41387" y="2231136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7107" y="2560320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SRVCore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7107" y="2852927"/>
            <a:ext cx="18708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Serveur membre (Core)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69449" y="2103120"/>
            <a:ext cx="196230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69449" y="2231136"/>
            <a:ext cx="196230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A006A"/>
                </a:solidFill>
              </a:rPr>
              <a:t>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5169" y="2560320"/>
            <a:ext cx="18708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560"/>
                </a:solidFill>
              </a:rPr>
              <a:t>CL10-01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5169" y="2852927"/>
            <a:ext cx="18708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</a:rPr>
              <a:t>Poste client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11274552" cy="86868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3840480"/>
            <a:ext cx="502920" cy="8686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263" y="4073652"/>
            <a:ext cx="4667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 dirty="0" smtClean="0">
                <a:solidFill>
                  <a:srgbClr val="FFFFFF"/>
                </a:solidFill>
              </a:rPr>
              <a:t>🗓</a:t>
            </a:r>
            <a:endParaRPr sz="2200" b="1" i="0" dirty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1560" y="391363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Rappel de la feuille de route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206240"/>
            <a:ext cx="105887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SV1, SRVCore et CL10-01 suivront en Séance 4. AD1 et AD2 seront promus contrôleurs de domaine dès la Séance 7 (AD DS).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1 : rappel de la maquette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Créer une VM dans Hyper-V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L'assistant Nouvelle machine virtuelle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Nom et emplacement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Nommer la VM (ex. AD1) et choisir le dossier de stockage dédié.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6344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6344" y="17830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3504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504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Génération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3504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Choisir Génération 1 ou 2 selon les besoins de compatibilité.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5488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8" y="17830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2648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2648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Mémoire de démarrage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2648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Allouer la RAM et activer ou non la mémoire dynamique.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3832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Mise en réseau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Connecter la VM au commutateur virtuel « LAN-Labo ».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6344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76344" y="33832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3504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3504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Disque dur virtuel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3504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Créer un nouveau VHDX, avec une taille adaptée au rôle prévu.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5488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95488" y="33832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32648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2648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Installation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2648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Pointer vers l'image ISO de Windows Server pour l'installation initiale.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2 : création des VMs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Génération 1 vs Génération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Bien choisir dès la création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384048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56231"/>
            <a:ext cx="3424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Critère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4784" y="1856231"/>
            <a:ext cx="36504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Génération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8132" y="1856231"/>
            <a:ext cx="36504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Génération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67128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3424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Firmware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4784" y="2231136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BIOS classique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8132" y="2231136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UEFI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51176"/>
            <a:ext cx="11274552" cy="384048"/>
          </a:xfrm>
          <a:prstGeom prst="rect">
            <a:avLst/>
          </a:prstGeom>
          <a:solidFill>
            <a:srgbClr val="F3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2615184"/>
            <a:ext cx="3424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Démarrage sécurisé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4784" y="2615184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Non supporté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8132" y="2615184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Secure Boot activé par défaut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35224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2999232"/>
            <a:ext cx="3424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Disque système max.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4784" y="2999232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2 To (MBR)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8132" y="2999232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64 To (GPT)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19272"/>
            <a:ext cx="11274552" cy="384048"/>
          </a:xfrm>
          <a:prstGeom prst="rect">
            <a:avLst/>
          </a:prstGeom>
          <a:solidFill>
            <a:srgbClr val="F3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383279"/>
            <a:ext cx="3424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Compatibilité OS anciens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4784" y="3383279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Meilleure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8132" y="3383279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Windows Server 2012+ uniquement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3767328"/>
            <a:ext cx="3424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Recommandé pour AD1/AD2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4784" y="3767328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8132" y="3767328"/>
            <a:ext cx="36504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✓ (choix du cours)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15968"/>
            <a:ext cx="11274552" cy="77724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315968"/>
            <a:ext cx="502920" cy="777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" y="4503420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389120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Choix du cours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681728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AD1 et AD2 seront créés en Génération 2 : firmware UEFI moderne, Secure Boot, et alignement avec les pratiques actuelles en entreprise.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3 : génération et ressources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Mémoire et processeurs virtuels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Combien allouer à AD1 et AD2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5439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4008" cy="1737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Mémoire de démarrage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5"/>
            <a:ext cx="50886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2048 Mo recommandés pour un contrôleur de domaine en labo. La mémoire dynamique peut ajuster à la baisse une fois le service stable.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783080"/>
            <a:ext cx="545439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783080"/>
            <a:ext cx="64008" cy="1737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0236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Processeurs virtuels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551175"/>
            <a:ext cx="50886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2 vCPU suffisent largement pour AD1/AD2 en environnement de test : inutile de sur-allouer sur un hôte partagé.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11274552" cy="86868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502920" cy="8686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" y="3936491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7647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Rappel du dimensionnement (Séance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69080"/>
            <a:ext cx="105887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Avec 2 Go par DC, il reste une marge confortable sur les 16 Go recommandés pour l'hôte, même une fois SV1, SRVCore et CL10-01 ajoutés en Séance 4.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3 : génération et ressources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Disques durs virtuels (VHDX)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Taille fixe ou dynamique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5439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4008" cy="1737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Taille fixe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5"/>
            <a:ext cx="50886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Espace disque réservé intégralement dès la création. Performances légèrement supérieures, mais consomme tout l'espace immédiatement.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783080"/>
            <a:ext cx="545439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783080"/>
            <a:ext cx="64008" cy="1737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0236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Taille dynamique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551175"/>
            <a:ext cx="50886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Le fichier VHDX grossit au fur et à mesure des besoins réels. Idéal pour un bac à sable où l'espace disque de l'hôte est limité.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11274552" cy="777240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502920" cy="777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" y="3890772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7647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Choix du cours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6908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VHDX dynamique de 60 Go pour AD1 et AD2 : largement suffisant pour un contrôleur de domaine de labo, sans gaspiller l'espace disque de l'hôte.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3 : génération et ressources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Monter l'ISO et démarrer la 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Préparer le premier démarrage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" cy="10515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5341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47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Lecteur DVD virtuel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8600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Dans les Paramètres de la VM, ajouter un lecteur de DVD et y monter l'image ISO de Windows Server 2022/2025.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548640" cy="10515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4213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36391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Ordre de démarrage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7472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Vérifier dans le microprogramme (firmware) que le lecteur DVD précède le disque dur dans l'ordre de démarrage.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548640" cy="10515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530852"/>
            <a:ext cx="548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▶️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2511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Premier démarrage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6344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Démarrer la VM : l'assistant d'installation de Windows Server doit apparaître automatiquement.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4 : installation de l'OS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L'assistant d'installation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Les étapes clés à ne pas manquer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Langue et clavier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Sélectionner la langue d'installation et la disposition du clavier.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6344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6344" y="17830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3504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504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Édition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3504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Choisir Standard ou Datacenter selon le rôle prévu (voir Séance 1).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5488" y="17830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8" y="17830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2648" y="1837943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2648" y="22219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Type d'installation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2648" y="25328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Server Core ou Desktop Experience : à décider selon le rôle de la VM.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3832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Partitionnement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Installation personnalisée sur le disque VHDX vierge créé plus tôt.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6344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76344" y="33832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3504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3504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Copie des fichiers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3504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L'installation copie les fichiers puis redémarre automatiquement plusieurs fois.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5488" y="3383280"/>
            <a:ext cx="3636264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95488" y="3383280"/>
            <a:ext cx="3636264" cy="3657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32648" y="343814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Étape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2648" y="3822191"/>
            <a:ext cx="3361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Mot de passe administrateur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2648" y="4133088"/>
            <a:ext cx="3361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Définir un mot de passe fort pour le compte Administrateur local.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4 : installation de l'OS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Desktop Experience ou Core pour AD1/AD2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Un choix pédagogique assumé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Pour cette maquette de cours, AD1 et AD2 seront installés en Desktop Experience : l'interface graphique facilite l'apprentissage des premières manipulations AD DS avant de pratiquer Server Core sur SRVCore (Séance 4).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5454396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64008" cy="15544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73405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 dirty="0" smtClean="0">
                <a:solidFill>
                  <a:srgbClr val="595959"/>
                </a:solidFill>
              </a:rPr>
              <a:t>🖥</a:t>
            </a:r>
            <a:endParaRPr sz="1800" b="0" i="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3044952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AD1 et AD2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74136"/>
            <a:ext cx="50886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Desktop Experience — pour apprendre visuellement avant d'automatiser en PowerShell.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2606040"/>
            <a:ext cx="5454396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7356" y="2606040"/>
            <a:ext cx="64008" cy="15544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0236" y="2734056"/>
            <a:ext cx="4812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 dirty="0" smtClean="0">
                <a:solidFill>
                  <a:srgbClr val="595959"/>
                </a:solidFill>
              </a:rPr>
              <a:t>⌨</a:t>
            </a:r>
            <a:endParaRPr sz="1800" b="0" i="0" dirty="0">
              <a:solidFill>
                <a:srgbClr val="59595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60236" y="3044952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SRVCore (Séance 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886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Server Core — pour pratiquer l'administration sans interface graphique, une fois les bases acquises.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43399"/>
            <a:ext cx="11274552" cy="846015"/>
          </a:xfrm>
          <a:prstGeom prst="rect">
            <a:avLst/>
          </a:prstGeom>
          <a:solidFill>
            <a:srgbClr val="F3EAFB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502920" cy="84601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4530852"/>
            <a:ext cx="3931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41655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005D"/>
                </a:solidFill>
              </a:rPr>
              <a:t>À retenir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0916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Le choix Core/Desktop Experience se fait à l'installation ; il est possible d'en changer après coup, mais cela demande une réinstallation ou une conversion avancée — mieux vaut bien choisir dès le départ.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4 : installation de l'OS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Post-installation : renommer le serveur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Sortir du nom générique WIN-XXXXX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48640" cy="10515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947" y="2153412"/>
            <a:ext cx="4411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 dirty="0" smtClean="0">
                <a:solidFill>
                  <a:srgbClr val="FFFFFF"/>
                </a:solidFill>
              </a:rPr>
              <a:t>🏷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1947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Pourquoi renommer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8600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Le nom généré automatiquement (WIN-XXXXXXX) n'est pas exploitable : AD1 et AD2 doivent porter leur nom définitif avant toute autre configuration.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548640" cy="10515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32" y="3342132"/>
            <a:ext cx="4571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 dirty="0" smtClean="0">
                <a:solidFill>
                  <a:srgbClr val="FFFFFF"/>
                </a:solidFill>
              </a:rPr>
              <a:t>🖱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3136391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Via l'interface graphique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7472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Gestionnaire de serveur → Propriétés → Nom de l'ordinateur → Modifier, puis redémarrer pour appliquer le changement.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112745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548640" cy="105156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283" y="4530852"/>
            <a:ext cx="5084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75" b="1" i="0" dirty="0" smtClean="0">
                <a:solidFill>
                  <a:srgbClr val="FFFFFF"/>
                </a:solidFill>
              </a:rPr>
              <a:t>⌨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43000" y="432511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Via PowerShell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63440"/>
            <a:ext cx="103601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Rename-Computer -NewName "AD1" -Restart : plus rapide, reproductible, et utilisable aussi en Server Core.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5 : post-installation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Post-installation : adresse IP statique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Appliquer le plan d'adressage de la Séance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384048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56231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1838" y="1856231"/>
            <a:ext cx="319948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Adresse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4204" y="1856231"/>
            <a:ext cx="26357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Masque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2842" y="1856231"/>
            <a:ext cx="263575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Passerelle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67128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231136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AD1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1838" y="2231136"/>
            <a:ext cx="3199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192.168.10.10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4204" y="2231136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255.255.255.0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2842" y="2231136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192.168.10.1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51176"/>
            <a:ext cx="11274552" cy="384048"/>
          </a:xfrm>
          <a:prstGeom prst="rect">
            <a:avLst/>
          </a:prstGeom>
          <a:solidFill>
            <a:srgbClr val="F3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615184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560"/>
                </a:solidFill>
              </a:rPr>
              <a:t>AD2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1838" y="2615184"/>
            <a:ext cx="31994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192.168.10.11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204" y="2615184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255.255.255.0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2842" y="2615184"/>
            <a:ext cx="26357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192.168.10.1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63824"/>
            <a:ext cx="11274552" cy="777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63824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191256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PowerShell — configurer l'IP statique d'AD1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465576"/>
            <a:ext cx="10817352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88DDAA"/>
                </a:solidFill>
              </a:rPr>
              <a:t>New-NetIPAddress -InterfaceAlias "Ethernet" -IPAddress 192.168.10.10 `
  -PrefixLength 24 -DefaultGateway 192.168.10.1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5 : post-installation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Checkpoint avant la Séance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Un état stable à conserver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5439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4008" cy="1737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Ce qu'il faut valider avant le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5"/>
            <a:ext cx="50886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OS installé et à jour, nom final appliqué, adresse IP statique fonctionnelle, ping réussi entre AD1 et AD2.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1783080"/>
            <a:ext cx="545439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7356" y="1783080"/>
            <a:ext cx="64008" cy="1737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0236" y="1911095"/>
            <a:ext cx="50886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</a:rPr>
              <a:t>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221991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Pourquoi créer ce point de contrôle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551175"/>
            <a:ext cx="50886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AD1 et AD2 seront promus contrôleurs de domaine en Séance 7 : un point de retour propre facilite tout dépannage futur.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11274552" cy="594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73075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PowerShell — créer le checkpoint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005072"/>
            <a:ext cx="1081735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Checkpoint-VM -Name "AD1" -SnapshotName "OS-installe-post-config"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Bloc 6 : vérifications finales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Assistant Nouvelle machine virtuelle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</a:rPr>
              <a:t>Suivez chaque étape de l'assistant pour créer AD1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AAAA"/>
                </a:solidFill>
              </a:rPr>
              <a:t>Gestionnaire Hyper-V → Actions → Nouveau → Machine virtuelle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Aperçu pratique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252" y="1793689"/>
            <a:ext cx="8023225" cy="4697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Assistant d'installation de Windows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Aperçu pratique</a:t>
            </a:r>
          </a:p>
        </p:txBody>
      </p:sp>
      <p:pic>
        <p:nvPicPr>
          <p:cNvPr id="2050" name="Picture 2" descr="Installation de Windows Server 2019 – version Core – pas-à-pas -  www.ToutWindows.com - Tout sur Window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1568470"/>
            <a:ext cx="6456240" cy="496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Renommage et configuration IP post-installation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27455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7455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212848"/>
            <a:ext cx="1127455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1892807"/>
            <a:ext cx="10945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3560"/>
                </a:solidFill>
              </a:rPr>
              <a:t>[ Screenshot ] </a:t>
            </a:r>
            <a:r>
              <a:rPr sz="1300" b="1" i="0" dirty="0" err="1">
                <a:solidFill>
                  <a:srgbClr val="1A3560"/>
                </a:solidFill>
              </a:rPr>
              <a:t>Renommage</a:t>
            </a:r>
            <a:r>
              <a:rPr sz="1300" b="1" i="0" dirty="0">
                <a:solidFill>
                  <a:srgbClr val="1A3560"/>
                </a:solidFill>
              </a:rPr>
              <a:t> et configuration IP post-installation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</a:rPr>
              <a:t>Localisez les paramètres réseau et le nom de l'ordinateur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AAAAAA"/>
                </a:solidFill>
              </a:rPr>
              <a:t>Gestionnaire de serveur → Propriétés locales du serveur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05855"/>
            <a:ext cx="1127455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705855"/>
            <a:ext cx="1127455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751576"/>
            <a:ext cx="11000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Aperçu pratique</a:t>
            </a:r>
          </a:p>
        </p:txBody>
      </p:sp>
      <p:pic>
        <p:nvPicPr>
          <p:cNvPr id="3074" name="Picture 2" descr="Change computer na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62" y="1721558"/>
            <a:ext cx="5707614" cy="449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indows Server post installation configuration configure static IP addre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76" y="1721558"/>
            <a:ext cx="5698939" cy="449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75" b="1" i="0">
                <a:solidFill>
                  <a:srgbClr val="FFFFFF"/>
                </a:solidFill>
              </a:rPr>
              <a:t>Vocabulaire clé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0700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88DD"/>
                </a:solidFill>
              </a:rPr>
              <a:t>18 termes à maîtriser avant la Séance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Machine virtuelle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Instance de système d'exploitation isolée, exécutée par l'hyperviseur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Génération (VM)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Génération 1 (BIOS) ou 2 (UEFI) : détermine le firmware virtuel de la 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69164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UEFI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92938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Firmware moderne remplaçant le BIOS, requis pour la Génération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Secure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Vérification de l'intégrité du chargeur de démarrage à chaque démarrage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VHDX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Format de disque dur virtuel utilisé par Hyper-V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386584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Taille fixe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624328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VHDX dont l'espace disque est réservé intégralement dès la création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Taille dynamique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VHDX qui grossit progressivement selon les besoins réels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ISO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Image disque contenant les fichiers d'installation de l'OS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081528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Ordre de démarrage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319272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Séquence des périphériques que la VM tente de démarrer en premier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Server 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Installation de Windows Server sans interface graphique complète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Desktop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6824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Installation de Windows Server avec interface graphique complète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776472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Rename-Computer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014216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Cmdlet PowerShell pour renommer un ordinateur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New-NetIPAddress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Cmdlet PowerShell pour attribuer une adresse IP statique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6824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Passerelle par défaut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Adresse IP du routeur utilisée pour sortir du réseau local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4471416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Point de contrôle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4709160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Instantané réversible de l'état d'une VM (checkpoint)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Compte Administrateur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Compte local intégré avec tous les droits sur le serveur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6824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Mémoire dynamique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6824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Ajustement automatique de la RAM allouée à une VM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5166360"/>
            <a:ext cx="3575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2F0"/>
                </a:solidFill>
              </a:rPr>
              <a:t>Post-installation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5404104"/>
            <a:ext cx="3575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Ensemble des configurations effectuées juste après l'installation de l'OS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Vocabulaire clé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Mémo commandes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PowerShell — création et post-installation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81051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Créer une VM Génération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1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New-VM -Name "AD1" -MemoryStartupBytes 2GB -Generation 2 -SwitchName "LAN-Labo"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9736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59736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487168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Créer un VHDX dynamique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61488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New-VHD -Path "D:\VMs\AD1\AD1.vhdx" -SizeBytes 60GB -Dynamic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36391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136391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163823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Monter l'ISO d'installation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438144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Set-VMDvdDrive -VMName "AD1" -Path "D:\ISO\WinServer2022.iso"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13048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813048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0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Démarrer la 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14800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Start-VM -Name "AD1"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9704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489704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4517136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Renommer le serveur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91456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DDAA"/>
                </a:solidFill>
              </a:rPr>
              <a:t>Rename-Computer -NewName "AD1" -Restart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66360"/>
            <a:ext cx="11274552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166360"/>
            <a:ext cx="112745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93792"/>
            <a:ext cx="11000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Configurer l'IP statique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468112"/>
            <a:ext cx="108173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88DDAA"/>
                </a:solidFill>
              </a:rPr>
              <a:t>New-NetIPAddress -InterfaceAlias "Ethernet" -IPAddress 192.168.10.10 -PrefixLength 24 -DefaultGateway 192.168.10.1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Mémo commandes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3 mises en situation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4864" cy="1234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911095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Julien — Admin réseau junior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Julien crée AD1 mais oublie de choisir le bon commutateur virtuel. Comment corrige-t-il cela après coup, sans recréer la VM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54864" cy="1234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282696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Sophie — Technicienne support N2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Sophie doit décider entre taille fixe et dynamique pour le VHDX d'AD2, sachant que l'hôte a peu d'espace disque libre. Que lui conseillez-vous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112745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526280"/>
            <a:ext cx="54864" cy="1234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654296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Isabelle — Analyste sécurité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8348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Isabelle recommande la Génération 2 avec Secure Boot pour AD1 et AD2. Pourquoi ce choix est-il pertinent du point de vue sécurité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Cas pratiques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4 exercices avant la Séance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500116" cy="4572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Créez AD1 et AD2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249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Créez les deux VMs en Génération 2, connectées au commutateur « LAN-Labo ».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8288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828800"/>
            <a:ext cx="5500116" cy="4572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920240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23957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Installez Windows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27249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Installez l'OS en Desktop Experience sur les deux VMs, avec un mot de passe fort.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5500116" cy="4572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39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245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Renommez et configurez l'IP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537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Appliquez les noms finaux et le plan d'adressage IP de la Séance 2.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3657600"/>
            <a:ext cx="5500116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31636" y="3657600"/>
            <a:ext cx="5500116" cy="4572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4516" y="3749039"/>
            <a:ext cx="51343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Exercice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516" y="4224528"/>
            <a:ext cx="51343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Créez un checkpoint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4516" y="4553712"/>
            <a:ext cx="513435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Créez un point de contrôle sur AD1 et AD2 une fois la configuration validée.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À vous de jouer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SÉANCE 3 — VMs AD1 &amp; AD2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Récapitulatif et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Avant de passer à la Séance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1862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Ce que nous avons vu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48840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Création de VMs Hyper-V (assistant complet)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334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33472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Génération 1 vs Génération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1810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18104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Mémoire, processeurs et VHDX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027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02736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Installation de Windows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873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87368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Renommage et IP statique post-installation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72000"/>
            <a:ext cx="49119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Checkpoint avant la Séance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1783080"/>
            <a:ext cx="5637276" cy="42062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77356" y="1920240"/>
            <a:ext cx="52715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3EAFB"/>
                </a:solidFill>
              </a:rPr>
              <a:t>☑  CHECKLIST AVANT LA SÉANCE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7356" y="23317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97396" y="22951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AD1 créée en Génération 2, VHDX dynamique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7356" y="27889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97396" y="27523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AD2 créée en Génération 2, VHDX dynamique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7356" y="32461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97396" y="32095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Windows Server installé (Desktop Experience)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7356" y="37033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97396" y="36667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Noms AD1 / AD2 appliqués et redémarrage fait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7356" y="41605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97396" y="41239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Adresses IP statiques configurées et testées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7356" y="46177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97396" y="45811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Ping réussi entre AD1 et AD2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7356" y="50749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97396" y="50383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Checkpoint créé sur les deux VMs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7356" y="5532120"/>
            <a:ext cx="201168" cy="201168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97396" y="5495544"/>
            <a:ext cx="49057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Mots de passe administrateur notés en lieu sûr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3 — Récapitulatif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2378</Words>
  <Application>Microsoft Office PowerPoint</Application>
  <PresentationFormat>Personnalisé</PresentationFormat>
  <Paragraphs>405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Chafik Moustaid</cp:lastModifiedBy>
  <cp:revision>4</cp:revision>
  <dcterms:created xsi:type="dcterms:W3CDTF">2013-01-27T09:14:16Z</dcterms:created>
  <dcterms:modified xsi:type="dcterms:W3CDTF">2026-07-29T19:00:43Z</dcterms:modified>
  <cp:category/>
</cp:coreProperties>
</file>