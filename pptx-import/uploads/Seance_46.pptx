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19359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19359" y="0"/>
            <a:ext cx="7069592" cy="6858000"/>
          </a:xfrm>
          <a:prstGeom prst="rect">
            <a:avLst/>
          </a:prstGeom>
          <a:solidFill>
            <a:srgbClr val="1A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2783" y="0"/>
            <a:ext cx="73152" cy="685800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15240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1031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SÉANCE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Tableaux et synthèse
générale du cours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6559" y="2377440"/>
            <a:ext cx="6155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TECHNIQUE SUPPORT INFORMATIQUE — MICROSOFT 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6559" y="2834640"/>
            <a:ext cx="61551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Créer et gérer des tableaux, puis réviser l'ensemble avant l'examen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6559" y="3977639"/>
            <a:ext cx="1188720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Formation SAMO — Chafik Moustaid, formateur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01568"/>
            <a:ext cx="12188952" cy="54864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Dernière séance de contenu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5CC99"/>
                </a:solidFill>
              </a:rPr>
              <a:t>consolidez tout avant l'examen final.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AAAA"/>
                </a:solidFill>
              </a:rPr>
              <a:t>Séance 11 sur 12 — Formation Word, Formation SAMO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11 — Tableaux et synthèse générale du 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Plan de la séance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Ce que nous allons couvrir aujourd'hui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783080"/>
            <a:ext cx="3788664" cy="9144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03911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5CC99"/>
                </a:solidFill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37744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Insérer un tableau simple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7304" y="178308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7304" y="1783080"/>
            <a:ext cx="3788664" cy="914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1896" y="203911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1896" y="237744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Tableaux plus grands et largeurs personnalisées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63128" y="178308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63128" y="1783080"/>
            <a:ext cx="3788664" cy="9144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7720" y="203911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5CC99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7720" y="237744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Mise en forme et styles de tableau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93192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931920"/>
            <a:ext cx="3788664" cy="914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418795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52628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Fusionner, scinder et trier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37304" y="393192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37304" y="3931920"/>
            <a:ext cx="3788664" cy="9144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1896" y="418795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5CC99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1896" y="452628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Formules simples dans un tableau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63128" y="393192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63128" y="3931920"/>
            <a:ext cx="3788664" cy="914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27720" y="418795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7720" y="452628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Synthèse des 10 séances précédentes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11 — Tableaux et synthèse générale | Formation SAMO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11 — Tableaux et synthèse générale du 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Insérer un tableau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La base pour présenter des données organisées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5895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Méthode</a:t>
                      </a:r>
                    </a:p>
                  </a:txBody>
                  <a:tcPr>
                    <a:solidFill>
                      <a:srgbClr val="55CC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Détail</a:t>
                      </a:r>
                    </a:p>
                  </a:txBody>
                  <a:tcPr>
                    <a:solidFill>
                      <a:srgbClr val="55CC9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Grille rapide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Insertion &gt; Tableau &gt; glisser sur la grille pour choisir lignes et colonnes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Boîte de dialogue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Insertion &gt; Tableau &gt; Insérer un tableau, pour saisir un nombre précis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Navigation dans le tableau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Tab avance à la cellule suivante, Maj+Tab recule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Ajouter une ligne rapidement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Placer le curseur en fin de dernière cellule et appuyer sur Tab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11 — Tableaux et synthèse générale | Formation SAMO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11 — Tableaux et synthèse générale du 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Tableaux plus grands et largeurs personnalisées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Pour les besoins qui dépassent la grille rapide de 8×10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457200" cy="758952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61387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1783080"/>
            <a:ext cx="10725912" cy="7589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1837943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Ouvrir la boîte complète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11226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Insertion &gt; Tableau &gt; Insérer un tableau plutôt que la grille visuelle.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51760"/>
            <a:ext cx="457200" cy="758952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3006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2651760"/>
            <a:ext cx="10725912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2706624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Saisir les dimensions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98094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Indiquer précisément le nombre de colonnes et de lignes voulu.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20439"/>
            <a:ext cx="457200" cy="758952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9874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3520439"/>
            <a:ext cx="10725912" cy="7589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3575303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Choisir le comportement des largeurs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84962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Largeur fixe, Ajuster au contenu, ou Ajuster à la fenêtre.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457200" cy="758952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56742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4389120"/>
            <a:ext cx="10725912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443983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Ajuster manuellement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71830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Glisser les bordures internes du tableau pour personnaliser chaque colonne.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57800"/>
            <a:ext cx="457200" cy="758952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4361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5257800"/>
            <a:ext cx="10725912" cy="7589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5312664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Répartir uniformément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558698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Disposition &gt; Distribuer les colonnes pour une largeur égale automatique.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11 — Tableaux et synthèse générale | Formation SAMO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11 — Tableaux et synthèse générale du 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Mise en forme et styles de tableau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Rendre un tableau lisible et professionnel en un clic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5895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Élément</a:t>
                      </a:r>
                    </a:p>
                  </a:txBody>
                  <a:tcPr>
                    <a:solidFill>
                      <a:srgbClr val="55CC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Détail</a:t>
                      </a:r>
                    </a:p>
                  </a:txBody>
                  <a:tcPr>
                    <a:solidFill>
                      <a:srgbClr val="55CC9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Styles de tableau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Création de tableau &gt; galerie de styles prédéfinis avec couleurs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Ligne d'en-tête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Option à cocher pour styliser différemment la première ligne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Lignes à bandes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Alterne une couleur de fond une ligne sur deux, pour la lisibilité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Bordures personnalisées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Disposition &gt; Bordures, ou Bordure et trame pour un contrôle fin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11 — Tableaux et synthèse générale | Formation SAMO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11 — Tableaux et synthèse générale du 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Fusionner et scinder des cellules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Adapter la structure du tableau à des besoins précis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00116" cy="45720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Fusionner des cellules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Sélectionner les cellules à combiner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Disposition (Outils de tableau) &gt; Fusionner les cellules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Utile pour un titre de section qui traverse plusieurs colonnes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1636" y="1783080"/>
            <a:ext cx="5500116" cy="45720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4516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Scinder (fractionner) des cellules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Cliquer dans la cellule à diviser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Disposition &gt; Fractionner les cellules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0236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Choisir le nombre de lignes et de colonnes du résultat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11 — Tableaux et synthèse générale | Formation SAMO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11 — Tableaux et synthèse générale du 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Trier des données dans un tableau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Réorganiser les lignes sans les déplacer manuellement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381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Étape</a:t>
                      </a:r>
                    </a:p>
                  </a:txBody>
                  <a:tcPr>
                    <a:solidFill>
                      <a:srgbClr val="55CC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55CC9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Cliquer n'importe où dans le tableau à trier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Disposition (Outils de tableau) &gt; Trier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Choisir la colonne de tri et l'ordre : croissant ou décroissant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Cocher Ligne d'en-tête pour exclure la première ligne du tri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11 — Tableaux et synthèse générale | Formation SAMO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11 — Tableaux et synthèse générale du 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Tableaux et synthèse
générale du cours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Créer et gérer des tableaux, puis réviser l'ensemble avant l'examen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10908792" cy="4206240"/>
          </a:xfrm>
          <a:prstGeom prst="rect">
            <a:avLst/>
          </a:prstGeom>
          <a:solidFill>
            <a:srgbClr val="F7F7F7"/>
          </a:solidFill>
          <a:ln w="15240">
            <a:solidFill>
              <a:srgbClr val="99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28800"/>
            <a:ext cx="10908792" cy="38404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212848"/>
            <a:ext cx="1090879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1892807"/>
            <a:ext cx="10579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[ Screenshot ] Tableau avec style et ligne d'en-tête appliqués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91556" y="3547872"/>
            <a:ext cx="1005840" cy="594360"/>
          </a:xfrm>
          <a:prstGeom prst="rect">
            <a:avLst/>
          </a:prstGeom>
          <a:solidFill>
            <a:srgbClr val="DDE4E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29884" y="3383280"/>
            <a:ext cx="329184" cy="201168"/>
          </a:xfrm>
          <a:prstGeom prst="rect">
            <a:avLst/>
          </a:prstGeom>
          <a:solidFill>
            <a:srgbClr val="DDE4E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3308" y="3712464"/>
            <a:ext cx="402336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224528"/>
            <a:ext cx="10543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95959"/>
                </a:solidFill>
              </a:rPr>
              <a:t>Insérez ici une capture d'écran d'un tableau mis en forme avec un style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572000"/>
            <a:ext cx="10543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AAAA"/>
                </a:solidFill>
              </a:rPr>
              <a:t>Recommandé : montrer les lignes à bandes et l'en-tête coloré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05855"/>
            <a:ext cx="10908792" cy="32918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705855"/>
            <a:ext cx="1090879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751576"/>
            <a:ext cx="10634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688"/>
                </a:solidFill>
              </a:rPr>
              <a:t>Clic droit sur cette zone → Modifier l'image → choisir votre screenshot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11 — Tableaux et synthèse générale | Formation SAMO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11 — Tableaux et synthèse générale du 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Formules simples dans un tableau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Effectuer des calculs de base sans quitter Word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7724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Formule</a:t>
                      </a:r>
                    </a:p>
                  </a:txBody>
                  <a:tcPr>
                    <a:solidFill>
                      <a:srgbClr val="55CC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Résultat</a:t>
                      </a:r>
                    </a:p>
                  </a:txBody>
                  <a:tcPr>
                    <a:solidFill>
                      <a:srgbClr val="55CC9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=SUM(ABOVE)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Additionne toutes les valeurs numériques au-dessus de la cellule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=SUM(LEFT)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Additionne toutes les valeurs numériques à gauche de la cellule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=AVERAGE(ABOVE)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Calcule la moyenne des valeurs au-dessus de la cellule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Mise à jour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Clic droit sur le résultat &gt; Mettre à jour le champ, après modification des données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11 — Tableaux et synthèse générale | Formation SAMO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11 — Tableaux et synthèse générale du 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Convertir texte en tableau et inversement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Deux conversions pratiques et sous-utilisées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00116" cy="45720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Texte vers tableau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Sélectionner un texte séparé par virgules ou tabulations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Insertion &gt; Tableau &gt; Convertir le texte en tableau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Word détecte automatiquement le séparateur utilisé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1636" y="1783080"/>
            <a:ext cx="5500116" cy="45720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4516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Tableau vers texte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Cliquer dans le tableau, sélectionner son contenu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Disposition &gt; Convertir en texte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0236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Choisir le séparateur souhaité pour le résultat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11 — Tableaux et synthèse générale | Formation SAMO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11 — Tableaux et synthèse générale du 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Synthèse — les 10 séances précédentes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Un coup d'œil sur tout ce qui a été couvert avant l'examen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94360"/>
            <a:ext cx="12188952" cy="62636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783080"/>
            <a:ext cx="3697223" cy="13411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1783080"/>
            <a:ext cx="73152" cy="13411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874519"/>
            <a:ext cx="3331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5CC99"/>
                </a:solidFill>
              </a:rPr>
              <a:t>S1 —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03704"/>
            <a:ext cx="3331464" cy="792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EE"/>
                </a:solidFill>
              </a:rPr>
              <a:t>Souris, clavier, rubans, dossiers, alignements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45864" y="1783080"/>
            <a:ext cx="3697223" cy="13411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5864" y="1783080"/>
            <a:ext cx="73152" cy="13411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8744" y="1874519"/>
            <a:ext cx="3331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5CC99"/>
                </a:solidFill>
              </a:rPr>
              <a:t>S2 — Fichiers et saisie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8744" y="2203704"/>
            <a:ext cx="3331464" cy="792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EE"/>
                </a:solidFill>
              </a:rPr>
              <a:t>Navigation, sauts de page, symboles, dates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0247" y="1783080"/>
            <a:ext cx="3697223" cy="13411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0247" y="1783080"/>
            <a:ext cx="73152" cy="13411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3127" y="1874519"/>
            <a:ext cx="3331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5CC99"/>
                </a:solidFill>
              </a:rPr>
              <a:t>S3 — Corrections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3127" y="2203704"/>
            <a:ext cx="3331464" cy="792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EE"/>
                </a:solidFill>
              </a:rPr>
              <a:t>Orthographe, PDF, protection, copier-coller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261360"/>
            <a:ext cx="3697223" cy="13411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3261360"/>
            <a:ext cx="73152" cy="13411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352800"/>
            <a:ext cx="3331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5CC99"/>
                </a:solidFill>
              </a:rPr>
              <a:t>S4 — Caractères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681983"/>
            <a:ext cx="3331464" cy="792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EE"/>
                </a:solidFill>
              </a:rPr>
              <a:t>Police, styles, pinceau, mise en forme similaire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45864" y="3261360"/>
            <a:ext cx="3697223" cy="13411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45864" y="3261360"/>
            <a:ext cx="73152" cy="13411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28744" y="3352800"/>
            <a:ext cx="3331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5CC99"/>
                </a:solidFill>
              </a:rPr>
              <a:t>S5 — Mise en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28744" y="3681983"/>
            <a:ext cx="3331464" cy="792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EE"/>
                </a:solidFill>
              </a:rPr>
              <a:t>Affichage, marges, format, page de garde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80247" y="3261360"/>
            <a:ext cx="3697223" cy="13411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80247" y="3261360"/>
            <a:ext cx="73152" cy="13411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63127" y="3352800"/>
            <a:ext cx="3331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5CC99"/>
                </a:solidFill>
              </a:rPr>
              <a:t>S6 — Sections et TDM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7" y="3681983"/>
            <a:ext cx="3331464" cy="792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EE"/>
                </a:solidFill>
              </a:rPr>
              <a:t>Sauts de section, table des matières automatique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739640"/>
            <a:ext cx="3697223" cy="13411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" y="4739640"/>
            <a:ext cx="73152" cy="13411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4831080"/>
            <a:ext cx="3331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5CC99"/>
                </a:solidFill>
              </a:rPr>
              <a:t>S7 — Tabulations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160264"/>
            <a:ext cx="3331464" cy="792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EE"/>
                </a:solidFill>
              </a:rPr>
              <a:t>Taquets, points de suite, en-tête, pied de page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45864" y="4739640"/>
            <a:ext cx="3697223" cy="13411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45864" y="4739640"/>
            <a:ext cx="73152" cy="13411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28744" y="4831080"/>
            <a:ext cx="3331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5CC99"/>
                </a:solidFill>
              </a:rPr>
              <a:t>S8 — Listes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28744" y="5160264"/>
            <a:ext cx="3331464" cy="792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EE"/>
                </a:solidFill>
              </a:rPr>
              <a:t>Puces, numérotation, retraits, interlignes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80247" y="4739640"/>
            <a:ext cx="3697223" cy="13411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80247" y="4739640"/>
            <a:ext cx="73152" cy="13411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63127" y="4831080"/>
            <a:ext cx="3331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5CC99"/>
                </a:solidFill>
              </a:rPr>
              <a:t>S9 — Visuel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63127" y="5160264"/>
            <a:ext cx="3331464" cy="792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EE"/>
                </a:solidFill>
              </a:rPr>
              <a:t>Bordures, trame de fond, images, filigrane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11 — Tableaux et synthèse générale | Formation SAMO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11 — Tableaux et synthèse générale du 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Cas pratiques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Trois situations vécues en atelier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3694176" cy="4709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737360"/>
            <a:ext cx="3694176" cy="45720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78308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1 — Isabelle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228600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55CC99"/>
                </a:solidFill>
              </a:rPr>
              <a:t>Doit médicalement produire un tableau de suivi de doses, mais deux colonnes doivent parfois être fusionnées.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288036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Comment fusionner deux cellules d'un tableau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341071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Comment scinder une cellule en deux ensuite 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989320"/>
            <a:ext cx="3429000" cy="36576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03504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Piste : Sélectionner les cellules &gt; Disposition &gt; Fusionner les cellules (ou Fractionner les cellules).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1104" y="1737360"/>
            <a:ext cx="3694176" cy="4709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61104" y="1737360"/>
            <a:ext cx="3694176" cy="4572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78308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2 — Martin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28600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3560"/>
                </a:solidFill>
              </a:rPr>
              <a:t>A un tableau de commandes et veut calculer un total sans utiliser Excel.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88036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Word peut-il faire une somme dans un tableau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41071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Où trouver cette fonction 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98264" y="5989320"/>
            <a:ext cx="3429000" cy="3657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9704" y="603504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Piste : Cliquer dans la cellule &gt; Disposition &gt; Formule &gt; =SUM(ABOVE).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56448" y="1737360"/>
            <a:ext cx="3694176" cy="4709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56448" y="1737360"/>
            <a:ext cx="3694176" cy="45720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4" y="178308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3 — François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228600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55CC99"/>
                </a:solidFill>
              </a:rPr>
              <a:t>A une liste de noms séparés par des virgules et veut la transformer en tableau propre.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4" y="288036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Faut-il retaper toute la liste dans un tableau 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341071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Existe-t-il une conversion automatique 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93608" y="5989320"/>
            <a:ext cx="3429000" cy="36576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5048" y="603504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Piste : Sélectionner le texte &gt; Insertion &gt; Tableau &gt; Convertir le texte en tableau.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11 — Tableaux et synthèse générale | Formation SAMO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11 — Tableaux et synthèse générale du 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Préparation à l'examen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Ce qui sera évalué à la séance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2237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Thème d'évaluation</a:t>
                      </a:r>
                    </a:p>
                  </a:txBody>
                  <a:tcPr>
                    <a:solidFill>
                      <a:srgbClr val="55CC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Compétences visées</a:t>
                      </a:r>
                    </a:p>
                  </a:txBody>
                  <a:tcPr>
                    <a:solidFill>
                      <a:srgbClr val="55CC9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Interface et navigation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Ouvrir, enregistrer, se déplacer, sélectionner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Mise en forme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Police, styles, paragraphes, listes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Structure de document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Sections, table des matières, en-tête et pied de page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Éléments visuels et tableaux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Images, bordures, filigrane, tableaux avec calculs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11 — Tableaux et synthèse générale | Formation SAMO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11 — Tableaux et synthèse générale du 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Conseils finaux avant l'examen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Les derniers réflexes à vérifier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00116" cy="45720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Réviser efficacement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Refaire les exercices de chaque séance sans regarder le corrigé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Se concentrer sur les raccourcis clavier les plus utiles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Relire la checklist de fin de chaque séance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1636" y="1783080"/>
            <a:ext cx="5500116" cy="45720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4516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Le jour de l'examen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Arriver reposé et avec Word déjà ouvert et à jour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Lire chaque consigne en entier avant de commencer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0236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Garder du temps à la fin pour relire son document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11 — Tableaux et synthèse générale | Formation SAMO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11 — Tableaux et synthèse générale du 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"/>
            <a:ext cx="12188952" cy="62636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772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Vocabulaire clé de la séance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280160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508760"/>
            <a:ext cx="73152" cy="7315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5544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5CC99"/>
                </a:solidFill>
              </a:rPr>
              <a:t>Tableau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37943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Grille de lignes et de colonnes pour organiser des données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50008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350008"/>
            <a:ext cx="73152" cy="7315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39572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5CC99"/>
                </a:solidFill>
              </a:rPr>
              <a:t>Cellule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679191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Case individuelle à l'intersection d'une ligne et d'une colonne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91256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191256"/>
            <a:ext cx="73152" cy="7315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369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5CC99"/>
                </a:solidFill>
              </a:rPr>
              <a:t>Fusionner les cellules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520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Combiner plusieurs cellules en une seule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32504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032504"/>
            <a:ext cx="73152" cy="7315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0782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5CC99"/>
                </a:solidFill>
              </a:rPr>
              <a:t>Fractionner les cellules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3616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Diviser une cellule en plusieurs cellules distinctes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73752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873752"/>
            <a:ext cx="73152" cy="7315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9194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5CC99"/>
                </a:solidFill>
              </a:rPr>
              <a:t>Style de tableau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20293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Mise en forme prédéfinie appliquée à tout le tableau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1500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715000"/>
            <a:ext cx="73152" cy="7315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7607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5CC99"/>
                </a:solidFill>
              </a:rPr>
              <a:t>Ligne d'en-tête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04418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Première ligne d'un tableau, souvent mise en valeur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150876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0" y="1508760"/>
            <a:ext cx="73152" cy="7315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15544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5CC99"/>
                </a:solidFill>
              </a:rPr>
              <a:t>Lignes à bandes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1837943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Alternance de couleur de fond entre les lignes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2350008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97680" y="2350008"/>
            <a:ext cx="73152" cy="7315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0" y="239572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5CC99"/>
                </a:solidFill>
              </a:rPr>
              <a:t>Trier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2679191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Réorganiser les lignes selon une colonne et un ordre choisis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3191256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97680" y="3191256"/>
            <a:ext cx="73152" cy="7315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32369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5CC99"/>
                </a:solidFill>
              </a:rPr>
              <a:t>Formule de tableau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3520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Calcul intégré effectué directement dans une cellule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7680" y="4032504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97680" y="4032504"/>
            <a:ext cx="73152" cy="7315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0560" y="40782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5CC99"/>
                </a:solidFill>
              </a:rPr>
              <a:t>SUM(ABOVE)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43616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Formule additionnant les valeurs situées au-dessus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80" y="4873752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97680" y="4873752"/>
            <a:ext cx="73152" cy="7315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80560" y="49194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5CC99"/>
                </a:solidFill>
              </a:rPr>
              <a:t>Convertir en tableau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0" y="520293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Transformer un texte structuré en grille de cellules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97680" y="571500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97680" y="5715000"/>
            <a:ext cx="73152" cy="7315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80560" y="57607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5CC99"/>
                </a:solidFill>
              </a:rPr>
              <a:t>Convertir en texte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604418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Transformer un tableau en texte avec un séparateur choisi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150876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38160" y="1508760"/>
            <a:ext cx="73152" cy="7315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21040" y="15544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5CC99"/>
                </a:solidFill>
              </a:rPr>
              <a:t>Distribuer les colonnes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1837943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Répartir uniformément la largeur des colonnes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38160" y="2350008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138160" y="2350008"/>
            <a:ext cx="73152" cy="7315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21040" y="239572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5CC99"/>
                </a:solidFill>
              </a:rPr>
              <a:t>Ajuster au contenu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2679191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Largeur de colonne calculée selon le texte qu'elle contient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38160" y="3191256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138160" y="3191256"/>
            <a:ext cx="73152" cy="7315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21040" y="32369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5CC99"/>
                </a:solidFill>
              </a:rPr>
              <a:t>Poignée de déplacement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3520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Icône permettant de déplacer un tableau entier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38160" y="4032504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138160" y="4032504"/>
            <a:ext cx="73152" cy="7315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21040" y="40782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5CC99"/>
                </a:solidFill>
              </a:rPr>
              <a:t>Outils de tableau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21040" y="43616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Onglets contextuels Création et Disposition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38160" y="4873752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138160" y="4873752"/>
            <a:ext cx="73152" cy="7315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21040" y="49194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5CC99"/>
                </a:solidFill>
              </a:rPr>
              <a:t>Séparateur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21040" y="520293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Caractère utilisé pour délimiter les colonnes lors d'une conversion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38160" y="571500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138160" y="5715000"/>
            <a:ext cx="73152" cy="7315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321040" y="57607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5CC99"/>
                </a:solidFill>
              </a:rPr>
              <a:t>Mise à jour du champ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21040" y="604418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Actualisation d'un résultat de formule après modification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11 — Tableaux et synthèse générale du 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"/>
            <a:ext cx="12188952" cy="6263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772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Mémo raccourcis clavier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280160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5733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Tab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508760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157562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Avancer à la cellule suivante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063114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116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Maj+Tab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063114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212998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Reculer à la cellule précédente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17470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66604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Alt+clic (dans une cellule)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2617470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268433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Sélectionner toute la colonne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71825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22040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Ctrl+Tab (dans une cellule)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3171825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323869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Insérer une vraie tabulation dans une cellule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26179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77475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Tab (dernière cellule)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3726179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379304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Ajouter automatiquement une nouvelle ligne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280535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3291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F9 (sur une formule)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4280535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4640" y="434740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Mettre à jour le résultat d'un calcul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834890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88346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Alt+Maj+flèches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4834890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34640" y="490175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Déplacer une ligne de tableau vers le haut ou le bas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389244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43782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Ctrl+Z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51760" y="5389244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34640" y="545611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Annuler la dernière modification du tableau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11 — Tableaux et synthèse générale du 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Tableaux et synthèse
générale du cours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Créer et gérer des tableaux, puis réviser l'ensemble avant l'examen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10908792" cy="4206240"/>
          </a:xfrm>
          <a:prstGeom prst="rect">
            <a:avLst/>
          </a:prstGeom>
          <a:solidFill>
            <a:srgbClr val="F7F7F7"/>
          </a:solidFill>
          <a:ln w="15240">
            <a:solidFill>
              <a:srgbClr val="99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28800"/>
            <a:ext cx="10908792" cy="38404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212848"/>
            <a:ext cx="1090879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1892807"/>
            <a:ext cx="10579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[ Screenshot ] Formule de calcul dans un tableau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91556" y="3547872"/>
            <a:ext cx="1005840" cy="594360"/>
          </a:xfrm>
          <a:prstGeom prst="rect">
            <a:avLst/>
          </a:prstGeom>
          <a:solidFill>
            <a:srgbClr val="DDE4E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29884" y="3383280"/>
            <a:ext cx="329184" cy="201168"/>
          </a:xfrm>
          <a:prstGeom prst="rect">
            <a:avLst/>
          </a:prstGeom>
          <a:solidFill>
            <a:srgbClr val="DDE4E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3308" y="3712464"/>
            <a:ext cx="402336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224528"/>
            <a:ext cx="10543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95959"/>
                </a:solidFill>
              </a:rPr>
              <a:t>Insérez ici une capture d'écran de la boîte de dialogue Formule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572000"/>
            <a:ext cx="10543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AAAA"/>
                </a:solidFill>
              </a:rPr>
              <a:t>Recommandé : montrer =SUM(ABOVE) avec le résultat calculé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05855"/>
            <a:ext cx="10908792" cy="32918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705855"/>
            <a:ext cx="1090879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751576"/>
            <a:ext cx="10634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688"/>
                </a:solidFill>
              </a:rPr>
              <a:t>Clic droit sur cette zone → Modifier l'image → choisir votre screenshot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11 — Tableaux et synthèse générale | Formation SAMO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11 — Tableaux et synthèse générale du 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À vous de jouer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4 exercices pratiques à réaliser dans Word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1274552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55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02920" cy="100584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84831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874519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— Créer et styliser un tableau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85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Créez un tableau de 5 colonnes sur 6 lignes et appliquez un style avec ligne d'en-tête.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26080"/>
            <a:ext cx="1127455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5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926080"/>
            <a:ext cx="502920" cy="100584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2783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017520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— Fusion et tri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328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Fusionnez une cellule de titre sur trois colonnes, puis triez les lignes par ordre alphabétique.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69080"/>
            <a:ext cx="11274552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55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069080"/>
            <a:ext cx="502920" cy="100584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37083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60520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— Formule de calcul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471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Ajoutez une colonne de montants et calculez automatiquement le total avec =SUM(ABOVE).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212080"/>
            <a:ext cx="1127455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5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212080"/>
            <a:ext cx="502920" cy="100584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51383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303520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— Révision générale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614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Reprenez un document des séances précédentes et vérifiez que toutes les compétences des 10 séances y sont appliquées.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11 — Tableaux et synthèse générale | Formation SAMO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11 — Tableaux et synthèse générale du 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Récapitulatif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Ce qu'il faut retenir de cette séance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1274552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749808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56231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Un tableau se crée par la grille rapide ou la boîte de dialogue pour plus de précision.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42616"/>
            <a:ext cx="112745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42616"/>
            <a:ext cx="91440" cy="749808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15768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Fusionner, scinder et trier permettent d'adapter un tableau à des besoins évolutifs.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02152"/>
            <a:ext cx="11274552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502152"/>
            <a:ext cx="91440" cy="749808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575304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Les formules simples comme =SUM(ABOVE) évitent de sortir vers un tableur.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61688"/>
            <a:ext cx="112745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361688"/>
            <a:ext cx="91440" cy="749808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34840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La conversion texte-tableau fait gagner un temps considérable sur des listes existantes.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21224"/>
            <a:ext cx="11274552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221224"/>
            <a:ext cx="91440" cy="749808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294376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Les dix séances précédentes couvrent l'ensemble des compétences testées à l'examen final.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11 — Tableaux et synthèse générale | Formation SAMO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11 — Tableaux et synthèse générale du 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Astuce de pro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10908792" cy="1463040"/>
          </a:xfrm>
          <a:prstGeom prst="rect">
            <a:avLst/>
          </a:prstGeom>
          <a:solidFill>
            <a:srgbClr val="FFF0E0"/>
          </a:solidFill>
          <a:ln w="25400">
            <a:solidFill>
              <a:srgbClr val="55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502920" cy="146304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450592"/>
            <a:ext cx="3931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93392"/>
            <a:ext cx="10222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7C49"/>
                </a:solidFill>
              </a:rPr>
              <a:t>Révisez par thème, pas par séance, avant l'examen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286000"/>
            <a:ext cx="10222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Plutôt que de revoir les séances dans l'ordre, regroupez vos révisions par grand thème : mise en forme, structure de document, éléments visuels. Cela correspond exactement à la structure de l'examen final de la séance 12.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Pièges fréquents à éviter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14800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⚠  Oublier de cocher Ligne d'en-tête avant de trier un tableau.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0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⚠  Ne pas mettre à jour une formule après avoir changé les données du tableau.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29200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⚠  Réviser uniquement les dernières séances et négliger les toutes premières notions.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11 — Tableaux et synthèse générale | Formation SAMO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11 — Tableaux et synthèse générale du 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Compétences acquises — À valider avec votre formateur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746504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55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7190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55CC99"/>
                </a:solidFill>
              </a:rPr>
              <a:t>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1719072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773936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sais insérer un tableau simple et un tableau aux dimensions précises.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322576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55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2951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55CC99"/>
                </a:solidFill>
              </a:rPr>
              <a:t>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2295144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350008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sais appliquer un style de tableau avec ligne d'en-tête.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2898648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55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8712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55CC99"/>
                </a:solidFill>
              </a:rPr>
              <a:t>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" y="2871216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2926080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sais fusionner et fractionner des cellules.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474720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55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4472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55CC99"/>
                </a:solidFill>
              </a:rPr>
              <a:t>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" y="3447288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502152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sais trier les données d'un tableau.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4050791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55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4023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55CC99"/>
                </a:solidFill>
              </a:rPr>
              <a:t>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" y="4023360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078224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sais utiliser une formule simple comme =SUM(ABOVE).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4626864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55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45994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55CC99"/>
                </a:solidFill>
              </a:rPr>
              <a:t>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" y="4599432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654296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sais convertir un texte en tableau et inversement.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" y="5202936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55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517550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55CC99"/>
                </a:solidFill>
              </a:rPr>
              <a:t>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" y="5175504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230368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peux résumer les compétences clés des dix séances précédentes.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5779007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55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57515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55CC99"/>
                </a:solidFill>
              </a:rPr>
              <a:t>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" y="5751576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806440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me sens prêt à passer l'examen final de la séance 12.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" y="6419088"/>
            <a:ext cx="11420856" cy="256032"/>
          </a:xfrm>
          <a:prstGeom prst="rect">
            <a:avLst/>
          </a:prstGeom>
          <a:solidFill>
            <a:srgbClr val="55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6409944"/>
            <a:ext cx="112379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FIN SÉANCE 11 — Valider avec votre formateur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