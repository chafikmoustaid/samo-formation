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-558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19993-993C-465B-9637-75601939170B}" type="datetimeFigureOut">
              <a:rPr lang="fr-CA" smtClean="0"/>
              <a:t>2026-07-06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31710-3521-4018-A35D-092672D8594C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461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9344" y="502920"/>
            <a:ext cx="768096" cy="768096"/>
          </a:xfrm>
          <a:prstGeom prst="ellipse">
            <a:avLst/>
          </a:prstGeom>
          <a:solidFill>
            <a:srgbClr val="9A1420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66751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216152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ne s'allume pas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657600" y="502920"/>
            <a:ext cx="768096" cy="768096"/>
          </a:xfrm>
          <a:prstGeom prst="ellipse">
            <a:avLst/>
          </a:prstGeom>
          <a:solidFill>
            <a:srgbClr val="9A1420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667512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408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BSOD &amp; lenteur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64408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rapide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05856" y="502920"/>
            <a:ext cx="768096" cy="768096"/>
          </a:xfrm>
          <a:prstGeom prst="ellipse">
            <a:avLst/>
          </a:prstGeom>
          <a:solidFill>
            <a:srgbClr val="9A1420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667512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2664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312664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pings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754112" y="502920"/>
            <a:ext cx="768096" cy="768096"/>
          </a:xfrm>
          <a:prstGeom prst="ellipse">
            <a:avLst/>
          </a:prstGeom>
          <a:solidFill>
            <a:srgbClr val="9A1420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667512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0920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360920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ligne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9802368" y="502920"/>
            <a:ext cx="768096" cy="768096"/>
          </a:xfrm>
          <a:prstGeom prst="ellipse">
            <a:avLst/>
          </a:prstGeom>
          <a:solidFill>
            <a:srgbClr val="9A1420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66751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09176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9409176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oublié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822960" y="2331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10 pannes</a:t>
            </a:r>
            <a:endParaRPr lang="en-US" sz="4600" dirty="0"/>
          </a:p>
        </p:txBody>
      </p:sp>
      <p:sp>
        <p:nvSpPr>
          <p:cNvPr id="23" name="Text 16"/>
          <p:cNvSpPr/>
          <p:nvPr/>
        </p:nvSpPr>
        <p:spPr>
          <a:xfrm>
            <a:off x="822960" y="3063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plus courantes</a:t>
            </a:r>
            <a:endParaRPr lang="en-US" sz="4600" dirty="0"/>
          </a:p>
        </p:txBody>
      </p:sp>
      <p:sp>
        <p:nvSpPr>
          <p:cNvPr id="24" name="Text 17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DU SUPPORT QUOTIDIEN COUVERT EN UNE SÉANCE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22960" y="4617720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26" name="Text 19"/>
          <p:cNvSpPr/>
          <p:nvPr/>
        </p:nvSpPr>
        <p:spPr>
          <a:xfrm>
            <a:off x="82296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/ 15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711135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· Juin 2026</a:t>
            </a:r>
            <a:endParaRPr lang="en-US" sz="1200" dirty="0"/>
          </a:p>
        </p:txBody>
      </p:sp>
      <p:sp>
        <p:nvSpPr>
          <p:cNvPr id="29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31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32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3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HeaderLogo" descr="samo_logo_hea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pannes.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80 % du support quotidien.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74320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10 situations reviennent en boucle dans tous les environnements de support, PME comme particuliers.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les résoudre en moins de 15 minutes, avec la bonne méthode à chaque fois, c'est ce qui fait un technicien N1 réellement opérationnel sur le terrain.</a:t>
            </a:r>
            <a:endParaRPr lang="en-US" sz="1500" dirty="0"/>
          </a:p>
        </p:txBody>
      </p:sp>
      <p:sp>
        <p:nvSpPr>
          <p:cNvPr id="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1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programme — 4 heures, 6 blocs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45131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Vue d'ensemble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10 pannes · Fréquence · Priorisation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45131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Méthode universelle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→ Hypothèse → Tester → Documenter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45131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Pannes matérielles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· BSOD · Redémarrage seul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45131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Pannes logicielles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Lenteur · Driver manquant · Mot de passe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45131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Pannes réseau &amp; péri.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· Imprimante · Son · Malware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45131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Référence rapide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récapitulatif · Escalade</a:t>
            </a:r>
            <a:endParaRPr lang="en-US" sz="115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10 pannes — Panorama complet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425696"/>
        </p:xfrm>
        <a:graphic>
          <a:graphicData uri="http://schemas.openxmlformats.org/drawingml/2006/table">
            <a:tbl>
              <a:tblPr/>
              <a:tblGrid>
                <a:gridCol w="731520"/>
                <a:gridCol w="6858000"/>
                <a:gridCol w="3474720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Panne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Famille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PC ne démarre pas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Matériel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BSOD récurrent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Système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PC très lent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Performance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Internet coupé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Réseau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Virus / Malware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Sécurité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Imprimante hors ligne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Périphérique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Son absent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Périphérique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Driver manquant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Système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Mot de passe oublié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Accès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10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PC redémarre seul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Matériel/Thermique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ces 10 cas = 80 % du support quotidien couvert</a:t>
            </a:r>
            <a:endParaRPr lang="en-US" sz="1050" dirty="0"/>
          </a:p>
        </p:txBody>
      </p:sp>
      <p:sp>
        <p:nvSpPr>
          <p:cNvPr id="1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1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CONDUCTEUR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universelle — S'applique à toutes les pannes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exact, depuis quand, changement récent, un ou tous les appareils 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33172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62432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cause probable. Physique avant logiciel. Une variable à la fois.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358444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l'hypothèse avec une seule modification. Si faux, nouvelle hypothèse.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25196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Résoudre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5445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la solution. Confirmer avec le client que tout fonctionne.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521208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550468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complet : symptôme + cause + solution + durée, même pour un appel de 3 minutes.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redémarrage résout 50 % des problèmes — toujours l'essayer avant d'aller plus loin</a:t>
            </a:r>
            <a:endParaRPr lang="en-US" sz="1050" dirty="0"/>
          </a:p>
        </p:txBody>
      </p:sp>
      <p:sp>
        <p:nvSpPr>
          <p:cNvPr id="2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1 — PC ne démarre pas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PC n'affiche rien, aucun voyant, ou démarre puis s'éteint immédiatement.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câble, prise, interrupteur du bloc d'alimentation.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Réinsérer les barrettes dans le slot A2, tester une seule barrette à la fois.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(BIOS)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BIOS détecte le disque de démarrage.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mère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rien ne fonctionne, suspecter la carte mère — escalade N2.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commencer par le physique : câbles, connexions, alimentation avant tout diagnostic logiciel.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2 — BSOD récurrent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Écran bleu qui revient plusieurs fois par jour, avec ou sans motif apparent.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le 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relever le code d'arrêt exact avant de redémarrer.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WhoCrashed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fichier .dmp pour identifier le driver responsable.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MemTest86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code pointe vers la RAM, tester avec 2 passes minimum.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 / DISM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code pointe vers des fichiers système corrompus.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la Séance 13 pour la méthode complète de diagnostic BSOD.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20-40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3 — PC très lent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PC met plusieurs minutes à devenir utilisable ou rame en continu.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CPU, RAM, disque — identifier le processus coupable.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 les programmes inutiles au démarrage.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disque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qu'il reste au moins 10-15 % d'espace libre.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rien n'explique la lenteur, suspecter un malware caché.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coupable à la fois — ne pas changer plusieurs réglages en même temps.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15-30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4 — Internet coupé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Plus de connexion Internet, sur un poste ou sur tout le réseau.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passerelle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connexion locale au routeur.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8.8.8.8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connexion Internet en dehors du DNS.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google.com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résolution DNS spécifiquement.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la box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tous les pings échouent, redémarrer le modem/routeur.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pings localisent la panne (poste, réseau local, ou Internet) en moins de 2 minutes.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5 — Virus / Malware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Popups intempestifs, ralentissement soudain, ou comportement anormal du navigateur.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Déconnecter le réseau immédiatement pour éviter la propagation.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Defender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une analyse complète (pas rapide).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Malwarebytes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complémentaire pour les menaces que Defender manque parfois.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navigateur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suspectes, page d'accueil modifiée.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isoler avant de nettoyer — un malware réseau peut se propager pendant l'analyse.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6 — Imprimante hors ligne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L'imprimante réseau ou USB est signalée « hors ligne » par Windows.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en ligne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→ Voir ce qui s'imprime → Utiliser l'imprimante en ligne.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réseau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que l'imprimante répond à un ping (IP fixe recommandée).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le spooler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services.msc → Print Spooler → Redémarrer si la file est bloquée.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Réinstaller le driver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rien ne fonctionne, réinstaller depuis le site du fabricant.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essayer « Utiliser en ligne » en premier — résout la majorité des cas en 2 minutes.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2-15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7 — Son absent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Aucun son ne sort du PC, sur les haut-parleurs ou le casque.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audio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Son → vérifier le périphérique de sortie sélectionné.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et mixeur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l'application n'est pas mise en sourdine individuellement.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audio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périphériques → vérifier l'absence de point d'exclamation.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le service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services.msc → Windows Audio → Redémarrer si nécessaire.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 des cas de « son absent » : mauvais périphérique de sortie sélectionné.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3-10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8 — Driver manquant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Point d'exclamation jaune dans le Gestionnaire de périphériques.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devmgmt.msc → repérer le périphérique en erreur.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→ Mettre à jour le pilote → Recherche automatique.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du fabricant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échec, télécharger le pilote exact depuis le site officiel.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Désinstaller/réinstaller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dernier recours, désinstaller puis laisser Windows réinstaller.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vérifier le modèle exact du composant avant de télécharger un pilote.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9 — Mot de passe oublié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L'utilisateur ne peut plus se connecter à sa session Windows.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Microsoft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en ligne via account.live.com/password/reset.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local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WinRE ou un compte administrateur existant.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Verr. Maj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fréquente et ignorée : Verr Maj activé par erreur.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Recommander un gestionnaire de mots de passe pour éviter la récidive.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stocker les mots de passe clients sans un gestionnaire de mots de passe sécurisé.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DÉDIÉ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Panne 10 — PC redémarre seul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630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PC s'éteint ou redémarre de façon inattendue, surtout sous charge. 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HWMonitor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températures CPU/GPU — cause n°1 de ce symptôme.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7185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0901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17" name="Text 15"/>
          <p:cNvSpPr/>
          <p:nvPr/>
        </p:nvSpPr>
        <p:spPr>
          <a:xfrm>
            <a:off x="350901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901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&gt; 90°C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0901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physique + éventuellement renouveler la pâte thermique.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9506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3222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température normale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222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l'Observateur d'événements pour un code BSOD masqué.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18270" y="2331720"/>
            <a:ext cx="2594610" cy="2880360"/>
          </a:xfrm>
          <a:prstGeom prst="roundRect">
            <a:avLst>
              <a:gd name="adj" fmla="val 1762"/>
            </a:avLst>
          </a:prstGeom>
          <a:solidFill>
            <a:srgbClr val="FFFFFF"/>
          </a:solidFill>
          <a:ln w="9525">
            <a:solidFill>
              <a:srgbClr val="F0D6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55430" y="2468880"/>
            <a:ext cx="365760" cy="365760"/>
          </a:xfrm>
          <a:prstGeom prst="ellipse">
            <a:avLst/>
          </a:prstGeom>
          <a:solidFill>
            <a:srgbClr val="9A1420"/>
          </a:solidFill>
          <a:ln/>
        </p:spPr>
      </p:sp>
      <p:sp>
        <p:nvSpPr>
          <p:cNvPr id="27" name="Text 25"/>
          <p:cNvSpPr/>
          <p:nvPr/>
        </p:nvSpPr>
        <p:spPr>
          <a:xfrm>
            <a:off x="915543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55430" y="29260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55430" y="3429000"/>
            <a:ext cx="232029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Suspecter le bloc d'alimentation si rien d'autre n'explique le symptôme.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863840" cy="594360"/>
          </a:xfrm>
          <a:prstGeom prst="roundRect">
            <a:avLst>
              <a:gd name="adj" fmla="val 7692"/>
            </a:avLst>
          </a:prstGeom>
          <a:solidFill>
            <a:srgbClr val="9A1420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949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BSOD précède le redémarrage, voir la Séance 13 pour le diagnostic complet.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5394960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45131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53949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15-45 min</a:t>
            </a:r>
            <a:endParaRPr lang="en-US" sz="1100" dirty="0"/>
          </a:p>
        </p:txBody>
      </p:sp>
      <p:sp>
        <p:nvSpPr>
          <p:cNvPr id="3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RAPIDE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récapitulatif des 10 pannes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425696"/>
        </p:xfrm>
        <a:graphic>
          <a:graphicData uri="http://schemas.openxmlformats.org/drawingml/2006/table">
            <a:tbl>
              <a:tblPr/>
              <a:tblGrid>
                <a:gridCol w="4206240"/>
                <a:gridCol w="2560320"/>
                <a:gridCol w="4297680"/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Panne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Temps moyen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Outil principal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142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PC ne démarre pas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10-20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Vérification physique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BSOD récurrent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20-40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WhoCrashed / MemTest86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PC très lent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15-30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Task Manager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Internet coupé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5-10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3 pings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Virus / Malware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30-60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Defender + Malwarebytes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Imprimante hors ligne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2-15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Print Spooler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Son absent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3-10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Paramètres Son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Driver manquant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5-20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Gestionnaire de périphériques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Mot de passe oublié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10-30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WinRE / compte Microsoft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PC redémarre seul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15-45 min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E0A0F"/>
                          </a:solidFill>
                        </a:rPr>
                        <a:t>HWMonitor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Plusieurs symptômes en même temps — Que traiter en premier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1 — Sécurité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 / Malware suspecté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isoler avant tout autre diagnostic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malware actif peut aggraver d'autres symptômes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E9E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2 — Disponibilité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ne démarre pas ou redémarre seul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totalement le travail du client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physique rapide en premier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FBE9EA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3 — Confort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absent, imprimante hors ligne, lenteur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N'empêchent pas le travail, mais gênent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Peuvent être traités après stabilisation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avec 3 symptômes en même temps a souvent une cause commune — chercher le lien avant d'isoler chaque cas</a:t>
            </a:r>
            <a:endParaRPr lang="en-US" sz="105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pratiques — Séance 14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FBE9E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 — Grégoire, ex-boulanger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à la fois un PC lent ET une imprimante hors ligne depuis ce matin.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un lien entre les deux symptômes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quoi commencer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méthode appliquer à chaque symptôme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Traiter séparément — Task Manager d'abord, puis Print Spooler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816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FBE9EA"/>
          </a:solidFill>
          <a:ln/>
        </p:spPr>
      </p:sp>
      <p:sp>
        <p:nvSpPr>
          <p:cNvPr id="14" name="Text 12"/>
          <p:cNvSpPr/>
          <p:nvPr/>
        </p:nvSpPr>
        <p:spPr>
          <a:xfrm>
            <a:off x="451104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 — Odette, ex-fleuriste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104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PC redémarre seul et un BSOD est apparu une fois cette semaine.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1104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l'hypothèse la plus probable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utiliser en premier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si les températures sont normales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1104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HWMonitor d'abord → si normal, analyser le BSOD (Séance 13)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768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FBE9EA"/>
          </a:solidFill>
          <a:ln/>
        </p:spPr>
      </p:sp>
      <p:sp>
        <p:nvSpPr>
          <p:cNvPr id="19" name="Text 17"/>
          <p:cNvSpPr/>
          <p:nvPr/>
        </p:nvSpPr>
        <p:spPr>
          <a:xfrm>
            <a:off x="829056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3 — Tarek, ex-mécanicien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056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 ET suspicion de virus sur le même poste, urgence pour le client.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9056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panne traiter en priorité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sécuriser l'accès sans compromettre le diagnostic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méthode suivre pour chaque panne 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056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Sécuriser l'accès d'abord (priorité 1), puis traiter le mot de passe</a:t>
            </a:r>
            <a:endParaRPr lang="en-US" sz="950" dirty="0"/>
          </a:p>
        </p:txBody>
      </p:sp>
      <p:sp>
        <p:nvSpPr>
          <p:cNvPr id="2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2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5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VOCABULAIRE PANNES COURANTES — 18 termes essentiels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pings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Passerelle → 8.8.8.8 → google.com pour localiser une panne réseau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03776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10" name="Text 8"/>
          <p:cNvSpPr/>
          <p:nvPr/>
        </p:nvSpPr>
        <p:spPr>
          <a:xfrm>
            <a:off x="4440936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Spooler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40936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Windows gérant la file d'impression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58912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13" name="Text 11"/>
          <p:cNvSpPr/>
          <p:nvPr/>
        </p:nvSpPr>
        <p:spPr>
          <a:xfrm>
            <a:off x="8196072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 Maj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96072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 souvent la cause d'un « mauvais » mot de passe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HWMonitor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des températures en temps réel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3776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19" name="Text 17"/>
          <p:cNvSpPr/>
          <p:nvPr/>
        </p:nvSpPr>
        <p:spPr>
          <a:xfrm>
            <a:off x="4440936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40936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des tâches — CPU/RAM/démarrage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58912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22" name="Text 20"/>
          <p:cNvSpPr/>
          <p:nvPr/>
        </p:nvSpPr>
        <p:spPr>
          <a:xfrm>
            <a:off x="8196072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96072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 intégré à Windows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Malwarebytes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Antimalware complémentaire à l'antivirus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03776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28" name="Text 26"/>
          <p:cNvSpPr/>
          <p:nvPr/>
        </p:nvSpPr>
        <p:spPr>
          <a:xfrm>
            <a:off x="4440936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périphériques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40936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listant le matériel et ses pilotes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58912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31" name="Text 29"/>
          <p:cNvSpPr/>
          <p:nvPr/>
        </p:nvSpPr>
        <p:spPr>
          <a:xfrm>
            <a:off x="8196072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devmgmt.msc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96072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d'ouverture du Gestionnaire de périphériques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services.msc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d'ouverture des services Windows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03776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37" name="Text 35"/>
          <p:cNvSpPr/>
          <p:nvPr/>
        </p:nvSpPr>
        <p:spPr>
          <a:xfrm>
            <a:off x="4440936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440936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récupération pour urgences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58912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40" name="Text 38"/>
          <p:cNvSpPr/>
          <p:nvPr/>
        </p:nvSpPr>
        <p:spPr>
          <a:xfrm>
            <a:off x="8196072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96072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d'un cas complexe au niveau N2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à la fois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fondamentale du diagnostic informatique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03776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46" name="Text 44"/>
          <p:cNvSpPr/>
          <p:nvPr/>
        </p:nvSpPr>
        <p:spPr>
          <a:xfrm>
            <a:off x="4440936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 avant logiciel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440936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vérifier le matériel avant le software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58912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49" name="Text 47"/>
          <p:cNvSpPr/>
          <p:nvPr/>
        </p:nvSpPr>
        <p:spPr>
          <a:xfrm>
            <a:off x="8196072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support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196072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documenté d'une intervention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fixe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5800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réseau stable, recommandée pour imprimantes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03776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55" name="Text 53"/>
          <p:cNvSpPr/>
          <p:nvPr/>
        </p:nvSpPr>
        <p:spPr>
          <a:xfrm>
            <a:off x="4440936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d'exclamation jaune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440936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un pilote manquant ou en erreur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58912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45131A"/>
          </a:solidFill>
          <a:ln/>
        </p:spPr>
      </p:sp>
      <p:sp>
        <p:nvSpPr>
          <p:cNvPr id="58" name="Text 56"/>
          <p:cNvSpPr/>
          <p:nvPr/>
        </p:nvSpPr>
        <p:spPr>
          <a:xfrm>
            <a:off x="8196072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Microsoft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196072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en ligne — réinitialisation possible à distance</a:t>
            </a:r>
            <a:endParaRPr lang="en-US" sz="850" dirty="0"/>
          </a:p>
        </p:txBody>
      </p:sp>
      <p:sp>
        <p:nvSpPr>
          <p:cNvPr id="6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6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6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6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À OUTILS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Commandes et outils — Récapitulatif des 10 pannes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22060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44475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8.8.8.8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810512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connexion Internet hors DNS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220608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144475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google.com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810512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résolution DNS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220608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74320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stop spooler &amp; net start spooler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3108960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le service d'impression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670048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220608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74320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devmgmt.msc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3108960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Gestionnaire de périphériques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22060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4164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services.msc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407408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la liste des services Windows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968496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220608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404164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taskmgr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82512" y="4407408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Gestionnaire des tâches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220608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34009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Get-PnpDevice | Where Status -eq 'Error'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5705856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: lister les périphériques en erreur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5266944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220608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534009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shutdown /r /t 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82512" y="5705856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immédiatement le poste</a:t>
            </a:r>
            <a:endParaRPr lang="en-US" sz="1000" dirty="0"/>
          </a:p>
        </p:txBody>
      </p:sp>
      <p:sp>
        <p:nvSpPr>
          <p:cNvPr id="32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4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5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6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de jouer.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Simulez le diagnostic complet des 10 pannes sur votre VM.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4513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des 3 pings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194767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passerelle, 8.8.8.8 et google.com et interpréter chaque résultat.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0" y="161848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6893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4513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6893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84149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une lenteur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317068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→ identifier un processus gourmand simulé → proposer une action.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4149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9194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4513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9194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645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Résoudre une imprimante hors ligne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439369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le scénario → appliquer la procédure complète.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406450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1495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4513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1495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28751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la méthode complète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80160" y="561670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2 pannes au hasard et appliquer identifier → hypothèse → tester → documenter.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528751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3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0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Séance 14 — À valider avec votre formateur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9144"/>
          </a:xfrm>
          <a:prstGeom prst="rect">
            <a:avLst/>
          </a:prstGeom>
          <a:solidFill>
            <a:srgbClr val="F0D6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14 — Les 10 Pannes Courantes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505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9A14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connais la méthode de diagnostic pour les 10 pannes les plus fréquentes.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3798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9A14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95453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J'applique les 3 pings pour localiser une panne Internet en moins de 3 minutes.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2092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9A14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53747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diagnostiquer un PC qui ne démarre pas (alimentation → RAM → disque → carte mère).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0385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9A14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2040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réactive une imprimante hors ligne en moins de 2 minutes dans la majorité des cas.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79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9A14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0334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J'applique la méthode universelle : identifier → hypothèse → tester → résoudre → documenter.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6972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9A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8627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que le redémarrage résout 50 % des problèmes — je l'essaie toujours en premier.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5266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9A14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69210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priorise correctement quand plusieurs symptômes apparaissent en même temps.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635596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9A14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5452145"/>
            <a:ext cx="10515600" cy="622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connais les 10 pannes et sais immédiatement quelle méthode appliquer à chacune.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115080"/>
            <a:ext cx="1106424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4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SÉANCE 14 — Valider avec votre formateur</a:t>
            </a:r>
            <a:endParaRPr lang="en-US" sz="100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14 — Les 10 Pannes Courantes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2848</Words>
  <Application>Microsoft Office PowerPoint</Application>
  <PresentationFormat>Personnalisé</PresentationFormat>
  <Paragraphs>563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14 — Les 10 Pannes Courantes</dc:title>
  <dc:subject>PptxGenJS Presentation</dc:subject>
  <dc:creator>Chafik Moustaid</dc:creator>
  <cp:lastModifiedBy>Chafik Moustaid</cp:lastModifiedBy>
  <cp:revision>2</cp:revision>
  <dcterms:created xsi:type="dcterms:W3CDTF">2026-07-05T19:02:10Z</dcterms:created>
  <dcterms:modified xsi:type="dcterms:W3CDTF">2026-07-06T19:20:25Z</dcterms:modified>
</cp:coreProperties>
</file>