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10" d="100"/>
          <a:sy n="110" d="100"/>
        </p:scale>
        <p:origin x="-558" y="-2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DF1F4B-5AE1-4011-B254-DEBD4DA9783F}" type="datetimeFigureOut">
              <a:rPr lang="fr-CA" smtClean="0"/>
              <a:t>2026-07-06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F58948-A87E-4DA2-B1FE-65D3AA28335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07486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09344" y="502920"/>
            <a:ext cx="768096" cy="768096"/>
          </a:xfrm>
          <a:prstGeom prst="ellipse">
            <a:avLst/>
          </a:prstGeom>
          <a:solidFill>
            <a:srgbClr val="0B5D82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3936" y="66751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16152" y="13075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3-2-1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216152" y="154533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totale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3657600" y="502920"/>
            <a:ext cx="768096" cy="768096"/>
          </a:xfrm>
          <a:prstGeom prst="ellipse">
            <a:avLst/>
          </a:prstGeom>
          <a:solidFill>
            <a:srgbClr val="0B5D82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192" y="667512"/>
            <a:ext cx="438912" cy="4389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64408" y="13075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OneDrive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3264408" y="154533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5705856" y="502920"/>
            <a:ext cx="768096" cy="768096"/>
          </a:xfrm>
          <a:prstGeom prst="ellipse">
            <a:avLst/>
          </a:prstGeom>
          <a:solidFill>
            <a:srgbClr val="0B5D82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0448" y="667512"/>
            <a:ext cx="438912" cy="43891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312664" y="13075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Backup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5312664" y="154533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système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7754112" y="502920"/>
            <a:ext cx="768096" cy="768096"/>
          </a:xfrm>
          <a:prstGeom prst="ellipse">
            <a:avLst/>
          </a:prstGeom>
          <a:solidFill>
            <a:srgbClr val="0B5D82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8704" y="667512"/>
            <a:ext cx="438912" cy="43891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360920" y="13075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Récupération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7360920" y="154533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supprimés</a:t>
            </a:r>
            <a:endParaRPr lang="en-US" sz="850" dirty="0"/>
          </a:p>
        </p:txBody>
      </p:sp>
      <p:sp>
        <p:nvSpPr>
          <p:cNvPr id="18" name="Shape 12"/>
          <p:cNvSpPr/>
          <p:nvPr/>
        </p:nvSpPr>
        <p:spPr>
          <a:xfrm>
            <a:off x="9802368" y="502920"/>
            <a:ext cx="768096" cy="768096"/>
          </a:xfrm>
          <a:prstGeom prst="ellipse">
            <a:avLst/>
          </a:prstGeom>
          <a:solidFill>
            <a:srgbClr val="0B5D82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66960" y="667512"/>
            <a:ext cx="438912" cy="43891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409176" y="13075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WinRE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9409176" y="154533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Urgence</a:t>
            </a:r>
            <a:endParaRPr lang="en-US" sz="850" dirty="0"/>
          </a:p>
        </p:txBody>
      </p:sp>
      <p:sp>
        <p:nvSpPr>
          <p:cNvPr id="22" name="Text 15"/>
          <p:cNvSpPr/>
          <p:nvPr/>
        </p:nvSpPr>
        <p:spPr>
          <a:xfrm>
            <a:off x="822960" y="233172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Sauvegarde</a:t>
            </a:r>
            <a:endParaRPr lang="en-US" sz="4600" dirty="0"/>
          </a:p>
        </p:txBody>
      </p:sp>
      <p:sp>
        <p:nvSpPr>
          <p:cNvPr id="23" name="Text 16"/>
          <p:cNvSpPr/>
          <p:nvPr/>
        </p:nvSpPr>
        <p:spPr>
          <a:xfrm>
            <a:off x="822960" y="306324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2FB6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 Récupération</a:t>
            </a:r>
            <a:endParaRPr lang="en-US" sz="4600" dirty="0"/>
          </a:p>
        </p:txBody>
      </p:sp>
      <p:sp>
        <p:nvSpPr>
          <p:cNvPr id="24" name="Text 17"/>
          <p:cNvSpPr/>
          <p:nvPr/>
        </p:nvSpPr>
        <p:spPr>
          <a:xfrm>
            <a:off x="822960" y="4069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kern="0" spc="100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3-2-1 · WINDOWS BACKUP · ONEDRIVE · RECUVA · WINRE</a:t>
            </a:r>
            <a:endParaRPr lang="en-US" sz="1500" dirty="0"/>
          </a:p>
        </p:txBody>
      </p:sp>
      <p:sp>
        <p:nvSpPr>
          <p:cNvPr id="25" name="Shape 18"/>
          <p:cNvSpPr/>
          <p:nvPr/>
        </p:nvSpPr>
        <p:spPr>
          <a:xfrm>
            <a:off x="822960" y="4617720"/>
            <a:ext cx="11064240" cy="9144"/>
          </a:xfrm>
          <a:prstGeom prst="rect">
            <a:avLst/>
          </a:prstGeom>
          <a:solidFill>
            <a:srgbClr val="D3E4EE"/>
          </a:solidFill>
          <a:ln/>
        </p:spPr>
      </p:sp>
      <p:sp>
        <p:nvSpPr>
          <p:cNvPr id="26" name="Text 19"/>
          <p:cNvSpPr/>
          <p:nvPr/>
        </p:nvSpPr>
        <p:spPr>
          <a:xfrm>
            <a:off x="822960" y="4846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11 / 15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7711135" y="4846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· Juin 2026</a:t>
            </a:r>
            <a:endParaRPr lang="en-US" sz="1200" dirty="0"/>
          </a:p>
        </p:txBody>
      </p:sp>
      <p:sp>
        <p:nvSpPr>
          <p:cNvPr id="28" name="Text 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11 — Sauvegarde et Récupération</a:t>
            </a:r>
            <a:endParaRPr lang="en-US" sz="900" dirty="0"/>
          </a:p>
        </p:txBody>
      </p:sp>
      <p:sp>
        <p:nvSpPr>
          <p:cNvPr id="29" name="Text 1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30" name="Text 2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31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HeaderLogo" descr="samo_logo_head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33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11 — Sauvegarde et Récupération</a:t>
            </a:r>
          </a:p>
        </p:txBody>
      </p:sp>
      <p:sp>
        <p:nvSpPr>
          <p:cNvPr id="34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35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11 — Sauvegarde et Récupération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60 % des entreprises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2FB6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 perdent leurs données ferment dans les 6 mois.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822960" y="4069080"/>
            <a:ext cx="2743200" cy="9144"/>
          </a:xfrm>
          <a:prstGeom prst="rect">
            <a:avLst/>
          </a:prstGeom>
          <a:solidFill>
            <a:srgbClr val="D3E4E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34340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Ransomware, panne disque, suppression accidentelle, vol — 4 scénarios différents, un même résultat sans protection.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sauvegarde n'est pas une option technique : c'est la seule vraie assurance contre la perte de données. Cette séance vous rend capable de la mettre en place et de récupérer en urgence.</a:t>
            </a:r>
            <a:endParaRPr lang="en-US" sz="1500" dirty="0"/>
          </a:p>
        </p:txBody>
      </p:sp>
      <p:sp>
        <p:nvSpPr>
          <p:cNvPr id="9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11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11 — Sauvegarde et Récupération</a:t>
            </a:r>
          </a:p>
        </p:txBody>
      </p:sp>
      <p:sp>
        <p:nvSpPr>
          <p:cNvPr id="12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13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11 — Sauvegarde et Récupération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 programme — 4 heures, 6 blocs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123655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4173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Pourquoi sauvegarder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1828800"/>
            <a:ext cx="48920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Scénarios de perte · Coût réel d'un incident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280160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123655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4173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Règle 3-2-1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37960" y="1828800"/>
            <a:ext cx="48920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copies · 2 supports · 1 hors site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090672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123655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22783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Windows Backup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3639312"/>
            <a:ext cx="48920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· Image système · Automatisation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09360" y="3090672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123655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322783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OneDrive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37960" y="3639312"/>
            <a:ext cx="48920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Synchronisation · Dossiers connus · Quota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901184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123655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038344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Récupération de fichiers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68680" y="5449824"/>
            <a:ext cx="48920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Corbeille · Historique · Recuva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09360" y="4901184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123655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5038344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WinRE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37960" y="5449824"/>
            <a:ext cx="48920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de restauration · Options avancées</a:t>
            </a:r>
            <a:endParaRPr lang="en-US" sz="1150" dirty="0"/>
          </a:p>
        </p:txBody>
      </p:sp>
      <p:sp>
        <p:nvSpPr>
          <p:cNvPr id="24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26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11 — Sauvegarde et Récupération</a:t>
            </a:r>
          </a:p>
        </p:txBody>
      </p:sp>
      <p:sp>
        <p:nvSpPr>
          <p:cNvPr id="27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8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Scénarios de perte de données — 4 causes, une seule protection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D3E4E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11 — Sauvegarde et Récupération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2560320" cy="4892040"/>
          </a:xfrm>
          <a:prstGeom prst="roundRect">
            <a:avLst>
              <a:gd name="adj" fmla="val 1786"/>
            </a:avLst>
          </a:prstGeom>
          <a:solidFill>
            <a:srgbClr val="E7F0F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21945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 de tous les fichiers accessibles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de rançon pour déchiffrer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propage aux lecteurs réseau connectés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31520" y="58064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 vraie solution : backup hors ligne testé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3280" y="1417320"/>
            <a:ext cx="2560320" cy="4892040"/>
          </a:xfrm>
          <a:prstGeom prst="roundRect">
            <a:avLst>
              <a:gd name="adj" fmla="val 1786"/>
            </a:avLst>
          </a:prstGeom>
          <a:solidFill>
            <a:srgbClr val="E7F0F8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15544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 disque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66160" y="2011680"/>
            <a:ext cx="21945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ou HDD qui cesse de fonctionner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Souvent sans avertissement clair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Récupération professionnelle très coûteuse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566160" y="58064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S.M.A.R.T. alerte parfois avant la panne totale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417320"/>
            <a:ext cx="2560320" cy="4892040"/>
          </a:xfrm>
          <a:prstGeom prst="roundRect">
            <a:avLst>
              <a:gd name="adj" fmla="val 1786"/>
            </a:avLst>
          </a:prstGeom>
          <a:solidFill>
            <a:srgbClr val="E7F0F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5544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accidentelle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2011680"/>
            <a:ext cx="21945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humaine — la cause la plus fréquente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en masse par script ou synchro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Souvent découverte des jours plus tard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0" y="58064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des versions = meilleure protection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52560" y="1417320"/>
            <a:ext cx="2560320" cy="4892040"/>
          </a:xfrm>
          <a:prstGeom prst="roundRect">
            <a:avLst>
              <a:gd name="adj" fmla="val 1786"/>
            </a:avLst>
          </a:prstGeom>
          <a:solidFill>
            <a:srgbClr val="E7F0F8"/>
          </a:solidFill>
          <a:ln/>
        </p:spPr>
      </p:sp>
      <p:sp>
        <p:nvSpPr>
          <p:cNvPr id="21" name="Text 19"/>
          <p:cNvSpPr/>
          <p:nvPr/>
        </p:nvSpPr>
        <p:spPr>
          <a:xfrm>
            <a:off x="9235440" y="15544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 ou sinistre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235440" y="2011680"/>
            <a:ext cx="21945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 du PC ou du disque externe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Incendie, dégât d'eau, catastrophe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 totale si tout est au même endroit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235440" y="58064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copie hors site est non négociable</a:t>
            </a:r>
            <a:endParaRPr lang="en-US" sz="1000" dirty="0"/>
          </a:p>
        </p:txBody>
      </p:sp>
      <p:sp>
        <p:nvSpPr>
          <p:cNvPr id="24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26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11 — Sauvegarde et Récupération</a:t>
            </a:r>
          </a:p>
        </p:txBody>
      </p:sp>
      <p:sp>
        <p:nvSpPr>
          <p:cNvPr id="27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8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FONDAMENTAL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Règle 3-2-1 — Appliquée à votre contexte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D3E4E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11 — Sauvegarde et Récupération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7F0F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copies de vos données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sur le PC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sur disque externe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cloud (OneDrive)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31520" y="580644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1 copie est corrompue, 2 autres restent disponibles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2816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7F0F8"/>
          </a:solidFill>
          <a:ln/>
        </p:spPr>
      </p:sp>
      <p:sp>
        <p:nvSpPr>
          <p:cNvPr id="13" name="Text 11"/>
          <p:cNvSpPr/>
          <p:nvPr/>
        </p:nvSpPr>
        <p:spPr>
          <a:xfrm>
            <a:off x="451104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supports différents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1104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interne + disque USB externe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 2 supports identiques de même marque/lot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support HDD + un support cloud est idéal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11040" y="580644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disques identiques peuvent tomber en panne ensemble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0768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7F0F8"/>
          </a:solidFill>
          <a:ln/>
        </p:spPr>
      </p:sp>
      <p:sp>
        <p:nvSpPr>
          <p:cNvPr id="17" name="Text 15"/>
          <p:cNvSpPr/>
          <p:nvPr/>
        </p:nvSpPr>
        <p:spPr>
          <a:xfrm>
            <a:off x="829056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copie hors site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9056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OneDrive cloud, ou disque chez un proche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Coffre-fort ou bureau distant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Protège contre incendie, vol, dégât local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90560" y="580644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Incendie ou vol = perte totale si tout est au même endroit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1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= restaurer un vrai fichier depuis la sauvegarde. Sans test, ce n'est pas une vraie sauvegarde.</a:t>
            </a:r>
            <a:endParaRPr lang="en-US" sz="1050" dirty="0"/>
          </a:p>
        </p:txBody>
      </p:sp>
      <p:sp>
        <p:nvSpPr>
          <p:cNvPr id="21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23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11 — Sauvegarde et Récupération</a:t>
            </a:r>
          </a:p>
        </p:txBody>
      </p:sp>
      <p:sp>
        <p:nvSpPr>
          <p:cNvPr id="24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5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DE SAUVEGARDE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Complète, incrémentielle, différentielle — Quelle méthode choisir 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D3E4E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11 — Sauvegarde et Récupération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18288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2286000"/>
                <a:gridCol w="2194560"/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Ce qui est copié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Vitesse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Restauration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B2540"/>
                          </a:solidFill>
                        </a:rPr>
                        <a:t>Complète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B2540"/>
                          </a:solidFill>
                        </a:rPr>
                        <a:t>Tous les fichiers, à chaque fois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B2540"/>
                          </a:solidFill>
                        </a:rPr>
                        <a:t>Lente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B2540"/>
                          </a:solidFill>
                        </a:rPr>
                        <a:t>Simple et rapide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B2540"/>
                          </a:solidFill>
                        </a:rPr>
                        <a:t>Incrémentielle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B2540"/>
                          </a:solidFill>
                        </a:rPr>
                        <a:t>Seulement les changements depuis la dernière sauvegarde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B2540"/>
                          </a:solidFill>
                        </a:rPr>
                        <a:t>Rapide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B2540"/>
                          </a:solidFill>
                        </a:rPr>
                        <a:t>Plus lente — chaîne complète nécessaire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B2540"/>
                          </a:solidFill>
                        </a:rPr>
                        <a:t>Différentielle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B2540"/>
                          </a:solidFill>
                        </a:rPr>
                        <a:t>Tous les changements depuis la dernière complète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B2540"/>
                          </a:solidFill>
                        </a:rPr>
                        <a:t>Moyenne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B2540"/>
                          </a:solidFill>
                        </a:rPr>
                        <a:t>Moyenne — 2 fichiers nécessaires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8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619963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1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Backup utilise une approche incrémentielle automatique — transparente pour l'utilisateur</a:t>
            </a:r>
            <a:endParaRPr lang="en-US" sz="1050" dirty="0"/>
          </a:p>
        </p:txBody>
      </p:sp>
      <p:sp>
        <p:nvSpPr>
          <p:cNvPr id="10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12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11 — Sauvegarde et Récupération</a:t>
            </a:r>
          </a:p>
        </p:txBody>
      </p:sp>
      <p:sp>
        <p:nvSpPr>
          <p:cNvPr id="13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14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Windows Backup — Configuration initiale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D3E4E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11 — Sauvegarde et Récupération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7315200" cy="4434840"/>
          </a:xfrm>
          <a:prstGeom prst="roundRect">
            <a:avLst>
              <a:gd name="adj" fmla="val 1031"/>
            </a:avLst>
          </a:prstGeom>
          <a:solidFill>
            <a:srgbClr val="E7F0F8"/>
          </a:solidFill>
          <a:ln w="12700">
            <a:solidFill>
              <a:srgbClr val="D3E4EE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4864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Capture d'écran ]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352044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1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Insérer ici : capture Paramètres → Système → Sauvegarde configurée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521208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1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droit sur cette zone → Modifier l'image → choisir votre capture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183880" y="137160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clés à repérer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039819" y="1783080"/>
            <a:ext cx="3916391" cy="18176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Activer la sauvegarde automatique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Sélectionner le lecteur externe cible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les dossiers couverts (Bureau, Documents, Images)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Fréquence recommandée : toutes les heures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83880" y="4663440"/>
            <a:ext cx="3429000" cy="1097280"/>
          </a:xfrm>
          <a:prstGeom prst="roundRect">
            <a:avLst>
              <a:gd name="adj" fmla="val 4167"/>
            </a:avLst>
          </a:prstGeom>
          <a:solidFill>
            <a:srgbClr val="0B5D82">
              <a:alpha val="1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475488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la restauration : modifier un fichier → Restaurer les fichiers personnels → vérifier que la version précédente est disponible.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619963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1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→ Système → Sauvegarde</a:t>
            </a:r>
            <a:endParaRPr lang="en-US" sz="1050" dirty="0"/>
          </a:p>
        </p:txBody>
      </p:sp>
      <p:sp>
        <p:nvSpPr>
          <p:cNvPr id="17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19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11 — Sauvegarde et Récupération</a:t>
            </a:r>
          </a:p>
        </p:txBody>
      </p:sp>
      <p:sp>
        <p:nvSpPr>
          <p:cNvPr id="20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1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  <p:pic>
        <p:nvPicPr>
          <p:cNvPr id="1026" name="Picture 2" descr="Windows 10 : tous les outils de sauvegarde et de récupération de données –  Le Crabe Inf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" y="1394952"/>
            <a:ext cx="7329602" cy="4411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OneDrive — Synchronisation, pas seulement stockage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D3E4E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11 — Sauvegarde et Récupération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7F0F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vs Backup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OneDrive synchronise, il ne remplace pas un vrai backup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suppression se synchronise aussi (30 jours de corbeille)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Combiner OneDrive + disque externe = protection réelle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2816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7F0F8"/>
          </a:solidFill>
          <a:ln/>
        </p:spPr>
      </p:sp>
      <p:sp>
        <p:nvSpPr>
          <p:cNvPr id="12" name="Text 10"/>
          <p:cNvSpPr/>
          <p:nvPr/>
        </p:nvSpPr>
        <p:spPr>
          <a:xfrm>
            <a:off x="451104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Dossiers connus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1104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Bureau, Documents, Images redirigés vers OneDrive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→ Sauvegarde → Gérer la sauvegarde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Synchronisation continue et transparente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768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7F0F8"/>
          </a:solidFill>
          <a:ln/>
        </p:spPr>
      </p:sp>
      <p:sp>
        <p:nvSpPr>
          <p:cNvPr id="15" name="Text 13"/>
          <p:cNvSpPr/>
          <p:nvPr/>
        </p:nvSpPr>
        <p:spPr>
          <a:xfrm>
            <a:off x="829056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 et gestion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9056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Go gratuit, plans payants jusqu'à 1 To+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à la demande : économiser l'espace disque local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de versions jusqu'à 30 jours (Microsoft 365)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1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OneDrive + disque externe = configuration minimale viable pour respecter la règle 3-2-1</a:t>
            </a:r>
            <a:endParaRPr lang="en-US" sz="1050" dirty="0"/>
          </a:p>
        </p:txBody>
      </p:sp>
      <p:sp>
        <p:nvSpPr>
          <p:cNvPr id="18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20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11 — Sauvegarde et Récupération</a:t>
            </a:r>
          </a:p>
        </p:txBody>
      </p:sp>
      <p:sp>
        <p:nvSpPr>
          <p:cNvPr id="21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2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SYSTÈME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Sauvegarde image complète vs sauvegarde de fichiers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D3E4E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11 — Sauvegarde et Récupération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5394960" cy="4892040"/>
          </a:xfrm>
          <a:prstGeom prst="roundRect">
            <a:avLst>
              <a:gd name="adj" fmla="val 935"/>
            </a:avLst>
          </a:prstGeom>
          <a:solidFill>
            <a:srgbClr val="E7F0F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système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 exacte du disque : OS, programmes, réglages, fichiers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Restauration = PC identique à l'instant de la sauvegarde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volumineux, nécessite un disque externe dédié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31520" y="58064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Idéal avant une mise à jour majeure ou un changement de disque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417320"/>
            <a:ext cx="5394960" cy="4892040"/>
          </a:xfrm>
          <a:prstGeom prst="roundRect">
            <a:avLst>
              <a:gd name="adj" fmla="val 935"/>
            </a:avLst>
          </a:prstGeom>
          <a:solidFill>
            <a:srgbClr val="E7F0F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5544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de fichiers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201168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 uniquement les documents personnels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légère, plus rapide, cloud possible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restaure pas Windows ni les logiciels installés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0" y="58064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Suffisant pour la majorité des usages personnels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1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PME : image système avant intervention majeure, sauvegarde de fichiers en continu</a:t>
            </a:r>
            <a:endParaRPr lang="en-US" sz="1050" dirty="0"/>
          </a:p>
        </p:txBody>
      </p:sp>
      <p:sp>
        <p:nvSpPr>
          <p:cNvPr id="17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19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11 — Sauvegarde et Récupération</a:t>
            </a:r>
          </a:p>
        </p:txBody>
      </p:sp>
      <p:sp>
        <p:nvSpPr>
          <p:cNvPr id="20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1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PHYSIQUE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Choisir et gérer son disque de sauvegarde externe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D3E4E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11 — Sauvegarde et Récupération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7F0F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NTFS : compatible Windows, fichiers &gt; 4 Go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exFAT : compatible multi-plateforme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Éviter FAT32 pour les gros volumes de données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2816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7F0F8"/>
          </a:solidFill>
          <a:ln/>
        </p:spPr>
      </p:sp>
      <p:sp>
        <p:nvSpPr>
          <p:cNvPr id="12" name="Text 10"/>
          <p:cNvSpPr/>
          <p:nvPr/>
        </p:nvSpPr>
        <p:spPr>
          <a:xfrm>
            <a:off x="451104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1104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Prévoir 2-3× l'espace utilisé actuellement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Anticiper la croissance des données sur 2-3 ans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externe = plus rapide, HDD externe = plus économique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768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7F0F8"/>
          </a:solidFill>
          <a:ln/>
        </p:spPr>
      </p:sp>
      <p:sp>
        <p:nvSpPr>
          <p:cNvPr id="15" name="Text 13"/>
          <p:cNvSpPr/>
          <p:nvPr/>
        </p:nvSpPr>
        <p:spPr>
          <a:xfrm>
            <a:off x="829056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9056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Alterner 2 disques externes (semaine A / semaine B)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disque toujours débranché = protection ransomware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Étiqueter et dater chaque disque de sauvegarde</a:t>
            </a:r>
            <a:endParaRPr lang="en-US" sz="1150" dirty="0"/>
          </a:p>
        </p:txBody>
      </p:sp>
      <p:sp>
        <p:nvSpPr>
          <p:cNvPr id="17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19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11 — Sauvegarde et Récupération</a:t>
            </a:r>
          </a:p>
        </p:txBody>
      </p:sp>
      <p:sp>
        <p:nvSpPr>
          <p:cNvPr id="20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1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vs local — Avantages et limites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D3E4E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11 — Sauvegarde et Récupération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22860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114800"/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Critère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Sauvegarde locale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Sauvegarde cloud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B2540"/>
                          </a:solidFill>
                        </a:rPr>
                        <a:t>Vitesse de restauration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B2540"/>
                          </a:solidFill>
                        </a:rPr>
                        <a:t>Très rapide (câble direct)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B2540"/>
                          </a:solidFill>
                        </a:rPr>
                        <a:t>Dépend de la connexion Internet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B2540"/>
                          </a:solidFill>
                        </a:rPr>
                        <a:t>Protection contre le vol/incendie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B2540"/>
                          </a:solidFill>
                        </a:rPr>
                        <a:t>Faible si au même endroit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B2540"/>
                          </a:solidFill>
                        </a:rPr>
                        <a:t>Élevée — hors site par nature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B2540"/>
                          </a:solidFill>
                        </a:rPr>
                        <a:t>Coût récurrent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B2540"/>
                          </a:solidFill>
                        </a:rPr>
                        <a:t>Achat unique du disque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B2540"/>
                          </a:solidFill>
                        </a:rPr>
                        <a:t>Abonnement mensuel/annuel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B2540"/>
                          </a:solidFill>
                        </a:rPr>
                        <a:t>Protection ransomware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B2540"/>
                          </a:solidFill>
                        </a:rPr>
                        <a:t>Bonne si débranché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B2540"/>
                          </a:solidFill>
                        </a:rPr>
                        <a:t>Bonne si versions historiques activées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619963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1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meilleure protection combine toujours les deux — jamais l'un sans l'autre</a:t>
            </a:r>
            <a:endParaRPr lang="en-US" sz="1050" dirty="0"/>
          </a:p>
        </p:txBody>
      </p:sp>
      <p:sp>
        <p:nvSpPr>
          <p:cNvPr id="13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15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11 — Sauvegarde et Récupération</a:t>
            </a:r>
          </a:p>
        </p:txBody>
      </p:sp>
      <p:sp>
        <p:nvSpPr>
          <p:cNvPr id="16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17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Récupérer des fichiers supprimés — Protocole d'urgence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D3E4E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11 — Sauvegarde et Récupération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n°1 avant tout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365760" cy="365760"/>
          </a:xfrm>
          <a:prstGeom prst="ellipse">
            <a:avLst/>
          </a:prstGeom>
          <a:solidFill>
            <a:srgbClr val="0B5D8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178308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Arrêter d'écrire sur le disque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2075688"/>
            <a:ext cx="402336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1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nouveau fichier risque d'écraser les données supprimées. Agir en moins de 15 minutes sur SSD (TRIM).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17920" y="13716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Selon le contexte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17920" y="1828800"/>
            <a:ext cx="365760" cy="365760"/>
          </a:xfrm>
          <a:prstGeom prst="ellipse">
            <a:avLst/>
          </a:prstGeom>
          <a:solidFill>
            <a:srgbClr val="0B5D82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720840" y="178308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Corbeille Windows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20840" y="2075688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1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normale (touche Suppr) → restaurer directement depuis la Corbeille.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0" y="2926080"/>
            <a:ext cx="365760" cy="365760"/>
          </a:xfrm>
          <a:prstGeom prst="ellipse">
            <a:avLst/>
          </a:prstGeom>
          <a:solidFill>
            <a:srgbClr val="0B5D82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20840" y="28803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Corbeille OneDrive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20840" y="3172968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1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OneDrive supprimé → onedrive.com → Corbeille → Restaurer (30 jours).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17920" y="4023360"/>
            <a:ext cx="365760" cy="365760"/>
          </a:xfrm>
          <a:prstGeom prst="ellipse">
            <a:avLst/>
          </a:prstGeom>
          <a:solidFill>
            <a:srgbClr val="0B5D82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20840" y="397764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des fichiers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20840" y="4270248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1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Backup configuré → clic droit → Restaurer les versions précédentes.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17920" y="5120640"/>
            <a:ext cx="365760" cy="365760"/>
          </a:xfrm>
          <a:prstGeom prst="ellipse">
            <a:avLst/>
          </a:prstGeom>
          <a:solidFill>
            <a:srgbClr val="0B5D82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5120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720840" y="507492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Recuva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20840" y="5367528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1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Shift+Suppr ou disque formaté → Scan rapide → Scan approfondi si nécessaire.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619963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1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avec TRIM : récupération difficile après quelques minutes · HDD : possible pendant plusieurs jours</a:t>
            </a:r>
            <a:endParaRPr lang="en-US" sz="1050" dirty="0"/>
          </a:p>
        </p:txBody>
      </p:sp>
      <p:sp>
        <p:nvSpPr>
          <p:cNvPr id="31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33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11 — Sauvegarde et Récupération</a:t>
            </a:r>
          </a:p>
        </p:txBody>
      </p:sp>
      <p:sp>
        <p:nvSpPr>
          <p:cNvPr id="34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35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DE RÉCUPÉRATION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Recuva — Scanner et restaurer un fichier supprimé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D3E4E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11 — Sauvegarde et Récupération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7315200" cy="4434840"/>
          </a:xfrm>
          <a:prstGeom prst="roundRect">
            <a:avLst>
              <a:gd name="adj" fmla="val 1031"/>
            </a:avLst>
          </a:prstGeom>
          <a:solidFill>
            <a:srgbClr val="E7F0F8"/>
          </a:solidFill>
          <a:ln w="12700">
            <a:solidFill>
              <a:srgbClr val="D3E4EE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4864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Capture d'écran ]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352044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1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Insérer ici : capture Recuva pendant un scan approfondi avec fichiers listés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521208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1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droit sur cette zone → Modifier l'image → choisir votre capture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183880" y="137160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clés à repérer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183880" y="1783080"/>
            <a:ext cx="3429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rapide d'abord, puis Scan approfondi si rien trouvé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Filtrer par type de fichier ou par nom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« Excellent » = récupération fiable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restaurer vers un autre disque, jamais le même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83880" y="4663440"/>
            <a:ext cx="3429000" cy="1097280"/>
          </a:xfrm>
          <a:prstGeom prst="roundRect">
            <a:avLst>
              <a:gd name="adj" fmla="val 4167"/>
            </a:avLst>
          </a:prstGeom>
          <a:solidFill>
            <a:srgbClr val="0B5D82">
              <a:alpha val="1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475488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jamais installer Recuva sur le disque à scanner — cela risque d'écraser les données à récupérer.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619963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1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Recuva (gratuit) — piriform.com</a:t>
            </a:r>
            <a:endParaRPr lang="en-US" sz="1050" dirty="0"/>
          </a:p>
        </p:txBody>
      </p:sp>
      <p:sp>
        <p:nvSpPr>
          <p:cNvPr id="17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19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11 — Sauvegarde et Récupération</a:t>
            </a:r>
          </a:p>
        </p:txBody>
      </p:sp>
      <p:sp>
        <p:nvSpPr>
          <p:cNvPr id="20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1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  <p:sp>
        <p:nvSpPr>
          <p:cNvPr id="22" name="AutoShape 2" descr="Comment utiliser le logiciel de récupération de données Recuva | Amagicsof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" y="1371600"/>
            <a:ext cx="7315200" cy="4434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RESTAURATION SYSTÈME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Historique des fichiers et points de restauration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D3E4E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11 — Sauvegarde et Récupération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7F0F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des fichiers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automatique de versions de fichiers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Panneau de config → Historique des fichiers → Activer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Nécessite un disque externe ou réseau connecté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2816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7F0F8"/>
          </a:solidFill>
          <a:ln/>
        </p:spPr>
      </p:sp>
      <p:sp>
        <p:nvSpPr>
          <p:cNvPr id="12" name="Text 10"/>
          <p:cNvSpPr/>
          <p:nvPr/>
        </p:nvSpPr>
        <p:spPr>
          <a:xfrm>
            <a:off x="451104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de restauration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1104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l'état système (registre, pilotes, programmes)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Créé automatiquement avant les mises à jour majeures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sysdm.cpl → Protection du système → Créer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768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7F0F8"/>
          </a:solidFill>
          <a:ln/>
        </p:spPr>
      </p:sp>
      <p:sp>
        <p:nvSpPr>
          <p:cNvPr id="15" name="Text 13"/>
          <p:cNvSpPr/>
          <p:nvPr/>
        </p:nvSpPr>
        <p:spPr>
          <a:xfrm>
            <a:off x="829056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Différence clé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9056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= vos fichiers personnels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de restauration = l'état de Windows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sont complémentaires, pas interchangeables</a:t>
            </a:r>
            <a:endParaRPr lang="en-US" sz="1150" dirty="0"/>
          </a:p>
        </p:txBody>
      </p:sp>
      <p:sp>
        <p:nvSpPr>
          <p:cNvPr id="17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19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11 — Sauvegarde et Récupération</a:t>
            </a:r>
          </a:p>
        </p:txBody>
      </p:sp>
      <p:sp>
        <p:nvSpPr>
          <p:cNvPr id="20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1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URGENCE SYSTÈME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WinRE — Quand Windows ne démarre plus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D3E4E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11 — Sauvegarde et Récupération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65760" cy="365760"/>
          </a:xfrm>
          <a:prstGeom prst="ellipse">
            <a:avLst/>
          </a:prstGeom>
          <a:solidFill>
            <a:srgbClr val="0B5D8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1371600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Réparation au démarrage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1664208"/>
            <a:ext cx="9692640" cy="8801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1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tente de se réparer automatiquement. Première option à essayer.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744200" y="137160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0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 min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617470"/>
            <a:ext cx="365760" cy="365760"/>
          </a:xfrm>
          <a:prstGeom prst="ellipse">
            <a:avLst/>
          </a:prstGeom>
          <a:solidFill>
            <a:srgbClr val="0B5D82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61747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2571750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Restauration système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2864358"/>
            <a:ext cx="9692640" cy="8801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1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Revenir à un point de restauration antérieur, sans perdre les fichiers.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744200" y="257175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0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3817620"/>
            <a:ext cx="365760" cy="365760"/>
          </a:xfrm>
          <a:prstGeom prst="ellipse">
            <a:avLst/>
          </a:prstGeom>
          <a:solidFill>
            <a:srgbClr val="0B5D82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8176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3771900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de commandes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" y="4064508"/>
            <a:ext cx="9692640" cy="8801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1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CMD pour bootrec, sfc, chkdsk en environnement de récupération.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744200" y="377190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0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5017770"/>
            <a:ext cx="365760" cy="365760"/>
          </a:xfrm>
          <a:prstGeom prst="ellipse">
            <a:avLst/>
          </a:prstGeom>
          <a:solidFill>
            <a:srgbClr val="0B5D82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501777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51560" y="4972050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Réinitialiser ce PC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51560" y="5264658"/>
            <a:ext cx="9692640" cy="8801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1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« Conserver mes fichiers » — réinstalle Windows sans effacer les données.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744200" y="497205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0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30-60 min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" y="619963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1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Shift+Redémarrer pour accéder à WinRE depuis Windows · F8 pendant le démarrage si Windows ne charge pas</a:t>
            </a:r>
            <a:endParaRPr lang="en-US" sz="1050" dirty="0"/>
          </a:p>
        </p:txBody>
      </p:sp>
      <p:sp>
        <p:nvSpPr>
          <p:cNvPr id="29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31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11 — Sauvegarde et Récupération</a:t>
            </a:r>
          </a:p>
        </p:txBody>
      </p:sp>
      <p:sp>
        <p:nvSpPr>
          <p:cNvPr id="32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33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Ransomware — Protocole de réponse immédiate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D3E4E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11 — Sauvegarde et Récupération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7F0F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Débrancher le réseau immédiatement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pas éteindre le PC (préserve les preuves)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Alerter tous les autres postes du réseau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2816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7F0F8"/>
          </a:solidFill>
          <a:ln/>
        </p:spPr>
      </p:sp>
      <p:sp>
        <p:nvSpPr>
          <p:cNvPr id="12" name="Text 10"/>
          <p:cNvSpPr/>
          <p:nvPr/>
        </p:nvSpPr>
        <p:spPr>
          <a:xfrm>
            <a:off x="451104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jamais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1104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 la rançon — aucune garantie de déchiffrement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Reconnecter un disque de backup sans vérifier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Redémarrer sans avoir isolé le réseau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768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7F0F8"/>
          </a:solidFill>
          <a:ln/>
        </p:spPr>
      </p:sp>
      <p:sp>
        <p:nvSpPr>
          <p:cNvPr id="15" name="Text 13"/>
          <p:cNvSpPr/>
          <p:nvPr/>
        </p:nvSpPr>
        <p:spPr>
          <a:xfrm>
            <a:off x="829056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9056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Nettoyer complètement ou réinstaller le système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Restaurer depuis une sauvegarde antérieure à l'infection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l'intégrité avant de reconnecter au réseau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1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meilleur antidote au ransomware a été préparé bien avant l'infection : une sauvegarde 3-2-1 testée</a:t>
            </a:r>
            <a:endParaRPr lang="en-US" sz="1050" dirty="0"/>
          </a:p>
        </p:txBody>
      </p:sp>
      <p:sp>
        <p:nvSpPr>
          <p:cNvPr id="18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20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11 — Sauvegarde et Récupération</a:t>
            </a:r>
          </a:p>
        </p:txBody>
      </p:sp>
      <p:sp>
        <p:nvSpPr>
          <p:cNvPr id="21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2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ARGUMENTAIRE CLIENT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Coût réel d'un incident vs coût de la prévention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D3E4E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11 — Sauvegarde et Récupération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2286000"/>
        </p:xfrm>
        <a:graphic>
          <a:graphicData uri="http://schemas.openxmlformats.org/drawingml/2006/table">
            <a:tbl>
              <a:tblPr/>
              <a:tblGrid>
                <a:gridCol w="3291840"/>
                <a:gridCol w="4114800"/>
                <a:gridCol w="3657600"/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Scénario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Sans sauvegarde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Avec sauvegarde 3-2-1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B2540"/>
                          </a:solidFill>
                        </a:rPr>
                        <a:t>Ransomware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B2540"/>
                          </a:solidFill>
                        </a:rPr>
                        <a:t>Rançon + arrêt d'activité + réputation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B2540"/>
                          </a:solidFill>
                        </a:rPr>
                        <a:t>Restauration en quelques heures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B2540"/>
                          </a:solidFill>
                        </a:rPr>
                        <a:t>Panne disque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B2540"/>
                          </a:solidFill>
                        </a:rPr>
                        <a:t>Récupération pro : 500-2000 $, sans garantie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B2540"/>
                          </a:solidFill>
                        </a:rPr>
                        <a:t>Restauration : gratuit, quelques minutes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B2540"/>
                          </a:solidFill>
                        </a:rPr>
                        <a:t>Suppression accidentelle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B2540"/>
                          </a:solidFill>
                        </a:rPr>
                        <a:t>Perte définitive si non détectée à temps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B2540"/>
                          </a:solidFill>
                        </a:rPr>
                        <a:t>Restauration immédiate depuis l'historique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B2540"/>
                          </a:solidFill>
                        </a:rPr>
                        <a:t>Coût de la solution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B2540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B2540"/>
                          </a:solidFill>
                        </a:rPr>
                        <a:t>Disque externe (60-100 $) + OneDrive (~7 $/mois)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619963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1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 argumentaire justifie la mise en place d'un plan de sauvegarde même pour un particulier ou une petite structure</a:t>
            </a:r>
            <a:endParaRPr lang="en-US" sz="1050" dirty="0"/>
          </a:p>
        </p:txBody>
      </p:sp>
      <p:sp>
        <p:nvSpPr>
          <p:cNvPr id="19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21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11 — Sauvegarde et Récupération</a:t>
            </a:r>
          </a:p>
        </p:txBody>
      </p:sp>
      <p:sp>
        <p:nvSpPr>
          <p:cNvPr id="22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3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PRATIQUE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 pratiques — Séance 11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D3E4E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11 — Sauvegarde et Récupération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3505200" cy="4983480"/>
          </a:xfrm>
          <a:prstGeom prst="roundRect">
            <a:avLst>
              <a:gd name="adj" fmla="val 1304"/>
            </a:avLst>
          </a:prstGeom>
          <a:solidFill>
            <a:srgbClr val="E7F0F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08760"/>
            <a:ext cx="313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1 — Julien, ex-serveur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313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supprimé par erreur un dossier client complet il y a 20 minutes, disque SSD.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880360"/>
            <a:ext cx="31394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première action ?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outil utiliser en priorité ?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la rapidité est-elle critique ?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5806440"/>
            <a:ext cx="313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 : Arrêter d'écrire → Corbeille → Recuva si vidée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28160" y="1371600"/>
            <a:ext cx="3505200" cy="4983480"/>
          </a:xfrm>
          <a:prstGeom prst="roundRect">
            <a:avLst>
              <a:gd name="adj" fmla="val 1304"/>
            </a:avLst>
          </a:prstGeom>
          <a:solidFill>
            <a:srgbClr val="E7F0F8"/>
          </a:solidFill>
          <a:ln/>
        </p:spPr>
      </p:sp>
      <p:sp>
        <p:nvSpPr>
          <p:cNvPr id="14" name="Text 12"/>
          <p:cNvSpPr/>
          <p:nvPr/>
        </p:nvSpPr>
        <p:spPr>
          <a:xfrm>
            <a:off x="4511040" y="1508760"/>
            <a:ext cx="313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2 — Nadia, ex-agente de voyage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11040" y="1920240"/>
            <a:ext cx="313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fichiers du bureau sont chiffrés avec l'extension .locked ce matin.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11040" y="2880360"/>
            <a:ext cx="31394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toute première action ?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ne faut-il surtout pas faire ?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restaurer sans risque ?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11040" y="5806440"/>
            <a:ext cx="313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 : Débrancher réseau → ne pas payer → restaurer backup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107680" y="1371600"/>
            <a:ext cx="3505200" cy="4983480"/>
          </a:xfrm>
          <a:prstGeom prst="roundRect">
            <a:avLst>
              <a:gd name="adj" fmla="val 1304"/>
            </a:avLst>
          </a:prstGeom>
          <a:solidFill>
            <a:srgbClr val="E7F0F8"/>
          </a:solidFill>
          <a:ln/>
        </p:spPr>
      </p:sp>
      <p:sp>
        <p:nvSpPr>
          <p:cNvPr id="19" name="Text 17"/>
          <p:cNvSpPr/>
          <p:nvPr/>
        </p:nvSpPr>
        <p:spPr>
          <a:xfrm>
            <a:off x="8290560" y="1508760"/>
            <a:ext cx="313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3 — Steve, ex-livreur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90560" y="1920240"/>
            <a:ext cx="313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disque externe de sauvegarde ne se connecte plus, seule copie des données.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90560" y="2880360"/>
            <a:ext cx="31394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le vrai problème ici ?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cela aurait pu être évité ?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solution proposer maintenant ?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90560" y="5806440"/>
            <a:ext cx="313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 : Violation de la règle 3-2-1 → ajouter OneDrive en parallèle</a:t>
            </a:r>
            <a:endParaRPr lang="en-US" sz="950" dirty="0"/>
          </a:p>
        </p:txBody>
      </p:sp>
      <p:sp>
        <p:nvSpPr>
          <p:cNvPr id="23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25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11 — Sauvegarde et Récupération</a:t>
            </a:r>
          </a:p>
        </p:txBody>
      </p:sp>
      <p:sp>
        <p:nvSpPr>
          <p:cNvPr id="26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7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11 — Sauvegarde et Récupération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8504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VOCABULAIRE SAUVEGARDE — 18 termes essentiels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896112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12365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950976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3-2-1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225296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copies · 2 supports · 1 hors site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303776" y="896112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123655"/>
          </a:solidFill>
          <a:ln/>
        </p:spPr>
      </p:sp>
      <p:sp>
        <p:nvSpPr>
          <p:cNvPr id="10" name="Text 8"/>
          <p:cNvSpPr/>
          <p:nvPr/>
        </p:nvSpPr>
        <p:spPr>
          <a:xfrm>
            <a:off x="4440936" y="950976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440936" y="1225296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qui chiffre les fichiers contre rançon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058912" y="896112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123655"/>
          </a:solidFill>
          <a:ln/>
        </p:spPr>
      </p:sp>
      <p:sp>
        <p:nvSpPr>
          <p:cNvPr id="13" name="Text 11"/>
          <p:cNvSpPr/>
          <p:nvPr/>
        </p:nvSpPr>
        <p:spPr>
          <a:xfrm>
            <a:off x="8196072" y="950976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incrémentiel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196072" y="1225296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copie que les changements récents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8640" y="1850136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123655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1905000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différentiel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85800" y="2179320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 tout depuis la dernière sauvegarde complète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303776" y="1850136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123655"/>
          </a:solidFill>
          <a:ln/>
        </p:spPr>
      </p:sp>
      <p:sp>
        <p:nvSpPr>
          <p:cNvPr id="19" name="Text 17"/>
          <p:cNvSpPr/>
          <p:nvPr/>
        </p:nvSpPr>
        <p:spPr>
          <a:xfrm>
            <a:off x="4440936" y="1905000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système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440936" y="2179320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 exacte du disque entier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058912" y="1850136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123655"/>
          </a:solidFill>
          <a:ln/>
        </p:spPr>
      </p:sp>
      <p:sp>
        <p:nvSpPr>
          <p:cNvPr id="22" name="Text 20"/>
          <p:cNvSpPr/>
          <p:nvPr/>
        </p:nvSpPr>
        <p:spPr>
          <a:xfrm>
            <a:off x="8196072" y="1905000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OneDrive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196072" y="2179320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cloud Microsoft intégré à Windows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48640" y="2804160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123655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2859024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des fichiers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85800" y="3133344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Versions automatiques des documents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303776" y="2804160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123655"/>
          </a:solidFill>
          <a:ln/>
        </p:spPr>
      </p:sp>
      <p:sp>
        <p:nvSpPr>
          <p:cNvPr id="28" name="Text 26"/>
          <p:cNvSpPr/>
          <p:nvPr/>
        </p:nvSpPr>
        <p:spPr>
          <a:xfrm>
            <a:off x="4440936" y="2859024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de restauration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440936" y="3133344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de l'état système Windows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058912" y="2804160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123655"/>
          </a:solidFill>
          <a:ln/>
        </p:spPr>
      </p:sp>
      <p:sp>
        <p:nvSpPr>
          <p:cNvPr id="31" name="Text 29"/>
          <p:cNvSpPr/>
          <p:nvPr/>
        </p:nvSpPr>
        <p:spPr>
          <a:xfrm>
            <a:off x="8196072" y="2859024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WinRE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96072" y="3133344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de récupération Windows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48640" y="3758184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123655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3813048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Recuva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85800" y="4087368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gratuit de récupération de fichiers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303776" y="3758184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123655"/>
          </a:solidFill>
          <a:ln/>
        </p:spPr>
      </p:sp>
      <p:sp>
        <p:nvSpPr>
          <p:cNvPr id="37" name="Text 35"/>
          <p:cNvSpPr/>
          <p:nvPr/>
        </p:nvSpPr>
        <p:spPr>
          <a:xfrm>
            <a:off x="4440936" y="3813048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440936" y="4087368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 la récupération SSD plus difficile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8058912" y="3758184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123655"/>
          </a:solidFill>
          <a:ln/>
        </p:spPr>
      </p:sp>
      <p:sp>
        <p:nvSpPr>
          <p:cNvPr id="40" name="Text 38"/>
          <p:cNvSpPr/>
          <p:nvPr/>
        </p:nvSpPr>
        <p:spPr>
          <a:xfrm>
            <a:off x="8196072" y="3813048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Dossiers connus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196072" y="4087368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Bureau/Documents/Images synchronisés OneDrive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48640" y="4712208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123655"/>
          </a:solidFill>
          <a:ln/>
        </p:spPr>
      </p:sp>
      <p:sp>
        <p:nvSpPr>
          <p:cNvPr id="43" name="Text 41"/>
          <p:cNvSpPr/>
          <p:nvPr/>
        </p:nvSpPr>
        <p:spPr>
          <a:xfrm>
            <a:off x="685800" y="4767072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NTFS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85800" y="5041392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fichiers natif Windows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303776" y="4712208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123655"/>
          </a:solidFill>
          <a:ln/>
        </p:spPr>
      </p:sp>
      <p:sp>
        <p:nvSpPr>
          <p:cNvPr id="46" name="Text 44"/>
          <p:cNvSpPr/>
          <p:nvPr/>
        </p:nvSpPr>
        <p:spPr>
          <a:xfrm>
            <a:off x="4440936" y="4767072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exFAT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4440936" y="5041392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compatible multi-plateforme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8058912" y="4712208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123655"/>
          </a:solidFill>
          <a:ln/>
        </p:spPr>
      </p:sp>
      <p:sp>
        <p:nvSpPr>
          <p:cNvPr id="49" name="Text 47"/>
          <p:cNvSpPr/>
          <p:nvPr/>
        </p:nvSpPr>
        <p:spPr>
          <a:xfrm>
            <a:off x="8196072" y="4767072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bootrec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8196072" y="5041392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de réparation du démarrage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48640" y="5666232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123655"/>
          </a:solidFill>
          <a:ln/>
        </p:spPr>
      </p:sp>
      <p:sp>
        <p:nvSpPr>
          <p:cNvPr id="52" name="Text 50"/>
          <p:cNvSpPr/>
          <p:nvPr/>
        </p:nvSpPr>
        <p:spPr>
          <a:xfrm>
            <a:off x="685800" y="5721096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hors site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685800" y="5995416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 stockée physiquement ailleurs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303776" y="5666232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123655"/>
          </a:solidFill>
          <a:ln/>
        </p:spPr>
      </p:sp>
      <p:sp>
        <p:nvSpPr>
          <p:cNvPr id="55" name="Text 53"/>
          <p:cNvSpPr/>
          <p:nvPr/>
        </p:nvSpPr>
        <p:spPr>
          <a:xfrm>
            <a:off x="4440936" y="5721096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de disques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4440936" y="5995416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Alterner plusieurs disques de sauvegarde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8058912" y="5666232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123655"/>
          </a:solidFill>
          <a:ln/>
        </p:spPr>
      </p:sp>
      <p:sp>
        <p:nvSpPr>
          <p:cNvPr id="58" name="Text 56"/>
          <p:cNvSpPr/>
          <p:nvPr/>
        </p:nvSpPr>
        <p:spPr>
          <a:xfrm>
            <a:off x="8196072" y="5721096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Restauration testée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8196072" y="5995416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que le backup fonctionne réellement</a:t>
            </a:r>
            <a:endParaRPr lang="en-US" sz="850" dirty="0"/>
          </a:p>
        </p:txBody>
      </p:sp>
      <p:sp>
        <p:nvSpPr>
          <p:cNvPr id="60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61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62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11 — Sauvegarde et Récupération</a:t>
            </a:r>
          </a:p>
        </p:txBody>
      </p:sp>
      <p:sp>
        <p:nvSpPr>
          <p:cNvPr id="63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64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5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BOÎTE À OUTILS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Commandes et outils — Sauvegarde et récupération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D3E4E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11 — Sauvegarde et Récupération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3451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1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Utilisables via CMD/PowerShell en administrateur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5394960" cy="1030986"/>
          </a:xfrm>
          <a:prstGeom prst="roundRect">
            <a:avLst>
              <a:gd name="adj" fmla="val 3548"/>
            </a:avLst>
          </a:prstGeom>
          <a:solidFill>
            <a:srgbClr val="081C30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1856232"/>
            <a:ext cx="5065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D9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wbadmin start backup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3232" y="2221992"/>
            <a:ext cx="5065776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une sauvegarde Windows en ligne de commande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783080"/>
            <a:ext cx="5394960" cy="1030986"/>
          </a:xfrm>
          <a:prstGeom prst="roundRect">
            <a:avLst>
              <a:gd name="adj" fmla="val 3548"/>
            </a:avLst>
          </a:prstGeom>
          <a:solidFill>
            <a:srgbClr val="081C30"/>
          </a:solidFill>
          <a:ln/>
        </p:spPr>
      </p:sp>
      <p:sp>
        <p:nvSpPr>
          <p:cNvPr id="13" name="Text 11"/>
          <p:cNvSpPr/>
          <p:nvPr/>
        </p:nvSpPr>
        <p:spPr>
          <a:xfrm>
            <a:off x="6382512" y="1856232"/>
            <a:ext cx="5065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D9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wbadmin get versions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82512" y="2221992"/>
            <a:ext cx="5065776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Lister les sauvegardes disponibles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978658"/>
            <a:ext cx="5394960" cy="1030986"/>
          </a:xfrm>
          <a:prstGeom prst="roundRect">
            <a:avLst>
              <a:gd name="adj" fmla="val 3548"/>
            </a:avLst>
          </a:prstGeom>
          <a:solidFill>
            <a:srgbClr val="081C30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3051810"/>
            <a:ext cx="5065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D9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robocopy source dest /MIR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3232" y="3417570"/>
            <a:ext cx="5065776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Miroir de dossier — sauvegarde manuelle fiable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2978658"/>
            <a:ext cx="5394960" cy="1030986"/>
          </a:xfrm>
          <a:prstGeom prst="roundRect">
            <a:avLst>
              <a:gd name="adj" fmla="val 3548"/>
            </a:avLst>
          </a:prstGeom>
          <a:solidFill>
            <a:srgbClr val="081C30"/>
          </a:solidFill>
          <a:ln/>
        </p:spPr>
      </p:sp>
      <p:sp>
        <p:nvSpPr>
          <p:cNvPr id="19" name="Text 17"/>
          <p:cNvSpPr/>
          <p:nvPr/>
        </p:nvSpPr>
        <p:spPr>
          <a:xfrm>
            <a:off x="6382512" y="3051810"/>
            <a:ext cx="5065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D9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vssadmin list shadows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82512" y="3417570"/>
            <a:ext cx="5065776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Lister les clichés instantanés de volume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4174236"/>
            <a:ext cx="5394960" cy="1030986"/>
          </a:xfrm>
          <a:prstGeom prst="roundRect">
            <a:avLst>
              <a:gd name="adj" fmla="val 3548"/>
            </a:avLst>
          </a:prstGeom>
          <a:solidFill>
            <a:srgbClr val="081C30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4247388"/>
            <a:ext cx="5065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D9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bootrec /rebuildbcd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3232" y="4613148"/>
            <a:ext cx="5065776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Reconstruire la configuration de démarrage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4174236"/>
            <a:ext cx="5394960" cy="1030986"/>
          </a:xfrm>
          <a:prstGeom prst="roundRect">
            <a:avLst>
              <a:gd name="adj" fmla="val 3548"/>
            </a:avLst>
          </a:prstGeom>
          <a:solidFill>
            <a:srgbClr val="081C30"/>
          </a:solidFill>
          <a:ln/>
        </p:spPr>
      </p:sp>
      <p:sp>
        <p:nvSpPr>
          <p:cNvPr id="25" name="Text 23"/>
          <p:cNvSpPr/>
          <p:nvPr/>
        </p:nvSpPr>
        <p:spPr>
          <a:xfrm>
            <a:off x="6382512" y="4247388"/>
            <a:ext cx="5065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D9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sysdm.cpl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82512" y="4613148"/>
            <a:ext cx="5065776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la Protection du système / points de restauration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5369814"/>
            <a:ext cx="5394960" cy="1030986"/>
          </a:xfrm>
          <a:prstGeom prst="roundRect">
            <a:avLst>
              <a:gd name="adj" fmla="val 3548"/>
            </a:avLst>
          </a:prstGeom>
          <a:solidFill>
            <a:srgbClr val="081C30"/>
          </a:solidFill>
          <a:ln/>
        </p:spPr>
      </p:sp>
      <p:sp>
        <p:nvSpPr>
          <p:cNvPr id="28" name="Text 26"/>
          <p:cNvSpPr/>
          <p:nvPr/>
        </p:nvSpPr>
        <p:spPr>
          <a:xfrm>
            <a:off x="713232" y="5442966"/>
            <a:ext cx="5065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D9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rstrui.exe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13232" y="5808726"/>
            <a:ext cx="5065776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l'assistant de restauration système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5369814"/>
            <a:ext cx="5394960" cy="1030986"/>
          </a:xfrm>
          <a:prstGeom prst="roundRect">
            <a:avLst>
              <a:gd name="adj" fmla="val 3548"/>
            </a:avLst>
          </a:prstGeom>
          <a:solidFill>
            <a:srgbClr val="081C30"/>
          </a:solidFill>
          <a:ln/>
        </p:spPr>
      </p:sp>
      <p:sp>
        <p:nvSpPr>
          <p:cNvPr id="31" name="Text 29"/>
          <p:cNvSpPr/>
          <p:nvPr/>
        </p:nvSpPr>
        <p:spPr>
          <a:xfrm>
            <a:off x="6382512" y="5442966"/>
            <a:ext cx="5065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D9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fsutil behavior query DisableDeleteNotify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82512" y="5808726"/>
            <a:ext cx="5065776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l'état de TRIM sur SSD</a:t>
            </a:r>
            <a:endParaRPr lang="en-US" sz="1000" dirty="0"/>
          </a:p>
        </p:txBody>
      </p:sp>
      <p:sp>
        <p:nvSpPr>
          <p:cNvPr id="33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35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11 — Sauvegarde et Récupération</a:t>
            </a:r>
          </a:p>
        </p:txBody>
      </p:sp>
      <p:sp>
        <p:nvSpPr>
          <p:cNvPr id="36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37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11 — Sauvegarde et Récupération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vous de jouer.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Mettez en place une vraie stratégie de sauvegarde 3-2-1.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502920" cy="1085850"/>
          </a:xfrm>
          <a:prstGeom prst="roundRect">
            <a:avLst>
              <a:gd name="adj" fmla="val 9091"/>
            </a:avLst>
          </a:prstGeom>
          <a:solidFill>
            <a:srgbClr val="12365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45920"/>
            <a:ext cx="502920" cy="1085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61848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Configurer Windows Backup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280160" y="1947672"/>
            <a:ext cx="7955280" cy="811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Activer la sauvegarde automatique vers un disque externe simulé.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418320" y="1618488"/>
            <a:ext cx="2103120" cy="11315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868930"/>
            <a:ext cx="502920" cy="1085850"/>
          </a:xfrm>
          <a:prstGeom prst="roundRect">
            <a:avLst>
              <a:gd name="adj" fmla="val 9091"/>
            </a:avLst>
          </a:prstGeom>
          <a:solidFill>
            <a:srgbClr val="12365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868930"/>
            <a:ext cx="502920" cy="1085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284149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point de restauration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280160" y="3170682"/>
            <a:ext cx="7955280" cy="811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sysdm.cpl → Protection du système → Créer manuellement.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418320" y="2841498"/>
            <a:ext cx="2103120" cy="11315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091940"/>
            <a:ext cx="502920" cy="1085850"/>
          </a:xfrm>
          <a:prstGeom prst="roundRect">
            <a:avLst>
              <a:gd name="adj" fmla="val 9091"/>
            </a:avLst>
          </a:prstGeom>
          <a:solidFill>
            <a:srgbClr val="123655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091940"/>
            <a:ext cx="502920" cy="1085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06450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Simuler une suppression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280160" y="4393692"/>
            <a:ext cx="7955280" cy="811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un fichier test → le récupérer via Corbeille puis via Recuva.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418320" y="4064508"/>
            <a:ext cx="2103120" cy="11315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5314950"/>
            <a:ext cx="502920" cy="1085850"/>
          </a:xfrm>
          <a:prstGeom prst="roundRect">
            <a:avLst>
              <a:gd name="adj" fmla="val 9091"/>
            </a:avLst>
          </a:prstGeom>
          <a:solidFill>
            <a:srgbClr val="123655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314950"/>
            <a:ext cx="502920" cy="1085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80160" y="528751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une restauration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280160" y="5616702"/>
            <a:ext cx="7955280" cy="811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un fichier sauvegardé → restaurer la version précédente → vérifier.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418320" y="5287518"/>
            <a:ext cx="2103120" cy="11315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27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29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11 — Sauvegarde et Récupération</a:t>
            </a:r>
          </a:p>
        </p:txBody>
      </p:sp>
      <p:sp>
        <p:nvSpPr>
          <p:cNvPr id="30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31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Compétences Séance 11 — À valider avec votre formateur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1064240" cy="9144"/>
          </a:xfrm>
          <a:prstGeom prst="rect">
            <a:avLst/>
          </a:prstGeom>
          <a:solidFill>
            <a:srgbClr val="D3E4E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11 — Sauvegarde et Récupération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555051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0B5D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371600"/>
            <a:ext cx="10515600" cy="6229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connais et applique la règle 3-2-1 (3 copies, 2 supports, 1 hors site).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137986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0B5D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954535"/>
            <a:ext cx="10515600" cy="6229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configure Windows Backup sur un disque externe avec sauvegarde automatique.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720921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0B5D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537470"/>
            <a:ext cx="10515600" cy="6229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J'active la sauvegarde OneDrive (Bureau + Documents + Images).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303856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0B5D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120405"/>
            <a:ext cx="10515600" cy="6229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sais récupérer un fichier supprimé : Corbeille → OneDrive → Recuva, dans cet ordre.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886791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0B5D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703340"/>
            <a:ext cx="10515600" cy="6229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teste régulièrement la restauration en ouvrant un fichier depuis le backup.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469726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0B5D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286275"/>
            <a:ext cx="10515600" cy="6229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J'accède à WinRE (F8 ou Shift+Redémarrer) pour les urgences Windows.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052661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0B5D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869210"/>
            <a:ext cx="10515600" cy="6229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sais que sur SSD, il faut agir dans les premières minutes après une suppression.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635596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0B5D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5452145"/>
            <a:ext cx="10515600" cy="6229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connais le protocole de réponse immédiate à un ransomware.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6115080"/>
            <a:ext cx="11064240" cy="2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1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 LA SÉANCE 11 — Valider avec votre formateur</a:t>
            </a:r>
            <a:endParaRPr lang="en-US" sz="1000" dirty="0"/>
          </a:p>
        </p:txBody>
      </p:sp>
      <p:sp>
        <p:nvSpPr>
          <p:cNvPr id="24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26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11 — Sauvegarde et Récupération</a:t>
            </a:r>
          </a:p>
        </p:txBody>
      </p:sp>
      <p:sp>
        <p:nvSpPr>
          <p:cNvPr id="27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8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2816</Words>
  <Application>Microsoft Office PowerPoint</Application>
  <PresentationFormat>Personnalisé</PresentationFormat>
  <Paragraphs>519</Paragraphs>
  <Slides>22</Slides>
  <Notes>22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3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Séance 11 — Sauvegarde et Récupération</dc:title>
  <dc:subject>PptxGenJS Presentation</dc:subject>
  <dc:creator>Chafik Moustaid</dc:creator>
  <cp:lastModifiedBy>Chafik Moustaid</cp:lastModifiedBy>
  <cp:revision>5</cp:revision>
  <dcterms:created xsi:type="dcterms:W3CDTF">2026-07-05T18:58:07Z</dcterms:created>
  <dcterms:modified xsi:type="dcterms:W3CDTF">2026-07-07T03:30:10Z</dcterms:modified>
</cp:coreProperties>
</file>