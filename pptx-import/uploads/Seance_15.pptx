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-378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A701D-E229-4133-8FE7-70DE694C27B5}" type="datetimeFigureOut">
              <a:rPr lang="fr-CA" smtClean="0"/>
              <a:t>2026-07-05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89293-60E7-4719-BAAC-7E86539268E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6496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8" Type="http://schemas.openxmlformats.org/officeDocument/2006/relationships/image" Target="../media/samo_logo_header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amo_logo_heade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9344" y="502920"/>
            <a:ext cx="768096" cy="768096"/>
          </a:xfrm>
          <a:prstGeom prst="ellipse">
            <a:avLst/>
          </a:prstGeom>
          <a:solidFill>
            <a:srgbClr val="1E2761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66751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216152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séances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657600" y="502920"/>
            <a:ext cx="768096" cy="768096"/>
          </a:xfrm>
          <a:prstGeom prst="ellipse">
            <a:avLst/>
          </a:prstGeom>
          <a:solidFill>
            <a:srgbClr val="1E2761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667512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408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264408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étapes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705856" y="502920"/>
            <a:ext cx="768096" cy="768096"/>
          </a:xfrm>
          <a:prstGeom prst="ellipse">
            <a:avLst/>
          </a:prstGeom>
          <a:solidFill>
            <a:srgbClr val="1E2761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667512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12664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312664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appels clients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754112" y="502920"/>
            <a:ext cx="768096" cy="768096"/>
          </a:xfrm>
          <a:prstGeom prst="ellipse">
            <a:avLst/>
          </a:prstGeom>
          <a:solidFill>
            <a:srgbClr val="1E2761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667512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60920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360920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Employabilité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9802368" y="502920"/>
            <a:ext cx="768096" cy="768096"/>
          </a:xfrm>
          <a:prstGeom prst="ellipse">
            <a:avLst/>
          </a:prstGeom>
          <a:solidFill>
            <a:srgbClr val="1E2761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0" y="66751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09176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9409176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822960" y="2331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et</a:t>
            </a:r>
            <a:endParaRPr lang="en-US" sz="4600" dirty="0"/>
          </a:p>
        </p:txBody>
      </p:sp>
      <p:sp>
        <p:nvSpPr>
          <p:cNvPr id="23" name="Text 16"/>
          <p:cNvSpPr/>
          <p:nvPr/>
        </p:nvSpPr>
        <p:spPr>
          <a:xfrm>
            <a:off x="822960" y="3063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Clients</a:t>
            </a:r>
            <a:endParaRPr lang="en-US" sz="4600" dirty="0"/>
          </a:p>
        </p:txBody>
      </p:sp>
      <p:sp>
        <p:nvSpPr>
          <p:cNvPr id="24" name="Text 17"/>
          <p:cNvSpPr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DERNIÈRE SÉANCE. LA VRAIE MISE EN SITUATION.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822960" y="4617720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26" name="Text 19"/>
          <p:cNvSpPr/>
          <p:nvPr/>
        </p:nvSpPr>
        <p:spPr>
          <a:xfrm>
            <a:off x="82296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/ 15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711135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· Juin 2026</a:t>
            </a:r>
            <a:endParaRPr lang="en-US" sz="1200" dirty="0"/>
          </a:p>
        </p:txBody>
      </p:sp>
      <p:sp>
        <p:nvSpPr>
          <p:cNvPr id="28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29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30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31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HeaderLogo" descr="samo_logo_hea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3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34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5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êtes prêts.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Vraiment.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274320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heures de formation, des dizaines de cas pratiques, 15 checklists de compétences cochées.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c'est vous qui prenez l'appel — du premier symptôme flou jusqu'au ticket fermé. Cette séance valide que la méthode est devenue un réflexe, pas juste une connaissance.</a:t>
            </a:r>
            <a:endParaRPr lang="en-US" sz="1500" dirty="0"/>
          </a:p>
        </p:txBody>
      </p:sp>
      <p:sp>
        <p:nvSpPr>
          <p:cNvPr id="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1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programme — 4 heures, 6 blocs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2A357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Bilan du parcours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15 séances · Compétences transversales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2A3578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Méthode universelle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conducteur de toute la formation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2A357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278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Simulation clients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639312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appels en conditions réelles, chronométrés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3090672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2A3578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2278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Grille d'évaluation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639312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· Débrief · Erreurs à éviter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90118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2A357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383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Portfolio professionnel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449824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présenter à un employeur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490118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2A3578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50383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Plan de progression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5449824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· Spécialisations · Ressources</a:t>
            </a:r>
            <a:endParaRPr lang="en-US" sz="1150" dirty="0"/>
          </a:p>
        </p:txBody>
      </p:sp>
      <p:sp>
        <p:nvSpPr>
          <p:cNvPr id="2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PARCOURS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15 séances — Votre parcours accompli (1/2)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621024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5212080"/>
                <a:gridCol w="1280160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Séance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Thème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Contenu clé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Niveau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Introduction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Familles de PC · RAM/Disque · Diagnostic de base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Carte mère / CPU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Composants · Slots · Diagnostic matériel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Mémoire / Stockage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DDR4/5 · SSD/HDD · S.M.A.R.T.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Périphériques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USB · HDMI · Drivers · Gestionnaire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Installation W11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Rufus · TPM · Installation · Post-config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Config Système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Task Manager · CMD · SFC/DISM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S7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Sécurité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Phishing · Defender · Mots de passe · 2FA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Réseau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TCP/IP · 3 pings · Wi-Fi · DNS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1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PARCOURS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15 séances — Votre parcours accompli (2/2)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5212080"/>
                <a:gridCol w="128016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Séance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Thème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Contenu clé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Niveau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Partage réseau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SMB · OneDrive · NAS · Imprimantes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S10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Maintenance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Températures · Nettoyage · Démarrage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S11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Sauvegarde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Règle 3-2-1 · Windows Backup · Recuva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S12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Support à distance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AnyDesk · RDP · Quick Assist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S13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Diagnostic avancé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BSOD · SFC/DISM · MemTest86 · WinRE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S14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10 pannes courantes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Méthode universelle · Référence terrain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N1-N2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S15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Synthèse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Simulation · Bilan · Plan de progression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N1-N2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heures · 15 séances · Niveau N1-N2 opérationnel · SAMO Formation</a:t>
            </a:r>
            <a:endParaRPr lang="en-US" sz="1050" dirty="0"/>
          </a:p>
        </p:txBody>
      </p:sp>
      <p:sp>
        <p:nvSpPr>
          <p:cNvPr id="1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1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transversales acquises sur les 15 séances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et diagnostiquer RAM, stockage, périphériques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les connecteurs et leurs usages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la maintenance préventive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&amp; sécurité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Windows 11 proprement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Defender, mises à jour, mots de passe forts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un BSOD ou une lenteur système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&amp; support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une panne réseau avec les 3 pings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le partage de fichiers et d'imprimantes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le contrôle à distance avec un protocole professionnel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CONDUCTEUR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 universelle — Ce qui relie les 15 séances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7160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 exact, depuis quand, changement récent, tous les appareils ou un seul ? Avant de toucher quoi que ce soit.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3317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2432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cause probable. Physique avant logiciel. Jamais agir sans hypothèse claire.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58444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variable à la fois. Vérifier l'hypothèse avec une seule modification.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25196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Résoudre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5445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la solution. Le client valide toujours la résolution finale.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521208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550468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complet : symptôme, cause, solution, durée — chaque intervention, toujours.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5 étapes s'appliquent à chaque panne, chaque appel, chaque séance — de S1 à la fin de carrière</a:t>
            </a:r>
            <a:endParaRPr lang="en-US" sz="1050" dirty="0"/>
          </a:p>
        </p:txBody>
      </p:sp>
      <p:sp>
        <p:nvSpPr>
          <p:cNvPr id="2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3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Grille d'évaluation — Ce qui sera observé pendant la simulation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 et qualification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les bonnes questions avant d'agir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saute pas d'étape par précipitation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Reformule le problème pour confirmer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et communication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cohérente avec les symptômes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ses actions en langage clair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calme même si le client est stressé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et clôture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la résolution avec le client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clairement le ticket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un suivi ou une prévention si pertinent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Appel 1 — Karim, ex-camionneur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dit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PC fait un bruit bizarre au démarrage »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Parfois il s'éteint tout seul 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de qualification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quand ce bruit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changement récent (matériel, logiciel)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PC s'éteint-il toujours au même moment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appareils ou un seul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bruit vient-il du ventilateur ou du disque 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d'évaluation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à vérifier la température avant tout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conclut pas trop vite à un problème grave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Rassure le client sans minimiser le symptôme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9056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problème thermique → HWMonitor → nettoyage</a:t>
            </a:r>
            <a:endParaRPr lang="en-US" sz="1000" dirty="0"/>
          </a:p>
        </p:txBody>
      </p:sp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Appel 2 — Sophie, ex-coiffeuse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dit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ne peux plus accéder au dossier partagé »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Depuis hier matin, c'est arrivé d'un coup 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de qualification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quand exactement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changement de PC ou de réseau récent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collègues ou seulement elle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message d'erreur exact affiché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A-t-elle redémarré le PC depuis 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d'évaluation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la découverte réseau avant de conclure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un problème d'accès d'un problème de partage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la solution en termes simples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9056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découverte réseau désactivée</a:t>
            </a:r>
            <a:endParaRPr lang="en-US" sz="1000" dirty="0"/>
          </a:p>
        </p:txBody>
      </p:sp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Appel 3 — Mario, ex-maçon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dit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J'ai cliqué sur un lien »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Maintenant ça s'ouvre tout seul 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de qualification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quel lien exactement a-t-il cliqué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« s'ouvre tout seul » précisément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A-t-il entré des identifiants quelque part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PC est-il connecté au réseau de l'entreprise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D'autres symptômes remarqués depuis 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d'évaluation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 le réseau avant toute autre action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panique pas et rassure le client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 un changement de mots de passe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9056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malware → isoler → Defender → Malwarebytes</a:t>
            </a:r>
            <a:endParaRPr lang="en-US" sz="1000" dirty="0"/>
          </a:p>
        </p:txBody>
      </p:sp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Erreurs fréquentes en simulation — À corriger avant le terrain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Précipitation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une solution avant d'avoir qualifié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plusieurs choses à la fois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de confirmer avec le client à la fin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du jargon technique non expliqué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rassurer un client stressé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 la parole pendant la description du problème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vague : « réglé » sans détail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la durée de l'intervention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noter la cause réelle, seulement le symptôme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EMPLOYABILITÉ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professionnel — Ce qu'il faut présenter à un employeur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de compétence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réalisés durant les 15 séances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pratiques résolus documentés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de compétences validées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à préparer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d'une page des compétences par domaine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exemples de résolution de panne détaillés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de pratique sur VM et matériel réel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démontre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structurée, pas seulement des connaissances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à documenter et communiquer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sur les 10 pannes les plus courantes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EMPLOYABILITÉ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présenter comme technicien N1 — Ce qu'il faut mettre en avant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CV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Support technique N1 » ou « Technicien informatique »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: Windows, réseau, matériel, sécurité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explicite de la méthode de diagnostic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entretien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un cas résolu avec la méthode complète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la logique, pas seulement le résultat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Mentionner la formation SAMO et les heures pratiquées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terrain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calme face à une panne inconnue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dire « je ne sais pas encore, je vérifie »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systématiquement, dès le premier jour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Certifications recommandées pour la suite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 A+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internationale pour le support N1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examens : Core 1 (matériel) + Core 2 (logiciel/OS)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Reconnue par la majorité des employeurs 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MCTA ou équivalents modernisés (fondamentaux Microsoft)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 bien les compétences Windows acquises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évoluer vers un poste orienté Microsoft 365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gratuites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ProfessorMesser.com pour la préparation A+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r/techsupport pour s'entraîner sur des cas réels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officielle Microsoft Learn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PROGRESSION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maintenant — Votre plan sur 2 ans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2560320" cy="4892040"/>
          </a:xfrm>
          <a:prstGeom prst="roundRect">
            <a:avLst>
              <a:gd name="adj" fmla="val 1786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Pratiquer sur VM toutes les semaines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Reprendre les séances les plus difficiles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son propre lab de test personnel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2560320" cy="4892040"/>
          </a:xfrm>
          <a:prstGeom prst="roundRect">
            <a:avLst>
              <a:gd name="adj" fmla="val 1786"/>
            </a:avLst>
          </a:prstGeom>
          <a:solidFill>
            <a:srgbClr val="ECEFFA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0116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certifier CompTIA A+ (Core 1 + Core 2)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Viser Microsoft Certified en complément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Continuer à pratiquer sur des cas réels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560320" cy="4892040"/>
          </a:xfrm>
          <a:prstGeom prst="roundRect">
            <a:avLst>
              <a:gd name="adj" fmla="val 1786"/>
            </a:avLst>
          </a:prstGeom>
          <a:solidFill>
            <a:srgbClr val="ECEF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ou missions freelance chez des particuliers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Rejoindre des communautés (r/techsupport) pour progresser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chaque intervention comme un professionnel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52560" y="1417320"/>
            <a:ext cx="2560320" cy="4892040"/>
          </a:xfrm>
          <a:prstGeom prst="roundRect">
            <a:avLst>
              <a:gd name="adj" fmla="val 1786"/>
            </a:avLst>
          </a:prstGeom>
          <a:solidFill>
            <a:srgbClr val="ECEFFA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ans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20116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Spécialisation réseau (CCNA) ou cloud (Azure AZ-900)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spécialisation sécurité (CompTIA Security+)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N2 vers N3 selon les intérêts personnels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formation donne les bases solides. Le terrain fait le reste. Vous êtes N1 opérationnel dès aujourd'hui.</a:t>
            </a:r>
            <a:endParaRPr lang="en-US" sz="1050" dirty="0"/>
          </a:p>
        </p:txBody>
      </p:sp>
      <p:sp>
        <p:nvSpPr>
          <p:cNvPr id="21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3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4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5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aller après le N1 — 3 chemins possibles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CCNA (Cisco)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Approfondir VLAN, routage, sécurité réseau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Débouché : technicien réseau, administrateur junior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Azure AZ-900 (fondamentaux)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l'infrastructure hybride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Débouché : support cloud, administrateur Azure junior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CompTIA Security+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Approfondir la détection et réponse aux incidents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Débouché : analyste sécurité junior, SOC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LA FIN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cette formation a vraiment construit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connaissances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Matériel, Windows, réseau, sécurité, support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séances, 60 heures, des dizaines de TPs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solide pour toute la carrière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Écouter → Hypothèse → Tester → Résoudre → Documenter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à n'importe quelle panne, connue ou nouvelle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distingue un vrai technicien d'un simple exécutant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posture professionnelle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calme face à l'inconnu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Communiquer clairement avec un client non technique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pour soi, pour l'équipe, pour l'avenir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reste s'apprend sur le terrain — vous avez maintenant les fondations pour l'apprendre vite et bien</a:t>
            </a:r>
            <a:endParaRPr lang="en-US" sz="1050" dirty="0"/>
          </a:p>
        </p:txBody>
      </p:sp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FINALE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bonus — Évaluation de synthèse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A — Poste mixte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signale un PC lent ET une imprimante hors ligne ET un mot de passe oublié, tout en même temps.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ordre traiter ces 3 symptômes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a-t-il un lien possible entre eux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structurer l'appel du début à la fin 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Prioriser l'accès, puis lenteur, puis imprimante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816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1104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B — Client à distance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104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à 200 km signale un BSOD répété, aucune visite possible sur site.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1104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de support choisir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appliquer le protocole de session à distance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méthode de diagnostic BSOD appliquer 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1104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AnyDesk → protocole complet → méthode Séance 13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0768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ECEFFA"/>
          </a:solidFill>
          <a:ln/>
        </p:spPr>
      </p:sp>
      <p:sp>
        <p:nvSpPr>
          <p:cNvPr id="19" name="Text 17"/>
          <p:cNvSpPr/>
          <p:nvPr/>
        </p:nvSpPr>
        <p:spPr>
          <a:xfrm>
            <a:off x="829056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 — PME avec panne réseau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9056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petite entreprise de 8 postes signale une perte de connexion Internet générale.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9056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méthode pour localiser la panne rapidement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communiquer avec plusieurs utilisateurs impactés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rapport final produire pour l'entreprise 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056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3 pings sur un poste témoin → redémarrer la box → rapport groupé</a:t>
            </a:r>
            <a:endParaRPr lang="en-US" sz="950" dirty="0"/>
          </a:p>
        </p:txBody>
      </p:sp>
      <p:sp>
        <p:nvSpPr>
          <p:cNvPr id="23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5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6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7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5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VOCABULAIRE DE SYNTHÈSE — 18 termes clés du parcours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universelle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Écouter → Hypothèse → Tester → Résoudre → Documenter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03776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10" name="Text 8"/>
          <p:cNvSpPr/>
          <p:nvPr/>
        </p:nvSpPr>
        <p:spPr>
          <a:xfrm>
            <a:off x="4440936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N1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40936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premier niveau, pannes courantes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58912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13" name="Text 11"/>
          <p:cNvSpPr/>
          <p:nvPr/>
        </p:nvSpPr>
        <p:spPr>
          <a:xfrm>
            <a:off x="8196072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N2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96072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avancé, escalade des cas complexes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support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tracant chaque intervention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3776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19" name="Text 17"/>
          <p:cNvSpPr/>
          <p:nvPr/>
        </p:nvSpPr>
        <p:spPr>
          <a:xfrm>
            <a:off x="4440936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pings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40936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de localisation rapide d'une panne réseau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58912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22" name="Text 20"/>
          <p:cNvSpPr/>
          <p:nvPr/>
        </p:nvSpPr>
        <p:spPr>
          <a:xfrm>
            <a:off x="8196072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3-2-1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96072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 · 2 supports · 1 hors site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bleu — diagnostic avancé Séance 13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03776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28" name="Text 26"/>
          <p:cNvSpPr/>
          <p:nvPr/>
        </p:nvSpPr>
        <p:spPr>
          <a:xfrm>
            <a:off x="4440936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 / RDP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40936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support à distance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58912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31" name="Text 29"/>
          <p:cNvSpPr/>
          <p:nvPr/>
        </p:nvSpPr>
        <p:spPr>
          <a:xfrm>
            <a:off x="8196072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 A+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96072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internationale de référence N1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réseau Cisco pour se spécialiser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03776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37" name="Text 35"/>
          <p:cNvSpPr/>
          <p:nvPr/>
        </p:nvSpPr>
        <p:spPr>
          <a:xfrm>
            <a:off x="4440936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technique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440936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de compétences pour un employeur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058912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40" name="Text 38"/>
          <p:cNvSpPr/>
          <p:nvPr/>
        </p:nvSpPr>
        <p:spPr>
          <a:xfrm>
            <a:off x="8196072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96072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d'un cas complexe à un niveau supérieur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physique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5800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avant le diagnostic logiciel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03776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46" name="Text 44"/>
          <p:cNvSpPr/>
          <p:nvPr/>
        </p:nvSpPr>
        <p:spPr>
          <a:xfrm>
            <a:off x="4440936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client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440936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posées avant d'agir sur un poste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58912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49" name="Text 47"/>
          <p:cNvSpPr/>
          <p:nvPr/>
        </p:nvSpPr>
        <p:spPr>
          <a:xfrm>
            <a:off x="8196072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d'intervention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196072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écrite remise après le service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8640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préventive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85800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 régulier pour éviter les pannes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03776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55" name="Text 53"/>
          <p:cNvSpPr/>
          <p:nvPr/>
        </p:nvSpPr>
        <p:spPr>
          <a:xfrm>
            <a:off x="4440936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testée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440936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vérifié par une restauration réelle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058912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2A3578"/>
          </a:solidFill>
          <a:ln/>
        </p:spPr>
      </p:sp>
      <p:sp>
        <p:nvSpPr>
          <p:cNvPr id="58" name="Text 56"/>
          <p:cNvSpPr/>
          <p:nvPr/>
        </p:nvSpPr>
        <p:spPr>
          <a:xfrm>
            <a:off x="8196072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N1-N2 opérationnel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8196072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visé à la fin de cette formation</a:t>
            </a:r>
            <a:endParaRPr lang="en-US" sz="850" dirty="0"/>
          </a:p>
        </p:txBody>
      </p:sp>
      <p:sp>
        <p:nvSpPr>
          <p:cNvPr id="6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6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6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6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vous de jouer — pour de vrai.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simulation finale : vous prenez l'appel, votre formateur joue le client.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2A357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61848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complète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80160" y="194767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un des 3 appels clients de A à Z, chronométré par le formateur.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0" y="161848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6893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2A357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6893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84149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Auto-évaluation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80160" y="317068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la grille d'évaluation immédiatement après votre simulation.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284149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9194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2A35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9194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0645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Débrief collectif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80160" y="439369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ce qui a bien fonctionné et ce qui peut être amélioré.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0" y="406450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31495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2A35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1495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528751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Finaliser son portfolio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80160" y="561670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3 cas pratiques personnels à présenter en entretien d'embauche.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0" y="528751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3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final — Compétences N1-N2 validées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9144"/>
          </a:xfrm>
          <a:prstGeom prst="rect">
            <a:avLst/>
          </a:prstGeom>
          <a:solidFill>
            <a:srgbClr val="DCE2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15 — Synthèse et Simulation Clients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505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71600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maîtrise le matériel : identifier, diagnostiquer RAM, stockage, périphériques.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3798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54535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installer Windows 11 proprement, avec les drivers installés dans le bon ordre.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2092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537470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configure la sécurité de base : Defender, mises à jour, mots de passe forts, 2FA.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0385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120405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diagnostique une panne réseau avec les 3 pings en moins de 3 minutes.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79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03340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fais de la maintenance préventive et surveille les températures régulièrement.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6972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286275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J'applique la règle 3-2-1 et sais récupérer des fichiers supprimés.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5266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69210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prends le contrôle à distance via AnyDesk avec un protocole professionnel complet.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63559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452145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J'applique la méthode universelle sur n'importe quelle panne, connue ou nouvelle.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115080"/>
            <a:ext cx="1106424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FÉLICITATIONS — SAMO Formation · Technique Support Informatique N1-N2 · Juin 2026</a:t>
            </a:r>
            <a:endParaRPr lang="en-US" sz="1100" dirty="0"/>
          </a:p>
        </p:txBody>
      </p:sp>
      <p:sp>
        <p:nvSpPr>
          <p:cNvPr id="2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15 — Synthèse et Simulation Clients</a:t>
            </a:r>
          </a:p>
        </p:txBody>
      </p:sp>
      <p:sp>
        <p:nvSpPr>
          <p:cNvPr id="2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2542</Words>
  <Application>Microsoft Office PowerPoint</Application>
  <PresentationFormat>Personnalisé</PresentationFormat>
  <Paragraphs>477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15 — Synthèse et Simulation Clients</dc:title>
  <dc:subject>PptxGenJS Presentation</dc:subject>
  <dc:creator>Chafik Moustaid</dc:creator>
  <cp:lastModifiedBy>Chafik Moustaid</cp:lastModifiedBy>
  <cp:revision>2</cp:revision>
  <dcterms:created xsi:type="dcterms:W3CDTF">2026-07-06T01:42:13Z</dcterms:created>
  <dcterms:modified xsi:type="dcterms:W3CDTF">2026-07-06T03:39:19Z</dcterms:modified>
</cp:coreProperties>
</file>