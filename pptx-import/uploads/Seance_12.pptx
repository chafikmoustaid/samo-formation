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0" d="100"/>
          <a:sy n="110" d="100"/>
        </p:scale>
        <p:origin x="-558" y="-2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509301-2794-4736-BC51-FC051442B24A}" type="datetimeFigureOut">
              <a:rPr lang="fr-CA" smtClean="0"/>
              <a:t>2026-07-06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972F17-C5E6-45CE-996A-53A52C33B2F2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709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09344" y="502920"/>
            <a:ext cx="768096" cy="768096"/>
          </a:xfrm>
          <a:prstGeom prst="ellipse">
            <a:avLst/>
          </a:prstGeom>
          <a:solidFill>
            <a:srgbClr val="5B3E96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3936" y="66751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6152" y="1307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E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AnyDesk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216152" y="154533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Polyvalent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3657600" y="502920"/>
            <a:ext cx="768096" cy="768096"/>
          </a:xfrm>
          <a:prstGeom prst="ellipse">
            <a:avLst/>
          </a:prstGeom>
          <a:solidFill>
            <a:srgbClr val="5B3E96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192" y="667512"/>
            <a:ext cx="438912" cy="4389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64408" y="1307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E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RDP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3264408" y="154533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local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5705856" y="502920"/>
            <a:ext cx="768096" cy="768096"/>
          </a:xfrm>
          <a:prstGeom prst="ellipse">
            <a:avLst/>
          </a:prstGeom>
          <a:solidFill>
            <a:srgbClr val="5B3E96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0448" y="667512"/>
            <a:ext cx="438912" cy="4389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12664" y="1307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E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Assist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5312664" y="154533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Urgence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7754112" y="502920"/>
            <a:ext cx="768096" cy="768096"/>
          </a:xfrm>
          <a:prstGeom prst="ellipse">
            <a:avLst/>
          </a:prstGeom>
          <a:solidFill>
            <a:srgbClr val="5B3E96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8704" y="667512"/>
            <a:ext cx="438912" cy="43891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360920" y="1307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E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7360920" y="154533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session</a:t>
            </a:r>
            <a:endParaRPr lang="en-US" sz="850" dirty="0"/>
          </a:p>
        </p:txBody>
      </p:sp>
      <p:sp>
        <p:nvSpPr>
          <p:cNvPr id="18" name="Shape 12"/>
          <p:cNvSpPr/>
          <p:nvPr/>
        </p:nvSpPr>
        <p:spPr>
          <a:xfrm>
            <a:off x="9802368" y="502920"/>
            <a:ext cx="768096" cy="768096"/>
          </a:xfrm>
          <a:prstGeom prst="ellipse">
            <a:avLst/>
          </a:prstGeom>
          <a:solidFill>
            <a:srgbClr val="5B3E96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6960" y="667512"/>
            <a:ext cx="438912" cy="43891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409176" y="1307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E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Arnaques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9409176" y="154533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Reconnaître</a:t>
            </a:r>
            <a:endParaRPr lang="en-US" sz="850" dirty="0"/>
          </a:p>
        </p:txBody>
      </p:sp>
      <p:sp>
        <p:nvSpPr>
          <p:cNvPr id="22" name="Text 15"/>
          <p:cNvSpPr/>
          <p:nvPr/>
        </p:nvSpPr>
        <p:spPr>
          <a:xfrm>
            <a:off x="822960" y="23317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à</a:t>
            </a:r>
            <a:endParaRPr lang="en-US" sz="4600" dirty="0"/>
          </a:p>
        </p:txBody>
      </p:sp>
      <p:sp>
        <p:nvSpPr>
          <p:cNvPr id="23" name="Text 16"/>
          <p:cNvSpPr/>
          <p:nvPr/>
        </p:nvSpPr>
        <p:spPr>
          <a:xfrm>
            <a:off x="822960" y="30632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Distance</a:t>
            </a:r>
            <a:endParaRPr lang="en-US" sz="4600" dirty="0">
              <a:solidFill>
                <a:schemeClr val="bg1"/>
              </a:solidFill>
            </a:endParaRPr>
          </a:p>
        </p:txBody>
      </p:sp>
      <p:sp>
        <p:nvSpPr>
          <p:cNvPr id="24" name="Text 17"/>
          <p:cNvSpPr/>
          <p:nvPr/>
        </p:nvSpPr>
        <p:spPr>
          <a:xfrm>
            <a:off x="822960" y="4069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kern="0" spc="100" dirty="0">
                <a:solidFill>
                  <a:srgbClr val="DE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ANYDESK · BUREAU À DISTANCE (RDP) · QUICK ASSIST · TEAMS</a:t>
            </a:r>
            <a:endParaRPr lang="en-US" sz="1500" dirty="0"/>
          </a:p>
        </p:txBody>
      </p:sp>
      <p:sp>
        <p:nvSpPr>
          <p:cNvPr id="25" name="Shape 18"/>
          <p:cNvSpPr/>
          <p:nvPr/>
        </p:nvSpPr>
        <p:spPr>
          <a:xfrm>
            <a:off x="822960" y="4617720"/>
            <a:ext cx="11064240" cy="9144"/>
          </a:xfrm>
          <a:prstGeom prst="rect">
            <a:avLst/>
          </a:prstGeom>
          <a:solidFill>
            <a:srgbClr val="E1D8F0"/>
          </a:solidFill>
          <a:ln/>
        </p:spPr>
      </p:sp>
      <p:sp>
        <p:nvSpPr>
          <p:cNvPr id="26" name="Text 19"/>
          <p:cNvSpPr/>
          <p:nvPr/>
        </p:nvSpPr>
        <p:spPr>
          <a:xfrm>
            <a:off x="822960" y="4846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B7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12 / 15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7711135" y="4846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· Juin 2026</a:t>
            </a:r>
            <a:endParaRPr lang="en-US" sz="1200" dirty="0"/>
          </a:p>
        </p:txBody>
      </p:sp>
      <p:sp>
        <p:nvSpPr>
          <p:cNvPr id="28" name="Text 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12 — Support à Distance</a:t>
            </a:r>
            <a:endParaRPr lang="en-US" sz="900" dirty="0"/>
          </a:p>
        </p:txBody>
      </p:sp>
      <p:sp>
        <p:nvSpPr>
          <p:cNvPr id="29" name="Text 1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30" name="Text 2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31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HeaderLogo" descr="samo_logo_head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33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12 — Support à Distance</a:t>
            </a:r>
          </a:p>
        </p:txBody>
      </p:sp>
      <p:sp>
        <p:nvSpPr>
          <p:cNvPr id="34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35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4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12 — Support à Distance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Vous êtes là.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9B7E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Eux sont ailleurs.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822960" y="4069080"/>
            <a:ext cx="2743200" cy="9144"/>
          </a:xfrm>
          <a:prstGeom prst="rect">
            <a:avLst/>
          </a:prstGeom>
          <a:solidFill>
            <a:srgbClr val="E1D8F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34340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E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support à distance est la compétence qui différencie un technicien N1 junior d'un technicien N1 opérationnel.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E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serez capable de prendre le contrôle d'un poste distant, de guider un client par téléphone, et de résoudre en direct — avec un protocole professionnel qui protège tout le monde.</a:t>
            </a:r>
            <a:endParaRPr lang="en-US" sz="1500" dirty="0"/>
          </a:p>
        </p:txBody>
      </p:sp>
      <p:sp>
        <p:nvSpPr>
          <p:cNvPr id="9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11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12 — Support à Distance</a:t>
            </a:r>
          </a:p>
        </p:txBody>
      </p:sp>
      <p:sp>
        <p:nvSpPr>
          <p:cNvPr id="12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13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4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12 — Support à Distance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 programme — 4 heures, 6 blocs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34275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B7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Les 4 outils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1828800"/>
            <a:ext cx="48920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E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AnyDesk · RDP · Quick Assist · Teams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28016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342753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B7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Protocole de session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1828800"/>
            <a:ext cx="48920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E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· Connexion · Pendant · Clôture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090672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342753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22783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B7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AnyDesk en pratique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3639312"/>
            <a:ext cx="48920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E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· ID · Transfert de fichiers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09360" y="3090672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342753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322783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B7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RDP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37960" y="3639312"/>
            <a:ext cx="48920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E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· Configuration · Sécurité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901184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342753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038344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B7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Quick Assist &amp; Teams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8680" y="5449824"/>
            <a:ext cx="48920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E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d'usage · Limites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09360" y="4901184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342753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5038344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B7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Sécurité &amp; arnaques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7960" y="5449824"/>
            <a:ext cx="48920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E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support Microsoft · Bonnes pratiques</a:t>
            </a:r>
            <a:endParaRPr lang="en-US" sz="1150" dirty="0"/>
          </a:p>
        </p:txBody>
      </p:sp>
      <p:sp>
        <p:nvSpPr>
          <p:cNvPr id="24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26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12 — Support à Distance</a:t>
            </a:r>
          </a:p>
        </p:txBody>
      </p:sp>
      <p:sp>
        <p:nvSpPr>
          <p:cNvPr id="27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8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MÉTIER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le support à distance est incontournable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E1D8F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12 — Support à Distance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FEAF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 client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 sans déplacement, souvent en minutes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Voit ce que fait le technicien en temps réel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réduit vs intervention sur site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816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FEAF7"/>
          </a:solidFill>
          <a:ln/>
        </p:spPr>
      </p:sp>
      <p:sp>
        <p:nvSpPr>
          <p:cNvPr id="12" name="Text 10"/>
          <p:cNvSpPr/>
          <p:nvPr/>
        </p:nvSpPr>
        <p:spPr>
          <a:xfrm>
            <a:off x="451104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 technicien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1104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Traiter plus de clients par jour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à l'environnement réel du problème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facilitée (captures pendant la session)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768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FEAF7"/>
          </a:solidFill>
          <a:ln/>
        </p:spPr>
      </p:sp>
      <p:sp>
        <p:nvSpPr>
          <p:cNvPr id="15" name="Text 13"/>
          <p:cNvSpPr/>
          <p:nvPr/>
        </p:nvSpPr>
        <p:spPr>
          <a:xfrm>
            <a:off x="829056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à connaître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9056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Nécessite une connexion Internet fonctionnelle des deux côtés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si le problème empêche tout accès réseau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Certaines interventions physiques restent obligatoires</a:t>
            </a:r>
            <a:endParaRPr lang="en-US" sz="1150" dirty="0"/>
          </a:p>
        </p:txBody>
      </p:sp>
      <p:sp>
        <p:nvSpPr>
          <p:cNvPr id="17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19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12 — Support à Distance</a:t>
            </a:r>
          </a:p>
        </p:txBody>
      </p:sp>
      <p:sp>
        <p:nvSpPr>
          <p:cNvPr id="20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1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L'OUTIL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4 outils de support à distance — Lequel choisir 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E1D8F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12 — Support à Distance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2286000"/>
        </p:xfrm>
        <a:graphic>
          <a:graphicData uri="http://schemas.openxmlformats.org/drawingml/2006/table">
            <a:tbl>
              <a:tblPr/>
              <a:tblGrid>
                <a:gridCol w="2194560"/>
                <a:gridCol w="5852160"/>
                <a:gridCol w="3017520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Outil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E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Caractéristiques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E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Idéal pour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E9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1B3A"/>
                          </a:solidFill>
                        </a:rPr>
                        <a:t>AnyDesk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1B3A"/>
                          </a:solidFill>
                        </a:rPr>
                        <a:t>Léger (4 Mo), code à 9 chiffres, transfert de fichiers, fonctionne partout, gratuit usage perso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1B3A"/>
                          </a:solidFill>
                        </a:rPr>
                        <a:t>Support quotidien — le plus polyvalent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1B3A"/>
                          </a:solidFill>
                        </a:rPr>
                        <a:t>Bureau à distance (RDP)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1B3A"/>
                          </a:solidFill>
                        </a:rPr>
                        <a:t>Natif Windows Pro, port 3389, sécurisé, réseau local ou VPN, sans installation tierce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1B3A"/>
                          </a:solidFill>
                        </a:rPr>
                        <a:t>Accès régulier en réseau local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1B3A"/>
                          </a:solidFill>
                        </a:rPr>
                        <a:t>Quick Assist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1B3A"/>
                          </a:solidFill>
                        </a:rPr>
                        <a:t>Intégré Windows 10/11, sans installation, code à 6 lettres, simple mais limité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1B3A"/>
                          </a:solidFill>
                        </a:rPr>
                        <a:t>Dépannage ponctuel d'urgence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1B3A"/>
                          </a:solidFill>
                        </a:rPr>
                        <a:t>Teams (partage écran)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1B3A"/>
                          </a:solidFill>
                        </a:rPr>
                        <a:t>Via réunion active, demande de contrôle possible, requiert Microsoft 365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1B3A"/>
                          </a:solidFill>
                        </a:rPr>
                        <a:t>Clients déjà équipés Microsoft 365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619963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terrain : AnyDesk (quotidien) · RDP (réseau local régulier) · Quick Assist (ponctuel)</a:t>
            </a:r>
            <a:endParaRPr lang="en-US" sz="1050" dirty="0"/>
          </a:p>
        </p:txBody>
      </p:sp>
      <p:sp>
        <p:nvSpPr>
          <p:cNvPr id="10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12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12 — Support à Distance</a:t>
            </a:r>
          </a:p>
        </p:txBody>
      </p:sp>
      <p:sp>
        <p:nvSpPr>
          <p:cNvPr id="13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14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 PROFESSIONNEL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Protocole de session — Du premier appel à la clôture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E1D8F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12 — Support à Distance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65760" cy="365760"/>
          </a:xfrm>
          <a:prstGeom prst="ellipse">
            <a:avLst/>
          </a:prstGeom>
          <a:solidFill>
            <a:srgbClr val="5B3E9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371600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— Qualification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1664208"/>
            <a:ext cx="9692640" cy="8801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téléphonique préalable. Qualifier le problème, choisir le bon outil, vérifier les droits admin requis.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617470"/>
            <a:ext cx="365760" cy="365760"/>
          </a:xfrm>
          <a:prstGeom prst="ellipse">
            <a:avLst/>
          </a:prstGeom>
          <a:solidFill>
            <a:srgbClr val="5B3E9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1747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571750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— Consentement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864358"/>
            <a:ext cx="9692640" cy="8801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présenter, confirmer la permission, expliquer ce qu'on va faire. Ne jamais agir sans accord explicite.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817620"/>
            <a:ext cx="365760" cy="365760"/>
          </a:xfrm>
          <a:prstGeom prst="ellipse">
            <a:avLst/>
          </a:prstGeom>
          <a:solidFill>
            <a:srgbClr val="5B3E9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176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771900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Pendant — Transparence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4064508"/>
            <a:ext cx="9692640" cy="8801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chaque action à voix haute, demander confirmation après chaque étape, ne pas naviguer dans les fichiers personnels.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5017770"/>
            <a:ext cx="365760" cy="365760"/>
          </a:xfrm>
          <a:prstGeom prst="ellipse">
            <a:avLst/>
          </a:prstGeom>
          <a:solidFill>
            <a:srgbClr val="5B3E96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01777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4972050"/>
            <a:ext cx="9692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Clôture — Rapport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5264658"/>
            <a:ext cx="9692640" cy="8801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Confirmer la résolution avec le client, fermer AnyDesk/RDP, envoyer le rapport par email, fermer le ticket.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619963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jamais accepter une connexion d'un inconnu qui appelle à l'improviste — arnaque « faux support Microsoft »</a:t>
            </a:r>
            <a:endParaRPr lang="en-US" sz="1050" dirty="0"/>
          </a:p>
        </p:txBody>
      </p:sp>
      <p:sp>
        <p:nvSpPr>
          <p:cNvPr id="25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27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12 — Support à Distance</a:t>
            </a:r>
          </a:p>
        </p:txBody>
      </p:sp>
      <p:sp>
        <p:nvSpPr>
          <p:cNvPr id="28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9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ANYDESK EN DÉTAIL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AnyDesk — Installation et fonctionnement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E1D8F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12 — Support à Distance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FEAF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Côté technicien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AnyDesk, obtenir son propre ID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Entrer l'ID du client dans le champ de connexion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Attendre l'acceptation côté client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816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FEAF7"/>
          </a:solidFill>
          <a:ln/>
        </p:spPr>
      </p:sp>
      <p:sp>
        <p:nvSpPr>
          <p:cNvPr id="12" name="Text 10"/>
          <p:cNvSpPr/>
          <p:nvPr/>
        </p:nvSpPr>
        <p:spPr>
          <a:xfrm>
            <a:off x="451104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Côté client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1104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anydesk.com → télécharger → ouvrir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le grand numéro à l'écran (ID à 9 chiffres)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L'envoyer au technicien par téléphone ou message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768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FEAF7"/>
          </a:solidFill>
          <a:ln/>
        </p:spPr>
      </p:sp>
      <p:sp>
        <p:nvSpPr>
          <p:cNvPr id="15" name="Text 13"/>
          <p:cNvSpPr/>
          <p:nvPr/>
        </p:nvSpPr>
        <p:spPr>
          <a:xfrm>
            <a:off x="829056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utiles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9056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Transfert de fichiers bidirectionnel intégré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texte pendant la session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Enregistrement de session pour documentation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chiffrement · Gratuit pour usage personnel · Licence commerciale requise en usage professionnel intensif</a:t>
            </a:r>
            <a:endParaRPr lang="en-US" sz="1050" dirty="0"/>
          </a:p>
        </p:txBody>
      </p:sp>
      <p:sp>
        <p:nvSpPr>
          <p:cNvPr id="18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20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12 — Support à Distance</a:t>
            </a:r>
          </a:p>
        </p:txBody>
      </p:sp>
      <p:sp>
        <p:nvSpPr>
          <p:cNvPr id="21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2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CONNEXION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AnyDesk — Session active avec un client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E1D8F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12 — Support à Distance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7315200" cy="4434840"/>
          </a:xfrm>
          <a:prstGeom prst="roundRect">
            <a:avLst>
              <a:gd name="adj" fmla="val 1031"/>
            </a:avLst>
          </a:prstGeom>
          <a:solidFill>
            <a:srgbClr val="EFEAF7"/>
          </a:solidFill>
          <a:ln w="12700">
            <a:solidFill>
              <a:srgbClr val="E1D8F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4864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Capture d'écran ]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352044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Insérer ici : capture AnyDesk avec connexion établie, bureau client visible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52120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C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droit sur cette zone → Modifier l'image → choisir votre capture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183880" y="137160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clés à repérer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183880" y="1783080"/>
            <a:ext cx="3429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Côté technicien : entrer l'ID client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Côté client : accepter la demande de connexion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 d'outils : transfert de fichiers, chat, qualité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pour terminer proprement la session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83880" y="4663440"/>
            <a:ext cx="3429000" cy="1097280"/>
          </a:xfrm>
          <a:prstGeom prst="roundRect">
            <a:avLst>
              <a:gd name="adj" fmla="val 4167"/>
            </a:avLst>
          </a:prstGeom>
          <a:solidFill>
            <a:srgbClr val="5B3E96">
              <a:alpha val="1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475488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rapide pour un client non technique : anydesk.com → télécharger → ouvrir → lire le grand numéro → l'envoyer au technicien.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619963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anydesk.com · Gratuit usage personnel · AES-256 chiffrement</a:t>
            </a:r>
            <a:endParaRPr lang="en-US" sz="1050" dirty="0"/>
          </a:p>
        </p:txBody>
      </p:sp>
      <p:pic>
        <p:nvPicPr>
          <p:cNvPr id="1026" name="Picture 2" descr="Anydesk – Partage de bureau à distance – ASTUCES-INTERNE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" y="1371601"/>
            <a:ext cx="7315200" cy="4434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028" name="HeaderLogo" descr="samo_logo_hea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1029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12 — Support à Distance</a:t>
            </a:r>
          </a:p>
        </p:txBody>
      </p:sp>
      <p:sp>
        <p:nvSpPr>
          <p:cNvPr id="1030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1031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À DISTANCE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RDP — Activation et connexion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E1D8F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12 — Support à Distance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(côté hôte)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365760" cy="365760"/>
          </a:xfrm>
          <a:prstGeom prst="ellipse">
            <a:avLst/>
          </a:prstGeom>
          <a:solidFill>
            <a:srgbClr val="5B3E9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17830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 RDP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075688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→ Système → Bureau à distance → Activer.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365760" cy="365760"/>
          </a:xfrm>
          <a:prstGeom prst="ellipse">
            <a:avLst/>
          </a:prstGeom>
          <a:solidFill>
            <a:srgbClr val="5B3E9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24612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 autorisés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3538728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les comptes ayant le droit de se connecter à distance.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754880"/>
            <a:ext cx="365760" cy="365760"/>
          </a:xfrm>
          <a:prstGeom prst="ellipse">
            <a:avLst/>
          </a:prstGeom>
          <a:solidFill>
            <a:srgbClr val="5B3E9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54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47091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Pro requis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5001768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RDP hôte n'existe pas sur Windows Home — utiliser AnyDesk à la place.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17920" y="13716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(côté client)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217920" y="1828800"/>
            <a:ext cx="365760" cy="365760"/>
          </a:xfrm>
          <a:prstGeom prst="ellipse">
            <a:avLst/>
          </a:prstGeom>
          <a:solidFill>
            <a:srgbClr val="5B3E96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20840" y="17830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mstsc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20840" y="2075688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Win+R → mstsc → entrer l'IP ou le nom du PC distant.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17920" y="3291840"/>
            <a:ext cx="365760" cy="365760"/>
          </a:xfrm>
          <a:prstGeom prst="ellipse">
            <a:avLst/>
          </a:prstGeom>
          <a:solidFill>
            <a:srgbClr val="5B3E96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20840" y="324612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S'authentifier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20840" y="3538728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Entrer les identifiants Windows du poste distant.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17920" y="4754880"/>
            <a:ext cx="365760" cy="365760"/>
          </a:xfrm>
          <a:prstGeom prst="ellipse">
            <a:avLst/>
          </a:prstGeom>
          <a:solidFill>
            <a:srgbClr val="5B3E96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4754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720840" y="47091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total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20840" y="5001768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Ctrl+Alt+End pour ouvrir Ctrl+Alt+Suppr à distance.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619963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mstsc.exe = client RDP natif Windows · Port par défaut : 3389</a:t>
            </a:r>
            <a:endParaRPr lang="en-US" sz="1050" dirty="0"/>
          </a:p>
        </p:txBody>
      </p:sp>
      <p:sp>
        <p:nvSpPr>
          <p:cNvPr id="35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37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12 — Support à Distance</a:t>
            </a:r>
          </a:p>
        </p:txBody>
      </p:sp>
      <p:sp>
        <p:nvSpPr>
          <p:cNvPr id="38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39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RDP — Écran d'activation du Bureau à distance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E1D8F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12 — Support à Distance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7315200" cy="4434840"/>
          </a:xfrm>
          <a:prstGeom prst="roundRect">
            <a:avLst>
              <a:gd name="adj" fmla="val 1031"/>
            </a:avLst>
          </a:prstGeom>
          <a:solidFill>
            <a:srgbClr val="EFEAF7"/>
          </a:solidFill>
          <a:ln w="12700">
            <a:solidFill>
              <a:srgbClr val="E1D8F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4864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Capture d'écran ]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352044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Insérer ici : capture Paramètres → Système → Bureau à distance activé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52120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C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droit sur cette zone → Modifier l'image → choisir votre capture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183880" y="137160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clés à repérer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183880" y="1783080"/>
            <a:ext cx="3429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Interrupteur « Bureau à distance » sur Activé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« Sélectionner les utilisateurs pouvant accéder à distance »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du PC affichée pour la connexion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NLA cochée dans les Paramètres avancés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83880" y="4663440"/>
            <a:ext cx="3429000" cy="1097280"/>
          </a:xfrm>
          <a:prstGeom prst="roundRect">
            <a:avLst>
              <a:gd name="adj" fmla="val 4167"/>
            </a:avLst>
          </a:prstGeom>
          <a:solidFill>
            <a:srgbClr val="5B3E96">
              <a:alpha val="1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475488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Noter le nom du PC ou son IP locale avant de quitter le poste — nécessaire pour la connexion via mstsc.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619963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→ Système → Bureau à distance</a:t>
            </a:r>
            <a:endParaRPr lang="en-US" sz="1050" dirty="0"/>
          </a:p>
        </p:txBody>
      </p:sp>
      <p:pic>
        <p:nvPicPr>
          <p:cNvPr id="2050" name="Picture 2" descr="Comment activer le Bureau à distance sous Windows 10 ?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" y="1371600"/>
            <a:ext cx="7315200" cy="4434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1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052" name="HeaderLogo" descr="samo_logo_hea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2053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12 — Support à Distance</a:t>
            </a:r>
          </a:p>
        </p:txBody>
      </p:sp>
      <p:sp>
        <p:nvSpPr>
          <p:cNvPr id="2054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055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DÉPANNAGE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connexion échoue — Diagnostic rapide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E1D8F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12 — Support à Distance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FEAF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AnyDesk ne se connecte pas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que les deux postes ont Internet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Confirmer que l'ID a été saisi sans erreur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que le client a bien accepté la demande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816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FEAF7"/>
          </a:solidFill>
          <a:ln/>
        </p:spPr>
      </p:sp>
      <p:sp>
        <p:nvSpPr>
          <p:cNvPr id="12" name="Text 10"/>
          <p:cNvSpPr/>
          <p:nvPr/>
        </p:nvSpPr>
        <p:spPr>
          <a:xfrm>
            <a:off x="451104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RDP refuse la connexion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1104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que RDP est activé côté hôte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Confirmer Windows Pro (Home ne supporte pas l'hôte RDP)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avec Test-NetConnection -Port 3389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768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FEAF7"/>
          </a:solidFill>
          <a:ln/>
        </p:spPr>
      </p:sp>
      <p:sp>
        <p:nvSpPr>
          <p:cNvPr id="15" name="Text 13"/>
          <p:cNvSpPr/>
          <p:nvPr/>
        </p:nvSpPr>
        <p:spPr>
          <a:xfrm>
            <a:off x="829056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lente ou instable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9056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 la qualité d'affichage dans les paramètres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la bande passante disponible des deux côtés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sur un outil plus léger si réseau limité (Quick Assist)</a:t>
            </a:r>
            <a:endParaRPr lang="en-US" sz="1150" dirty="0"/>
          </a:p>
        </p:txBody>
      </p:sp>
      <p:sp>
        <p:nvSpPr>
          <p:cNvPr id="17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19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12 — Support à Distance</a:t>
            </a:r>
          </a:p>
        </p:txBody>
      </p:sp>
      <p:sp>
        <p:nvSpPr>
          <p:cNvPr id="20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1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RDP — Sécuriser une connexion à distance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E1D8F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12 — Support à Distance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FEAF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faire absolument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un VPN pour tout accès distant hors réseau local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 NLA (Network Level Authentication)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Changer le port 3389 par défaut si exposé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816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FEAF7"/>
          </a:solidFill>
          <a:ln/>
        </p:spPr>
      </p:sp>
      <p:sp>
        <p:nvSpPr>
          <p:cNvPr id="12" name="Text 10"/>
          <p:cNvSpPr/>
          <p:nvPr/>
        </p:nvSpPr>
        <p:spPr>
          <a:xfrm>
            <a:off x="451104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ne jamais faire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1104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Exposer RDP directement sur Internet sans VPN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un mot de passe faible sur le compte admin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Laisser RDP actif sur un poste qui n'en a pas besoin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768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FEAF7"/>
          </a:solidFill>
          <a:ln/>
        </p:spPr>
      </p:sp>
      <p:sp>
        <p:nvSpPr>
          <p:cNvPr id="15" name="Text 13"/>
          <p:cNvSpPr/>
          <p:nvPr/>
        </p:nvSpPr>
        <p:spPr>
          <a:xfrm>
            <a:off x="829056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entreprise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9056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 le port 3389 au niveau du pare-feu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Journaliser les connexions RDP réussies et échouées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Limiter les tentatives avec un verrouillage de compte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RDP direct sur Internet sans VPN est l'une des failles de sécurité les plus exploitées contre les PME</a:t>
            </a:r>
            <a:endParaRPr lang="en-US" sz="1050" dirty="0"/>
          </a:p>
        </p:txBody>
      </p:sp>
      <p:sp>
        <p:nvSpPr>
          <p:cNvPr id="18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20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12 — Support à Distance</a:t>
            </a:r>
          </a:p>
        </p:txBody>
      </p:sp>
      <p:sp>
        <p:nvSpPr>
          <p:cNvPr id="21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2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Assist et Teams — Cas d'usage et limites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E1D8F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12 — Support à Distance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FEAF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Assist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Intégré à Windows 10/11, aucune installation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à 6 lettres généré à la demande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→ « Quick Assist » → Obtenir de l'aide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580644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Idéal pour un dépannage ponctuel et rapide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2816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FEAF7"/>
          </a:solidFill>
          <a:ln/>
        </p:spPr>
      </p:sp>
      <p:sp>
        <p:nvSpPr>
          <p:cNvPr id="13" name="Text 11"/>
          <p:cNvSpPr/>
          <p:nvPr/>
        </p:nvSpPr>
        <p:spPr>
          <a:xfrm>
            <a:off x="451104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(partage d'écran)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1104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Nécessite une réunion Teams active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de contrôle possible côté partageur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Requiert que le client dispose de Microsoft 365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11040" y="580644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Pratique quand le client est déjà équipé M365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0768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FEAF7"/>
          </a:solidFill>
          <a:ln/>
        </p:spPr>
      </p:sp>
      <p:sp>
        <p:nvSpPr>
          <p:cNvPr id="17" name="Text 15"/>
          <p:cNvSpPr/>
          <p:nvPr/>
        </p:nvSpPr>
        <p:spPr>
          <a:xfrm>
            <a:off x="829056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communes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9056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fonctionnalités que AnyDesk/RDP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Transfert de fichiers limité ou absent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 à un compte Microsoft actif</a:t>
            </a:r>
            <a:endParaRPr lang="en-US" sz="1150" dirty="0"/>
          </a:p>
        </p:txBody>
      </p:sp>
      <p:sp>
        <p:nvSpPr>
          <p:cNvPr id="19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21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12 — Support à Distance</a:t>
            </a:r>
          </a:p>
        </p:txBody>
      </p:sp>
      <p:sp>
        <p:nvSpPr>
          <p:cNvPr id="22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3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COMPARATIF SÉCURITÉ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Sécurité des 4 outils — Ce qu'il faut savoir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E1D8F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12 — Support à Distance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2286000"/>
        </p:xfrm>
        <a:graphic>
          <a:graphicData uri="http://schemas.openxmlformats.org/drawingml/2006/table">
            <a:tbl>
              <a:tblPr/>
              <a:tblGrid>
                <a:gridCol w="2377440"/>
                <a:gridCol w="2560320"/>
                <a:gridCol w="3108960"/>
                <a:gridCol w="3017520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Outil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E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Chiffrement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E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Exposition Internet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E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Risque principal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E9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1B3A"/>
                          </a:solidFill>
                        </a:rPr>
                        <a:t>AnyDesk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1B3A"/>
                          </a:solidFill>
                        </a:rPr>
                        <a:t>AES-256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1B3A"/>
                          </a:solidFill>
                        </a:rPr>
                        <a:t>Via serveurs AnyDesk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1B3A"/>
                          </a:solidFill>
                        </a:rPr>
                        <a:t>Phishing sur faux site AnyDesk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1B3A"/>
                          </a:solidFill>
                        </a:rPr>
                        <a:t>RDP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1B3A"/>
                          </a:solidFill>
                        </a:rPr>
                        <a:t>TLS si NLA activé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1B3A"/>
                          </a:solidFill>
                        </a:rPr>
                        <a:t>Direct si mal configuré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1B3A"/>
                          </a:solidFill>
                        </a:rPr>
                        <a:t>Exposition port 3389 sans VPN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1B3A"/>
                          </a:solidFill>
                        </a:rPr>
                        <a:t>Quick Assist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1B3A"/>
                          </a:solidFill>
                        </a:rPr>
                        <a:t>TLS Microsoft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1B3A"/>
                          </a:solidFill>
                        </a:rPr>
                        <a:t>Via serveurs Microsoft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1B3A"/>
                          </a:solidFill>
                        </a:rPr>
                        <a:t>Faux techniciens usant du même outil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1B3A"/>
                          </a:solidFill>
                        </a:rPr>
                        <a:t>Teams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1B3A"/>
                          </a:solidFill>
                        </a:rPr>
                        <a:t>TLS/SRTP Microsoft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1B3A"/>
                          </a:solidFill>
                        </a:rPr>
                        <a:t>Via serveurs Microsoft 365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41B3A"/>
                          </a:solidFill>
                        </a:rPr>
                        <a:t>Compte Microsoft compromis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18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12 — Support à Distance</a:t>
            </a:r>
          </a:p>
        </p:txBody>
      </p:sp>
      <p:sp>
        <p:nvSpPr>
          <p:cNvPr id="19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0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Arnaques « faux support Microsoft » — Reconnaître et réagir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E1D8F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12 — Support à Distance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FEAF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Signaux d'alerte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non sollicité prétendant venir de Microsoft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Popup alarmant demandant d'appeler un numéro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Insistance pour installer un logiciel de contrôle distant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816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FEAF7"/>
          </a:solidFill>
          <a:ln/>
        </p:spPr>
      </p:sp>
      <p:sp>
        <p:nvSpPr>
          <p:cNvPr id="12" name="Text 10"/>
          <p:cNvSpPr/>
          <p:nvPr/>
        </p:nvSpPr>
        <p:spPr>
          <a:xfrm>
            <a:off x="451104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fait un vrai technicien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1104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N'appelle jamais à l'improviste sans rendez-vous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demande jamais de paiement par carte-cadeau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 toujours ses actions avant de les faire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768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FEAF7"/>
          </a:solidFill>
          <a:ln/>
        </p:spPr>
      </p:sp>
      <p:sp>
        <p:nvSpPr>
          <p:cNvPr id="15" name="Text 13"/>
          <p:cNvSpPr/>
          <p:nvPr/>
        </p:nvSpPr>
        <p:spPr>
          <a:xfrm>
            <a:off x="829056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faire si un client est victime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9056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Débrancher immédiatement Internet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Changer tous les mots de passe sensibles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le PC avec Defender + Malwarebytes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Sensibiliser vos clients à cette arnaque fait partie de votre rôle professionnel</a:t>
            </a:r>
            <a:endParaRPr lang="en-US" sz="1050" dirty="0"/>
          </a:p>
        </p:txBody>
      </p:sp>
      <p:sp>
        <p:nvSpPr>
          <p:cNvPr id="18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20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12 — Support à Distance</a:t>
            </a:r>
          </a:p>
        </p:txBody>
      </p:sp>
      <p:sp>
        <p:nvSpPr>
          <p:cNvPr id="21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2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AVANCÉES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Transfert de fichiers et presse-papier à distance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E1D8F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12 — Support à Distance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FEAF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AnyDesk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Icône dédiée dans la barre d'outils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Glisser-déposer entre PC local et distant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 dans les deux sens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816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FEAF7"/>
          </a:solidFill>
          <a:ln/>
        </p:spPr>
      </p:sp>
      <p:sp>
        <p:nvSpPr>
          <p:cNvPr id="12" name="Text 10"/>
          <p:cNvSpPr/>
          <p:nvPr/>
        </p:nvSpPr>
        <p:spPr>
          <a:xfrm>
            <a:off x="451104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1104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Presse-papier partagé automatiquement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Lecteurs locaux redirigés (option de connexion)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Copier-coller de fichiers via l'explorateur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768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FEAF7"/>
          </a:solidFill>
          <a:ln/>
        </p:spPr>
      </p:sp>
      <p:sp>
        <p:nvSpPr>
          <p:cNvPr id="15" name="Text 13"/>
          <p:cNvSpPr/>
          <p:nvPr/>
        </p:nvSpPr>
        <p:spPr>
          <a:xfrm>
            <a:off x="829056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9056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confirmer avec le client avant un transfert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jamais transférer de fichiers sensibles sans accord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Nommer clairement les fichiers envoyés</a:t>
            </a:r>
            <a:endParaRPr lang="en-US" sz="1150" dirty="0"/>
          </a:p>
        </p:txBody>
      </p:sp>
      <p:sp>
        <p:nvSpPr>
          <p:cNvPr id="17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19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12 — Support à Distance</a:t>
            </a:r>
          </a:p>
        </p:txBody>
      </p:sp>
      <p:sp>
        <p:nvSpPr>
          <p:cNvPr id="20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1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Rapport de session — Ce qu'il faut toujours inclure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E1D8F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12 — Support à Distance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FEAF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heure, durée de la session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du client et outil utilisé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 de ticket associé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816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FEAF7"/>
          </a:solidFill>
          <a:ln/>
        </p:spPr>
      </p:sp>
      <p:sp>
        <p:nvSpPr>
          <p:cNvPr id="12" name="Text 10"/>
          <p:cNvSpPr/>
          <p:nvPr/>
        </p:nvSpPr>
        <p:spPr>
          <a:xfrm>
            <a:off x="451104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technique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1104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signalé initialement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réalisées, dans l'ordre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final confirmé par le client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7680" y="1417320"/>
            <a:ext cx="3505200" cy="4892040"/>
          </a:xfrm>
          <a:prstGeom prst="roundRect">
            <a:avLst>
              <a:gd name="adj" fmla="val 1304"/>
            </a:avLst>
          </a:prstGeom>
          <a:solidFill>
            <a:srgbClr val="EFEAF7"/>
          </a:solidFill>
          <a:ln/>
        </p:spPr>
      </p:sp>
      <p:sp>
        <p:nvSpPr>
          <p:cNvPr id="15" name="Text 13"/>
          <p:cNvSpPr/>
          <p:nvPr/>
        </p:nvSpPr>
        <p:spPr>
          <a:xfrm>
            <a:off x="8290560" y="1554480"/>
            <a:ext cx="313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90560" y="2011680"/>
            <a:ext cx="3139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pour éviter la récidive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étape si problème non résolu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Pièces jointes : captures, fichiers transférés</a:t>
            </a:r>
            <a:endParaRPr lang="en-US" sz="1150" dirty="0"/>
          </a:p>
        </p:txBody>
      </p:sp>
      <p:sp>
        <p:nvSpPr>
          <p:cNvPr id="17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19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12 — Support à Distance</a:t>
            </a:r>
          </a:p>
        </p:txBody>
      </p:sp>
      <p:sp>
        <p:nvSpPr>
          <p:cNvPr id="20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1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PRATIQUE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 pratiques — Séance 12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E1D8F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12 — Support à Distance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3505200" cy="4983480"/>
          </a:xfrm>
          <a:prstGeom prst="roundRect">
            <a:avLst>
              <a:gd name="adj" fmla="val 1304"/>
            </a:avLst>
          </a:prstGeom>
          <a:solidFill>
            <a:srgbClr val="EFEAF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08760"/>
            <a:ext cx="313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1 — Denis, ex-plombier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313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Appelle en panique : un « technicien Microsoft » veut qu'il installe AnyDesk suite à un popup.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880360"/>
            <a:ext cx="31394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Est-ce une situation légitime ?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faire immédiatement ?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rassurer le client ?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5806440"/>
            <a:ext cx="313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 : Arnaque probable → ne pas installer → raccrocher → scanner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28160" y="1371600"/>
            <a:ext cx="3505200" cy="4983480"/>
          </a:xfrm>
          <a:prstGeom prst="roundRect">
            <a:avLst>
              <a:gd name="adj" fmla="val 1304"/>
            </a:avLst>
          </a:prstGeom>
          <a:solidFill>
            <a:srgbClr val="EFEAF7"/>
          </a:solidFill>
          <a:ln/>
        </p:spPr>
      </p:sp>
      <p:sp>
        <p:nvSpPr>
          <p:cNvPr id="14" name="Text 12"/>
          <p:cNvSpPr/>
          <p:nvPr/>
        </p:nvSpPr>
        <p:spPr>
          <a:xfrm>
            <a:off x="4511040" y="1508760"/>
            <a:ext cx="313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2 — Farida, ex-couturière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11040" y="1920240"/>
            <a:ext cx="313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d'aide ponctuelle pour configurer une imprimante, jamais utilisé d'outil à distance.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11040" y="2880360"/>
            <a:ext cx="31394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outil est le plus adapté ?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la guider par téléphone ?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de temps prévoir ?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11040" y="5806440"/>
            <a:ext cx="313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 : Quick Assist — simple, intégré, pas d'installation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107680" y="1371600"/>
            <a:ext cx="3505200" cy="4983480"/>
          </a:xfrm>
          <a:prstGeom prst="roundRect">
            <a:avLst>
              <a:gd name="adj" fmla="val 1304"/>
            </a:avLst>
          </a:prstGeom>
          <a:solidFill>
            <a:srgbClr val="EFEAF7"/>
          </a:solidFill>
          <a:ln/>
        </p:spPr>
      </p:sp>
      <p:sp>
        <p:nvSpPr>
          <p:cNvPr id="19" name="Text 17"/>
          <p:cNvSpPr/>
          <p:nvPr/>
        </p:nvSpPr>
        <p:spPr>
          <a:xfrm>
            <a:off x="8290560" y="1508760"/>
            <a:ext cx="313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3 — Entreprise cliente M365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90560" y="1920240"/>
            <a:ext cx="313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avec 15 postes sous Microsoft 365, besoin d'accès régulier pour maintenance.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90560" y="2880360"/>
            <a:ext cx="31394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outil privilégier en usage régulier ?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Quelles précautions de sécurité mettre en place ?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documenter les interventions récurrentes ?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90560" y="5806440"/>
            <a:ext cx="313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 : RDP via VPN, ou AnyDesk avec licence pro</a:t>
            </a:r>
            <a:endParaRPr lang="en-US" sz="950" dirty="0"/>
          </a:p>
        </p:txBody>
      </p:sp>
      <p:sp>
        <p:nvSpPr>
          <p:cNvPr id="23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25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12 — Support à Distance</a:t>
            </a:r>
          </a:p>
        </p:txBody>
      </p:sp>
      <p:sp>
        <p:nvSpPr>
          <p:cNvPr id="26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7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4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12 — Support à Distance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850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VOCABULAIRE SUPPORT DISTANCE — 18 termes essentiels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896112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342753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950976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7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AnyDesk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225296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E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de contrôle à distance léger et polyvalent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303776" y="896112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342753"/>
          </a:solidFill>
          <a:ln/>
        </p:spPr>
      </p:sp>
      <p:sp>
        <p:nvSpPr>
          <p:cNvPr id="10" name="Text 8"/>
          <p:cNvSpPr/>
          <p:nvPr/>
        </p:nvSpPr>
        <p:spPr>
          <a:xfrm>
            <a:off x="4440936" y="950976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7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RDP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440936" y="1225296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E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Desktop Protocol — natif Windows Pro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058912" y="896112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342753"/>
          </a:solidFill>
          <a:ln/>
        </p:spPr>
      </p:sp>
      <p:sp>
        <p:nvSpPr>
          <p:cNvPr id="13" name="Text 11"/>
          <p:cNvSpPr/>
          <p:nvPr/>
        </p:nvSpPr>
        <p:spPr>
          <a:xfrm>
            <a:off x="8196072" y="950976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7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mstsc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196072" y="1225296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E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RDP en ligne de commande Windows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8640" y="1850136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342753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1905000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7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Assist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85800" y="2179320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E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intégré Windows pour dépannage ponctuel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303776" y="1850136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342753"/>
          </a:solidFill>
          <a:ln/>
        </p:spPr>
      </p:sp>
      <p:sp>
        <p:nvSpPr>
          <p:cNvPr id="19" name="Text 17"/>
          <p:cNvSpPr/>
          <p:nvPr/>
        </p:nvSpPr>
        <p:spPr>
          <a:xfrm>
            <a:off x="4440936" y="1905000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7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440936" y="2179320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E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au niveau réseau — sécurité RDP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058912" y="1850136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342753"/>
          </a:solidFill>
          <a:ln/>
        </p:spPr>
      </p:sp>
      <p:sp>
        <p:nvSpPr>
          <p:cNvPr id="22" name="Text 20"/>
          <p:cNvSpPr/>
          <p:nvPr/>
        </p:nvSpPr>
        <p:spPr>
          <a:xfrm>
            <a:off x="8196072" y="1905000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7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3389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196072" y="2179320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E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par défaut du protocole RDP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8640" y="2804160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342753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2859024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7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5800" y="3133344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E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 chiffré pour accès distant sécurisé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303776" y="2804160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342753"/>
          </a:solidFill>
          <a:ln/>
        </p:spPr>
      </p:sp>
      <p:sp>
        <p:nvSpPr>
          <p:cNvPr id="28" name="Text 26"/>
          <p:cNvSpPr/>
          <p:nvPr/>
        </p:nvSpPr>
        <p:spPr>
          <a:xfrm>
            <a:off x="4440936" y="2859024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7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AnyDesk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440936" y="3133344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E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Identifiant à 9 chiffres pour se connecter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058912" y="2804160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342753"/>
          </a:solidFill>
          <a:ln/>
        </p:spPr>
      </p:sp>
      <p:sp>
        <p:nvSpPr>
          <p:cNvPr id="31" name="Text 29"/>
          <p:cNvSpPr/>
          <p:nvPr/>
        </p:nvSpPr>
        <p:spPr>
          <a:xfrm>
            <a:off x="8196072" y="2859024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7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96072" y="3133344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E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 chiffrement utilisé par AnyDesk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48640" y="3758184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342753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3813048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7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à distance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85800" y="4087368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E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active entre technicien et client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303776" y="3758184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342753"/>
          </a:solidFill>
          <a:ln/>
        </p:spPr>
      </p:sp>
      <p:sp>
        <p:nvSpPr>
          <p:cNvPr id="37" name="Text 35"/>
          <p:cNvSpPr/>
          <p:nvPr/>
        </p:nvSpPr>
        <p:spPr>
          <a:xfrm>
            <a:off x="4440936" y="3813048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7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support Microsoft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440936" y="4087368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E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Arnaque téléphonique usant du support distant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058912" y="3758184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342753"/>
          </a:solidFill>
          <a:ln/>
        </p:spPr>
      </p:sp>
      <p:sp>
        <p:nvSpPr>
          <p:cNvPr id="40" name="Text 38"/>
          <p:cNvSpPr/>
          <p:nvPr/>
        </p:nvSpPr>
        <p:spPr>
          <a:xfrm>
            <a:off x="8196072" y="3813048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7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Consentement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196072" y="4087368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E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 explicite du client avant toute action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48640" y="4712208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342753"/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" y="4767072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7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Presse-papier partagé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85800" y="5041392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E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Copier-coller entre PC local et distant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303776" y="4712208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342753"/>
          </a:solidFill>
          <a:ln/>
        </p:spPr>
      </p:sp>
      <p:sp>
        <p:nvSpPr>
          <p:cNvPr id="46" name="Text 44"/>
          <p:cNvSpPr/>
          <p:nvPr/>
        </p:nvSpPr>
        <p:spPr>
          <a:xfrm>
            <a:off x="4440936" y="4767072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7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de support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4440936" y="5041392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E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Enregistrement d'une demande d'assistance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8058912" y="4712208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342753"/>
          </a:solidFill>
          <a:ln/>
        </p:spPr>
      </p:sp>
      <p:sp>
        <p:nvSpPr>
          <p:cNvPr id="49" name="Text 47"/>
          <p:cNvSpPr/>
          <p:nvPr/>
        </p:nvSpPr>
        <p:spPr>
          <a:xfrm>
            <a:off x="8196072" y="4767072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7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de session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8196072" y="5041392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E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résumant l'intervention à distance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48640" y="5666232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342753"/>
          </a:solidFill>
          <a:ln/>
        </p:spPr>
      </p:sp>
      <p:sp>
        <p:nvSpPr>
          <p:cNvPr id="52" name="Text 50"/>
          <p:cNvSpPr/>
          <p:nvPr/>
        </p:nvSpPr>
        <p:spPr>
          <a:xfrm>
            <a:off x="685800" y="5721096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7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685800" y="5995416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E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Pare-feu filtrant les connexions entrantes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303776" y="5666232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342753"/>
          </a:solidFill>
          <a:ln/>
        </p:spPr>
      </p:sp>
      <p:sp>
        <p:nvSpPr>
          <p:cNvPr id="55" name="Text 53"/>
          <p:cNvSpPr/>
          <p:nvPr/>
        </p:nvSpPr>
        <p:spPr>
          <a:xfrm>
            <a:off x="4440936" y="5721096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7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4440936" y="5995416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E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M365 avec partage/contrôle d'écran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8058912" y="5666232"/>
            <a:ext cx="3553968" cy="826008"/>
          </a:xfrm>
          <a:prstGeom prst="roundRect">
            <a:avLst>
              <a:gd name="adj" fmla="val 4428"/>
            </a:avLst>
          </a:prstGeom>
          <a:solidFill>
            <a:srgbClr val="342753"/>
          </a:solidFill>
          <a:ln/>
        </p:spPr>
      </p:sp>
      <p:sp>
        <p:nvSpPr>
          <p:cNvPr id="58" name="Text 56"/>
          <p:cNvSpPr/>
          <p:nvPr/>
        </p:nvSpPr>
        <p:spPr>
          <a:xfrm>
            <a:off x="8196072" y="5721096"/>
            <a:ext cx="3279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7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Escalade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8196072" y="5995416"/>
            <a:ext cx="3279648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E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Transfert d'un cas complexe à un niveau supérieur</a:t>
            </a:r>
            <a:endParaRPr lang="en-US" sz="850" dirty="0"/>
          </a:p>
        </p:txBody>
      </p:sp>
      <p:sp>
        <p:nvSpPr>
          <p:cNvPr id="60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1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62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12 — Support à Distance</a:t>
            </a:r>
          </a:p>
        </p:txBody>
      </p:sp>
      <p:sp>
        <p:nvSpPr>
          <p:cNvPr id="63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64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57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3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BOÎTE À OUTILS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31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Commandes et outils — Support à distance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72008"/>
            <a:ext cx="11064240" cy="9144"/>
          </a:xfrm>
          <a:prstGeom prst="rect">
            <a:avLst/>
          </a:prstGeom>
          <a:solidFill>
            <a:srgbClr val="E1D8F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12 — Support à Distance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5394960" cy="1133856"/>
          </a:xfrm>
          <a:prstGeom prst="roundRect">
            <a:avLst>
              <a:gd name="adj" fmla="val 3226"/>
            </a:avLst>
          </a:prstGeom>
          <a:solidFill>
            <a:srgbClr val="1A1330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444752"/>
            <a:ext cx="5065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FD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mstsc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3232" y="1810512"/>
            <a:ext cx="506577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le client Bureau à distance Windows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5394960" cy="1133856"/>
          </a:xfrm>
          <a:prstGeom prst="roundRect">
            <a:avLst>
              <a:gd name="adj" fmla="val 3226"/>
            </a:avLst>
          </a:prstGeom>
          <a:solidFill>
            <a:srgbClr val="1A1330"/>
          </a:solidFill>
          <a:ln/>
        </p:spPr>
      </p:sp>
      <p:sp>
        <p:nvSpPr>
          <p:cNvPr id="12" name="Text 10"/>
          <p:cNvSpPr/>
          <p:nvPr/>
        </p:nvSpPr>
        <p:spPr>
          <a:xfrm>
            <a:off x="6382512" y="1444752"/>
            <a:ext cx="5065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FD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mstsc /v:IP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82512" y="1810512"/>
            <a:ext cx="506577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connecter directement à une IP donnée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670048"/>
            <a:ext cx="5394960" cy="1133856"/>
          </a:xfrm>
          <a:prstGeom prst="roundRect">
            <a:avLst>
              <a:gd name="adj" fmla="val 3226"/>
            </a:avLst>
          </a:prstGeom>
          <a:solidFill>
            <a:srgbClr val="1A1330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2743200"/>
            <a:ext cx="5065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FD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quickassist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3232" y="3108960"/>
            <a:ext cx="506577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Quick Assist depuis Exécuter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2670048"/>
            <a:ext cx="5394960" cy="1133856"/>
          </a:xfrm>
          <a:prstGeom prst="roundRect">
            <a:avLst>
              <a:gd name="adj" fmla="val 3226"/>
            </a:avLst>
          </a:prstGeom>
          <a:solidFill>
            <a:srgbClr val="1A1330"/>
          </a:solidFill>
          <a:ln/>
        </p:spPr>
      </p:sp>
      <p:sp>
        <p:nvSpPr>
          <p:cNvPr id="18" name="Text 16"/>
          <p:cNvSpPr/>
          <p:nvPr/>
        </p:nvSpPr>
        <p:spPr>
          <a:xfrm>
            <a:off x="6382512" y="2743200"/>
            <a:ext cx="5065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FD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netstat -an | findstr 3389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82512" y="3108960"/>
            <a:ext cx="506577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si le port RDP est en écoute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968496"/>
            <a:ext cx="5394960" cy="1133856"/>
          </a:xfrm>
          <a:prstGeom prst="roundRect">
            <a:avLst>
              <a:gd name="adj" fmla="val 3226"/>
            </a:avLst>
          </a:prstGeom>
          <a:solidFill>
            <a:srgbClr val="1A1330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4041648"/>
            <a:ext cx="5065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FD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systeminfo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3232" y="4407408"/>
            <a:ext cx="506577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Obtenir les infos système du poste distant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3968496"/>
            <a:ext cx="5394960" cy="1133856"/>
          </a:xfrm>
          <a:prstGeom prst="roundRect">
            <a:avLst>
              <a:gd name="adj" fmla="val 3226"/>
            </a:avLst>
          </a:prstGeom>
          <a:solidFill>
            <a:srgbClr val="1A1330"/>
          </a:solidFill>
          <a:ln/>
        </p:spPr>
      </p:sp>
      <p:sp>
        <p:nvSpPr>
          <p:cNvPr id="24" name="Text 22"/>
          <p:cNvSpPr/>
          <p:nvPr/>
        </p:nvSpPr>
        <p:spPr>
          <a:xfrm>
            <a:off x="6382512" y="4041648"/>
            <a:ext cx="5065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FD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gpedit.msc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82512" y="4407408"/>
            <a:ext cx="506577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Configurer les stratégies RDP avancées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5266944"/>
            <a:ext cx="5394960" cy="1133856"/>
          </a:xfrm>
          <a:prstGeom prst="roundRect">
            <a:avLst>
              <a:gd name="adj" fmla="val 3226"/>
            </a:avLst>
          </a:prstGeom>
          <a:solidFill>
            <a:srgbClr val="1A1330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" y="5340096"/>
            <a:ext cx="5065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FD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Test-NetConnection -Port 3389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3232" y="5705856"/>
            <a:ext cx="506577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: tester la connectivité RDP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5266944"/>
            <a:ext cx="5394960" cy="1133856"/>
          </a:xfrm>
          <a:prstGeom prst="roundRect">
            <a:avLst>
              <a:gd name="adj" fmla="val 3226"/>
            </a:avLst>
          </a:prstGeom>
          <a:solidFill>
            <a:srgbClr val="1A1330"/>
          </a:solidFill>
          <a:ln/>
        </p:spPr>
      </p:sp>
      <p:sp>
        <p:nvSpPr>
          <p:cNvPr id="30" name="Text 28"/>
          <p:cNvSpPr/>
          <p:nvPr/>
        </p:nvSpPr>
        <p:spPr>
          <a:xfrm>
            <a:off x="6382512" y="5340096"/>
            <a:ext cx="5065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FD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shutdown /r /t 0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82512" y="5705856"/>
            <a:ext cx="506577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Redémarrer immédiatement le poste distant</a:t>
            </a:r>
            <a:endParaRPr lang="en-US" sz="1000" dirty="0"/>
          </a:p>
        </p:txBody>
      </p:sp>
      <p:sp>
        <p:nvSpPr>
          <p:cNvPr id="32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34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12 — Support à Distance</a:t>
            </a:r>
          </a:p>
        </p:txBody>
      </p:sp>
      <p:sp>
        <p:nvSpPr>
          <p:cNvPr id="35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36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4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12 — Support à Distance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vous de jouer.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E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Pratiquez une session de support à distance de bout en bout.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502920" cy="1085850"/>
          </a:xfrm>
          <a:prstGeom prst="roundRect">
            <a:avLst>
              <a:gd name="adj" fmla="val 9091"/>
            </a:avLst>
          </a:prstGeom>
          <a:solidFill>
            <a:srgbClr val="34275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502920" cy="1085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7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61848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AnyDesk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280160" y="1947672"/>
            <a:ext cx="7955280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E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sur deux postes (ou VM) et établir une connexion complète.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418320" y="1618488"/>
            <a:ext cx="2103120" cy="1131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868930"/>
            <a:ext cx="502920" cy="1085850"/>
          </a:xfrm>
          <a:prstGeom prst="roundRect">
            <a:avLst>
              <a:gd name="adj" fmla="val 9091"/>
            </a:avLst>
          </a:prstGeom>
          <a:solidFill>
            <a:srgbClr val="34275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68930"/>
            <a:ext cx="502920" cy="1085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7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284149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 RDP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280160" y="3170682"/>
            <a:ext cx="7955280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E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 le Bureau à distance et se connecter depuis un autre poste du réseau.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418320" y="2841498"/>
            <a:ext cx="2103120" cy="1131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091940"/>
            <a:ext cx="502920" cy="1085850"/>
          </a:xfrm>
          <a:prstGeom prst="roundRect">
            <a:avLst>
              <a:gd name="adj" fmla="val 9091"/>
            </a:avLst>
          </a:prstGeom>
          <a:solidFill>
            <a:srgbClr val="34275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091940"/>
            <a:ext cx="502920" cy="1085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7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06450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Jouer le protocole complet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280160" y="4393692"/>
            <a:ext cx="7955280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E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Simuler les 4 phases : qualification, connexion, action, clôture avec rapport.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418320" y="4064508"/>
            <a:ext cx="2103120" cy="1131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5314950"/>
            <a:ext cx="502920" cy="1085850"/>
          </a:xfrm>
          <a:prstGeom prst="roundRect">
            <a:avLst>
              <a:gd name="adj" fmla="val 9091"/>
            </a:avLst>
          </a:prstGeom>
          <a:solidFill>
            <a:srgbClr val="342753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314950"/>
            <a:ext cx="502920" cy="1085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7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80160" y="528751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une arnaque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280160" y="5616702"/>
            <a:ext cx="7955280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E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un scénario de faux support et lister les signaux d'alerte.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418320" y="5287518"/>
            <a:ext cx="2103120" cy="1131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27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29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12 — Support à Distance</a:t>
            </a:r>
          </a:p>
        </p:txBody>
      </p:sp>
      <p:sp>
        <p:nvSpPr>
          <p:cNvPr id="30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31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Compétences Séance 12 — À valider avec votre formateur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1064240" cy="9144"/>
          </a:xfrm>
          <a:prstGeom prst="rect">
            <a:avLst/>
          </a:prstGeom>
          <a:solidFill>
            <a:srgbClr val="E1D8F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12 — Support à Distance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62495" y="6492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CHAFIK MOUSTAID — FORMATEUR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180015" y="6492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— Juin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599547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5B3E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371600"/>
            <a:ext cx="10515600" cy="711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connais les 4 outils (AnyDesk, RDP, Quick Assist, Teams) et leurs cas d'usage.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271473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5B3E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043526"/>
            <a:ext cx="10515600" cy="711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configure et active le Bureau à distance Windows (RDP) sur Windows Pro.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943399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5B3E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715452"/>
            <a:ext cx="10515600" cy="711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guide un client pour installer et utiliser AnyDesk par téléphone.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615325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5B3E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387378"/>
            <a:ext cx="10515600" cy="711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suis le protocole complet : qualifier → annoncer → agir → expliquer → clôturer.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287251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5B3E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059304"/>
            <a:ext cx="10515600" cy="711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rédige un rapport de session après chaque support à distance.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959177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5B3E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731230"/>
            <a:ext cx="10515600" cy="711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sais que RDP direct sur Internet sans VPN est une faille de sécurité majeure.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631103"/>
            <a:ext cx="256032" cy="25603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5B3E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5403156"/>
            <a:ext cx="10515600" cy="711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détecte une arnaque au « faux support Microsoft » et sais la signaler au client.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155082"/>
            <a:ext cx="11064240" cy="2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LA SÉANCE 12 — Valider avec votre formateur</a:t>
            </a:r>
            <a:endParaRPr lang="en-US" sz="1000" dirty="0"/>
          </a:p>
        </p:txBody>
      </p:sp>
      <p:sp>
        <p:nvSpPr>
          <p:cNvPr id="22" name="HeaderBar"/>
          <p:cNvSpPr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HeaderLogo" descr="samo_logo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" y="35000"/>
            <a:ext cx="753710" cy="260000"/>
          </a:xfrm>
          <a:prstGeom prst="rect">
            <a:avLst/>
          </a:prstGeom>
        </p:spPr>
      </p:pic>
      <p:sp>
        <p:nvSpPr>
          <p:cNvPr id="24" name="HeaderTitle"/>
          <p:cNvSpPr txBox="1"/>
          <p:nvPr/>
        </p:nvSpPr>
        <p:spPr>
          <a:xfrm>
            <a:off x="881622" y="0"/>
            <a:ext cx="5000000" cy="3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fr-CA" sz="1000" b="0" i="0" dirty="0">
                <a:solidFill>
                  <a:srgbClr val="FFFFFF"/>
                </a:solidFill>
                <a:latin typeface="Calibri" pitchFamily="34" charset="0"/>
              </a:rPr>
              <a:t>Séance 12 — Support à Distance</a:t>
            </a:r>
          </a:p>
        </p:txBody>
      </p:sp>
      <p:sp>
        <p:nvSpPr>
          <p:cNvPr id="25" name="HeaderRight"/>
          <p:cNvSpPr txBox="1"/>
          <p:nvPr/>
        </p:nvSpPr>
        <p:spPr>
          <a:xfrm>
            <a:off x="7592000" y="35000"/>
            <a:ext cx="4500000" cy="15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850" b="1" i="0" dirty="0">
                <a:solidFill>
                  <a:srgbClr val="FFFFFF"/>
                </a:solidFill>
                <a:latin typeface="Calibri" pitchFamily="34" charset="0"/>
              </a:rPr>
              <a:t>CHAFIK MOUSTAID — FORMATEUR</a:t>
            </a:r>
          </a:p>
        </p:txBody>
      </p:sp>
      <p:sp>
        <p:nvSpPr>
          <p:cNvPr id="26" name="HeaderRightV"/>
          <p:cNvSpPr txBox="1"/>
          <p:nvPr/>
        </p:nvSpPr>
        <p:spPr>
          <a:xfrm>
            <a:off x="7592000" y="178000"/>
            <a:ext cx="4500000" cy="13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lang="fr-CA" sz="700" b="0" i="0" dirty="0">
                <a:solidFill>
                  <a:srgbClr val="99BB99"/>
                </a:solidFill>
                <a:latin typeface="Calibri" pitchFamily="34" charset="0"/>
              </a:rPr>
              <a:t>Version 1 — Juin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2809</Words>
  <Application>Microsoft Office PowerPoint</Application>
  <PresentationFormat>Personnalisé</PresentationFormat>
  <Paragraphs>507</Paragraphs>
  <Slides>22</Slides>
  <Notes>22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3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12 — Support à Distance</dc:title>
  <dc:subject>PptxGenJS Presentation</dc:subject>
  <dc:creator>Chafik Moustaid</dc:creator>
  <cp:lastModifiedBy>Chafik Moustaid</cp:lastModifiedBy>
  <cp:revision>4</cp:revision>
  <dcterms:created xsi:type="dcterms:W3CDTF">2026-07-05T18:59:32Z</dcterms:created>
  <dcterms:modified xsi:type="dcterms:W3CDTF">2026-07-06T19:17:38Z</dcterms:modified>
</cp:coreProperties>
</file>