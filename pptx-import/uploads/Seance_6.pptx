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005840" y="868680"/>
            <a:ext cx="868680" cy="868680"/>
          </a:xfrm>
          <a:prstGeom prst="ellipse">
            <a:avLst/>
          </a:prstGeom>
          <a:solidFill>
            <a:srgbClr val="252F3D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C7B5"/>
                </a:solidFill>
              </a:rPr>
              <a:t>☣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868680"/>
            <a:ext cx="868680" cy="868680"/>
          </a:xfrm>
          <a:prstGeom prst="ellipse">
            <a:avLst/>
          </a:prstGeom>
          <a:solidFill>
            <a:srgbClr val="252F3D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C7B5"/>
                </a:solidFill>
              </a:rPr>
              <a:t>⌂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9748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d'entrée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868680"/>
            <a:ext cx="868680" cy="868680"/>
          </a:xfrm>
          <a:prstGeom prst="ellipse">
            <a:avLst/>
          </a:prstGeom>
          <a:solidFill>
            <a:srgbClr val="252F3D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C7B5"/>
                </a:solidFill>
              </a:rPr>
              <a:t>⚑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0060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868680"/>
            <a:ext cx="868680" cy="868680"/>
          </a:xfrm>
          <a:prstGeom prst="ellipse">
            <a:avLst/>
          </a:prstGeom>
          <a:solidFill>
            <a:srgbClr val="252F3D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C7B5"/>
                </a:solidFill>
              </a:rPr>
              <a:t>✓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0372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0372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18320" y="868680"/>
            <a:ext cx="868680" cy="868680"/>
          </a:xfrm>
          <a:prstGeom prst="ellipse">
            <a:avLst/>
          </a:prstGeom>
          <a:solidFill>
            <a:srgbClr val="252F3D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C7B5"/>
                </a:solidFill>
              </a:rPr>
              <a:t>◈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006840" y="1810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0684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pédagogique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29718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Sécurité,</a:t>
            </a:r>
            <a:endParaRPr lang="en-US" sz="5400" dirty="0"/>
          </a:p>
        </p:txBody>
      </p:sp>
      <p:sp>
        <p:nvSpPr>
          <p:cNvPr id="27" name="Text 24"/>
          <p:cNvSpPr/>
          <p:nvPr/>
        </p:nvSpPr>
        <p:spPr>
          <a:xfrm>
            <a:off x="1005840" y="3703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 et malwares</a:t>
            </a:r>
            <a:endParaRPr lang="en-US" sz="4600" dirty="0"/>
          </a:p>
        </p:txBody>
      </p:sp>
      <p:sp>
        <p:nvSpPr>
          <p:cNvPr id="28" name="Text 25"/>
          <p:cNvSpPr/>
          <p:nvPr/>
        </p:nvSpPr>
        <p:spPr>
          <a:xfrm>
            <a:off x="100584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MENACES  ·  PORTES D'ENTRÉE  ·  MÉTHODOLOGIE  ·  BONNES PRATIQUES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05840" y="4983480"/>
            <a:ext cx="10149840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/ 15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plupart des infections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058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viennent pas d'une faille système.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05840" y="4343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Elles viennent d'un clic. Le technicien protège l'utilisateur — parfois contre lui-même — sans jamais le juger.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SÉANCE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programme — 4 heures, 8 blocs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544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Pourquoi la sécurité est centrale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Enjeux, coûts, réalité du terrain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5544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Virus, malware, ransomware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menaces et symptômes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60704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0604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Les portes d'entrée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téléchargement, USB, sites, piratage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9204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260604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Vocabulaire sécurité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termes essentiels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60704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6576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Méthodologie d'intervention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→ identifier → scanner → décider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9204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72200" y="36576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33" name="Text 30"/>
          <p:cNvSpPr/>
          <p:nvPr/>
        </p:nvSpPr>
        <p:spPr>
          <a:xfrm>
            <a:off x="63550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Bonnes pratiques &amp; 3-2-1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5508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réelle contre le ransomware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60704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47091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Rôle pédagogique du technicien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5120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Expliquer, prévenir, corriger sans juger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89204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172200" y="47091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1C2430"/>
          </a:solidFill>
          <a:ln/>
        </p:spPr>
      </p:sp>
      <p:sp>
        <p:nvSpPr>
          <p:cNvPr id="41" name="Text 38"/>
          <p:cNvSpPr/>
          <p:nvPr/>
        </p:nvSpPr>
        <p:spPr>
          <a:xfrm>
            <a:off x="635508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Cas pratiques &amp; validation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55080" y="5120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mises en situation + checklist finale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60704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la sécurité est un sujet central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infections par phishing évitées par la simple méfiance envers les emails suspects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5196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3-2-1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448056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 vraie protection contre un ransomware : 3 copies, 2 supports, 1 hors site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46720" y="16002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C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clic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827532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suffit souvent à infecter un PC — la majorité des menaces viennent de l'utilisateur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n'est pas qu'une affaire d'antivirus. C'est une combinaison de bons réflexes techniques ET humains — un technicien qui ne travaille que sur l'aspect technique laisse la porte ouverte à la récidive.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VOCABULAIRE DES MENACES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Virus, malware, ransomware — les différences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virus sont des malwares, mais tous les malwares ne sont pas des virus.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6217920"/>
                <a:gridCol w="228600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Niveau de danger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propage en s'attachant à des fichiers légitimes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Terme générique pour tout logiciel malveillant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Trojan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fait passer pour un logiciel légitime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Élevé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Chiffre les données et demande une rançon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CRITIQUE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Spyware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Espionne l'utilisateur — vole des données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Élevé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Publicités envahissantes — souvent sans danger direct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Le niveau de danger guide la priorité d'intervention : un ransomware s'isole immédiatement, un adware se nettoie tranquillement.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— DIAGNOSTIC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Symptômes typiques d'une infection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01752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Symptôme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Interprétation possible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 très lent sans raison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Malware actif en arrière-plan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Pop-ups / publicités fréquentes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Adware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Antivirus désactivé automatiquement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Infection avancée — le malware se protège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Fichiers chiffrés / inaccessibles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— agir immédiatement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Redirections de navigateur inattendues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 ou script malveillant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Programmes inconnus au démarrage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Persistance d'un malware installé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48006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C2430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Un seul symptôme ne suffit pas à conclure — c'est la COMBINAISON de symptômes qui oriente vers le bon type de menace.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PRÉVENTION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portes d'entrée des malwares (1/2)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majorité des infections viennent de l'utilisateur, pas du système.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87452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43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0080" y="25603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297180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 jointe piégée (.exe, .pdf, .docx macro)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frauduleux dans le corps du message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: imite une vraie entreprise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15384" y="187452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430"/>
          </a:solidFill>
          <a:ln/>
        </p:spPr>
      </p:sp>
      <p:sp>
        <p:nvSpPr>
          <p:cNvPr id="18" name="Text 15"/>
          <p:cNvSpPr/>
          <p:nvPr/>
        </p:nvSpPr>
        <p:spPr>
          <a:xfrm>
            <a:off x="439826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⬇️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398264" y="25603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398264" y="297180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bouton 'Download'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Logiciels piratés / cracks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de streaming illégaux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73568" y="187452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1C2430"/>
          </a:solidFill>
          <a:ln/>
        </p:spPr>
      </p:sp>
      <p:sp>
        <p:nvSpPr>
          <p:cNvPr id="22" name="Text 19"/>
          <p:cNvSpPr/>
          <p:nvPr/>
        </p:nvSpPr>
        <p:spPr>
          <a:xfrm>
            <a:off x="815644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8156448" y="25603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USB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156448" y="297180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trouvé ou partagé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Autorun automatique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brancher une clé inconnue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PRÉVENTION (SUITE)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portes d'entrée des malwares (2/2)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81051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85800" y="2423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compromis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8346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malveillant injecté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caché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sur des sites légitimes piratés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C2430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181051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💀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92240" y="2423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Piratage logiciel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2240" y="28346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logiciel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Générateur de clé (keygen)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intégré quasi garanti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425196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252F3D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389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Un utilisateur informé = moins d'incidents.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technicien protège l'utilisateur contre lui-même — sans le culpabiliser, en expliquant chaque réflexe de sécurité simplement.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ZOOM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 un email de phishing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Expéditeur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L'adresse réelle diffère souvent du nom affiché — toujours vérifier le domaine exact.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Urgence artificielle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936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Votre compte sera bloqué dans 24h » — la pression est une technique classique de manipulation.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C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inhabituelle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entreprise légitime ne demande un mot de passe ou un numéro de carte par email.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C2430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Liens et pièces jointes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Survoler un lien avant de cliquer ; se méfier des pièces jointes non attendues.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Le réflexe qui protège : en cas de doute, contacter l'entreprise directement via son site officiel — jamais via le lien de l'email.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≈ 45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 face à une infection suspectée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72768"/>
            <a:ext cx="566928" cy="566928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1C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88720" y="1545336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15" name="Text 12"/>
          <p:cNvSpPr/>
          <p:nvPr/>
        </p:nvSpPr>
        <p:spPr>
          <a:xfrm>
            <a:off x="1417320" y="15910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le PC — débrancher Internet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09360" y="159105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Couper la connexion réseau pour empêcher l'exfiltration et la propagation.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414016"/>
            <a:ext cx="566928" cy="566928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1C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88720" y="2386584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20" name="Text 17"/>
          <p:cNvSpPr/>
          <p:nvPr/>
        </p:nvSpPr>
        <p:spPr>
          <a:xfrm>
            <a:off x="1417320" y="2432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symptômes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09360" y="24323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lent ? Pop-ups ? Antivirus désactivé ? Fichiers chiffrés ? Redirections 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255264"/>
            <a:ext cx="566928" cy="566928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1C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88720" y="322783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25" name="Text 22"/>
          <p:cNvSpPr/>
          <p:nvPr/>
        </p:nvSpPr>
        <p:spPr>
          <a:xfrm>
            <a:off x="1417320" y="32735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avec l'antivirus principal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309360" y="32735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Defender ou antivirus installé — lancer un scan complet.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096512"/>
            <a:ext cx="566928" cy="566928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1C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88720" y="40690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30" name="Text 27"/>
          <p:cNvSpPr/>
          <p:nvPr/>
        </p:nvSpPr>
        <p:spPr>
          <a:xfrm>
            <a:off x="1417320" y="4114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avec un outil secondaire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309360" y="4114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Malwarebytes Free — complémentaire, pas concurrent de l'antivirus principal.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937760"/>
            <a:ext cx="566928" cy="566928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1C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188720" y="4910328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35" name="Text 32"/>
          <p:cNvSpPr/>
          <p:nvPr/>
        </p:nvSpPr>
        <p:spPr>
          <a:xfrm>
            <a:off x="1417320" y="49560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les dégâts et décider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309360" y="49560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possible, ou réinstallation nécessaire 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DÉCISION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Réinstaller ou pas après une infection ?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Réinstaller si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331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confirmé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profonde et persistante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compromis en profondeur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complet impossible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Ne PAS réinstaller si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2331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adware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positif de l'antivirus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Lenteur d'origine logicielle non liée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standard suffisant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La décision se prend APRÈS l'étape 5 (évaluer les dégâts) — jamais dans la panique du moment.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5 — OUTILS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et protection Windows Defender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926080"/>
        </p:xfrm>
        <a:graphic>
          <a:graphicData uri="http://schemas.openxmlformats.org/drawingml/2006/table">
            <a:tbl>
              <a:tblPr/>
              <a:tblGrid>
                <a:gridCol w="3931920"/>
                <a:gridCol w="7315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Fonction Defender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qu'elle fait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en temps réel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 les fichiers à l'ouverture et bloque les menaces connues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 complète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 l'intégralité du disque — recommandé après suspicion d'infection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Pare-feu Windows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Filtre les connexions entrantes et sortantes suspectes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contre les ransomwares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Accès contrôlé aux dossiers sensibles (à activer manuellement)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SmartScreen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les sites et téléchargements signalés comme dangereux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Windows Defender suffit pour un usage courant bien entretenu — Malwarebytes reste le meilleur complément en cas de doute, pas un remplaçant.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VOCABULAIRE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Vocabulaire — Sécurité informatique (18 termes)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Terme générique pour tout logiciel malveillant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15384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4352544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52544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les données et exige une rançon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73568" y="155448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8110728" y="16093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10728" y="18836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Tentative de vol d'identifiants par usurpation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Trojan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4360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fait passer pour un logiciel légitime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15384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25" name="Text 22"/>
          <p:cNvSpPr/>
          <p:nvPr/>
        </p:nvSpPr>
        <p:spPr>
          <a:xfrm>
            <a:off x="4352544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352544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Espionne l'activité de l'utilisateur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73568" y="2359152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28" name="Text 25"/>
          <p:cNvSpPr/>
          <p:nvPr/>
        </p:nvSpPr>
        <p:spPr>
          <a:xfrm>
            <a:off x="8110728" y="24140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Adware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10728" y="2688336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des publicités envahissantes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4360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authentification, 2e facteur de sécurité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15384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34" name="Text 31"/>
          <p:cNvSpPr/>
          <p:nvPr/>
        </p:nvSpPr>
        <p:spPr>
          <a:xfrm>
            <a:off x="4352544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352544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Essais successifs pour deviner un mot de passe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973568" y="3163824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37" name="Text 34"/>
          <p:cNvSpPr/>
          <p:nvPr/>
        </p:nvSpPr>
        <p:spPr>
          <a:xfrm>
            <a:off x="8110728" y="32186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110728" y="349300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de données vers l'extérieur du réseau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57200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Autorun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94360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 automatique d'un support (ex : clé USB)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215384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43" name="Text 40"/>
          <p:cNvSpPr/>
          <p:nvPr/>
        </p:nvSpPr>
        <p:spPr>
          <a:xfrm>
            <a:off x="4352544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352544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malveillante exécutée par un malware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973568" y="3968496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46" name="Text 43"/>
          <p:cNvSpPr/>
          <p:nvPr/>
        </p:nvSpPr>
        <p:spPr>
          <a:xfrm>
            <a:off x="8110728" y="40233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110728" y="4297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Pare-feu — filtre le trafic réseau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49" name="Text 46"/>
          <p:cNvSpPr/>
          <p:nvPr/>
        </p:nvSpPr>
        <p:spPr>
          <a:xfrm>
            <a:off x="594360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SmartScreen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94360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Microsoft contre sites/fichiers dangereux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215384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52" name="Text 49"/>
          <p:cNvSpPr/>
          <p:nvPr/>
        </p:nvSpPr>
        <p:spPr>
          <a:xfrm>
            <a:off x="4352544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4352544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isolé pour tester un fichier suspect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7973568" y="4773168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55" name="Text 52"/>
          <p:cNvSpPr/>
          <p:nvPr/>
        </p:nvSpPr>
        <p:spPr>
          <a:xfrm>
            <a:off x="8110728" y="4828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Zero-day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8110728" y="510235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Faille de sécurité inconnue et non corrigée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57200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58" name="Text 55"/>
          <p:cNvSpPr/>
          <p:nvPr/>
        </p:nvSpPr>
        <p:spPr>
          <a:xfrm>
            <a:off x="594360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594360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Correctif de sécurité publié par l'éditeur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215384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61" name="Text 58"/>
          <p:cNvSpPr/>
          <p:nvPr/>
        </p:nvSpPr>
        <p:spPr>
          <a:xfrm>
            <a:off x="4352544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4352544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of Compromise — signe d'une infection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973568" y="5577840"/>
            <a:ext cx="3639312" cy="713232"/>
          </a:xfrm>
          <a:prstGeom prst="roundRect">
            <a:avLst>
              <a:gd name="adj" fmla="val 7692"/>
            </a:avLst>
          </a:prstGeom>
          <a:solidFill>
            <a:srgbClr val="1C2430"/>
          </a:solidFill>
          <a:ln/>
        </p:spPr>
      </p:sp>
      <p:sp>
        <p:nvSpPr>
          <p:cNvPr id="64" name="Text 61"/>
          <p:cNvSpPr/>
          <p:nvPr/>
        </p:nvSpPr>
        <p:spPr>
          <a:xfrm>
            <a:off x="8110728" y="56327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3-2-1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110728" y="590702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copies, 2 supports différents, 1 copie hors site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6 — ≈ 35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 et niveau de protection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200400"/>
        </p:xfrm>
        <a:graphic>
          <a:graphicData uri="http://schemas.openxmlformats.org/drawingml/2006/table">
            <a:tbl>
              <a:tblPr/>
              <a:tblGrid>
                <a:gridCol w="4389120"/>
                <a:gridCol w="53035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Bonne pratique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Pourquoi c'est important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Mises à jour Windows automatiques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Corrigent les failles de sécurité exploitées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Mots de passe forts et uniques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Protègent les comptes contre le brute force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 authentification (2FA)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l'accès même si le mot de passe est volé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élevé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Sauvegardes régulières (3-2-1)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Seule protection réelle contre le ransomware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Critique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Méfiance envers les emails suspects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Évite 90 % des infections par phishing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élevé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Antivirus activé et à jour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Détecte les menaces connues en temps réel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F5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Ces pratiques se cumulent — aucune n'est suffisante seule, ensemble elles forment une vraie défense en profondeur.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6 — ZOOM PROTECTION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— la règle 3-2-1, seule protection réelle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de vos données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5196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448056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différents (ex. disque + cloud)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6916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C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827532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hors site, à l'abri d'un chiffrement local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252F3D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977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payer la rançon n'est jamais une solution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" y="4297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garantie de récupération réelle des fichiers, et cela finance directement les attaquants pour de futures attaques. Seule une sauvegarde saine et hors ligne garantit une restauration fiable.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7 — POSTURE PROFESSIONNELLE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pédagogique du technicien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C2430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1947672"/>
            <a:ext cx="594360" cy="5943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C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08760" y="1828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sans juger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60720" y="1828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ne sait pas ce qu'il ne sait pas — le rôle du technicien est d'informer, pas de critiquer.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C2430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227832"/>
            <a:ext cx="594360" cy="594360"/>
          </a:xfrm>
          <a:prstGeom prst="ellipse">
            <a:avLst/>
          </a:prstGeom>
          <a:solidFill>
            <a:srgbClr val="FFA53D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227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C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3108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Prévenir sans faire peur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60720" y="31089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 est de créer de bons réflexes durables, pas de la paranoïa qui paralyse l'utilisateur.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2519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C2430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4507992"/>
            <a:ext cx="594360" cy="5943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4507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C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508760" y="4389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sans culpabiliser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760720" y="4389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L'incident est déjà stressant pour le client — l'objectif est d'éviter la récidive, pas de blâmer.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pratiques — ce que vous verrez sur Teams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formateur joue le rôle de l'usager. Vous posez les questions et guidez le diagnostic.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C243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1 — PC lent et pop-ups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Mon PC est devenu très lent et des publicités s'ouvrent tout seul. »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5204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374904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menace probable ? Première action ? Scanner avec quel outil 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15384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C2430"/>
          </a:solidFill>
          <a:ln/>
        </p:spPr>
      </p:sp>
      <p:sp>
        <p:nvSpPr>
          <p:cNvPr id="20" name="Text 17"/>
          <p:cNvSpPr/>
          <p:nvPr/>
        </p:nvSpPr>
        <p:spPr>
          <a:xfrm>
            <a:off x="4398264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2 — Email suspect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398264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398264" y="28346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reçoit un email de « Microsoft » lui demandant son mot de passe.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98264" y="35204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98264" y="374904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d'un phishing ? Réflexe à adopter ? Que vérifier dans l'email 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973568" y="192024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1C2430"/>
          </a:solidFill>
          <a:ln/>
        </p:spPr>
      </p:sp>
      <p:sp>
        <p:nvSpPr>
          <p:cNvPr id="26" name="Text 23"/>
          <p:cNvSpPr/>
          <p:nvPr/>
        </p:nvSpPr>
        <p:spPr>
          <a:xfrm>
            <a:off x="8156448" y="20574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3 — Fichiers chiffrés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156448" y="26060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situation 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156448" y="28346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fichiers ont une extension bizarre (.locked). Message de rançon.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56448" y="352044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: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56448" y="374904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d'attaque ? Action immédiate ? Faut-il payer la rançon ?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 — SUITE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— synthèse des 3 exercices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8013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lent + pop-ups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194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Adware probable → scanner avec Malwarebytes Free → vérifier les extensions du navigateur.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C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0358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suspect « Microsoft »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Phishing → vérifier l'adresse d'expéditeur réelle → ne jamais cliquer, transmettre à l'IT.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C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2702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chiffrés (.locked)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Ransomware → isoler immédiatement → évaluer les sauvegardes → JAMAIS payer la rançon.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classiques à éviter en intervention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002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C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70992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63950"/>
                </a:solidFill>
              </a:rPr>
              <a:t>❌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32588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une rançon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40680" y="1691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garantie de récupération, et cela finance les attaquants pour de futures attaques.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5603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C243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6700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63950"/>
                </a:solidFill>
              </a:rPr>
              <a:t>❌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325880" y="2651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Réinstaller au premier symptôme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40680" y="26517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simple adware ou faux positif ne justifie pas une réinstallation complète.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C243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301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63950"/>
                </a:solidFill>
              </a:rPr>
              <a:t>❌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32588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Juger ou culpabiliser l'utilisateur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36118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Casse la relation de confiance et décourage de signaler un futur incident.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C2430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59028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ECF8E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325880" y="4572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avant d'agir sur un ransomware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40680" y="45720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Débrancher le réseau en premier réflexe, avant tout autre diagnostic.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SÉANCE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obligatoire — fin de Séance 6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Validez mentalement chaque point avec votre formateur sur Teams avant de déclarer la séance terminée 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192024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18745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reconnais les types de menaces : virus, malware, trojan, ransomware, spyware, adware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2468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connais les symptômes d'une infection : lenteur, pop-ups, antivirus désactivé, fichiers chiffrés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3063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sais identifier les 5 portes d'entrée : email, téléchargement, clé USB, site compromis, piratage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3657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J'applique la méthode : isoler → identifier → scanner → évaluer → décider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251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connais les bonnes pratiques : mises à jour, mots de passe, 2FA, sauvegardes 3-2-1, méfiance email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89204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4846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sais quand réinstaller et quand ne pas réinstaller après une infection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486400"/>
            <a:ext cx="274320" cy="274320"/>
          </a:xfrm>
          <a:prstGeom prst="rect">
            <a:avLst/>
          </a:prstGeom>
          <a:solidFill>
            <a:srgbClr val="1C2430"/>
          </a:solidFill>
          <a:ln w="19050">
            <a:solidFill>
              <a:srgbClr val="22C7B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connais mon rôle pédagogique : expliquer sans juger, prévenir sans peur, corriger sans culpabiliser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FORMATEUR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Séance 6 — à valider avec votre formateur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252F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700784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distingue clairement virus, malware, trojan, ransomware, spyware et adware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359152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23042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J'isole un poste infecté avant toute autre action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96265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scanne avec l'antivirus principal puis un outil complémentaire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3675888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3621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reconnais un email de phishing et j'adopte le bon réflexe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334256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2793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J'explique la règle 3-2-1 et pourquoi elle protège contre le ransomware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992624"/>
            <a:ext cx="292608" cy="292608"/>
          </a:xfrm>
          <a:prstGeom prst="rect">
            <a:avLst/>
          </a:prstGeom>
          <a:solidFill>
            <a:srgbClr val="1C2430"/>
          </a:solidFill>
          <a:ln w="19050">
            <a:solidFill>
              <a:srgbClr val="FFA5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J'adopte une posture pédagogique sans juger l'utilisateur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A3560"/>
          </a:solidFill>
          <a:ln/>
        </p:spPr>
      </p:sp>
      <p:pic>
        <p:nvPicPr>
          <p:cNvPr id="3" name="Image 0" descr="/home/claude/s6work/sam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41148"/>
            <a:ext cx="756209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 &amp; bonnes pratiques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138160" y="27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058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Séance 6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0584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séance : Séance 7 — Comptes, Profils, Permissions et Diagnostic avancé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Validez la checklist et les compétences avec votre formateur avant de clore la session Teams.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6565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6 — Sécurité, virus, malwares et bonnes pratiques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CHAFIK MOUSTAID — FORMATEUR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0" y="6565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 — Juin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6 — Sécurité, virus, malware et bonnes pratiques utilisateur</dc:title>
  <dc:subject>PptxGenJS Presentation</dc:subject>
  <dc:creator>Chafik Moustaid</dc:creator>
  <cp:lastModifiedBy>Chafik Moustaid</cp:lastModifiedBy>
  <cp:revision>1</cp:revision>
  <dcterms:created xsi:type="dcterms:W3CDTF">2026-07-07T03:24:21Z</dcterms:created>
  <dcterms:modified xsi:type="dcterms:W3CDTF">2026-07-07T03:24:21Z</dcterms:modified>
</cp:coreProperties>
</file>