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19359" cy="685800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19359" y="0"/>
            <a:ext cx="7069592" cy="6858000"/>
          </a:xfrm>
          <a:prstGeom prst="rect">
            <a:avLst/>
          </a:prstGeom>
          <a:solidFill>
            <a:srgbClr val="2A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82783" y="0"/>
            <a:ext cx="73152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"/>
            <a:ext cx="15240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1031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SÉANCE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4206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Sections et table
des matières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6559" y="2377440"/>
            <a:ext cx="6155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TECHNIQUE SUPPORT INFORMATIQUE — MICROSOFT WORD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6559" y="2834640"/>
            <a:ext cx="61551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Structurer un long document et générer une table des matières automatique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6559" y="3977639"/>
            <a:ext cx="118872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Formation SAMO — Chafik Moustaid, formateur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01568"/>
            <a:ext cx="12188952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40280"/>
            <a:ext cx="107259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Un document de cent pages sans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7259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9A227"/>
                </a:solidFill>
              </a:rPr>
              <a:t>est illisible. Avec des sections, il devient un outil.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AAAAAA"/>
                </a:solidFill>
              </a:rPr>
              <a:t>Séance 6 sur 12 — Formation Word, Formation SAMO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6 — Sections et table des matières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Plan de la séance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Ce que nous allons couvrir aujourd'hui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783080"/>
            <a:ext cx="3788664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783080"/>
            <a:ext cx="3788664" cy="914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2039112"/>
            <a:ext cx="3459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227"/>
                </a:solidFill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2377440"/>
            <a:ext cx="3459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Comprendre les sections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7304" y="1783080"/>
            <a:ext cx="3788664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7304" y="1783080"/>
            <a:ext cx="3788664" cy="9144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1896" y="2039112"/>
            <a:ext cx="3459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1896" y="2377440"/>
            <a:ext cx="3459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Les différents types de sauts de section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63128" y="1783080"/>
            <a:ext cx="3788664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63128" y="1783080"/>
            <a:ext cx="3788664" cy="914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27720" y="2039112"/>
            <a:ext cx="3459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227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7720" y="2377440"/>
            <a:ext cx="3459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Alignement vertical d'une section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931920"/>
            <a:ext cx="3788664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3931920"/>
            <a:ext cx="3788664" cy="9144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4187952"/>
            <a:ext cx="3459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" y="4526280"/>
            <a:ext cx="3459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Mise en page d'un document divisé en sections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37304" y="3931920"/>
            <a:ext cx="3788664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37304" y="3931920"/>
            <a:ext cx="3788664" cy="914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01896" y="4187952"/>
            <a:ext cx="3459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A227"/>
                </a:solidFill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1896" y="4526280"/>
            <a:ext cx="3459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Créer une table des matières automatique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63128" y="3931920"/>
            <a:ext cx="3788664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63128" y="3931920"/>
            <a:ext cx="3788664" cy="9144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27720" y="4187952"/>
            <a:ext cx="3459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27720" y="4526280"/>
            <a:ext cx="3459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Styles de titres et mise à jour de la TDM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6 — Sections et table des matières | Formation SAMO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6 — Sections et table des matières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Comprendre les sections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Une section permet une mise en page indépendante dans un même document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78308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7724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Élément</a:t>
                      </a:r>
                    </a:p>
                  </a:txBody>
                  <a:tcPr>
                    <a:solidFill>
                      <a:srgbClr val="C9A2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Explication</a:t>
                      </a:r>
                    </a:p>
                  </a:txBody>
                  <a:tcPr>
                    <a:solidFill>
                      <a:srgbClr val="C9A22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Définition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Partie du document qui peut avoir ses propres marges, orientation, en-têtes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Pourquoi les utiliser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Combiner portrait et paysage, ou changer la numérotation en cours de document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Où les insérer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Mise en page &gt; Sauts de page &gt; catégorie Sauts de section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Visibilité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Visibles comme une double ligne pointillée avec Ctrl+Maj+8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6 — Sections et table des matières | Formation SAMO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6 — Sections et table des matières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Les différents types de sauts de 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Quatre options selon l'effet recherché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78308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758952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Type de saut</a:t>
                      </a:r>
                    </a:p>
                  </a:txBody>
                  <a:tcPr>
                    <a:solidFill>
                      <a:srgbClr val="C9A2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Effet</a:t>
                      </a:r>
                    </a:p>
                  </a:txBody>
                  <a:tcPr>
                    <a:solidFill>
                      <a:srgbClr val="C9A22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Page suivante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Démarre la nouvelle section sur une nouvelle page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Continu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Démarre la nouvelle section sur la même page, sans saut visible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Page paire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Démarre la nouvelle section sur la prochaine page paire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Page impaire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Démarre la nouvelle section sur la prochaine page impaire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6 — Sections et table des matières | Formation SAMO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6 — Sections et table des matières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Alignement vertical d'une 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Positionner le contenu entre les marges haut et bas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500116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500116" cy="4572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856231"/>
            <a:ext cx="51343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Où le régler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23160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Mise en page &gt; lanceur du groupe Mise en page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898648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Onglet Disposition &gt; Alignement vertical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374136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S'applique à la section active ou à tout le document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1783080"/>
            <a:ext cx="5500116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1636" y="1783080"/>
            <a:ext cx="5500116" cy="4572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4516" y="1856231"/>
            <a:ext cx="51343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Options disponibles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0236" y="2423160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Haut : contenu collé en haut de page (par défaut)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0236" y="2898648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Centré : idéal pour une page de titre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0236" y="3374136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Justifié : répartit le texte sur toute la hauteur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6 — Sections et table des matières | Formation SAMO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6 — Sections et table des matières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Mise en page d'un document divisé en sections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La méthode pour combiner plusieurs mises en page dans un seul fichier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457200" cy="7589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61387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1783080"/>
            <a:ext cx="10725912" cy="7589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1837943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Planifier les zones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112264"/>
            <a:ext cx="1045159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Identifier les parties nécessitant une mise en page différente (page de titre, annexes).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51760"/>
            <a:ext cx="457200" cy="7589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83006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2651760"/>
            <a:ext cx="10725912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2706624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Insérer les sauts de section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980944"/>
            <a:ext cx="1045159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Positionner le curseur, puis Mise en page &gt; Sauts de page &gt; type de saut voulu.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520439"/>
            <a:ext cx="457200" cy="7589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69874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3520439"/>
            <a:ext cx="10725912" cy="7589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3575303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Modifier chaque section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3849624"/>
            <a:ext cx="1045159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Cliquer dans une section, puis changer marges, orientation ou numérotation librement.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389120"/>
            <a:ext cx="457200" cy="7589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56742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4389120"/>
            <a:ext cx="10725912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4443983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Gérer l'en-tête et le pied de page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4718304"/>
            <a:ext cx="1045159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Désactiver Lier au précédent si la numérotation doit changer entre sections.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257800"/>
            <a:ext cx="457200" cy="7589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43610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0" y="5257800"/>
            <a:ext cx="10725912" cy="7589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5312664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Vérifier avec les marques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5586984"/>
            <a:ext cx="1045159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Ctrl+Maj+8 pour confirmer l'emplacement exact de chaque saut de section.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6 — Sections et table des matières | Formation SAMO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6 — Sections et table des matières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Créer une table des matières automatique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À condition d'avoir utilisé les styles de titres au préalable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457200" cy="7589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61387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1783080"/>
            <a:ext cx="10725912" cy="7589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1837943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Appliquer les styles de titres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112264"/>
            <a:ext cx="1045159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Titre 1 pour les chapitres, Titre 2 pour les sous-sections, etc.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51760"/>
            <a:ext cx="457200" cy="7589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83006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2651760"/>
            <a:ext cx="10725912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2706624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Positionner le curseur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980944"/>
            <a:ext cx="1045159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Placer le point d'insertion là où la table des matières doit apparaître.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520439"/>
            <a:ext cx="457200" cy="7589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69874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3520439"/>
            <a:ext cx="10725912" cy="7589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3575303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Références &gt; Table des matières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3849624"/>
            <a:ext cx="1045159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Choisir un style automatique dans la galerie proposée.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389120"/>
            <a:ext cx="457200" cy="7589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56742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4389120"/>
            <a:ext cx="10725912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4443983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Vérifier le résultat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4718304"/>
            <a:ext cx="1045159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La table liste tous les titres avec leurs numéros de page, cliquables en Ctrl+clic.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257800"/>
            <a:ext cx="457200" cy="7589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43610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0" y="5257800"/>
            <a:ext cx="10725912" cy="7589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5312664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Mettre à jour au besoin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5586984"/>
            <a:ext cx="1045159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Clic droit sur la table &gt; Mettre à jour les champs, après toute modification.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6 — Sections et table des matières | Formation SAMO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6 — Sections et table des matières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Sections et table
des matières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Structurer un long document et générer une table des matières automatique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28800"/>
            <a:ext cx="10908792" cy="4206240"/>
          </a:xfrm>
          <a:prstGeom prst="rect">
            <a:avLst/>
          </a:prstGeom>
          <a:solidFill>
            <a:srgbClr val="F7F7F7"/>
          </a:solidFill>
          <a:ln w="15240">
            <a:solidFill>
              <a:srgbClr val="99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828800"/>
            <a:ext cx="10908792" cy="384048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212848"/>
            <a:ext cx="10908792" cy="16459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1892807"/>
            <a:ext cx="10579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0"/>
                </a:solidFill>
              </a:rPr>
              <a:t>[ Screenshot ] Table des matières générée automatiquement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91556" y="3547872"/>
            <a:ext cx="1005840" cy="594360"/>
          </a:xfrm>
          <a:prstGeom prst="rect">
            <a:avLst/>
          </a:prstGeom>
          <a:solidFill>
            <a:srgbClr val="DDE4EE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29884" y="3383280"/>
            <a:ext cx="329184" cy="201168"/>
          </a:xfrm>
          <a:prstGeom prst="rect">
            <a:avLst/>
          </a:prstGeom>
          <a:solidFill>
            <a:srgbClr val="DDE4EE"/>
          </a:solidFill>
          <a:ln w="1016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93308" y="3712464"/>
            <a:ext cx="402336" cy="402336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224528"/>
            <a:ext cx="10543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95959"/>
                </a:solidFill>
              </a:rPr>
              <a:t>Insérez ici une capture d'écran d'une table des matières avec trois niveaux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572000"/>
            <a:ext cx="10543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AAAAA"/>
                </a:solidFill>
              </a:rPr>
              <a:t>Recommandé : montrer les numéros de page alignés à droite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705855"/>
            <a:ext cx="10908792" cy="329184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5705855"/>
            <a:ext cx="10908792" cy="16459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751576"/>
            <a:ext cx="106344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688"/>
                </a:solidFill>
              </a:rPr>
              <a:t>Clic droit sur cette zone → Modifier l'image → choisir votre screenshot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6 — Sections et table des matières | Formation SAMO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6 — Sections et table des matières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Style 4 et plus — niveaux de titres avancés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La table des matières peut inclure plus de trois niveaux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78308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7724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Niveau de style</a:t>
                      </a:r>
                    </a:p>
                  </a:txBody>
                  <a:tcPr>
                    <a:solidFill>
                      <a:srgbClr val="C9A2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Usage recommandé</a:t>
                      </a:r>
                    </a:p>
                  </a:txBody>
                  <a:tcPr>
                    <a:solidFill>
                      <a:srgbClr val="C9A22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Titre 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Chapitres principaux du document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Titre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Sections à l'intérieur d'un chapitre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Titre 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Sous-sections plus détaillées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Titre 4 et plus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Rarement nécessaire — signale souvent une structure trop fragmentée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Options de la table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Références &gt; Table des matières &gt; Table des matières personnalisée &gt; régler le nombre de niveaux affichés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6 — Sections et table des matières | Formation SAMO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6 — Sections et table des matières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Mettre à jour la table des matières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Une étape à ne jamais oublier avant de livrer un document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500116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500116" cy="4572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856231"/>
            <a:ext cx="51343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Mise à jour rapide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23160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Clic droit sur la table &gt; Mettre à jour les champs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898648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F9 avec le curseur dans la table des matières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374136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Choisir Mettre à jour les numéros de page uniquement, ou toute la table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1783080"/>
            <a:ext cx="5500116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1636" y="1783080"/>
            <a:ext cx="5500116" cy="4572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4516" y="1856231"/>
            <a:ext cx="51343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Quand mettre à jour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0236" y="2423160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Après l'ajout ou la suppression d'un titre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0236" y="2898648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Après tout changement de pagination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0236" y="3374136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Toujours juste avant l'impression ou l'export final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6 — Sections et table des matières | Formation SAMO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6 — Sections et table des matières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Dépannage — table des matières vide ou incorrecte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Les causes les plus fréquentes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78308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22376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Symptôme</a:t>
                      </a:r>
                    </a:p>
                  </a:txBody>
                  <a:tcPr>
                    <a:solidFill>
                      <a:srgbClr val="C9A2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Cause probable</a:t>
                      </a:r>
                    </a:p>
                  </a:txBody>
                  <a:tcPr>
                    <a:solidFill>
                      <a:srgbClr val="C9A22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La table reste vide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Les titres ne sont pas mis en forme avec un style Titre, juste en gras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Numéros de page incorrects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La table n'a pas été mise à jour après une modification du document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Titres manquants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Le niveau de style utilisé dépasse le nombre de niveaux affichés dans la table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6 — Sections et table des matières | Formation SAMO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6 — Sections et table des matières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Cas pratiques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Trois situations vécues en atelier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737360"/>
            <a:ext cx="3694176" cy="4709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737360"/>
            <a:ext cx="3694176" cy="4572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1783080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Cas 1 — Lucie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" y="2286000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C9A227"/>
                </a:solidFill>
              </a:rPr>
              <a:t>Doit avoir une page de titre sans numéro de page, puis une numérotation qui commence à 1 ensuite.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2880360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595959"/>
                </a:solidFill>
              </a:rPr>
              <a:t>• Comment séparer les deux zones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" y="3410712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595959"/>
                </a:solidFill>
              </a:rPr>
              <a:t>• Comment redémarrer la numérotation 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989320"/>
            <a:ext cx="3429000" cy="3657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035040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Piste : Insérer un saut de section Page suivante, puis désolidariser la numérotation entre sections.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61104" y="1737360"/>
            <a:ext cx="3694176" cy="4709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61104" y="1737360"/>
            <a:ext cx="3694176" cy="4572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1783080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Cas 2 — Isabelle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286000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3560"/>
                </a:solidFill>
              </a:rPr>
              <a:t>A ajouté trois nouveaux chapitres mais sa table des matières affiche encore les anciens numéros de page.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880360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595959"/>
                </a:solidFill>
              </a:rPr>
              <a:t>• La table des matières se met-elle à jour seule 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410712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595959"/>
                </a:solidFill>
              </a:rPr>
              <a:t>• Quelle commande utiliser 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98264" y="5989320"/>
            <a:ext cx="3429000" cy="3657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9704" y="6035040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Piste : Clic droit sur la table des matières &gt; Mettre à jour les champs &gt; Mettre à jour toute la table.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56448" y="1737360"/>
            <a:ext cx="3694176" cy="4709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56448" y="1737360"/>
            <a:ext cx="3694176" cy="4572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84464" y="1783080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Cas 3 — François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4464" y="2286000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C9A227"/>
                </a:solidFill>
              </a:rPr>
              <a:t>Sa table des matières est vide alors que le document contient bien des titres.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4464" y="2880360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595959"/>
                </a:solidFill>
              </a:rPr>
              <a:t>• Pourquoi la table ne détecte-t-elle rien 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4464" y="3410712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595959"/>
                </a:solidFill>
              </a:rPr>
              <a:t>• Que faut-il vérifier en premier 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93608" y="5989320"/>
            <a:ext cx="3429000" cy="3657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85048" y="6035040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Piste : Vérifier que les titres utilisent bien les styles Titre 1/Titre 2, pas juste du gras.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6 — Sections et table des matières | Formation SAMO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6 — Sections et table des matières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Sections et table des matières — les trois réflexes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Ce qu'il faut retenir avant de rédiger un long document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3605784" cy="4297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3605784" cy="4572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847088"/>
            <a:ext cx="3331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Styles d'abord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423160"/>
            <a:ext cx="3276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•  Toujours utiliser les styles Titre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2971800"/>
            <a:ext cx="3276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•  Jamais du gras seul pour un titre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1584" y="1783080"/>
            <a:ext cx="3605784" cy="4297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3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1584" y="1783080"/>
            <a:ext cx="3605784" cy="4572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28744" y="1847088"/>
            <a:ext cx="3331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Sections ensuite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6176" y="2423160"/>
            <a:ext cx="3276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•  Pour toute mise en page qui varie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6176" y="2971800"/>
            <a:ext cx="3276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•  Page de titre, annexes, tableaux larges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25968" y="1783080"/>
            <a:ext cx="3605784" cy="4297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25968" y="1783080"/>
            <a:ext cx="3605784" cy="4572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3128" y="1847088"/>
            <a:ext cx="3331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Mise à jour à la fin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0560" y="2423160"/>
            <a:ext cx="3276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•  F9 avant chaque impression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0560" y="2971800"/>
            <a:ext cx="3276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•  Vérifier les numéros de page un par un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6 — Sections et table des matières | Formation SAMO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6 — Sections et table des matières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Bonnes pratiques pour documents longs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Ce qui distingue un rapport professionnel bien structuré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78308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704088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Pratique</a:t>
                      </a:r>
                    </a:p>
                  </a:txBody>
                  <a:tcPr>
                    <a:solidFill>
                      <a:srgbClr val="C9A2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Bénéfice</a:t>
                      </a:r>
                    </a:p>
                  </a:txBody>
                  <a:tcPr>
                    <a:solidFill>
                      <a:srgbClr val="C9A22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Numéroter les sections de façon cohérente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Facilite la navigation et les références croisées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Limiter la structure à trois niveaux de titres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Garde la table des matières lisible et utile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Vérifier la table avant chaque envoi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Évite d'envoyer un document avec des numéros de page erronés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Nommer clairement chaque section dans les titres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Permet de retrouver un contenu en un coup d'œil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6 — Sections et table des matières | Formation SAMO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6 — Sections et table des matières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"/>
            <a:ext cx="12188952" cy="62636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7772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Vocabulaire clé de la séance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34440"/>
            <a:ext cx="128016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508760"/>
            <a:ext cx="73152" cy="7315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55448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9A22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837943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Partie du document avec sa propre mise en page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50008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350008"/>
            <a:ext cx="73152" cy="7315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395727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9A227"/>
                </a:solidFill>
              </a:rPr>
              <a:t>Saut de section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679191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Marque séparant deux sections différentes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191256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191256"/>
            <a:ext cx="73152" cy="7315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23697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9A227"/>
                </a:solidFill>
              </a:rPr>
              <a:t>Saut continu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5204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Nouvelle section sans changement de page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032504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032504"/>
            <a:ext cx="73152" cy="7315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07822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9A227"/>
                </a:solidFill>
              </a:rPr>
              <a:t>Table des matières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36168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Liste automatique des titres avec numéros de page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873752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873752"/>
            <a:ext cx="73152" cy="7315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91947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9A227"/>
                </a:solidFill>
              </a:rPr>
              <a:t>Style Titre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202936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Style utilisé pour les chapitres principaux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715000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5715000"/>
            <a:ext cx="73152" cy="7315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7607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9A227"/>
                </a:solidFill>
              </a:rPr>
              <a:t>Style Titre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044184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Style utilisé pour les sous-sections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1508760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97680" y="1508760"/>
            <a:ext cx="73152" cy="7315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80560" y="155448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9A227"/>
                </a:solidFill>
              </a:rPr>
              <a:t>Champ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1837943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Contenu généré automatiquement par Word (ex. numéro de page)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97680" y="2350008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97680" y="2350008"/>
            <a:ext cx="73152" cy="7315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80560" y="2395727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9A227"/>
                </a:solidFill>
              </a:rPr>
              <a:t>Mettre à jour les champs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0" y="2679191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Actualiser une table des matières après modification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97680" y="3191256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97680" y="3191256"/>
            <a:ext cx="73152" cy="7315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80560" y="323697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9A227"/>
                </a:solidFill>
              </a:rPr>
              <a:t>Lier au précédent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60" y="35204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Option liant l'en-tête d'une section à la précédente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97680" y="4032504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97680" y="4032504"/>
            <a:ext cx="73152" cy="7315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80560" y="407822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9A227"/>
                </a:solidFill>
              </a:rPr>
              <a:t>Alignement vertical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80560" y="436168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Position du contenu entre le haut et le bas de la page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97680" y="4873752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297680" y="4873752"/>
            <a:ext cx="73152" cy="7315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80560" y="491947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9A227"/>
                </a:solidFill>
              </a:rPr>
              <a:t>Niveau de titre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80560" y="5202936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Hiérarchie d'un titre (1, 2, 3, etc.)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97680" y="5715000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297680" y="5715000"/>
            <a:ext cx="73152" cy="7315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80560" y="57607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9A227"/>
                </a:solidFill>
              </a:rPr>
              <a:t>Ctrl+clic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80560" y="6044184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Permet de suivre un lien dans la table des matières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38160" y="1508760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138160" y="1508760"/>
            <a:ext cx="73152" cy="7315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21040" y="155448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9A227"/>
                </a:solidFill>
              </a:rPr>
              <a:t>Table personnalisée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21040" y="1837943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Table des matières dont le nombre de niveaux est ajusté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38160" y="2350008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138160" y="2350008"/>
            <a:ext cx="73152" cy="7315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21040" y="2395727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9A227"/>
                </a:solidFill>
              </a:rPr>
              <a:t>Numérotation de page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21040" y="2679191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Système de pagination pouvant varier par section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38160" y="3191256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138160" y="3191256"/>
            <a:ext cx="73152" cy="7315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321040" y="323697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9A227"/>
                </a:solidFill>
              </a:rPr>
              <a:t>Document long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21040" y="35204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Document structuré en plusieurs chapitres ou parties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138160" y="4032504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138160" y="4032504"/>
            <a:ext cx="73152" cy="7315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321040" y="407822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9A227"/>
                </a:solidFill>
              </a:rPr>
              <a:t>F9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21040" y="436168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Raccourci de mise à jour d'un champ sélectionné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138160" y="4873752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138160" y="4873752"/>
            <a:ext cx="73152" cy="7315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321040" y="491947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9A227"/>
                </a:solidFill>
              </a:rPr>
              <a:t>Volet de navigation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21040" y="5202936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Panneau affichant la structure du document par titres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138160" y="5715000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138160" y="5715000"/>
            <a:ext cx="73152" cy="7315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321040" y="57607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C9A227"/>
                </a:solidFill>
              </a:rPr>
              <a:t>Références (onglet)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321040" y="6044184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Onglet du ruban contenant la commande Table des matières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6 — Sections et table des matières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"/>
            <a:ext cx="12188952" cy="62636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7772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Mémo raccourcis clavier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34440"/>
            <a:ext cx="128016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5733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F9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1508760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1575625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Mettre à jour le champ sélectionné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063114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1169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Ctrl+Maj+8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2063114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40" y="2129980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Afficher les sauts de section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617470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66604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Ctrl+clic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2617470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34640" y="2684335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Suivre un lien dans la table des matières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171825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22040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Alt+Maj+Flèche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51760" y="3171825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4640" y="3238690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Déplacer un titre dans le mode Plan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726179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77475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Ctrl+Alt+1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51760" y="3726179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34640" y="3793045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Appliquer le style Titre 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280535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32911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Ctrl+Alt+2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4280535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34640" y="4347400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Appliquer le style Titre 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834890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88346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Ctrl+Alt+3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51760" y="4834890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34640" y="4901755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Appliquer le style Titre 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389244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43782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Ctrl+F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51760" y="5389244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34640" y="5456110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Ouvrir le volet de navigation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6 — Sections et table des matières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Sections et table
des matières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Structurer un long document et générer une table des matières automatique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28800"/>
            <a:ext cx="10908792" cy="4206240"/>
          </a:xfrm>
          <a:prstGeom prst="rect">
            <a:avLst/>
          </a:prstGeom>
          <a:solidFill>
            <a:srgbClr val="F7F7F7"/>
          </a:solidFill>
          <a:ln w="15240">
            <a:solidFill>
              <a:srgbClr val="99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828800"/>
            <a:ext cx="10908792" cy="384048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212848"/>
            <a:ext cx="10908792" cy="16459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1892807"/>
            <a:ext cx="10579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0"/>
                </a:solidFill>
              </a:rPr>
              <a:t>[ Screenshot ] Galerie de sauts de section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91556" y="3547872"/>
            <a:ext cx="1005840" cy="594360"/>
          </a:xfrm>
          <a:prstGeom prst="rect">
            <a:avLst/>
          </a:prstGeom>
          <a:solidFill>
            <a:srgbClr val="DDE4EE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29884" y="3383280"/>
            <a:ext cx="329184" cy="201168"/>
          </a:xfrm>
          <a:prstGeom prst="rect">
            <a:avLst/>
          </a:prstGeom>
          <a:solidFill>
            <a:srgbClr val="DDE4EE"/>
          </a:solidFill>
          <a:ln w="1016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93308" y="3712464"/>
            <a:ext cx="402336" cy="402336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224528"/>
            <a:ext cx="10543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95959"/>
                </a:solidFill>
              </a:rPr>
              <a:t>Insérez ici une capture d'écran du menu Sauts de page ouvert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572000"/>
            <a:ext cx="10543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AAAAA"/>
                </a:solidFill>
              </a:rPr>
              <a:t>Recommandé : montrer les quatre types de sauts de section disponibles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705855"/>
            <a:ext cx="10908792" cy="329184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5705855"/>
            <a:ext cx="10908792" cy="16459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751576"/>
            <a:ext cx="106344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688"/>
                </a:solidFill>
              </a:rPr>
              <a:t>Clic droit sur cette zone → Modifier l'image → choisir votre screenshot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6 — Sections et table des matières | Formation SAMO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6 — Sections et table des matières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À vous de jouer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4 exercices pratiques à réaliser dans Word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11274552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02920" cy="10058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084831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874519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Exercice 21 — Insérer des sauts de section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185416"/>
            <a:ext cx="10451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Divisez un document de test en trois sections avec des sauts de type Page suivante.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26080"/>
            <a:ext cx="1127455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926080"/>
            <a:ext cx="502920" cy="10058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227832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017520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Exercice 22 — Alignement vertical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328416"/>
            <a:ext cx="10451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Créez une page de titre centrée verticalement dans sa propre section.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69080"/>
            <a:ext cx="11274552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069080"/>
            <a:ext cx="502920" cy="10058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370832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160520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Exercice 23 — Table des matières automatique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471416"/>
            <a:ext cx="10451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Appliquez des styles Titre 1 et Titre 2, puis générez une table des matières automatique.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212080"/>
            <a:ext cx="1127455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212080"/>
            <a:ext cx="502920" cy="10058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513832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303520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Exercice — Mise à jour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614416"/>
            <a:ext cx="10451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Ajoutez un nouveau titre au document, puis mettez à jour la table des matières en conséquence.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6 — Sections et table des matières | Formation SAMO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6 — Sections et table des matières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Récapitulatif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Ce qu'il faut retenir de cette séance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11274552" cy="7498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91440" cy="7498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856231"/>
            <a:ext cx="109087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Une section permet d'avoir plusieurs mises en page dans un même document.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42616"/>
            <a:ext cx="11274552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642616"/>
            <a:ext cx="91440" cy="7498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715768"/>
            <a:ext cx="109087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Il existe quatre types de sauts de section : Page suivante, Continu, Page paire, Page impaire.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02152"/>
            <a:ext cx="11274552" cy="7498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502152"/>
            <a:ext cx="91440" cy="7498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575304"/>
            <a:ext cx="109087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Une table des matières automatique exige l'utilisation préalable des styles Titre.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61688"/>
            <a:ext cx="11274552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361688"/>
            <a:ext cx="91440" cy="7498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434840"/>
            <a:ext cx="109087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F9 ou le clic droit permettent de mettre à jour la table des matières après modification.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221224"/>
            <a:ext cx="11274552" cy="7498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221224"/>
            <a:ext cx="91440" cy="7498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294376"/>
            <a:ext cx="109087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Limiter la structure à trois niveaux de titres garde le document lisible.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6 — Sections et table des matières | Formation SAMO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6 — Sections et table des matières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Astuce de pro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20240"/>
            <a:ext cx="10908792" cy="1463040"/>
          </a:xfrm>
          <a:prstGeom prst="rect">
            <a:avLst/>
          </a:prstGeom>
          <a:solidFill>
            <a:srgbClr val="FFF0E0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20240"/>
            <a:ext cx="502920" cy="14630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2450592"/>
            <a:ext cx="3931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93392"/>
            <a:ext cx="10222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95200"/>
                </a:solidFill>
              </a:rPr>
              <a:t>Utilisez le volet de navigation pour vérifier votre 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286000"/>
            <a:ext cx="102229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Ctrl+F ouvre le volet de navigation : son onglet Titres affiche instantanément la hiérarchie complète du document. C'est le moyen le plus rapide de repérer un titre mal stylé avant même de générer la table des matières.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5760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Pièges fréquents à éviter 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114800"/>
            <a:ext cx="10543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⚠  Mettre un titre en gras sans lui appliquer un vrai style Titre.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572000"/>
            <a:ext cx="10543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⚠  Oublier de mettre à jour la table des matières avant l'impression finale.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29200"/>
            <a:ext cx="10543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⚠  Utiliser trop de niveaux de titres, rendant la table illisible.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6 — Sections et table des matières | Formation SAMO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6 — Sections et table des matières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Compétences acquises — À valider avec votre formateur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746504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71907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9A227"/>
                </a:solidFill>
              </a:rPr>
              <a:t>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" y="1719072"/>
            <a:ext cx="10890504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773936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3560"/>
                </a:solidFill>
              </a:rPr>
              <a:t>Je comprends ce qu'est une section et pourquoi l'utiliser.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322576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2951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9A227"/>
                </a:solidFill>
              </a:rPr>
              <a:t>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" y="2295144"/>
            <a:ext cx="1089050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350008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Je connais les quatre types de sauts de section.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2898648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28712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9A227"/>
                </a:solidFill>
              </a:rPr>
              <a:t>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" y="2871216"/>
            <a:ext cx="10890504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2926080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3560"/>
                </a:solidFill>
              </a:rPr>
              <a:t>Je sais centrer verticalement le contenu d'une section.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3474720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344728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9A227"/>
                </a:solidFill>
              </a:rPr>
              <a:t>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" y="3447288"/>
            <a:ext cx="1089050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3502152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Je sais mettre en page un document divisé en plusieurs sections.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4050791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40233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9A227"/>
                </a:solidFill>
              </a:rPr>
              <a:t>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" y="4023360"/>
            <a:ext cx="10890504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078224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3560"/>
                </a:solidFill>
              </a:rPr>
              <a:t>Je sais appliquer les styles Titre 1, Titre 2 et Titre 3.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4626864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45994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9A227"/>
                </a:solidFill>
              </a:rPr>
              <a:t>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6112" y="4599432"/>
            <a:ext cx="1089050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4654296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Je sais générer une table des matières automatique.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" y="5202936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" y="517550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9A227"/>
                </a:solidFill>
              </a:rPr>
              <a:t>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6112" y="5175504"/>
            <a:ext cx="10890504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230368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3560"/>
                </a:solidFill>
              </a:rPr>
              <a:t>Je sais mettre à jour une table des matières après modification.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4048" y="5779007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" y="57515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C9A227"/>
                </a:solidFill>
              </a:rPr>
              <a:t>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6112" y="5751576"/>
            <a:ext cx="1089050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" y="5806440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Je sais diagnostiquer une table des matières vide ou incorrecte.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4048" y="6419088"/>
            <a:ext cx="11420856" cy="25603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" y="6409944"/>
            <a:ext cx="112379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FIN SÉANCE 6 — Valider avec votre formateur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