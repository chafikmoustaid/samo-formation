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0" d="100"/>
          <a:sy n="110" d="100"/>
        </p:scale>
        <p:origin x="-55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0" y="1371600"/>
            <a:ext cx="1097280" cy="603504"/>
          </a:xfrm>
          <a:prstGeom prst="rect">
            <a:avLst/>
          </a:prstGeom>
          <a:solidFill>
            <a:srgbClr val="154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0" y="2560320"/>
            <a:ext cx="640080" cy="352044"/>
          </a:xfrm>
          <a:prstGeom prst="rect">
            <a:avLst/>
          </a:prstGeom>
          <a:solidFill>
            <a:srgbClr val="154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0" y="3840480"/>
            <a:ext cx="822960" cy="452628"/>
          </a:xfrm>
          <a:prstGeom prst="rect">
            <a:avLst/>
          </a:prstGeom>
          <a:solidFill>
            <a:srgbClr val="154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89920" y="1645920"/>
            <a:ext cx="457200" cy="251460"/>
          </a:xfrm>
          <a:prstGeom prst="rect">
            <a:avLst/>
          </a:prstGeom>
          <a:solidFill>
            <a:srgbClr val="154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155680" y="3657600"/>
            <a:ext cx="548640" cy="301752"/>
          </a:xfrm>
          <a:prstGeom prst="rect">
            <a:avLst/>
          </a:prstGeom>
          <a:solidFill>
            <a:srgbClr val="154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38160" y="1600200"/>
            <a:ext cx="1463040" cy="36576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26880" y="2743200"/>
            <a:ext cx="548640" cy="36576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78240" y="3474720"/>
            <a:ext cx="2011680" cy="36576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28016"/>
            <a:ext cx="1097280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64275" y="12525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</a:rPr>
              <a:t>Séance 8 — </a:t>
            </a:r>
            <a:r>
              <a:rPr sz="1200" b="0" i="0" dirty="0" err="1">
                <a:solidFill>
                  <a:schemeClr val="bg1"/>
                </a:solidFill>
              </a:rPr>
              <a:t>Réseau</a:t>
            </a:r>
            <a:r>
              <a:rPr sz="1200" b="0" i="0" dirty="0">
                <a:solidFill>
                  <a:schemeClr val="bg1"/>
                </a:solidFill>
              </a:rPr>
              <a:t> et Internet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310896"/>
            <a:ext cx="2926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chemeClr val="bg1"/>
                </a:solidFill>
              </a:rPr>
              <a:t>Version 1 — </a:t>
            </a:r>
            <a:r>
              <a:rPr sz="900" b="0" i="0" dirty="0" err="1">
                <a:solidFill>
                  <a:schemeClr val="bg1"/>
                </a:solidFill>
              </a:rPr>
              <a:t>Juin</a:t>
            </a:r>
            <a:r>
              <a:rPr sz="900" b="0" i="0" dirty="0">
                <a:solidFill>
                  <a:schemeClr val="bg1"/>
                </a:solidFill>
              </a:rPr>
              <a:t>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28016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Réseau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956816"/>
            <a:ext cx="6858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 dirty="0">
                <a:solidFill>
                  <a:schemeClr val="bg1"/>
                </a:solidFill>
              </a:rPr>
              <a:t>et Internet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67004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DD"/>
                </a:solidFill>
              </a:rPr>
              <a:t>TCP/IP · DHCP · DNS · Ping · Wi-Fi · ipconfig · tracert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18688"/>
            <a:ext cx="2286000" cy="47548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21868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2A4A"/>
                </a:solidFill>
              </a:rPr>
              <a:t>SÉANCE 8 / 15</a:t>
            </a:r>
          </a:p>
        </p:txBody>
      </p:sp>
      <p:sp>
        <p:nvSpPr>
          <p:cNvPr id="23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 dirty="0">
                <a:solidFill>
                  <a:srgbClr val="FFFFFF"/>
                </a:solidFill>
              </a:rPr>
              <a:t>CHAFIK MOUSTAID — FORMATEUR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"/>
            <a:ext cx="1036320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1097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7799"/>
                </a:solidFill>
              </a:rPr>
              <a:t>Séance 8 — Réseau et Internet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552" y="7315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7799"/>
                </a:solidFill>
              </a:rPr>
              <a:t>CHAFIK MOUSTAID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8552" y="2926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35566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4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Internet = adresses.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9994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BBDD"/>
                </a:solidFill>
              </a:rPr>
              <a:t>Tout le reste découle de là.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337560"/>
            <a:ext cx="9994392" cy="36576"/>
          </a:xfrm>
          <a:prstGeom prst="rect">
            <a:avLst/>
          </a:prstGeom>
          <a:solidFill>
            <a:srgbClr val="1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520440"/>
            <a:ext cx="9994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DD"/>
                </a:solidFill>
              </a:rPr>
              <a:t>IP, DNS, DHCP, passerelle — 4 concepts qui expliquent 90 % des pannes réseau.
Maîtrisez-les et vous diagnostiquez n'importe quelle panne en moins de 5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 dirty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Au programme — 4 heures, 6 blocs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719072"/>
            <a:ext cx="3657600" cy="199339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1719072"/>
            <a:ext cx="3657600" cy="420624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01 — TCP/IP — 4 concepts clés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2286000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IP · Masque · Passerelle · DNS · Comprendre la hiérarchie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719072"/>
            <a:ext cx="3657600" cy="199339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42816" y="1719072"/>
            <a:ext cx="3657600" cy="42062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9976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02 — DHCP vs IP statique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2286000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Comment l'IP est attribuée · Bail · Quand fixer une 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1719072"/>
            <a:ext cx="3657600" cy="199339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1583" y="1719072"/>
            <a:ext cx="3657600" cy="420624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38744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03 — La méthode des 3 pings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286000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Localiser n'importe quelle panne réseau en 3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895344"/>
            <a:ext cx="3657600" cy="199339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4048" y="3895344"/>
            <a:ext cx="3657600" cy="420624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" y="39684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04 — ipconfig — lire et interpréter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" y="4462272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Commandes complètes · Résultats à connaître · APIPA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3895344"/>
            <a:ext cx="3657600" cy="199339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42816" y="3895344"/>
            <a:ext cx="3657600" cy="420624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79976" y="39684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05 — Wi-Fi — fréquences et sécurité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4462272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2.4 vs 5 GHz · WPA2/3 · Canal · Diagnostic Wi-Fi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1583" y="3895344"/>
            <a:ext cx="3657600" cy="199339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01583" y="3895344"/>
            <a:ext cx="3657600" cy="420624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8744" y="39684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06 — DNS et dépannage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4462272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Changer DNS · flushdns · Cas pratiques réseau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8 — Réseau et Internet · SAMO 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TCP/IP — Les 4 notions qui expliquent tout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901952"/>
            <a:ext cx="11457432" cy="107899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901952"/>
            <a:ext cx="1005840" cy="107899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901952"/>
            <a:ext cx="10058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Adresse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975104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Identifiant unique de chaque appareil sur le réseau.
Comme l'adresse postale de votre PC.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1975104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A2A4A"/>
                </a:solidFill>
              </a:rPr>
              <a:t>192.168.1.50 (réseau local privé)
8.8.8.8 (serveur DNS public Google)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468880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BDD"/>
                </a:solidFill>
              </a:rPr>
              <a:t>⚡ Deux appareils ne peuvent pas avoir la même IP sur le même réseau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72384"/>
            <a:ext cx="11457432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072384"/>
            <a:ext cx="1005840" cy="107899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072384"/>
            <a:ext cx="10058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Masque de sous-réseau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145536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Définit le périmètre du réseau local — qui est 'dans' le même réseau.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145536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A2A4A"/>
                </a:solidFill>
              </a:rPr>
              <a:t>255.255.255.0 = réseau /24 = jusqu'à 254 appareils
255.255.0.0 = réseau /16 = jusqu'à 65534 appareils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63931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BDD"/>
                </a:solidFill>
              </a:rPr>
              <a:t>⚡ Même masque sur tous les PC d'un réseau local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42816"/>
            <a:ext cx="11457432" cy="107899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242816"/>
            <a:ext cx="1005840" cy="107899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242816"/>
            <a:ext cx="10058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Passerelle par défaut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315968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L'adresse du routeur — la porte de sortie vers Internet.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4315968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A2A4A"/>
                </a:solidFill>
              </a:rPr>
              <a:t>192.168.1.1 (routeur typique résidence/PME)
Sans passerelle = réseau local OK mais Internet impossible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4809744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BDD"/>
                </a:solidFill>
              </a:rPr>
              <a:t>⚡ Si impossible de pinguer la passerelle → câble ou Wi-Fi KO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13248"/>
            <a:ext cx="11457432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5413248"/>
            <a:ext cx="1005840" cy="107899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5413248"/>
            <a:ext cx="10058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Serveur DNS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5486400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Traduit les noms (google.com) en adresses IP numériques.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5486400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A2A4A"/>
                </a:solidFill>
              </a:rPr>
              <a:t>8.8.8.8 = Google DNS · 1.1.1.1 = Cloudflare DNS
Sans DNS = Internet 'marche' (ping IP) mais sites inaccessibles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5980176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BDD"/>
                </a:solidFill>
              </a:rPr>
              <a:t>⚡ DNS défaillant : changer vers 8.8.8.8 résout 90 % des cas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430" y="6547017"/>
            <a:ext cx="1145743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6547018"/>
            <a:ext cx="11183112" cy="310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88DDAA"/>
                </a:solidFill>
              </a:rPr>
              <a:t>ipconfig /all — </a:t>
            </a:r>
            <a:r>
              <a:rPr sz="1400" b="1" i="0" dirty="0" err="1">
                <a:solidFill>
                  <a:srgbClr val="88DDAA"/>
                </a:solidFill>
              </a:rPr>
              <a:t>affiche</a:t>
            </a:r>
            <a:r>
              <a:rPr sz="1400" b="1" i="0" dirty="0">
                <a:solidFill>
                  <a:srgbClr val="88DDAA"/>
                </a:solidFill>
              </a:rPr>
              <a:t> TOUT : IP, masque, </a:t>
            </a:r>
            <a:r>
              <a:rPr sz="1400" b="1" i="0" dirty="0" err="1">
                <a:solidFill>
                  <a:srgbClr val="88DDAA"/>
                </a:solidFill>
              </a:rPr>
              <a:t>passerelle</a:t>
            </a:r>
            <a:r>
              <a:rPr sz="1400" b="1" i="0" dirty="0">
                <a:solidFill>
                  <a:srgbClr val="88DDAA"/>
                </a:solidFill>
              </a:rPr>
              <a:t>, DNS, MAC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DHCP vs IP statique — Quand utiliser chaque méthode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DHCP = le routeur attribue une IP automatiquement. IP statique = vous la saisissez manuellement et elle ne change jamais.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01952"/>
            <a:ext cx="5577840" cy="464515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01952"/>
            <a:ext cx="5577840" cy="47548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DHCP (Automatique)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8716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Le routeur (serveur DHCP) attribue IP, masque, passerelle, DNS.
Bail DHCP = durée d'attribution (souvent 24h ou 7 jours).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18688"/>
            <a:ext cx="5303520" cy="228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A1F"/>
                </a:solidFill>
              </a:rPr>
              <a:t>Avantages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6616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Aucune configuration · Évite les conflits IP · Idéal postes de travail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5993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1C1C"/>
                </a:solidFill>
              </a:rPr>
              <a:t>Limites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34256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IP peut changer à chaque bail · Impossible à localiser par IP fixe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035040"/>
            <a:ext cx="5029200" cy="38404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0350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Usage : PCs utilisateurs · Smartphones · Tablettes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901952"/>
            <a:ext cx="5577840" cy="4645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901952"/>
            <a:ext cx="5577840" cy="47548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192024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IP Statique (Fixe)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48716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Saisir manuellement : IP · masque · passerelle · DNS.
L'IP ne change jamais — l'appareil est toujours joignable à cette adresse.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218688"/>
            <a:ext cx="5303520" cy="228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29184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A1F"/>
                </a:solidFill>
              </a:rPr>
              <a:t>Avantages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56616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IP constante · Partage et accès directs · Essentiel pour certains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05993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1C1C"/>
                </a:solidFill>
              </a:rPr>
              <a:t>Limites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34256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Configuration manuelle · Risque de conflits si mal gérée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6035040"/>
            <a:ext cx="5029200" cy="38404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60350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Usage : Imprimantes réseau · NAS · Serveurs · Caméras IP · Routeurs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11365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Bonne pratique : réservation DHCP par adresse MAC dans le routeur = IP 'quasi statique' sans config manuelle.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Méthode des 3 pings — Localiser une panne réseau en 3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Toujours dans cet ordre. Chaque résultat localise précisément où ça bloque. Ne jamais sauter d'étape.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76272"/>
            <a:ext cx="11457432" cy="126187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176272"/>
            <a:ext cx="566928" cy="126187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176272"/>
            <a:ext cx="56692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2249424"/>
            <a:ext cx="4114800" cy="53035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2728" y="2386584"/>
            <a:ext cx="3657600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BBDD"/>
                </a:solidFill>
              </a:rPr>
              <a:t>ping [adresse passerelle]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834639"/>
            <a:ext cx="4114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ex: ping 192.168.1.1 — votre routeur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2249424"/>
            <a:ext cx="3200400" cy="512064"/>
          </a:xfrm>
          <a:prstGeom prst="rect">
            <a:avLst/>
          </a:prstGeom>
          <a:solidFill>
            <a:srgbClr val="E8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21808" y="2249424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7A1F"/>
                </a:solidFill>
              </a:rPr>
              <a:t>✓ Reply from 192.168.1.1 → câble/Wi-Fi OK · routeur accessible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13648" y="2249424"/>
            <a:ext cx="3200400" cy="512064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13648" y="2249424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1C1C"/>
                </a:solidFill>
              </a:rPr>
              <a:t>✗ Request timed out · Destination host unreachable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2834639"/>
            <a:ext cx="64922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46000"/>
                </a:solidFill>
              </a:rPr>
              <a:t>→ Vérifier câble Ethernet ou reconnecter au Wi-Fi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66160"/>
            <a:ext cx="1145743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566160"/>
            <a:ext cx="566928" cy="126187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566160"/>
            <a:ext cx="56692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" y="3639312"/>
            <a:ext cx="4114800" cy="53035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52728" y="3776472"/>
            <a:ext cx="3657600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BBDD"/>
                </a:solidFill>
              </a:rPr>
              <a:t>ping 8.8.8.8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224528"/>
            <a:ext cx="4114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Serveur DNS Google — test Internet sans résolution DNS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21808" y="3639312"/>
            <a:ext cx="3200400" cy="512064"/>
          </a:xfrm>
          <a:prstGeom prst="rect">
            <a:avLst/>
          </a:prstGeom>
          <a:solidFill>
            <a:srgbClr val="E8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21808" y="3639312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7A1F"/>
                </a:solidFill>
              </a:rPr>
              <a:t>✓ Reply from 8.8.8.8 → Internet fonctionnel · DNS peut être KO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13648" y="3639312"/>
            <a:ext cx="3200400" cy="512064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13648" y="3639312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1C1C"/>
                </a:solidFill>
              </a:rPr>
              <a:t>✗ Request timed out (passerelle OK mais 8.8.8.8 KO)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808" y="4224528"/>
            <a:ext cx="64922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46000"/>
                </a:solidFill>
              </a:rPr>
              <a:t>→ Appeler le fournisseur Internet · Redémarrer le routeur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956048"/>
            <a:ext cx="11457432" cy="126187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4956048"/>
            <a:ext cx="566928" cy="12618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4956048"/>
            <a:ext cx="56692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" y="5029200"/>
            <a:ext cx="4114800" cy="53035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52728" y="5166360"/>
            <a:ext cx="3657600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BBDD"/>
                </a:solidFill>
              </a:rPr>
              <a:t>ping google.com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5614416"/>
            <a:ext cx="4114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Test avec résolution DNS — si marche = tout est 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21808" y="5029200"/>
            <a:ext cx="3200400" cy="512064"/>
          </a:xfrm>
          <a:prstGeom prst="rect">
            <a:avLst/>
          </a:prstGeom>
          <a:solidFill>
            <a:srgbClr val="E8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21808" y="5029200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7A1F"/>
                </a:solidFill>
              </a:rPr>
              <a:t>✓ Reply from 172.217.x.x → DNS OK · tout fonctionne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13648" y="5029200"/>
            <a:ext cx="3200400" cy="512064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13648" y="5029200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1C1C"/>
                </a:solidFill>
              </a:rPr>
              <a:t>✗ Request timed out (8.8.8.8 OK mais google.com KO)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21808" y="5614416"/>
            <a:ext cx="64922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46000"/>
                </a:solidFill>
              </a:rPr>
              <a:t>→ Problème DNS uniquement → changer DNS vers 8.8.8.8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55664"/>
            <a:ext cx="11365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ipconfig /all → noter la passerelle → remplacer 192.168.1.1 par votre vraie passerelle dans ping step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ipconfig /all — Décoder chaque ligne du résultat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ipconfig /all = la radiographie réseau complète d'un PC. Savoir le lire = diagnostic en 1 minute.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847088"/>
          <a:ext cx="11457431" cy="4700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513831"/>
              </a:tblGrid>
              <a:tr h="5222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BBDD"/>
                          </a:solidFill>
                        </a:rPr>
                        <a:t>Champ ipconfig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BBDD"/>
                          </a:solidFill>
                        </a:rPr>
                        <a:t>Signification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BBDD"/>
                          </a:solidFill>
                        </a:rPr>
                        <a:t>Comment l'utiliser pour le diagnostic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222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2A4A"/>
                          </a:solidFill>
                        </a:rPr>
                        <a:t>Nom de l'hôte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Nom du PC sur le réseau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3560"/>
                          </a:solidFill>
                        </a:rPr>
                        <a:t>Apparaît dans \\NomPC pour les partages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</a:tr>
              <a:tr h="5222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2A4A"/>
                          </a:solidFill>
                        </a:rPr>
                        <a:t>Adresse physique (MAC)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Identifiant matériel unique de la carte réseau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3560"/>
                          </a:solidFill>
                        </a:rPr>
                        <a:t>Utilisé pour les réservations DHCP et les filtres Wi-Fi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2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2A4A"/>
                          </a:solidFill>
                        </a:rPr>
                        <a:t>DHCP activé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Oui = IP obtenue automatiquement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3560"/>
                          </a:solidFill>
                        </a:rPr>
                        <a:t>Non = IP statique configurée manuellement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</a:tr>
              <a:tr h="5222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2A4A"/>
                          </a:solidFill>
                        </a:rPr>
                        <a:t>Adresse IPv4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Votre adresse IP sur le réseau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3560"/>
                          </a:solidFill>
                        </a:rPr>
                        <a:t>192.168.x.x = local · 169.254.x.x = APIPA (DHCP KO)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2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2A4A"/>
                          </a:solidFill>
                        </a:rPr>
                        <a:t>Masque de sous-réseau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Définit la plage réseau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3560"/>
                          </a:solidFill>
                        </a:rPr>
                        <a:t>255.255.255.0 = max 254 appareils dans le réseau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</a:tr>
              <a:tr h="5222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2A4A"/>
                          </a:solidFill>
                        </a:rPr>
                        <a:t>Passerelle par défaut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Adresse du routeur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3560"/>
                          </a:solidFill>
                        </a:rPr>
                        <a:t>Vide ou absente = impossible de sortir du réseau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2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2A4A"/>
                          </a:solidFill>
                        </a:rPr>
                        <a:t>Serveurs DNS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Adresses des serveurs de résolution de noms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3560"/>
                          </a:solidFill>
                        </a:rPr>
                        <a:t>8.8.8.8 ou 1.1.1.1 = DNS publics · sinon = DNS du routeur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</a:tr>
              <a:tr h="5222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2A4A"/>
                          </a:solidFill>
                        </a:rPr>
                        <a:t>Bail obtenu / Bail expirant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Durée du bail DHCP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3560"/>
                          </a:solidFill>
                        </a:rPr>
                        <a:t>Si expiré sans renouvellement = IP perdue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199" y="6446520"/>
            <a:ext cx="11365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BB1C1C"/>
                </a:solidFill>
              </a:rPr>
              <a:t>APIPA 169.254.x.x = </a:t>
            </a:r>
            <a:r>
              <a:rPr sz="1200" b="1" i="0" dirty="0" err="1">
                <a:solidFill>
                  <a:srgbClr val="BB1C1C"/>
                </a:solidFill>
              </a:rPr>
              <a:t>aucun</a:t>
            </a:r>
            <a:r>
              <a:rPr sz="1200" b="1" i="0" dirty="0">
                <a:solidFill>
                  <a:srgbClr val="BB1C1C"/>
                </a:solidFill>
              </a:rPr>
              <a:t> bail DHCP </a:t>
            </a:r>
            <a:r>
              <a:rPr sz="1200" b="1" i="0" dirty="0" err="1">
                <a:solidFill>
                  <a:srgbClr val="BB1C1C"/>
                </a:solidFill>
              </a:rPr>
              <a:t>reçu</a:t>
            </a:r>
            <a:r>
              <a:rPr sz="1200" b="1" i="0" dirty="0">
                <a:solidFill>
                  <a:srgbClr val="BB1C1C"/>
                </a:solidFill>
              </a:rPr>
              <a:t> → </a:t>
            </a:r>
            <a:r>
              <a:rPr sz="1200" b="1" i="0" dirty="0" err="1">
                <a:solidFill>
                  <a:srgbClr val="BB1C1C"/>
                </a:solidFill>
              </a:rPr>
              <a:t>vérifier</a:t>
            </a:r>
            <a:r>
              <a:rPr sz="1200" b="1" i="0" dirty="0">
                <a:solidFill>
                  <a:srgbClr val="BB1C1C"/>
                </a:solidFill>
              </a:rPr>
              <a:t> </a:t>
            </a:r>
            <a:r>
              <a:rPr sz="1200" b="1" i="0" dirty="0" err="1">
                <a:solidFill>
                  <a:srgbClr val="BB1C1C"/>
                </a:solidFill>
              </a:rPr>
              <a:t>câble</a:t>
            </a:r>
            <a:r>
              <a:rPr sz="1200" b="1" i="0" dirty="0">
                <a:solidFill>
                  <a:srgbClr val="BB1C1C"/>
                </a:solidFill>
              </a:rPr>
              <a:t>/Wi-Fi </a:t>
            </a:r>
            <a:r>
              <a:rPr sz="1200" b="1" i="0" dirty="0" err="1">
                <a:solidFill>
                  <a:srgbClr val="BB1C1C"/>
                </a:solidFill>
              </a:rPr>
              <a:t>ou</a:t>
            </a:r>
            <a:r>
              <a:rPr sz="1200" b="1" i="0" dirty="0">
                <a:solidFill>
                  <a:srgbClr val="BB1C1C"/>
                </a:solidFill>
              </a:rPr>
              <a:t> </a:t>
            </a:r>
            <a:r>
              <a:rPr sz="1200" b="1" i="0" dirty="0" err="1">
                <a:solidFill>
                  <a:srgbClr val="BB1C1C"/>
                </a:solidFill>
              </a:rPr>
              <a:t>redémarrer</a:t>
            </a:r>
            <a:r>
              <a:rPr sz="1200" b="1" i="0" dirty="0">
                <a:solidFill>
                  <a:srgbClr val="BB1C1C"/>
                </a:solidFill>
              </a:rPr>
              <a:t> le </a:t>
            </a:r>
            <a:r>
              <a:rPr sz="1200" b="1" i="0" dirty="0" err="1">
                <a:solidFill>
                  <a:srgbClr val="BB1C1C"/>
                </a:solidFill>
              </a:rPr>
              <a:t>routeur</a:t>
            </a:r>
            <a:endParaRPr sz="1200" b="1" i="0" dirty="0">
              <a:solidFill>
                <a:srgbClr val="BB1C1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ipconfig /all — Résultat réel à décoder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6237243"/>
            <a:ext cx="11365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0BBDD"/>
                </a:solidFill>
              </a:rPr>
              <a:t>Commande</a:t>
            </a:r>
            <a:r>
              <a:rPr sz="1300" b="1" i="0" dirty="0">
                <a:solidFill>
                  <a:srgbClr val="00BBDD"/>
                </a:solidFill>
              </a:rPr>
              <a:t> de </a:t>
            </a:r>
            <a:r>
              <a:rPr sz="1300" b="1" i="0" dirty="0" err="1">
                <a:solidFill>
                  <a:srgbClr val="00BBDD"/>
                </a:solidFill>
              </a:rPr>
              <a:t>copie</a:t>
            </a:r>
            <a:r>
              <a:rPr sz="1300" b="1" i="0" dirty="0">
                <a:solidFill>
                  <a:srgbClr val="00BBDD"/>
                </a:solidFill>
              </a:rPr>
              <a:t> : ipconfig /all &gt; C:\Temp\reseau.txt — </a:t>
            </a:r>
            <a:r>
              <a:rPr sz="1300" b="1" i="0" dirty="0" err="1">
                <a:solidFill>
                  <a:srgbClr val="00BBDD"/>
                </a:solidFill>
              </a:rPr>
              <a:t>envoyer</a:t>
            </a:r>
            <a:r>
              <a:rPr sz="1300" b="1" i="0" dirty="0">
                <a:solidFill>
                  <a:srgbClr val="00BBDD"/>
                </a:solidFill>
              </a:rPr>
              <a:t> le </a:t>
            </a:r>
            <a:r>
              <a:rPr sz="1300" b="1" i="0" dirty="0" err="1">
                <a:solidFill>
                  <a:srgbClr val="00BBDD"/>
                </a:solidFill>
              </a:rPr>
              <a:t>fichier</a:t>
            </a:r>
            <a:r>
              <a:rPr sz="1300" b="1" i="0" dirty="0">
                <a:solidFill>
                  <a:srgbClr val="00BBDD"/>
                </a:solidFill>
              </a:rPr>
              <a:t> par email pour </a:t>
            </a:r>
            <a:r>
              <a:rPr sz="1300" b="1" i="0" dirty="0" err="1">
                <a:solidFill>
                  <a:srgbClr val="00BBDD"/>
                </a:solidFill>
              </a:rPr>
              <a:t>analyse</a:t>
            </a:r>
            <a:r>
              <a:rPr sz="1300" b="1" i="0" dirty="0">
                <a:solidFill>
                  <a:srgbClr val="00BBDD"/>
                </a:solidFill>
              </a:rPr>
              <a:t> </a:t>
            </a:r>
            <a:r>
              <a:rPr sz="1300" b="1" i="0" dirty="0" err="1">
                <a:solidFill>
                  <a:srgbClr val="00BBDD"/>
                </a:solidFill>
              </a:rPr>
              <a:t>distante</a:t>
            </a:r>
            <a:r>
              <a:rPr sz="1300" b="1" i="0" dirty="0">
                <a:solidFill>
                  <a:srgbClr val="00BBDD"/>
                </a:solidFill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Exercice : lancer ipconfig /all · noter les 7 champs clés · vérifier si DHCP ou statique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633" y="1663603"/>
            <a:ext cx="7425637" cy="4573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tracert et netstat — Outils de diagnostic avancé réseau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901952"/>
            <a:ext cx="11457432" cy="107899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975104"/>
            <a:ext cx="2560320" cy="512064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112264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BBDD"/>
                </a:solidFill>
              </a:rPr>
              <a:t>tracert [destination]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9751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Trace le chemin des paquets de votre PC jusqu'à la destination, saut par saut.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377440"/>
            <a:ext cx="8778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Chaque ligne = 1 saut (routeur intermédiaire). Temps en ms × 3.
'* * *' = saut ne répond pas (normal). Délai élevé = goulot d'étranglement identifié.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975104"/>
            <a:ext cx="5029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00BBDD"/>
                </a:solidFill>
              </a:rPr>
              <a:t>tracert google.com → voir si le délai explose chez l'opérateur Internet ou au-delà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72384"/>
            <a:ext cx="11457432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145536"/>
            <a:ext cx="2560320" cy="512064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BBDD"/>
                </a:solidFill>
              </a:rPr>
              <a:t>netstat -an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1455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Liste toutes les connexions réseau actives + ports en écoute.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610761"/>
            <a:ext cx="8778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ESTABLISHED = connexion active. LISTENING = port ouvert en attente.
CLOSE_WAIT = connexion en cours de fermeture. TIME_WAIT = récemment fermée.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145536"/>
            <a:ext cx="5029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 dirty="0" err="1">
                <a:solidFill>
                  <a:srgbClr val="00BBDD"/>
                </a:solidFill>
              </a:rPr>
              <a:t>netstat</a:t>
            </a:r>
            <a:r>
              <a:rPr sz="1150" b="0" i="1" dirty="0">
                <a:solidFill>
                  <a:srgbClr val="00BBDD"/>
                </a:solidFill>
              </a:rPr>
              <a:t> -b (admin) = </a:t>
            </a:r>
            <a:r>
              <a:rPr sz="1150" b="0" i="1" dirty="0" err="1">
                <a:solidFill>
                  <a:srgbClr val="00BBDD"/>
                </a:solidFill>
              </a:rPr>
              <a:t>voir</a:t>
            </a:r>
            <a:r>
              <a:rPr sz="1150" b="0" i="1" dirty="0">
                <a:solidFill>
                  <a:srgbClr val="00BBDD"/>
                </a:solidFill>
              </a:rPr>
              <a:t> </a:t>
            </a:r>
            <a:r>
              <a:rPr sz="1150" b="0" i="1" dirty="0" err="1">
                <a:solidFill>
                  <a:srgbClr val="00BBDD"/>
                </a:solidFill>
              </a:rPr>
              <a:t>quel</a:t>
            </a:r>
            <a:r>
              <a:rPr sz="1150" b="0" i="1" dirty="0">
                <a:solidFill>
                  <a:srgbClr val="00BBDD"/>
                </a:solidFill>
              </a:rPr>
              <a:t> </a:t>
            </a:r>
            <a:r>
              <a:rPr sz="1150" b="0" i="1" dirty="0" err="1">
                <a:solidFill>
                  <a:srgbClr val="00BBDD"/>
                </a:solidFill>
              </a:rPr>
              <a:t>programme</a:t>
            </a:r>
            <a:r>
              <a:rPr sz="1150" b="0" i="1" dirty="0">
                <a:solidFill>
                  <a:srgbClr val="00BBDD"/>
                </a:solidFill>
              </a:rPr>
              <a:t> </a:t>
            </a:r>
            <a:r>
              <a:rPr sz="1150" b="0" i="1" dirty="0" err="1">
                <a:solidFill>
                  <a:srgbClr val="00BBDD"/>
                </a:solidFill>
              </a:rPr>
              <a:t>tient</a:t>
            </a:r>
            <a:r>
              <a:rPr sz="1150" b="0" i="1" dirty="0">
                <a:solidFill>
                  <a:srgbClr val="00BBDD"/>
                </a:solidFill>
              </a:rPr>
              <a:t> </a:t>
            </a:r>
            <a:r>
              <a:rPr sz="1150" b="0" i="1" dirty="0" err="1">
                <a:solidFill>
                  <a:srgbClr val="00BBDD"/>
                </a:solidFill>
              </a:rPr>
              <a:t>chaque</a:t>
            </a:r>
            <a:r>
              <a:rPr sz="1150" b="0" i="1" dirty="0">
                <a:solidFill>
                  <a:srgbClr val="00BBDD"/>
                </a:solidFill>
              </a:rPr>
              <a:t> </a:t>
            </a:r>
            <a:r>
              <a:rPr sz="1150" b="0" i="1" dirty="0" err="1">
                <a:solidFill>
                  <a:srgbClr val="00BBDD"/>
                </a:solidFill>
              </a:rPr>
              <a:t>connexion</a:t>
            </a:r>
            <a:r>
              <a:rPr sz="1150" b="0" i="1" dirty="0">
                <a:solidFill>
                  <a:srgbClr val="00BBDD"/>
                </a:solidFill>
              </a:rPr>
              <a:t> → </a:t>
            </a:r>
            <a:r>
              <a:rPr sz="1150" b="0" i="1" dirty="0" err="1">
                <a:solidFill>
                  <a:srgbClr val="00BBDD"/>
                </a:solidFill>
              </a:rPr>
              <a:t>repérer</a:t>
            </a:r>
            <a:r>
              <a:rPr sz="1150" b="0" i="1" dirty="0">
                <a:solidFill>
                  <a:srgbClr val="00BBDD"/>
                </a:solidFill>
              </a:rPr>
              <a:t> malware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42816"/>
            <a:ext cx="11457432" cy="107899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315968"/>
            <a:ext cx="2560320" cy="512064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453128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BBDD"/>
                </a:solidFill>
              </a:rPr>
              <a:t>netstat -rn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43159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Affiche la table de routage Windows — comment les paquets sont dirigés.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5808" y="4781193"/>
            <a:ext cx="8778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595959"/>
                </a:solidFill>
              </a:rPr>
              <a:t>Ligne</a:t>
            </a:r>
            <a:r>
              <a:rPr sz="1100" b="0" i="0" dirty="0">
                <a:solidFill>
                  <a:srgbClr val="595959"/>
                </a:solidFill>
              </a:rPr>
              <a:t> 0.0.0.0 = route par </a:t>
            </a:r>
            <a:r>
              <a:rPr sz="1100" b="0" i="0" dirty="0" err="1">
                <a:solidFill>
                  <a:srgbClr val="595959"/>
                </a:solidFill>
              </a:rPr>
              <a:t>défaut</a:t>
            </a:r>
            <a:r>
              <a:rPr sz="1100" b="0" i="0" dirty="0">
                <a:solidFill>
                  <a:srgbClr val="595959"/>
                </a:solidFill>
              </a:rPr>
              <a:t> (</a:t>
            </a:r>
            <a:r>
              <a:rPr sz="1100" b="0" i="0" dirty="0" err="1">
                <a:solidFill>
                  <a:srgbClr val="595959"/>
                </a:solidFill>
              </a:rPr>
              <a:t>passerelle</a:t>
            </a:r>
            <a:r>
              <a:rPr sz="1100" b="0" i="0" dirty="0">
                <a:solidFill>
                  <a:srgbClr val="595959"/>
                </a:solidFill>
              </a:rPr>
              <a:t>). </a:t>
            </a:r>
            <a:r>
              <a:rPr sz="1100" b="0" i="0" dirty="0" err="1">
                <a:solidFill>
                  <a:srgbClr val="595959"/>
                </a:solidFill>
              </a:rPr>
              <a:t>Métrique</a:t>
            </a:r>
            <a:r>
              <a:rPr sz="1100" b="0" i="0" dirty="0">
                <a:solidFill>
                  <a:srgbClr val="595959"/>
                </a:solidFill>
              </a:rPr>
              <a:t> = </a:t>
            </a:r>
            <a:r>
              <a:rPr sz="1100" b="0" i="0" dirty="0" err="1">
                <a:solidFill>
                  <a:srgbClr val="595959"/>
                </a:solidFill>
              </a:rPr>
              <a:t>priorité</a:t>
            </a:r>
            <a:r>
              <a:rPr sz="1100" b="0" i="0" dirty="0">
                <a:solidFill>
                  <a:srgbClr val="595959"/>
                </a:solidFill>
              </a:rPr>
              <a:t> de la route.
Utile </a:t>
            </a:r>
            <a:r>
              <a:rPr sz="1100" b="0" i="0" dirty="0" err="1">
                <a:solidFill>
                  <a:srgbClr val="595959"/>
                </a:solidFill>
              </a:rPr>
              <a:t>quand</a:t>
            </a:r>
            <a:r>
              <a:rPr sz="1100" b="0" i="0" dirty="0">
                <a:solidFill>
                  <a:srgbClr val="595959"/>
                </a:solidFill>
              </a:rPr>
              <a:t> </a:t>
            </a:r>
            <a:r>
              <a:rPr sz="1100" b="0" i="0" dirty="0" err="1">
                <a:solidFill>
                  <a:srgbClr val="595959"/>
                </a:solidFill>
              </a:rPr>
              <a:t>plusieurs</a:t>
            </a:r>
            <a:r>
              <a:rPr sz="1100" b="0" i="0" dirty="0">
                <a:solidFill>
                  <a:srgbClr val="595959"/>
                </a:solidFill>
              </a:rPr>
              <a:t> interfaces </a:t>
            </a:r>
            <a:r>
              <a:rPr sz="1100" b="0" i="0" dirty="0" err="1">
                <a:solidFill>
                  <a:srgbClr val="595959"/>
                </a:solidFill>
              </a:rPr>
              <a:t>réseau</a:t>
            </a:r>
            <a:r>
              <a:rPr sz="1100" b="0" i="0" dirty="0">
                <a:solidFill>
                  <a:srgbClr val="595959"/>
                </a:solidFill>
              </a:rPr>
              <a:t> coexistent (VPN + LAN).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4315968"/>
            <a:ext cx="5029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00BBDD"/>
                </a:solidFill>
              </a:rPr>
              <a:t>Si 2 passerelles = conflits VPN → vérifier les métriques des routes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13248"/>
            <a:ext cx="11457432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5486400"/>
            <a:ext cx="2560320" cy="512064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562356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BBDD"/>
                </a:solidFill>
              </a:rPr>
              <a:t>nslookup [nom]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486400"/>
            <a:ext cx="3940546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595959"/>
                </a:solidFill>
              </a:rPr>
              <a:t>Interroger</a:t>
            </a:r>
            <a:r>
              <a:rPr sz="1150" b="0" i="0" dirty="0">
                <a:solidFill>
                  <a:srgbClr val="595959"/>
                </a:solidFill>
              </a:rPr>
              <a:t> le DNS </a:t>
            </a:r>
            <a:r>
              <a:rPr sz="1150" b="0" i="0" dirty="0" err="1">
                <a:solidFill>
                  <a:srgbClr val="595959"/>
                </a:solidFill>
              </a:rPr>
              <a:t>manuellement</a:t>
            </a:r>
            <a:r>
              <a:rPr sz="1150" b="0" i="0" dirty="0">
                <a:solidFill>
                  <a:srgbClr val="595959"/>
                </a:solidFill>
              </a:rPr>
              <a:t> pour </a:t>
            </a:r>
            <a:r>
              <a:rPr sz="1150" b="0" i="0" dirty="0" err="1">
                <a:solidFill>
                  <a:srgbClr val="595959"/>
                </a:solidFill>
              </a:rPr>
              <a:t>résoudre</a:t>
            </a:r>
            <a:r>
              <a:rPr sz="1150" b="0" i="0" dirty="0">
                <a:solidFill>
                  <a:srgbClr val="595959"/>
                </a:solidFill>
              </a:rPr>
              <a:t> un nom </a:t>
            </a:r>
            <a:r>
              <a:rPr sz="1150" b="0" i="0" dirty="0" err="1">
                <a:solidFill>
                  <a:srgbClr val="595959"/>
                </a:solidFill>
              </a:rPr>
              <a:t>en</a:t>
            </a:r>
            <a:r>
              <a:rPr sz="1150" b="0" i="0" dirty="0">
                <a:solidFill>
                  <a:srgbClr val="595959"/>
                </a:solidFill>
              </a:rPr>
              <a:t> IP.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37639" y="5814849"/>
            <a:ext cx="88331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595959"/>
                </a:solidFill>
              </a:rPr>
              <a:t>nslookup</a:t>
            </a:r>
            <a:r>
              <a:rPr sz="1100" b="0" i="0" dirty="0">
                <a:solidFill>
                  <a:srgbClr val="595959"/>
                </a:solidFill>
              </a:rPr>
              <a:t> google.com → </a:t>
            </a:r>
            <a:r>
              <a:rPr sz="1100" b="0" i="0" dirty="0" err="1">
                <a:solidFill>
                  <a:srgbClr val="595959"/>
                </a:solidFill>
              </a:rPr>
              <a:t>voir</a:t>
            </a:r>
            <a:r>
              <a:rPr sz="1100" b="0" i="0" dirty="0">
                <a:solidFill>
                  <a:srgbClr val="595959"/>
                </a:solidFill>
              </a:rPr>
              <a:t> </a:t>
            </a:r>
            <a:r>
              <a:rPr sz="1100" b="0" i="0" dirty="0" err="1">
                <a:solidFill>
                  <a:srgbClr val="595959"/>
                </a:solidFill>
              </a:rPr>
              <a:t>quelle</a:t>
            </a:r>
            <a:r>
              <a:rPr sz="1100" b="0" i="0" dirty="0">
                <a:solidFill>
                  <a:srgbClr val="595959"/>
                </a:solidFill>
              </a:rPr>
              <a:t> IP </a:t>
            </a:r>
            <a:r>
              <a:rPr sz="1100" b="0" i="0" dirty="0" err="1">
                <a:solidFill>
                  <a:srgbClr val="595959"/>
                </a:solidFill>
              </a:rPr>
              <a:t>est</a:t>
            </a:r>
            <a:r>
              <a:rPr sz="1100" b="0" i="0" dirty="0">
                <a:solidFill>
                  <a:srgbClr val="595959"/>
                </a:solidFill>
              </a:rPr>
              <a:t> </a:t>
            </a:r>
            <a:r>
              <a:rPr sz="1100" b="0" i="0" dirty="0" err="1">
                <a:solidFill>
                  <a:srgbClr val="595959"/>
                </a:solidFill>
              </a:rPr>
              <a:t>retournée</a:t>
            </a:r>
            <a:r>
              <a:rPr sz="1100" b="0" i="0" dirty="0">
                <a:solidFill>
                  <a:srgbClr val="595959"/>
                </a:solidFill>
              </a:rPr>
              <a:t> et </a:t>
            </a:r>
            <a:r>
              <a:rPr sz="1100" b="0" i="0" dirty="0" err="1">
                <a:solidFill>
                  <a:srgbClr val="595959"/>
                </a:solidFill>
              </a:rPr>
              <a:t>depuis</a:t>
            </a:r>
            <a:r>
              <a:rPr sz="1100" b="0" i="0" dirty="0">
                <a:solidFill>
                  <a:srgbClr val="595959"/>
                </a:solidFill>
              </a:rPr>
              <a:t> </a:t>
            </a:r>
            <a:r>
              <a:rPr sz="1100" b="0" i="0" dirty="0" err="1">
                <a:solidFill>
                  <a:srgbClr val="595959"/>
                </a:solidFill>
              </a:rPr>
              <a:t>quel</a:t>
            </a:r>
            <a:r>
              <a:rPr sz="1100" b="0" i="0" dirty="0">
                <a:solidFill>
                  <a:srgbClr val="595959"/>
                </a:solidFill>
              </a:rPr>
              <a:t> </a:t>
            </a:r>
            <a:r>
              <a:rPr sz="1100" b="0" i="0" dirty="0" err="1">
                <a:solidFill>
                  <a:srgbClr val="595959"/>
                </a:solidFill>
              </a:rPr>
              <a:t>serveur</a:t>
            </a:r>
            <a:r>
              <a:rPr sz="1100" b="0" i="0" dirty="0">
                <a:solidFill>
                  <a:srgbClr val="595959"/>
                </a:solidFill>
              </a:rPr>
              <a:t> DNS.
</a:t>
            </a:r>
            <a:r>
              <a:rPr sz="1100" b="0" i="0" dirty="0" err="1">
                <a:solidFill>
                  <a:srgbClr val="595959"/>
                </a:solidFill>
              </a:rPr>
              <a:t>nslookup</a:t>
            </a:r>
            <a:r>
              <a:rPr sz="1100" b="0" i="0" dirty="0">
                <a:solidFill>
                  <a:srgbClr val="595959"/>
                </a:solidFill>
              </a:rPr>
              <a:t> google.com 8.8.8.8 → forcer un </a:t>
            </a:r>
            <a:r>
              <a:rPr sz="1100" b="0" i="0" dirty="0" err="1">
                <a:solidFill>
                  <a:srgbClr val="595959"/>
                </a:solidFill>
              </a:rPr>
              <a:t>serveur</a:t>
            </a:r>
            <a:r>
              <a:rPr sz="1100" b="0" i="0" dirty="0">
                <a:solidFill>
                  <a:srgbClr val="595959"/>
                </a:solidFill>
              </a:rPr>
              <a:t> DNS </a:t>
            </a:r>
            <a:r>
              <a:rPr sz="1100" b="0" i="0" dirty="0" err="1">
                <a:solidFill>
                  <a:srgbClr val="595959"/>
                </a:solidFill>
              </a:rPr>
              <a:t>spécifique</a:t>
            </a:r>
            <a:r>
              <a:rPr sz="1100" b="0" i="0" dirty="0">
                <a:solidFill>
                  <a:srgbClr val="595959"/>
                </a:solidFill>
              </a:rPr>
              <a:t> pour comparer.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5486400"/>
            <a:ext cx="5029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00BBDD"/>
                </a:solidFill>
              </a:rPr>
              <a:t>Si résultat différent entre 2 DNS → cache DNS corrompu ou DNS menteur (ISP)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tracert = tracer route · netstat = connexions actives · nslookup = tester DNS · arp -a = table MAC/IP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Wi-Fi — Fréquences, protocoles et diagnostic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Le Wi-Fi ce n'est pas juste 'branché ou pas'. Comprendre les fréquences explique 80 % des problèmes de performances.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847088"/>
          <a:ext cx="11457432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8"/>
              </a:tblGrid>
              <a:tr h="662025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00BBDD"/>
                          </a:solidFill>
                        </a:rPr>
                        <a:t>Bande</a:t>
                      </a:r>
                      <a:endParaRPr sz="1200" b="1" dirty="0">
                        <a:solidFill>
                          <a:srgbClr val="00BBDD"/>
                        </a:solidFill>
                      </a:endParaRP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BBDD"/>
                          </a:solidFill>
                        </a:rPr>
                        <a:t>Portée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BBDD"/>
                          </a:solidFill>
                        </a:rPr>
                        <a:t>Débit max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BBDD"/>
                          </a:solidFill>
                        </a:rPr>
                        <a:t>Obstacles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BBDD"/>
                          </a:solidFill>
                        </a:rPr>
                        <a:t>Usage recommandé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66202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2A4A"/>
                          </a:solidFill>
                        </a:rPr>
                        <a:t>2.4 GHz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Très longue (30 m+)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D7A1F"/>
                          </a:solidFill>
                        </a:rPr>
                        <a:t>150 Mb/s (Wi-Fi 5)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Pénètre murs · Nombreuses interférences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3560"/>
                          </a:solidFill>
                        </a:rPr>
                        <a:t>Appareils IoT · Loin du routeur · Faible débit OK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</a:tr>
              <a:tr h="66202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2A4A"/>
                          </a:solidFill>
                        </a:rPr>
                        <a:t>5 GHz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Moyenne (15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D7A1F"/>
                          </a:solidFill>
                        </a:rPr>
                        <a:t>1300 Mb/s (Wi-Fi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Bloqué par murs épais · Moins d'interf.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3560"/>
                          </a:solidFill>
                        </a:rPr>
                        <a:t>PC, télé, gaming · Près du routeur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02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2A4A"/>
                          </a:solidFill>
                        </a:rPr>
                        <a:t>6 GHz (Wi-Fi 6E)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Courte (8 m)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D7A1F"/>
                          </a:solidFill>
                        </a:rPr>
                        <a:t>9600 Mb/s (Wi-Fi 6E)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Très bloqué par murs · Matériaux denses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3560"/>
                          </a:solidFill>
                        </a:rPr>
                        <a:t>Appareils très récents · Ultra-proche routeur</a:t>
                      </a:r>
                    </a:p>
                  </a:txBody>
                  <a:tcPr>
                    <a:solidFill>
                      <a:srgbClr val="E8F5F8"/>
                    </a:solidFill>
                  </a:tcPr>
                </a:tc>
              </a:tr>
              <a:tr h="662028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321808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A4A"/>
                </a:solidFill>
              </a:rPr>
              <a:t>Protocoles de sécurité Wi-Fi — du plus au moins sécurisé 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742432"/>
            <a:ext cx="1097280" cy="201168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57424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WPA3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5742432"/>
            <a:ext cx="10177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Standard 2022+ · SAE remplace PSK · Résistant aux attaques dictionnaire — Recommandé si tous vos appareils le supportent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998464"/>
            <a:ext cx="1097280" cy="20116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59984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WPA2 (AES)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5998464"/>
            <a:ext cx="10177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Standard depuis 2006 · CCMP/AES · Encore sécurisé — Utilisé par 90 % des réseaux Wi-Fi PME actuels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254496"/>
            <a:ext cx="1097280" cy="20116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2544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WPA (TKIP)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6254496"/>
            <a:ext cx="10177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Obsolète · Vulnérable · Ne plus utiliser — Mettre à jour le firmware routeur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510528"/>
            <a:ext cx="1097280" cy="201168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5105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6510528"/>
            <a:ext cx="10177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Cassable en quelques minutes · Complètement obsolète — Remplacer le routeur immédiatement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Wi-Fi — Configurer et diagnostiquer sous Windows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3694176" cy="482803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3694176" cy="43891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17373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Connecter au Wi-Fi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2249424"/>
            <a:ext cx="329184" cy="329184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22494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49424"/>
            <a:ext cx="3035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Clic sur l'icône réseau (barre des tâches) → Voir les réseaux disponibles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3090672"/>
            <a:ext cx="329184" cy="329184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30906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90672"/>
            <a:ext cx="3035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Sélectionner le SSID → Se connecter → Saisir le mot de passe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3931920"/>
            <a:ext cx="329184" cy="329184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39319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3035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Cocher 'Connecter automatiquement' pour un réseau de confiance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4773168"/>
            <a:ext cx="329184" cy="329184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" y="47731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73168"/>
            <a:ext cx="3035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Vérifier l'icône : pas de globe = pas d'Internet · pas de Wi-Fi = pas de signal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1104" y="1719072"/>
            <a:ext cx="3694176" cy="4828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61104" y="1719072"/>
            <a:ext cx="3694176" cy="43891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17373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Oublier et reconnecter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249424"/>
            <a:ext cx="329184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22494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9744" y="2249424"/>
            <a:ext cx="3035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Paramètres → Réseau et Internet → Wi-Fi → Gérer les réseaux connus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090672"/>
            <a:ext cx="329184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30906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3090672"/>
            <a:ext cx="3035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Trouver le réseau → Oublier → Se reconnecter en saisissant le MDP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931920"/>
            <a:ext cx="329184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0" y="39319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9744" y="3931920"/>
            <a:ext cx="3035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Utile quand le mot de passe a changé ou connexion défaillante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4773168"/>
            <a:ext cx="329184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0" y="47731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9744" y="4773168"/>
            <a:ext cx="3035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Alternative : Shift+clic droit sur icône Wi-Fi → Oublier le réseau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56448" y="1719072"/>
            <a:ext cx="3694176" cy="4828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56448" y="1719072"/>
            <a:ext cx="3694176" cy="43891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84464" y="17373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Diagnostic Wi-Fi avancé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84464" y="2249424"/>
            <a:ext cx="329184" cy="329184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84464" y="22494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2249424"/>
            <a:ext cx="3035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Paramètres → Système → Dépannage → Autres dépanneurs → Connexions Internet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84464" y="3090672"/>
            <a:ext cx="329184" cy="329184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84464" y="30906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3090672"/>
            <a:ext cx="3035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netsh wlan show interfaces → voir SSID connecté · signal · bande · vitesse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84464" y="3931920"/>
            <a:ext cx="329184" cy="329184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84464" y="39319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05088" y="3931920"/>
            <a:ext cx="3035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netsh wlan show networks → voir tous les réseaux disponibles avec canal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84464" y="4773168"/>
            <a:ext cx="329184" cy="329184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84464" y="47731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05088" y="4773168"/>
            <a:ext cx="3035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Si signal faible : tester 2.4 GHz (plus portée) au lieu du 5 GHz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netsh wlan show interfaces → colonne 'Signal' : &lt; 50 % = mauvais · 70 %+ = bon · 90 %+ = excellent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DNS — Changer et diagnostiquer les problèmes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Le DNS est souvent la cause silencieuse de sites inaccessibles alors que 'Internet marche'.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2"/>
            <a:ext cx="11457432" cy="749808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93392"/>
            <a:ext cx="1828800" cy="7498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93392"/>
            <a:ext cx="1828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DNS du FAI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4A"/>
                </a:solidFill>
              </a:rPr>
              <a:t>Primaire : Automatique (DHCP)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23957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Secondaire : Automatique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0665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Optimisé géographiquement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94392" y="2066544"/>
            <a:ext cx="1828800" cy="310896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94392" y="206654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Variable selon le FAI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34640"/>
            <a:ext cx="1145743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834640"/>
            <a:ext cx="1828800" cy="74980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834640"/>
            <a:ext cx="1828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Google DNS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29077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4A"/>
                </a:solidFill>
              </a:rPr>
              <a:t>Primaire : 8.8.8.8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4288" y="32369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Secondaire : 8.8.4.4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29077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Rapide · Fiable · Mondial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94392" y="2907792"/>
            <a:ext cx="1828800" cy="310896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94392" y="290779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~25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75888"/>
            <a:ext cx="11457432" cy="749808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3675888"/>
            <a:ext cx="1828800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3675888"/>
            <a:ext cx="1828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Cloudflare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04288" y="3749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4A"/>
                </a:solidFill>
              </a:rPr>
              <a:t>Primaire : 1.1.1.1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04288" y="40782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Secondaire : 1.0.0.1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3749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Le plus rapide · Privé (pas de logs)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94392" y="3749040"/>
            <a:ext cx="1828800" cy="310896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94392" y="374904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~11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517136"/>
            <a:ext cx="1145743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4517136"/>
            <a:ext cx="1828800" cy="7498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517136"/>
            <a:ext cx="1828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OpenDNS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4288" y="45902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4A"/>
                </a:solidFill>
              </a:rPr>
              <a:t>Primaire : 208.67.222.222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04288" y="4919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Secondaire : 208.67.220.220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1728" y="45902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Filtrage optionnel (adultes, malware)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94392" y="4590288"/>
            <a:ext cx="1828800" cy="310896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994392" y="459028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~30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358384"/>
            <a:ext cx="11457432" cy="749808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65760" y="5358384"/>
            <a:ext cx="1828800" cy="7498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5358384"/>
            <a:ext cx="1828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Quad9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04288" y="5431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4A"/>
                </a:solidFill>
              </a:rPr>
              <a:t>Primaire : 9.9.9.9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04288" y="57607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Secondaire : 149.112.112.112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1728" y="54315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560"/>
                </a:solidFill>
              </a:rPr>
              <a:t>Bloque domaines malveillants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94392" y="5431536"/>
            <a:ext cx="1828800" cy="310896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994392" y="543153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~20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6126480"/>
            <a:ext cx="11457432" cy="36576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1480" y="6236208"/>
            <a:ext cx="11365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Modifier DNS : Paramètres → Réseau → Wi-Fi ou Ethernet → Propriétés → DNS manuel · ou dans la carte réseau.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6455664"/>
            <a:ext cx="11365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ipconfig /flushdns → vider le cache DNS local · résout les DNS 'intermittents' en 5 secondes.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IP statique — Configurer une adresse fixe sous Windows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Utiliser une IP fixe pour les imprimantes, NAS, caméras IP — tout ce qui doit être joignable en permanence.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01952"/>
            <a:ext cx="11457432" cy="71323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01952"/>
            <a:ext cx="566928" cy="71323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01952"/>
            <a:ext cx="5669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19751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Ouvrir les paramètres réseau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2860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Paramètres → Réseau et Internet → Wi-Fi ou Ethernet → Propriétés · OU: Centre réseau → Modifier les paramètres de la carte → Clic droit sur l'interface → Propriétés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06624"/>
            <a:ext cx="114574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706624"/>
            <a:ext cx="566928" cy="71323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706624"/>
            <a:ext cx="5669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797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Ouvrir IPv4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09067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Sélectionner 'Protocole Internet Version 4 (TCP/IPv4)' → Propriétés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11296"/>
            <a:ext cx="11457432" cy="71323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511296"/>
            <a:ext cx="566928" cy="71323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511296"/>
            <a:ext cx="5669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5112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 err="1">
                <a:solidFill>
                  <a:srgbClr val="1A3560"/>
                </a:solidFill>
              </a:rPr>
              <a:t>Saisir</a:t>
            </a:r>
            <a:r>
              <a:rPr sz="1250" b="1" i="0" dirty="0">
                <a:solidFill>
                  <a:srgbClr val="1A3560"/>
                </a:solidFill>
              </a:rPr>
              <a:t> les </a:t>
            </a:r>
            <a:r>
              <a:rPr sz="1250" b="1" i="0" dirty="0" err="1">
                <a:solidFill>
                  <a:srgbClr val="1A3560"/>
                </a:solidFill>
              </a:rPr>
              <a:t>valeurs</a:t>
            </a:r>
            <a:endParaRPr sz="1250" b="1" i="0" dirty="0">
              <a:solidFill>
                <a:srgbClr val="1A356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4128" y="3763532"/>
            <a:ext cx="1072591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595959"/>
                </a:solidFill>
              </a:rPr>
              <a:t>Cocher</a:t>
            </a:r>
            <a:r>
              <a:rPr sz="1150" b="0" i="0" dirty="0">
                <a:solidFill>
                  <a:srgbClr val="595959"/>
                </a:solidFill>
              </a:rPr>
              <a:t> '</a:t>
            </a:r>
            <a:r>
              <a:rPr sz="1150" b="0" i="0" dirty="0" err="1">
                <a:solidFill>
                  <a:srgbClr val="595959"/>
                </a:solidFill>
              </a:rPr>
              <a:t>Utiliser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l'adresse</a:t>
            </a:r>
            <a:r>
              <a:rPr sz="1150" b="0" i="0" dirty="0">
                <a:solidFill>
                  <a:srgbClr val="595959"/>
                </a:solidFill>
              </a:rPr>
              <a:t> IP </a:t>
            </a:r>
            <a:r>
              <a:rPr sz="1150" b="0" i="0" dirty="0" err="1">
                <a:solidFill>
                  <a:srgbClr val="595959"/>
                </a:solidFill>
              </a:rPr>
              <a:t>suivante</a:t>
            </a:r>
            <a:r>
              <a:rPr sz="1150" b="0" i="0" dirty="0">
                <a:solidFill>
                  <a:srgbClr val="595959"/>
                </a:solidFill>
              </a:rPr>
              <a:t>'
IP : ex. 192.168.1.100 (</a:t>
            </a:r>
            <a:r>
              <a:rPr sz="1150" b="0" i="0" dirty="0" err="1">
                <a:solidFill>
                  <a:srgbClr val="595959"/>
                </a:solidFill>
              </a:rPr>
              <a:t>choisir</a:t>
            </a:r>
            <a:r>
              <a:rPr sz="1150" b="0" i="0" dirty="0">
                <a:solidFill>
                  <a:srgbClr val="595959"/>
                </a:solidFill>
              </a:rPr>
              <a:t> hors </a:t>
            </a:r>
            <a:r>
              <a:rPr sz="1150" b="0" i="0" dirty="0" err="1">
                <a:solidFill>
                  <a:srgbClr val="595959"/>
                </a:solidFill>
              </a:rPr>
              <a:t>plage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smtClean="0">
                <a:solidFill>
                  <a:srgbClr val="595959"/>
                </a:solidFill>
              </a:rPr>
              <a:t>DHCP)</a:t>
            </a:r>
            <a:r>
              <a:rPr lang="fr-CA" sz="1150" b="0" i="0" dirty="0" smtClean="0">
                <a:solidFill>
                  <a:srgbClr val="595959"/>
                </a:solidFill>
              </a:rPr>
              <a:t> - </a:t>
            </a:r>
            <a:r>
              <a:rPr sz="1150" b="0" i="0" dirty="0" smtClean="0">
                <a:solidFill>
                  <a:srgbClr val="595959"/>
                </a:solidFill>
              </a:rPr>
              <a:t>Masque </a:t>
            </a:r>
            <a:r>
              <a:rPr sz="1150" b="0" i="0" dirty="0">
                <a:solidFill>
                  <a:srgbClr val="595959"/>
                </a:solidFill>
              </a:rPr>
              <a:t>: </a:t>
            </a:r>
            <a:r>
              <a:rPr sz="1150" b="0" i="0" dirty="0" smtClean="0">
                <a:solidFill>
                  <a:srgbClr val="595959"/>
                </a:solidFill>
              </a:rPr>
              <a:t>255.255.255.0</a:t>
            </a:r>
            <a:r>
              <a:rPr lang="fr-CA" sz="1150" b="0" i="0" dirty="0" smtClean="0">
                <a:solidFill>
                  <a:srgbClr val="595959"/>
                </a:solidFill>
              </a:rPr>
              <a:t> - </a:t>
            </a:r>
            <a:r>
              <a:rPr sz="1150" b="0" i="0" dirty="0" err="1" smtClean="0">
                <a:solidFill>
                  <a:srgbClr val="595959"/>
                </a:solidFill>
              </a:rPr>
              <a:t>Passerelle</a:t>
            </a:r>
            <a:r>
              <a:rPr sz="1150" b="0" i="0" dirty="0" smtClean="0">
                <a:solidFill>
                  <a:srgbClr val="595959"/>
                </a:solidFill>
              </a:rPr>
              <a:t> </a:t>
            </a:r>
            <a:r>
              <a:rPr sz="1150" b="0" i="0" dirty="0">
                <a:solidFill>
                  <a:srgbClr val="595959"/>
                </a:solidFill>
              </a:rPr>
              <a:t>: 192.168.1.1 (</a:t>
            </a:r>
            <a:r>
              <a:rPr sz="1150" b="0" i="0" dirty="0" err="1">
                <a:solidFill>
                  <a:srgbClr val="595959"/>
                </a:solidFill>
              </a:rPr>
              <a:t>adresse</a:t>
            </a:r>
            <a:r>
              <a:rPr sz="1150" b="0" i="0" dirty="0">
                <a:solidFill>
                  <a:srgbClr val="595959"/>
                </a:solidFill>
              </a:rPr>
              <a:t> de </a:t>
            </a:r>
            <a:r>
              <a:rPr sz="1150" b="0" i="0" dirty="0" err="1">
                <a:solidFill>
                  <a:srgbClr val="595959"/>
                </a:solidFill>
              </a:rPr>
              <a:t>votre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routeur</a:t>
            </a:r>
            <a:r>
              <a:rPr sz="1150" b="0" i="0" dirty="0">
                <a:solidFill>
                  <a:srgbClr val="595959"/>
                </a:solidFill>
              </a:rPr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15968"/>
            <a:ext cx="114574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315968"/>
            <a:ext cx="566928" cy="71323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4315968"/>
            <a:ext cx="5669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3068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 err="1">
                <a:solidFill>
                  <a:srgbClr val="1A3560"/>
                </a:solidFill>
              </a:rPr>
              <a:t>Configurer</a:t>
            </a:r>
            <a:r>
              <a:rPr sz="1250" b="1" i="0" dirty="0">
                <a:solidFill>
                  <a:srgbClr val="1A3560"/>
                </a:solidFill>
              </a:rPr>
              <a:t> le DNS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561" y="4494707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595959"/>
                </a:solidFill>
              </a:rPr>
              <a:t>Cocher</a:t>
            </a:r>
            <a:r>
              <a:rPr sz="1150" b="0" i="0" dirty="0">
                <a:solidFill>
                  <a:srgbClr val="595959"/>
                </a:solidFill>
              </a:rPr>
              <a:t> '</a:t>
            </a:r>
            <a:r>
              <a:rPr sz="1150" b="0" i="0" dirty="0" err="1">
                <a:solidFill>
                  <a:srgbClr val="595959"/>
                </a:solidFill>
              </a:rPr>
              <a:t>Utiliser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l'adresse</a:t>
            </a:r>
            <a:r>
              <a:rPr sz="1150" b="0" i="0" dirty="0">
                <a:solidFill>
                  <a:srgbClr val="595959"/>
                </a:solidFill>
              </a:rPr>
              <a:t> de </a:t>
            </a:r>
            <a:r>
              <a:rPr sz="1150" b="0" i="0" dirty="0" err="1">
                <a:solidFill>
                  <a:srgbClr val="595959"/>
                </a:solidFill>
              </a:rPr>
              <a:t>serveur</a:t>
            </a:r>
            <a:r>
              <a:rPr sz="1150" b="0" i="0" dirty="0">
                <a:solidFill>
                  <a:srgbClr val="595959"/>
                </a:solidFill>
              </a:rPr>
              <a:t> DNS </a:t>
            </a:r>
            <a:r>
              <a:rPr sz="1150" b="0" i="0" dirty="0" err="1">
                <a:solidFill>
                  <a:srgbClr val="595959"/>
                </a:solidFill>
              </a:rPr>
              <a:t>suivante</a:t>
            </a:r>
            <a:r>
              <a:rPr sz="1150" b="0" i="0" dirty="0">
                <a:solidFill>
                  <a:srgbClr val="595959"/>
                </a:solidFill>
              </a:rPr>
              <a:t>'
DNS </a:t>
            </a:r>
            <a:r>
              <a:rPr sz="1150" b="0" i="0" dirty="0" err="1">
                <a:solidFill>
                  <a:srgbClr val="595959"/>
                </a:solidFill>
              </a:rPr>
              <a:t>préféré</a:t>
            </a:r>
            <a:r>
              <a:rPr sz="1150" b="0" i="0" dirty="0">
                <a:solidFill>
                  <a:srgbClr val="595959"/>
                </a:solidFill>
              </a:rPr>
              <a:t> : 8.8.8.8 (</a:t>
            </a:r>
            <a:r>
              <a:rPr sz="1150" b="0" i="0" dirty="0" err="1">
                <a:solidFill>
                  <a:srgbClr val="595959"/>
                </a:solidFill>
              </a:rPr>
              <a:t>ou</a:t>
            </a:r>
            <a:r>
              <a:rPr sz="1150" b="0" i="0" dirty="0">
                <a:solidFill>
                  <a:srgbClr val="595959"/>
                </a:solidFill>
              </a:rPr>
              <a:t> IP du </a:t>
            </a:r>
            <a:r>
              <a:rPr sz="1150" b="0" i="0" dirty="0" err="1">
                <a:solidFill>
                  <a:srgbClr val="595959"/>
                </a:solidFill>
              </a:rPr>
              <a:t>routeur</a:t>
            </a:r>
            <a:r>
              <a:rPr sz="1150" b="0" i="0" dirty="0">
                <a:solidFill>
                  <a:srgbClr val="595959"/>
                </a:solidFill>
              </a:rPr>
              <a:t>)
DNS </a:t>
            </a:r>
            <a:r>
              <a:rPr sz="1150" b="0" i="0" dirty="0" err="1">
                <a:solidFill>
                  <a:srgbClr val="595959"/>
                </a:solidFill>
              </a:rPr>
              <a:t>auxiliaire</a:t>
            </a:r>
            <a:r>
              <a:rPr sz="1150" b="0" i="0" dirty="0">
                <a:solidFill>
                  <a:srgbClr val="595959"/>
                </a:solidFill>
              </a:rPr>
              <a:t> : 8.8.4.4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120640"/>
            <a:ext cx="11457432" cy="71323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120640"/>
            <a:ext cx="566928" cy="713232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5120640"/>
            <a:ext cx="5669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9317" y="503282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 err="1">
                <a:solidFill>
                  <a:srgbClr val="1A3560"/>
                </a:solidFill>
              </a:rPr>
              <a:t>Valider</a:t>
            </a:r>
            <a:r>
              <a:rPr sz="1250" b="1" i="0" dirty="0">
                <a:solidFill>
                  <a:srgbClr val="1A3560"/>
                </a:solidFill>
              </a:rPr>
              <a:t> et tester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5255557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595959"/>
                </a:solidFill>
              </a:rPr>
              <a:t>OK → OK → </a:t>
            </a:r>
            <a:r>
              <a:rPr sz="1150" b="0" i="0" dirty="0" err="1">
                <a:solidFill>
                  <a:srgbClr val="595959"/>
                </a:solidFill>
              </a:rPr>
              <a:t>Fermer</a:t>
            </a:r>
            <a:r>
              <a:rPr sz="1150" b="0" i="0" dirty="0">
                <a:solidFill>
                  <a:srgbClr val="595959"/>
                </a:solidFill>
              </a:rPr>
              <a:t>
ping 8.8.8.8 → </a:t>
            </a:r>
            <a:r>
              <a:rPr sz="1150" b="0" i="0" dirty="0" err="1">
                <a:solidFill>
                  <a:srgbClr val="595959"/>
                </a:solidFill>
              </a:rPr>
              <a:t>vérifier</a:t>
            </a:r>
            <a:r>
              <a:rPr sz="1150" b="0" i="0" dirty="0">
                <a:solidFill>
                  <a:srgbClr val="595959"/>
                </a:solidFill>
              </a:rPr>
              <a:t> la </a:t>
            </a:r>
            <a:r>
              <a:rPr sz="1150" b="0" i="0" dirty="0" err="1">
                <a:solidFill>
                  <a:srgbClr val="595959"/>
                </a:solidFill>
              </a:rPr>
              <a:t>connexion</a:t>
            </a:r>
            <a:r>
              <a:rPr sz="1150" b="0" i="0" dirty="0">
                <a:solidFill>
                  <a:srgbClr val="595959"/>
                </a:solidFill>
              </a:rPr>
              <a:t>
ping google.com → </a:t>
            </a:r>
            <a:r>
              <a:rPr sz="1150" b="0" i="0" dirty="0" err="1">
                <a:solidFill>
                  <a:srgbClr val="595959"/>
                </a:solidFill>
              </a:rPr>
              <a:t>vérifier</a:t>
            </a:r>
            <a:r>
              <a:rPr sz="1150" b="0" i="0" dirty="0">
                <a:solidFill>
                  <a:srgbClr val="595959"/>
                </a:solidFill>
              </a:rPr>
              <a:t> le DNS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925312"/>
            <a:ext cx="114574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5925312"/>
            <a:ext cx="566928" cy="71323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5925312"/>
            <a:ext cx="5669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593428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1A3560"/>
                </a:solidFill>
              </a:rPr>
              <a:t>Si </a:t>
            </a:r>
            <a:r>
              <a:rPr sz="1250" b="1" i="0" dirty="0" err="1">
                <a:solidFill>
                  <a:srgbClr val="1A3560"/>
                </a:solidFill>
              </a:rPr>
              <a:t>conflit</a:t>
            </a:r>
            <a:r>
              <a:rPr sz="1250" b="1" i="0" dirty="0">
                <a:solidFill>
                  <a:srgbClr val="1A3560"/>
                </a:solidFill>
              </a:rPr>
              <a:t> 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9317" y="61722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595959"/>
                </a:solidFill>
              </a:rPr>
              <a:t>Si un </a:t>
            </a:r>
            <a:r>
              <a:rPr sz="1150" b="0" i="0" dirty="0" err="1">
                <a:solidFill>
                  <a:srgbClr val="595959"/>
                </a:solidFill>
              </a:rPr>
              <a:t>autre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appareil</a:t>
            </a:r>
            <a:r>
              <a:rPr sz="1150" b="0" i="0" dirty="0">
                <a:solidFill>
                  <a:srgbClr val="595959"/>
                </a:solidFill>
              </a:rPr>
              <a:t> a déjà </a:t>
            </a:r>
            <a:r>
              <a:rPr sz="1150" b="0" i="0" dirty="0" err="1">
                <a:solidFill>
                  <a:srgbClr val="595959"/>
                </a:solidFill>
              </a:rPr>
              <a:t>cette</a:t>
            </a:r>
            <a:r>
              <a:rPr sz="1150" b="0" i="0" dirty="0">
                <a:solidFill>
                  <a:srgbClr val="595959"/>
                </a:solidFill>
              </a:rPr>
              <a:t> IP → les 2 </a:t>
            </a:r>
            <a:r>
              <a:rPr sz="1150" b="0" i="0" dirty="0" err="1">
                <a:solidFill>
                  <a:srgbClr val="595959"/>
                </a:solidFill>
              </a:rPr>
              <a:t>tombent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en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panne</a:t>
            </a:r>
            <a:r>
              <a:rPr sz="1150" b="0" i="0" dirty="0">
                <a:solidFill>
                  <a:srgbClr val="595959"/>
                </a:solidFill>
              </a:rPr>
              <a:t>
</a:t>
            </a:r>
            <a:r>
              <a:rPr sz="1150" b="0" i="0" dirty="0" err="1">
                <a:solidFill>
                  <a:srgbClr val="595959"/>
                </a:solidFill>
              </a:rPr>
              <a:t>Choisir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une</a:t>
            </a:r>
            <a:r>
              <a:rPr sz="1150" b="0" i="0" dirty="0">
                <a:solidFill>
                  <a:srgbClr val="595959"/>
                </a:solidFill>
              </a:rPr>
              <a:t> IP </a:t>
            </a:r>
            <a:r>
              <a:rPr sz="1150" b="0" i="0" dirty="0" err="1">
                <a:solidFill>
                  <a:srgbClr val="595959"/>
                </a:solidFill>
              </a:rPr>
              <a:t>en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dehors</a:t>
            </a:r>
            <a:r>
              <a:rPr sz="1150" b="0" i="0" dirty="0">
                <a:solidFill>
                  <a:srgbClr val="595959"/>
                </a:solidFill>
              </a:rPr>
              <a:t> de la </a:t>
            </a:r>
            <a:r>
              <a:rPr sz="1150" b="0" i="0" dirty="0" err="1">
                <a:solidFill>
                  <a:srgbClr val="595959"/>
                </a:solidFill>
              </a:rPr>
              <a:t>plage</a:t>
            </a:r>
            <a:r>
              <a:rPr sz="1150" b="0" i="0" dirty="0">
                <a:solidFill>
                  <a:srgbClr val="595959"/>
                </a:solidFill>
              </a:rPr>
              <a:t> DHCP du </a:t>
            </a:r>
            <a:r>
              <a:rPr sz="1150" b="0" i="0" dirty="0" err="1">
                <a:solidFill>
                  <a:srgbClr val="595959"/>
                </a:solidFill>
              </a:rPr>
              <a:t>routeur</a:t>
            </a:r>
            <a:r>
              <a:rPr sz="1150" b="0" i="0" dirty="0">
                <a:solidFill>
                  <a:srgbClr val="595959"/>
                </a:solidFill>
              </a:rPr>
              <a:t> (ex: 192.168.1.100-200)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Cas pratiques — Séance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3694176" cy="482803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3694176" cy="47548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1737360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1 — Mario, ex-ex-maçon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304288"/>
            <a:ext cx="34381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4A"/>
                </a:solidFill>
              </a:rPr>
              <a:t>Internet ne fonctionne plus depuis ce matin. Tout était OK hier. Wi-Fi connecté mais globe jaune.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2907792"/>
            <a:ext cx="3438144" cy="228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2980944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Quelle est votre séquence de test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639311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Si la passerelle ne répond pas, que vérifiez-vous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297679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Si 8.8.8.8 répond mais google.com non — quelle est la cause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035040"/>
            <a:ext cx="3200400" cy="34747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Piste : 3 pings · ipconfig → APIPA ? · DNS seul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1719072"/>
            <a:ext cx="3694176" cy="482803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61104" y="1719072"/>
            <a:ext cx="3694176" cy="47548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1737360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2 — Fatima, ex-ex-infirmière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304288"/>
            <a:ext cx="34381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4A"/>
                </a:solidFill>
              </a:rPr>
              <a:t>PC très lent à ouvrir les sites web. Téléchargements normaux. Seulement les premières secondes.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907792"/>
            <a:ext cx="3438144" cy="228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2980944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Quel composant réseau est probablement lent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639311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Comment tester votre hypothèse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297679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Quelle solution rapide proposer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9704" y="6035040"/>
            <a:ext cx="3200400" cy="34747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9704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Piste : DNS lent · nslookup comparatif · Changer vers 8.8.8.8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56448" y="1719072"/>
            <a:ext cx="3694176" cy="482803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56448" y="1719072"/>
            <a:ext cx="3694176" cy="47548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4" y="1737360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3 — Karim, ex-ex-plombier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2304288"/>
            <a:ext cx="34381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4A"/>
                </a:solidFill>
              </a:rPr>
              <a:t>Wi-Fi coupé toutes les heures environ. Reconnexion automatique. Depuis déménagement.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84464" y="2907792"/>
            <a:ext cx="3438144" cy="228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84464" y="2980944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Comment identifier la fréquence Wi-Fi utilisée 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3639311"/>
            <a:ext cx="35661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595959"/>
                </a:solidFill>
              </a:rPr>
              <a:t>• </a:t>
            </a:r>
            <a:r>
              <a:rPr sz="1150" b="0" i="0" dirty="0" err="1">
                <a:solidFill>
                  <a:srgbClr val="595959"/>
                </a:solidFill>
              </a:rPr>
              <a:t>Quelle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fréquence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est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moins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sujette</a:t>
            </a:r>
            <a:r>
              <a:rPr sz="1150" b="0" i="0" dirty="0">
                <a:solidFill>
                  <a:srgbClr val="595959"/>
                </a:solidFill>
              </a:rPr>
              <a:t> aux </a:t>
            </a:r>
            <a:r>
              <a:rPr sz="1150" b="0" i="0" dirty="0" err="1">
                <a:solidFill>
                  <a:srgbClr val="595959"/>
                </a:solidFill>
              </a:rPr>
              <a:t>interférences</a:t>
            </a:r>
            <a:r>
              <a:rPr sz="1150" b="0" i="0" dirty="0">
                <a:solidFill>
                  <a:srgbClr val="595959"/>
                </a:solidFill>
              </a:rPr>
              <a:t>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4297679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Que recommander comme solution permanente 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85048" y="6035040"/>
            <a:ext cx="320040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85048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Piste : netsh wlan show interfaces · 5 GHz · Réglage canal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Partager une connexion et bases du VPN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3694176" cy="482803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3694176" cy="43891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17373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Partage de connexion (Hotspot)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2249424"/>
            <a:ext cx="1188720" cy="310896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224942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Paramètres → Réseau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4" y="2249424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Partage de connexion mobile → Activer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3090672"/>
            <a:ext cx="1188720" cy="310896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30906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Nom et MDP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4" y="3090672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Modifier SSID et mot de passe Wi-Fi créé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3931920"/>
            <a:ext cx="1188720" cy="310896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393192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Plage 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3931920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Windows attribue 192.168.137.x aux clients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4773168"/>
            <a:ext cx="1188720" cy="310896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" y="477316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Limite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92224" y="4773168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Connexion 4G/5G partagée — quota data s'applique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5614416"/>
            <a:ext cx="1188720" cy="310896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" y="56144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Alternative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92224" y="5614416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Ethernet → Wi-Fi : partage via connexion réseau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1104" y="1719072"/>
            <a:ext cx="3694176" cy="4828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61104" y="1719072"/>
            <a:ext cx="3694176" cy="43891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9120" y="17373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VPN — Comprendre les bases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2249424"/>
            <a:ext cx="1188720" cy="310896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224942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C'est quoi 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7568" y="2249424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Tunnel chiffré entre votre PC et un serveur distant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090672"/>
            <a:ext cx="1188720" cy="310896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0" y="30906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Masque l'IP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7568" y="3090672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Votre adresse IP réelle est cachée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3931920"/>
            <a:ext cx="1188720" cy="310896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0" y="393192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Chiffrement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87568" y="3931920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Trafic chiffré même sur Wi-Fi public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4773168"/>
            <a:ext cx="1188720" cy="310896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89120" y="477316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VPN entreprise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87568" y="4773168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Accès aux ressources internes depuis l'extérieur (RDP, fichiers)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5614416"/>
            <a:ext cx="1188720" cy="310896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89120" y="56144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Risques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87568" y="5614416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VPN gratuits = souvent malveillants · Logs vendus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56448" y="1719072"/>
            <a:ext cx="3694176" cy="482803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156448" y="1719072"/>
            <a:ext cx="3694176" cy="43891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84464" y="17373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Ports réseau à connaître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84464" y="2249424"/>
            <a:ext cx="1188720" cy="310896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84464" y="224942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Port 80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82912" y="2249424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HTTP — Web non chiffré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84464" y="3090672"/>
            <a:ext cx="1188720" cy="310896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84464" y="30906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Port 443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82912" y="3090672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HTTPS — Web chiffré (TLS)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84464" y="3931920"/>
            <a:ext cx="1188720" cy="310896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84464" y="393192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Port 3389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82912" y="3931920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RDP — Bureau à distance Windows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84464" y="4773168"/>
            <a:ext cx="1188720" cy="310896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84464" y="477316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Port 445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82912" y="4773168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SMB — Partage de fichiers Windows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84464" y="5614416"/>
            <a:ext cx="1188720" cy="310896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84464" y="56144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Port 53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82912" y="5614416"/>
            <a:ext cx="2139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DNS — Résolution de noms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Connaître les ports principaux = savoir quel service est bloqué par le pare-feu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"/>
            <a:ext cx="1036320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1097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7799"/>
                </a:solidFill>
              </a:rPr>
              <a:t>Séance 8 — Réseau et Internet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552" y="7315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7799"/>
                </a:solidFill>
              </a:rPr>
              <a:t>CHAFIK MOUSTAID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8552" y="29260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35566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8368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BDD"/>
                </a:solidFill>
              </a:rPr>
              <a:t>VOCABULAIRE RÉSEAU — 18 termes essentiels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69264"/>
            <a:ext cx="11274552" cy="22860"/>
          </a:xfrm>
          <a:prstGeom prst="rect">
            <a:avLst/>
          </a:prstGeom>
          <a:solidFill>
            <a:srgbClr val="22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7899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078992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1338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Adresse 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426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Identifiant numérique unique sur le réseau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75104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975104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Masque sous-réseau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322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Définit l'étendue du réseau local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5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871215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9260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Passerelle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1868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Adresse du routeur — sortie vers Internet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67328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67328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8221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DNS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Traduit noms de domaine en adresses 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63440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7183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DHCP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10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Attribution automatique des adresses 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5955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559552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614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Bail DHCP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07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Durée d'une attribution IP automatique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07899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97680" y="1078992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11338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APIPA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1426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169.254.x.x — IP auto si DHCP KO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1975104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97680" y="1975104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80560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MAC Address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2322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Identifiant physique unique de la carte réseau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2871215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97680" y="2871215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80560" y="29260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Ping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321868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Tester la connectivité réseau avec TTL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3767328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97680" y="3767328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80560" y="38221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tracert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1148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Tracer le chemin des paquets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663440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297680" y="4663440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80560" y="47183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netstat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010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Voir toutes les connexions réseau actives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555955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297680" y="5559552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80560" y="5614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nslookup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5907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Tester la résolution DNS manuellement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07899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38160" y="1078992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21040" y="11338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SSID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1426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Nom du réseau Wi-Fi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1975104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138160" y="1975104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21040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WPA3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322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Standard sécurité Wi-Fi le plus récent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2871215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138160" y="2871215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21040" y="29260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Port réseau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21868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Numéro identifiant un service (443=HTTPS)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3767328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138160" y="3767328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21040" y="38221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VPN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41148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Tunnel chiffré entre 2 points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663440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138160" y="4663440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21040" y="47183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NAT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010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Traduction d'adresses réseau — routeur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555955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138160" y="5559552"/>
            <a:ext cx="73152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21040" y="5614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Bande passante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5907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Débit maximal d'une connexion (Mb/s)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BB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Mémo commandes réseau — CMD et PowerShell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BDD"/>
                </a:solidFill>
              </a:rPr>
              <a:t>Toutes disponibles dans CMD standard (pas besoin admin sauf netstat -b)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81328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664208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664208"/>
            <a:ext cx="73152" cy="10058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737360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ipconfig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396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Afficher IP, masque, passerelle de toutes les interfaces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1664208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91072" y="1664208"/>
            <a:ext cx="73152" cy="10058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ipconfig /all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396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Version complète avec MAC, DNS, bail DHCP, status DHCP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98064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2798064"/>
            <a:ext cx="73152" cy="10058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2871216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ipconfig /release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27355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Libérer le bail DHCP (IP 0.0.0.0)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2798064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91072" y="2798064"/>
            <a:ext cx="73152" cy="10058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871216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ipconfig /renew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7355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Demander un nouveau bail DHCP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31920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931920"/>
            <a:ext cx="73152" cy="10058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4005072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ipconfig /flushdns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4074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Vider le cache DNS local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3931920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1072" y="3931920"/>
            <a:ext cx="73152" cy="10058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005072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ping [IP/nom] -t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4074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Ping continu jusqu'à Ctrl+C — surveiller stabilité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65776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5065776"/>
            <a:ext cx="73152" cy="10058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5138928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tracert [destination]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541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Tracer la route jusqu'à destination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1072" y="5065776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91072" y="5065776"/>
            <a:ext cx="73152" cy="10058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5138928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88DDFF"/>
                </a:solidFill>
              </a:rPr>
              <a:t>netstat -an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541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Toutes connexions + ports en écoute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 dirty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Architecture réseau typique PME — Schéma annoté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91556" y="3291840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29884" y="3127248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93308" y="3456432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968496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Insérer ici : schéma réseau ou photo du réseau physique de votre environnement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15968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Annoter : IP du routeur · plage DHCP · IP des imprimantes (fixes) · IP des PCs (DHCP)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108192"/>
            <a:ext cx="11365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0BBDD"/>
                </a:solidFill>
              </a:rPr>
              <a:t>Exercice</a:t>
            </a:r>
            <a:r>
              <a:rPr sz="1300" b="1" i="0" dirty="0">
                <a:solidFill>
                  <a:srgbClr val="00BBDD"/>
                </a:solidFill>
              </a:rPr>
              <a:t> : </a:t>
            </a:r>
            <a:r>
              <a:rPr sz="1300" b="1" i="0" dirty="0" err="1">
                <a:solidFill>
                  <a:srgbClr val="00BBDD"/>
                </a:solidFill>
              </a:rPr>
              <a:t>dessiner</a:t>
            </a:r>
            <a:r>
              <a:rPr sz="1300" b="1" i="0" dirty="0">
                <a:solidFill>
                  <a:srgbClr val="00BBDD"/>
                </a:solidFill>
              </a:rPr>
              <a:t> le </a:t>
            </a:r>
            <a:r>
              <a:rPr sz="1300" b="1" i="0" dirty="0" err="1">
                <a:solidFill>
                  <a:srgbClr val="00BBDD"/>
                </a:solidFill>
              </a:rPr>
              <a:t>schéma</a:t>
            </a:r>
            <a:r>
              <a:rPr sz="1300" b="1" i="0" dirty="0">
                <a:solidFill>
                  <a:srgbClr val="00BBDD"/>
                </a:solidFill>
              </a:rPr>
              <a:t> </a:t>
            </a:r>
            <a:r>
              <a:rPr sz="1300" b="1" i="0" dirty="0" err="1">
                <a:solidFill>
                  <a:srgbClr val="00BBDD"/>
                </a:solidFill>
              </a:rPr>
              <a:t>réseau</a:t>
            </a:r>
            <a:r>
              <a:rPr sz="1300" b="1" i="0" dirty="0">
                <a:solidFill>
                  <a:srgbClr val="00BBDD"/>
                </a:solidFill>
              </a:rPr>
              <a:t> de </a:t>
            </a:r>
            <a:r>
              <a:rPr sz="1300" b="1" i="0" dirty="0" err="1">
                <a:solidFill>
                  <a:srgbClr val="00BBDD"/>
                </a:solidFill>
              </a:rPr>
              <a:t>votre</a:t>
            </a:r>
            <a:r>
              <a:rPr sz="1300" b="1" i="0" dirty="0">
                <a:solidFill>
                  <a:srgbClr val="00BBDD"/>
                </a:solidFill>
              </a:rPr>
              <a:t> domicile avec les IPs de </a:t>
            </a:r>
            <a:r>
              <a:rPr sz="1300" b="1" i="0" dirty="0" err="1">
                <a:solidFill>
                  <a:srgbClr val="00BBDD"/>
                </a:solidFill>
              </a:rPr>
              <a:t>chaque</a:t>
            </a:r>
            <a:r>
              <a:rPr sz="1300" b="1" i="0" dirty="0">
                <a:solidFill>
                  <a:srgbClr val="00BBDD"/>
                </a:solidFill>
              </a:rPr>
              <a:t> </a:t>
            </a:r>
            <a:r>
              <a:rPr sz="1300" b="1" i="0" dirty="0" err="1">
                <a:solidFill>
                  <a:srgbClr val="00BBDD"/>
                </a:solidFill>
              </a:rPr>
              <a:t>appareil</a:t>
            </a:r>
            <a:r>
              <a:rPr sz="1300" b="1" i="0" dirty="0">
                <a:solidFill>
                  <a:srgbClr val="00BBDD"/>
                </a:solidFill>
              </a:rPr>
              <a:t> (ipconfig/all).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Advanced IP Scanner (gratuit) → scanner les IPs actives sur le réseau local</a:t>
            </a:r>
          </a:p>
        </p:txBody>
      </p:sp>
      <p:pic>
        <p:nvPicPr>
          <p:cNvPr id="1026" name="Picture 2" descr="L'environnement réseau et son organisation - myMaxicou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595887"/>
            <a:ext cx="10132587" cy="4442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2A4A"/>
                </a:solidFill>
              </a:rPr>
              <a:t>Séance 8 — Réseau et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76311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 dirty="0">
                <a:solidFill>
                  <a:srgbClr val="0A2A4A"/>
                </a:solidFill>
              </a:rPr>
              <a:t>À </a:t>
            </a:r>
            <a:r>
              <a:rPr sz="5200" b="1" i="0" dirty="0" err="1">
                <a:solidFill>
                  <a:srgbClr val="0A2A4A"/>
                </a:solidFill>
              </a:rPr>
              <a:t>vous</a:t>
            </a:r>
            <a:r>
              <a:rPr sz="5200" b="1" i="0" dirty="0">
                <a:solidFill>
                  <a:srgbClr val="0A2A4A"/>
                </a:solidFill>
              </a:rPr>
              <a:t> de </a:t>
            </a:r>
            <a:r>
              <a:rPr sz="5200" b="1" i="0" dirty="0" err="1">
                <a:solidFill>
                  <a:srgbClr val="0A2A4A"/>
                </a:solidFill>
              </a:rPr>
              <a:t>jouer</a:t>
            </a:r>
            <a:r>
              <a:rPr sz="5200" b="1" i="0" dirty="0">
                <a:solidFill>
                  <a:srgbClr val="0A2A4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BDD"/>
                </a:solidFill>
              </a:rPr>
              <a:t>Diagnostiquez le réseau de votre VM avec les outils appris.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93392"/>
            <a:ext cx="1136599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148840"/>
            <a:ext cx="2743200" cy="42519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148840"/>
            <a:ext cx="2743200" cy="47548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BDD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ipconfig /all complet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Lancer · noter IP · masque · passerelle · DNS · MAC · DHCP ou statique 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88736"/>
            <a:ext cx="2286000" cy="34747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2A4A"/>
                </a:solidFill>
              </a:rPr>
              <a:t>10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148840"/>
            <a:ext cx="2743200" cy="42519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148840"/>
            <a:ext cx="2743200" cy="47548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BDD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3 pings en séquence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Pinger la passerelle → 8.8.8.8 → google.com · noter les résultats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5888736"/>
            <a:ext cx="2286000" cy="34747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0440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2A4A"/>
                </a:solidFill>
              </a:rPr>
              <a:t>10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148840"/>
            <a:ext cx="2743200" cy="42519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2148840"/>
            <a:ext cx="2743200" cy="47548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BDD"/>
                </a:solidFill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tracert google.com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Observer les sauts · noter les temps · identifier le premier saut lent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888736"/>
            <a:ext cx="2286000" cy="34747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2A4A"/>
                </a:solidFill>
              </a:rPr>
              <a:t>10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59" y="2148840"/>
            <a:ext cx="2743200" cy="42519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52559" y="2148840"/>
            <a:ext cx="2743200" cy="47548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52559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BDD"/>
                </a:solidFill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7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Changer les DNS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7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Modifier vers 1.1.1.1 et 8.8.8.8 · tester nslookup · comparer avec avant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59" y="5888736"/>
            <a:ext cx="2286000" cy="34747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81159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2A4A"/>
                </a:solidFill>
              </a:rPr>
              <a:t>15 min</a:t>
            </a:r>
          </a:p>
        </p:txBody>
      </p:sp>
      <p:sp>
        <p:nvSpPr>
          <p:cNvPr id="39" name="TextBox 5"/>
          <p:cNvSpPr txBox="1"/>
          <p:nvPr/>
        </p:nvSpPr>
        <p:spPr>
          <a:xfrm>
            <a:off x="8714232" y="45720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 dirty="0"/>
              <a:t>CHAFIK MOUSTAID — FORMATEUR</a:t>
            </a:r>
          </a:p>
        </p:txBody>
      </p:sp>
      <p:sp>
        <p:nvSpPr>
          <p:cNvPr id="40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Paramètres Wi-Fi Windows — Interface complète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108192"/>
            <a:ext cx="11365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0BBDD"/>
                </a:solidFill>
              </a:rPr>
              <a:t>netsh</a:t>
            </a:r>
            <a:r>
              <a:rPr sz="1300" b="1" i="0" dirty="0">
                <a:solidFill>
                  <a:srgbClr val="00BBDD"/>
                </a:solidFill>
              </a:rPr>
              <a:t> </a:t>
            </a:r>
            <a:r>
              <a:rPr sz="1300" b="1" i="0" dirty="0" err="1">
                <a:solidFill>
                  <a:srgbClr val="00BBDD"/>
                </a:solidFill>
              </a:rPr>
              <a:t>wlan</a:t>
            </a:r>
            <a:r>
              <a:rPr sz="1300" b="1" i="0" dirty="0">
                <a:solidFill>
                  <a:srgbClr val="00BBDD"/>
                </a:solidFill>
              </a:rPr>
              <a:t> show interfaces → </a:t>
            </a:r>
            <a:r>
              <a:rPr sz="1300" b="1" i="0" dirty="0" err="1">
                <a:solidFill>
                  <a:srgbClr val="00BBDD"/>
                </a:solidFill>
              </a:rPr>
              <a:t>affiche</a:t>
            </a:r>
            <a:r>
              <a:rPr sz="1300" b="1" i="0" dirty="0">
                <a:solidFill>
                  <a:srgbClr val="00BBDD"/>
                </a:solidFill>
              </a:rPr>
              <a:t> </a:t>
            </a:r>
            <a:r>
              <a:rPr sz="1300" b="1" i="0" dirty="0" err="1">
                <a:solidFill>
                  <a:srgbClr val="00BBDD"/>
                </a:solidFill>
              </a:rPr>
              <a:t>dans</a:t>
            </a:r>
            <a:r>
              <a:rPr sz="1300" b="1" i="0" dirty="0">
                <a:solidFill>
                  <a:srgbClr val="00BBDD"/>
                </a:solidFill>
              </a:rPr>
              <a:t> le terminal : SSID, BSSID, type radio, canal, signal, </a:t>
            </a:r>
            <a:r>
              <a:rPr sz="1300" b="1" i="0" dirty="0" err="1">
                <a:solidFill>
                  <a:srgbClr val="00BBDD"/>
                </a:solidFill>
              </a:rPr>
              <a:t>vitesse</a:t>
            </a:r>
            <a:r>
              <a:rPr sz="1300" b="1" i="0" dirty="0">
                <a:solidFill>
                  <a:srgbClr val="00BBDD"/>
                </a:solidFill>
              </a:rPr>
              <a:t> de </a:t>
            </a:r>
            <a:r>
              <a:rPr sz="1300" b="1" i="0" dirty="0" err="1">
                <a:solidFill>
                  <a:srgbClr val="00BBDD"/>
                </a:solidFill>
              </a:rPr>
              <a:t>réception</a:t>
            </a:r>
            <a:r>
              <a:rPr sz="1300" b="1" i="0" dirty="0">
                <a:solidFill>
                  <a:srgbClr val="00BBDD"/>
                </a:solidFill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Changer de bande : oublier le réseau → reconnecter en choisissant le SSID 5 GHz (souvent même nom avec '5G' ou '_5')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868" y="1682510"/>
            <a:ext cx="5740502" cy="4381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Mémo diagnostic — Tous les scénarios réseau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11457432" cy="117043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685800" cy="117043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719072"/>
            <a:ext cx="6858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1792224"/>
            <a:ext cx="10543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Symptôme : Internet KO · Wi-Fi connecté · globe jaune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103120"/>
            <a:ext cx="105430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1. ipconfig /all → IP 169.254.x.x ? → DHCP KO → relancer routeur
2. IP normale → ping passerelle → ping 8.8.8.8 → ping google.com
3. Localiser le saut qui échoue → agir en conséquence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80944"/>
            <a:ext cx="1145743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980944"/>
            <a:ext cx="685800" cy="117043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980944"/>
            <a:ext cx="6858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054096"/>
            <a:ext cx="10543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Symptôme : Sites lents · téléchargements normaux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364991"/>
            <a:ext cx="105430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1. nslookup google.com → temps de réponse &gt; 200ms = DNS lent
2. Changer DNS → 8.8.8.8 et 8.8.4.4 → retester nslookup
3. ipconfig /flushdns → retester navigation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42816"/>
            <a:ext cx="11457432" cy="1170432"/>
          </a:xfrm>
          <a:prstGeom prst="rect">
            <a:avLst/>
          </a:prstGeom>
          <a:solidFill>
            <a:srgbClr val="E8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242816"/>
            <a:ext cx="685800" cy="117043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242816"/>
            <a:ext cx="6858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315968"/>
            <a:ext cx="10543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2A4A"/>
                </a:solidFill>
              </a:rPr>
              <a:t>Symptôme : Wi-Fi se coupe toutes les heures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626864"/>
            <a:ext cx="105430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1. netsh wlan show interfaces → noter la bande (2.4/5 GHz)
2. Si 2.4 GHz → Essayer 5 GHz (moins d'interférences)
3. Vérifier paramètres éco-énergie : Ne pas couper Wi-Fi en veille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04688"/>
            <a:ext cx="1145743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5504688"/>
            <a:ext cx="685800" cy="117043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504688"/>
            <a:ext cx="6858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5577840"/>
            <a:ext cx="10543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99BB"/>
                </a:solidFill>
              </a:rPr>
              <a:t>Symptôme : Imprimante réseau introuvable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5888736"/>
            <a:ext cx="105430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1. ping [IP imprimante] → répond ? → driver manquant ou file bloquée
2. Ne répond pas → IP changée ? → redémarrer l'imprimante
3. Toujours attribuer une IP fixe aux imprimantes réseau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8 — Réseau et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Compétences acquises — À valider avec votre formateur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764792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72821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728216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78308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Je connais les 4 concepts TCP/IP : IP · masque · passerelle · DNS et leur rôle.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72868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3362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336292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391156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J'applique la méthode des 3 pings pour localiser une panne réseau en moins de 3 minutes.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980944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944368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299923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Je lis et interprète ipconfig /all (IP, masque, passerelle, DNS, MAC, DHCP).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589020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5524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552444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607308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Je reconnais l'APIPA (169.254.x.x) et sais ce que ça signifie.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197096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41605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160520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215383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Je change les DNS vers 8.8.8.8/1.1.1.1 et vide le cache avec ipconfig /flushdns.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805172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476859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4768596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482346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Je distingue les bandes Wi-Fi 2.4 GHz (portée) et 5 GHz (vitesse) et je les configure.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413248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537667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376672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431536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J'utilise tracert pour identifier à quel saut une connexion se dégrade.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6021324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598474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" y="5984748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603961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Je configure une IP statique sous Windows pour une imprimante ou un NAS.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492240"/>
            <a:ext cx="11420856" cy="25603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4048" y="6492240"/>
            <a:ext cx="11420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FIN SÉANCE 8 — Valider avec votre formateur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3183</Words>
  <Application>Microsoft Office PowerPoint</Application>
  <PresentationFormat>Personnalisé</PresentationFormat>
  <Paragraphs>469</Paragraphs>
  <Slides>22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Chafik Moustaid</cp:lastModifiedBy>
  <cp:revision>4</cp:revision>
  <dcterms:created xsi:type="dcterms:W3CDTF">2013-01-27T09:14:16Z</dcterms:created>
  <dcterms:modified xsi:type="dcterms:W3CDTF">2026-07-06T15:51:47Z</dcterms:modified>
  <cp:category/>
</cp:coreProperties>
</file>