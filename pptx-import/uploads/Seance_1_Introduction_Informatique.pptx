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-954" y="-3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0" y="0"/>
            <a:ext cx="7159752" cy="6858000"/>
          </a:xfrm>
          <a:prstGeom prst="rect">
            <a:avLst/>
          </a:prstGeom>
          <a:solidFill>
            <a:srgbClr val="F5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92624" y="0"/>
            <a:ext cx="73152" cy="685800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1341120" cy="4023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749808"/>
            <a:ext cx="45720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 dirty="0">
                <a:solidFill>
                  <a:srgbClr val="FFFFFF"/>
                </a:solidFill>
              </a:rPr>
              <a:t>IT </a:t>
            </a:r>
            <a:r>
              <a:rPr sz="3800" b="1" i="0" dirty="0" smtClean="0">
                <a:solidFill>
                  <a:srgbClr val="FFFFFF"/>
                </a:solidFill>
              </a:rPr>
              <a:t>Support</a:t>
            </a:r>
            <a:r>
              <a:rPr lang="fr-CA" sz="3800" b="1" i="0" dirty="0" smtClean="0">
                <a:solidFill>
                  <a:srgbClr val="FFFFFF"/>
                </a:solidFill>
              </a:rPr>
              <a:t> </a:t>
            </a:r>
            <a:r>
              <a:rPr sz="3800" b="1" i="0" dirty="0" smtClean="0">
                <a:solidFill>
                  <a:srgbClr val="FFFFFF"/>
                </a:solidFill>
              </a:rPr>
              <a:t>Technique</a:t>
            </a:r>
            <a:endParaRPr sz="3800" b="1" i="0" dirty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80" y="4778121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6CC24A"/>
                </a:solidFill>
              </a:rPr>
              <a:t>Formation N1/N2 — SAMO Formation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938528"/>
            <a:ext cx="2286000" cy="475488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1938528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dirty="0">
                <a:solidFill>
                  <a:srgbClr val="FFFFFF"/>
                </a:solidFill>
              </a:rPr>
              <a:t>SÉANCE 1 /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71576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FFFFFF"/>
                </a:solidFill>
              </a:rPr>
              <a:t>Chafik</a:t>
            </a:r>
            <a:r>
              <a:rPr sz="1300" b="1" i="0" dirty="0">
                <a:solidFill>
                  <a:srgbClr val="FFFFFF"/>
                </a:solidFill>
              </a:rPr>
              <a:t> </a:t>
            </a:r>
            <a:r>
              <a:rPr sz="1300" b="1" i="0" dirty="0" err="1">
                <a:solidFill>
                  <a:srgbClr val="FFFFFF"/>
                </a:solidFill>
              </a:rPr>
              <a:t>Moustaid</a:t>
            </a:r>
            <a:r>
              <a:rPr sz="1300" b="1" i="0" dirty="0">
                <a:solidFill>
                  <a:srgbClr val="FFFFFF"/>
                </a:solidFill>
              </a:rPr>
              <a:t> — </a:t>
            </a:r>
            <a:r>
              <a:rPr sz="1300" b="1" i="0" dirty="0" err="1">
                <a:solidFill>
                  <a:srgbClr val="FFFFFF"/>
                </a:solidFill>
              </a:rPr>
              <a:t>Formateur</a:t>
            </a:r>
            <a:endParaRPr sz="1300" b="1" i="0" dirty="0">
              <a:solidFill>
                <a:srgbClr val="FFFFF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7650" y="3429000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AAAAAA"/>
                </a:solidFill>
              </a:rPr>
              <a:t>Formation </a:t>
            </a:r>
            <a:r>
              <a:rPr sz="1100" b="0" i="0" dirty="0" err="1">
                <a:solidFill>
                  <a:srgbClr val="AAAAAA"/>
                </a:solidFill>
              </a:rPr>
              <a:t>individuelle</a:t>
            </a:r>
            <a:r>
              <a:rPr sz="1100" b="0" i="0" dirty="0">
                <a:solidFill>
                  <a:srgbClr val="AAAAAA"/>
                </a:solidFill>
              </a:rPr>
              <a:t> · Distance · Teams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4011549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AAAAAA"/>
                </a:solidFill>
              </a:rPr>
              <a:t>Durée</a:t>
            </a:r>
            <a:r>
              <a:rPr sz="1100" b="0" i="0" dirty="0">
                <a:solidFill>
                  <a:srgbClr val="AAAAAA"/>
                </a:solidFill>
              </a:rPr>
              <a:t> : 4 </a:t>
            </a:r>
            <a:r>
              <a:rPr sz="1100" b="0" i="0" dirty="0" err="1">
                <a:solidFill>
                  <a:srgbClr val="AAAAAA"/>
                </a:solidFill>
              </a:rPr>
              <a:t>heures</a:t>
            </a:r>
            <a:r>
              <a:rPr sz="1100" b="0" i="0" dirty="0">
                <a:solidFill>
                  <a:srgbClr val="AAAAAA"/>
                </a:solidFill>
              </a:rPr>
              <a:t> · </a:t>
            </a:r>
            <a:r>
              <a:rPr sz="1100" b="0" i="0" dirty="0" err="1">
                <a:solidFill>
                  <a:srgbClr val="AAAAAA"/>
                </a:solidFill>
              </a:rPr>
              <a:t>Niveau</a:t>
            </a:r>
            <a:r>
              <a:rPr sz="1100" b="0" i="0" dirty="0">
                <a:solidFill>
                  <a:srgbClr val="AAAAAA"/>
                </a:solidFill>
              </a:rPr>
              <a:t> N1 · </a:t>
            </a:r>
            <a:r>
              <a:rPr sz="1100" b="0" i="0" dirty="0" err="1">
                <a:solidFill>
                  <a:srgbClr val="AAAAAA"/>
                </a:solidFill>
              </a:rPr>
              <a:t>Juin</a:t>
            </a:r>
            <a:r>
              <a:rPr sz="1100" b="0" i="0" dirty="0">
                <a:solidFill>
                  <a:srgbClr val="AAAAAA"/>
                </a:solidFill>
              </a:rPr>
              <a:t>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137160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1A3560"/>
                </a:solidFill>
              </a:rPr>
              <a:t>Bienvenue.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1993392"/>
            <a:ext cx="6400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95959"/>
                </a:solidFill>
              </a:rPr>
              <a:t>Vous n'avez pas besoin d'être un expert.
Juste de la curiosité et l'envie d'apprendre.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3218688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C24A"/>
                </a:solidFill>
              </a:rPr>
              <a:t>Pas de prérequis · Pas de panique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94960" y="3749039"/>
            <a:ext cx="6309360" cy="36576"/>
          </a:xfrm>
          <a:prstGeom prst="rect">
            <a:avLst/>
          </a:prstGeom>
          <a:solidFill>
            <a:srgbClr val="CCD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94960" y="6309360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Version 1 — Juin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8016"/>
            <a:ext cx="1066800" cy="320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61872" y="1097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AA"/>
                </a:solidFill>
              </a:rPr>
              <a:t>Séance 1 — Introduction à l'Informatique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88552" y="73152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778899"/>
                </a:solidFill>
              </a:rPr>
              <a:t>CHAFIK MOUSTAID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88552" y="292608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45566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463040"/>
            <a:ext cx="99943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L'informatique, c'est logique.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31720"/>
            <a:ext cx="99943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6CC24A"/>
                </a:solidFill>
              </a:rPr>
              <a:t>Pas magique.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246120"/>
            <a:ext cx="9994392" cy="36576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3429000"/>
            <a:ext cx="99943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BBCC"/>
                </a:solidFill>
              </a:rPr>
              <a:t>Chaque panne a une cause. Chaque cause a une solution.
Dans 4 heures, vous saurez poser les bonnes questions et trouver les bonnes réponses.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1 — Introduction à l'Informatique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Au programme de cette séance — 4 heures, 6 blocs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84048" y="1719072"/>
            <a:ext cx="3657600" cy="19933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4048" y="1719072"/>
            <a:ext cx="3657600" cy="420624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1207" y="179222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01 — Qu'est-ce qu'un PC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2286000"/>
            <a:ext cx="33832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CPU · RAM · Disque · Carte mère · 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2816" y="1719072"/>
            <a:ext cx="3657600" cy="19933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42816" y="1719072"/>
            <a:ext cx="3657600" cy="420624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79976" y="179222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02 — Les 4 familles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9976" y="2286000"/>
            <a:ext cx="33832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Desktop · Laptop · Serveur · Tablette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1583" y="1719072"/>
            <a:ext cx="3657600" cy="19933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01583" y="1719072"/>
            <a:ext cx="3657600" cy="420624"/>
          </a:xfrm>
          <a:prstGeom prst="rect">
            <a:avLst/>
          </a:prstGeom>
          <a:solidFill>
            <a:srgbClr val="00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38744" y="179222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03 — La mémoire expliquée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286000"/>
            <a:ext cx="33832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RAM vs Stockage · L'analogie bureau/armoire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3895344"/>
            <a:ext cx="3657600" cy="19933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84048" y="3895344"/>
            <a:ext cx="3657600" cy="420624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1207" y="396849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04 — Windows et l'OS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" y="4462272"/>
            <a:ext cx="33832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Pourquoi Windows 11 · Autres OS · Rôle de l'OS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42816" y="3895344"/>
            <a:ext cx="3657600" cy="19933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242816" y="3895344"/>
            <a:ext cx="3657600" cy="420624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79976" y="396849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05 — VirtualBox + CPU-Z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9976" y="4462272"/>
            <a:ext cx="33832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Créer sa VM · Lire les specs matérielles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01583" y="3895344"/>
            <a:ext cx="3657600" cy="19933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01583" y="3895344"/>
            <a:ext cx="3657600" cy="420624"/>
          </a:xfrm>
          <a:prstGeom prst="rect">
            <a:avLst/>
          </a:prstGeom>
          <a:solidFill>
            <a:srgbClr val="2D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38744" y="396849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06 — Métier et méthode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38744" y="4462272"/>
            <a:ext cx="33832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N1 vs N2 · 5 questions · Vocabulaire terrain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1 — Introduction à l'Informatique · SAMO Formation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1 — Introduction à l'Informatique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Un ordinateur — Entrées, traitement, sorties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2468880" cy="3474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2468880" cy="530352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1856231"/>
            <a:ext cx="22494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ENTRÉES
(Input)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487168"/>
            <a:ext cx="224942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</a:rPr>
              <a:t>Clavier · Souris
Micro · Webcam
Souris · Manette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1828800"/>
            <a:ext cx="2468880" cy="3474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74720" y="1828800"/>
            <a:ext cx="2468880" cy="530352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84448" y="1856231"/>
            <a:ext cx="22494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TRAITEMENT
(CPU)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48" y="2487168"/>
            <a:ext cx="224942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</a:rPr>
              <a:t>Le processeur calcule
en quelques nanosecondes
Milliards d'opérations/sec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1828800"/>
            <a:ext cx="2468880" cy="3474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92240" y="1828800"/>
            <a:ext cx="2468880" cy="530352"/>
          </a:xfrm>
          <a:prstGeom prst="rect">
            <a:avLst/>
          </a:prstGeom>
          <a:solidFill>
            <a:srgbClr val="00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01968" y="1856231"/>
            <a:ext cx="22494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MÉMOIRE
(RAM)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2487168"/>
            <a:ext cx="224942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</a:rPr>
              <a:t>Stockage temporaire
des données en cours
S'efface à l'extinction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09760" y="1828800"/>
            <a:ext cx="2468880" cy="3474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509760" y="1828800"/>
            <a:ext cx="2468880" cy="530352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19488" y="1856231"/>
            <a:ext cx="22494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SORTIES
(Output)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19488" y="2487168"/>
            <a:ext cx="224942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</a:rPr>
              <a:t>Écran · Haut-parleurs
Imprimante · USB
Réseau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401568"/>
            <a:ext cx="512064" cy="128016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64408" y="3246120"/>
            <a:ext cx="228600" cy="45720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64408" y="32461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61888" y="3401568"/>
            <a:ext cx="512064" cy="128016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81927" y="3246120"/>
            <a:ext cx="228600" cy="45720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81927" y="32461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79408" y="3401568"/>
            <a:ext cx="512064" cy="128016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299448" y="3246120"/>
            <a:ext cx="228600" cy="45720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299448" y="32461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532120"/>
            <a:ext cx="11457432" cy="365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11480" y="5596128"/>
            <a:ext cx="11365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Le disque dur (HDD/SSD) stocke TOUT de façon permanente. Il interagit avec le CPU via la RAM.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CPU = Central Processing Unit · RAM = Random Access Memory · I/O = Input/Output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1 — Introduction à l'Informatique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Les composants internes — Rôle de chacun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719072"/>
            <a:ext cx="5577840" cy="14447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719072"/>
            <a:ext cx="1097280" cy="1444752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72768" y="1828800"/>
            <a:ext cx="4251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Carte mère (Motherboard)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194560"/>
            <a:ext cx="4251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La plateforme centrale. Tous les composants s'y connectent.
Format ATX / mATX / ITX. Détermine la compatibilité de tout le reste.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91072" y="1719072"/>
            <a:ext cx="5577840" cy="14447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91072" y="1719072"/>
            <a:ext cx="1097280" cy="1444752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0" y="1828800"/>
            <a:ext cx="4251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CPU (Processeur)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0" y="2194560"/>
            <a:ext cx="4251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Cerveau du PC. Exécute les instructions. Intel (Core i3/i5/i7/i9) ou AMD (Ryzen).
Fréquence en GHz + nombre de cœurs = performance.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291839"/>
            <a:ext cx="5577840" cy="14447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3291839"/>
            <a:ext cx="1097280" cy="1444752"/>
          </a:xfrm>
          <a:prstGeom prst="rect">
            <a:avLst/>
          </a:prstGeom>
          <a:solidFill>
            <a:srgbClr val="00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572768" y="3401568"/>
            <a:ext cx="4251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RAM (Mémoire vive)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3767327"/>
            <a:ext cx="4251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Mémoire de travail temporaire. DDR4 ou DDR5. En GB.
Insuffisante → PC lent. S'efface à chaque extinction.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91072" y="3291839"/>
            <a:ext cx="5577840" cy="14447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91072" y="3291839"/>
            <a:ext cx="1097280" cy="1444752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98080" y="3401568"/>
            <a:ext cx="4251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SSD / HDD (Stockage)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0" y="3767327"/>
            <a:ext cx="4251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Stockage permanent. SSD = rapide (flash). HDD = lent (mécanique).
Windows + programmes + vos fichiers vivent ici.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864608"/>
            <a:ext cx="5577840" cy="14447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65760" y="4864608"/>
            <a:ext cx="1097280" cy="1444752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572768" y="4974336"/>
            <a:ext cx="4251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Alimentation (PSU)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5340096"/>
            <a:ext cx="4251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Convertit le 220V AC en tensions DC utilisables (12V, 5V, 3.3V).
Trop faible = instabilité. Toujours choisir une marque fiable.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91072" y="4864608"/>
            <a:ext cx="5577840" cy="14447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91072" y="4864608"/>
            <a:ext cx="1097280" cy="1444752"/>
          </a:xfrm>
          <a:prstGeom prst="rect">
            <a:avLst/>
          </a:prstGeom>
          <a:solidFill>
            <a:srgbClr val="2D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98080" y="4974336"/>
            <a:ext cx="4251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Carte graphique (GPU)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0" y="5340096"/>
            <a:ext cx="4251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Traite l'affichage vidéo. Intégrée (CPU) ou dédiée (NVIDIA/AMD).
Essentielle pour jeux et montage vidéo.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Pour diagnostiquer un PC : identifier d'abord quel composant est en cause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1 — Introduction à l'Informatique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Les 4 familles de PC — Ce que vous croiserez en support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719072"/>
            <a:ext cx="2743200" cy="4828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719072"/>
            <a:ext cx="2743200" cy="566928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1737360"/>
            <a:ext cx="252374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</a:rPr>
              <a:t>PC de bureau
(Desktop)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395728"/>
            <a:ext cx="252374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Tour ou compact.
Composants accessibles et
remplaçables facilement.
Standard en PME.
Le plus simple à réparer.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3730752"/>
            <a:ext cx="2523744" cy="27432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" y="3803904"/>
            <a:ext cx="2523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0"/>
                </a:solidFill>
              </a:rPr>
              <a:t>Points clés 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4114800"/>
            <a:ext cx="73152" cy="73152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4059936"/>
            <a:ext cx="23042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RAM facile à upgrader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" y="4553712"/>
            <a:ext cx="73152" cy="73152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4498848"/>
            <a:ext cx="23042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Alimentation remplaçable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" y="4992624"/>
            <a:ext cx="73152" cy="73152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4937760"/>
            <a:ext cx="23042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Nettoyage physique aisé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" y="5431536"/>
            <a:ext cx="73152" cy="73152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5376672"/>
            <a:ext cx="23042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Port PCIe pour GPU dédié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73552" y="1719072"/>
            <a:ext cx="2743200" cy="4828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73552" y="1719072"/>
            <a:ext cx="2743200" cy="566928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83280" y="1737360"/>
            <a:ext cx="252374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</a:rPr>
              <a:t>PC portable
(Laptop)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2395728"/>
            <a:ext cx="252374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Tout-en-un compact.
Composants souvent soudés.
Ventilation limitée.
Surchauffe fréquente.
Batterie à surveiller.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0" y="3730752"/>
            <a:ext cx="2523744" cy="27432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383280" y="3803904"/>
            <a:ext cx="2523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0"/>
                </a:solidFill>
              </a:rPr>
              <a:t>Points clés :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38144" y="4114800"/>
            <a:ext cx="73152" cy="73152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593592" y="4059936"/>
            <a:ext cx="23042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RAM parfois soudée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38144" y="4553712"/>
            <a:ext cx="73152" cy="73152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593592" y="4498848"/>
            <a:ext cx="23042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Nettoyage + difficile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38144" y="4992624"/>
            <a:ext cx="73152" cy="73152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593592" y="4937760"/>
            <a:ext cx="23042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Chargeur = composant clé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38144" y="5431536"/>
            <a:ext cx="73152" cy="73152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593592" y="5376672"/>
            <a:ext cx="23042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Grilles d'aération critiques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81344" y="1719072"/>
            <a:ext cx="2743200" cy="4828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181344" y="1719072"/>
            <a:ext cx="2743200" cy="566928"/>
          </a:xfrm>
          <a:prstGeom prst="rect">
            <a:avLst/>
          </a:prstGeom>
          <a:solidFill>
            <a:srgbClr val="00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91072" y="1737360"/>
            <a:ext cx="252374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</a:rPr>
              <a:t>Serveur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91072" y="2395728"/>
            <a:ext cx="252374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Fonctionne 24h/24.
Ultra-puissant et fiable.
Fournit des services réseau.
Doubles alim. + RAM ECC.
N1 ne touche pas.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91072" y="3730752"/>
            <a:ext cx="2523744" cy="27432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91072" y="3803904"/>
            <a:ext cx="2523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0"/>
                </a:solidFill>
              </a:rPr>
              <a:t>Points clés :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45936" y="4114800"/>
            <a:ext cx="73152" cy="73152"/>
          </a:xfrm>
          <a:prstGeom prst="rect">
            <a:avLst/>
          </a:prstGeom>
          <a:solidFill>
            <a:srgbClr val="00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01384" y="4059936"/>
            <a:ext cx="23042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Escalade N3 toujours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45936" y="4553712"/>
            <a:ext cx="73152" cy="73152"/>
          </a:xfrm>
          <a:prstGeom prst="rect">
            <a:avLst/>
          </a:prstGeom>
          <a:solidFill>
            <a:srgbClr val="00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01384" y="4498848"/>
            <a:ext cx="23042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Format rack 1U/2U/4U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45936" y="4992624"/>
            <a:ext cx="73152" cy="73152"/>
          </a:xfrm>
          <a:prstGeom prst="rect">
            <a:avLst/>
          </a:prstGeom>
          <a:solidFill>
            <a:srgbClr val="00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501384" y="4937760"/>
            <a:ext cx="23042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Redondance matérielle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45936" y="5431536"/>
            <a:ext cx="73152" cy="73152"/>
          </a:xfrm>
          <a:prstGeom prst="rect">
            <a:avLst/>
          </a:prstGeom>
          <a:solidFill>
            <a:srgbClr val="00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501384" y="5376672"/>
            <a:ext cx="23042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Accès via console KVM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89136" y="1719072"/>
            <a:ext cx="2743200" cy="4828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9089136" y="1719072"/>
            <a:ext cx="2743200" cy="566928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198864" y="1737360"/>
            <a:ext cx="252374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</a:rPr>
              <a:t>Tablette / 2-en-1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98864" y="2395728"/>
            <a:ext cx="252374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Écran tactile intégré.
Stockage eMMC limité.
Composants soudés.
Support = logiciel.
Peu de réparation HW.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98864" y="3730752"/>
            <a:ext cx="2523744" cy="27432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198864" y="3803904"/>
            <a:ext cx="2523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0"/>
                </a:solidFill>
              </a:rPr>
              <a:t>Points clés :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253728" y="4114800"/>
            <a:ext cx="73152" cy="73152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409176" y="4059936"/>
            <a:ext cx="23042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Wi-Fi, compte, apps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253728" y="4553712"/>
            <a:ext cx="73152" cy="73152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409176" y="4498848"/>
            <a:ext cx="23042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No de repair physique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253728" y="4992624"/>
            <a:ext cx="73152" cy="73152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409176" y="4937760"/>
            <a:ext cx="23042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Android ou Windows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253728" y="5431536"/>
            <a:ext cx="73152" cy="73152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409176" y="5376672"/>
            <a:ext cx="23042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Surface Pro = 2-en-1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En N1-N2 : 80 % du temps sur Desktop et Laptop · Serveur = escalade N3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1 — Introduction à l'Informatique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La RAM — Mémoire de travail temporaire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1627632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60"/>
                </a:solidFill>
              </a:rPr>
              <a:t>Définition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938528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</a:rPr>
              <a:t>La RAM (Random Access Memory) est la mémoire où le CPU place temporairement
les données qu'il utilise activement. C'est comme un bureau de travail :
rapide, accessible immédiatement — mais qui se vide entièrement à chaque extinction.</a:t>
            </a:r>
          </a:p>
        </p:txBody>
      </p:sp>
      <p:sp>
        <p:nvSpPr>
          <p:cNvPr id="12" name="Rectangle 11"/>
          <p:cNvSpPr/>
          <p:nvPr/>
        </p:nvSpPr>
        <p:spPr>
          <a:xfrm flipV="1">
            <a:off x="365760" y="2999231"/>
            <a:ext cx="11457432" cy="457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302209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 err="1">
                <a:solidFill>
                  <a:srgbClr val="1A3560"/>
                </a:solidFill>
              </a:rPr>
              <a:t>Pourquoi</a:t>
            </a:r>
            <a:r>
              <a:rPr sz="1400" b="1" i="0" dirty="0">
                <a:solidFill>
                  <a:srgbClr val="1A3560"/>
                </a:solidFill>
              </a:rPr>
              <a:t> </a:t>
            </a:r>
            <a:r>
              <a:rPr sz="1400" b="1" i="0" dirty="0" err="1">
                <a:solidFill>
                  <a:srgbClr val="1A3560"/>
                </a:solidFill>
              </a:rPr>
              <a:t>c'est</a:t>
            </a:r>
            <a:r>
              <a:rPr sz="1400" b="1" i="0" dirty="0">
                <a:solidFill>
                  <a:srgbClr val="1A3560"/>
                </a:solidFill>
              </a:rPr>
              <a:t> important 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364992"/>
            <a:ext cx="2011680" cy="310896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336499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RAM insuffisante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2032" y="3364992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Le PC utilise le disque comme RAM (swap) → 50× plus lent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078224"/>
            <a:ext cx="2011680" cy="310896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4078224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RAM saturée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42032" y="4078224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Symptôme : PC lent, application qui freeze, erreur mémoire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791456"/>
            <a:ext cx="2011680" cy="310896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4791456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Plus de RAM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42032" y="4791456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Permet plus d'applications ouvertes simultanément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5504688"/>
            <a:ext cx="2011680" cy="310896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80" y="550468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Type DDR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42032" y="5504688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DDR4 (PC anciens) ou DDR5 (PC récents) — incompatibles entre eux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1627632"/>
            <a:ext cx="5577840" cy="4892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0" y="1627632"/>
            <a:ext cx="5577840" cy="384048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55080" y="1664208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CHIFFRES CLÉS — RAM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2103120"/>
            <a:ext cx="53035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73952" y="21945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60"/>
                </a:solidFill>
              </a:rPr>
              <a:t>4 GB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3568" y="2194560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Minimum Windows 11 — souvent trop juste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816352"/>
            <a:ext cx="5303520" cy="6217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73952" y="290779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60"/>
                </a:solidFill>
              </a:rPr>
              <a:t>8 GB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73568" y="2907792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Standard bureautique — acceptable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3529584"/>
            <a:ext cx="53035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73952" y="362102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60"/>
                </a:solidFill>
              </a:rPr>
              <a:t>16 GB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73568" y="3621024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Recommandé 2024 — confortable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5080" y="4242816"/>
            <a:ext cx="5303520" cy="6217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73952" y="4334255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60"/>
                </a:solidFill>
              </a:rPr>
              <a:t>32 GB+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73568" y="4334255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Montage vidéo / développement / jeu AAA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5080" y="4956048"/>
            <a:ext cx="53035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73952" y="504748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60"/>
                </a:solidFill>
              </a:rPr>
              <a:t>DDR4 3200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73568" y="5047488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Standard des PC 2017-2022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5080" y="5669280"/>
            <a:ext cx="5303520" cy="6217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73952" y="57607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60"/>
                </a:solidFill>
              </a:rPr>
              <a:t>DDR5 4800+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73568" y="5760720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Standard des PC 2022+ (Intel 12e gen+)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Diagnostic rapide : Task Manager → onglet Performances → Mémoire → voir % utilisation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1 — Introduction à l'Informatique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Le stockage — Permanent, rapide ou lent 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1719072"/>
          <a:ext cx="11457432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743200"/>
                <a:gridCol w="2743200"/>
                <a:gridCol w="3410712"/>
              </a:tblGrid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</a:rPr>
                        <a:t>Critère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</a:rPr>
                        <a:t>HDD (mécanique)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</a:rPr>
                        <a:t>SSD SATA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</a:rPr>
                        <a:t>SSD NVMe PCIe 4.0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3560"/>
                          </a:solidFill>
                        </a:rPr>
                        <a:t>Vitesse lecture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884444"/>
                          </a:solidFill>
                        </a:rPr>
                        <a:t>~150 Mo/s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6644"/>
                          </a:solidFill>
                        </a:rPr>
                        <a:t>~550 Mo/s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D7A1F"/>
                          </a:solidFill>
                        </a:rPr>
                        <a:t>~7 000 Mo/s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3560"/>
                          </a:solidFill>
                        </a:rPr>
                        <a:t>Vitesse écriture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884444"/>
                          </a:solidFill>
                        </a:rPr>
                        <a:t>~120 Mo/s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6644"/>
                          </a:solidFill>
                        </a:rPr>
                        <a:t>~500 Mo/s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D7A1F"/>
                          </a:solidFill>
                        </a:rPr>
                        <a:t>~6 500 Mo/s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3560"/>
                          </a:solidFill>
                        </a:rPr>
                        <a:t>Temps démarrage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884444"/>
                          </a:solidFill>
                        </a:rPr>
                        <a:t>60-120 sec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6644"/>
                          </a:solidFill>
                        </a:rPr>
                        <a:t>10-20 sec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D7A1F"/>
                          </a:solidFill>
                        </a:rPr>
                        <a:t>5-10 sec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3560"/>
                          </a:solidFill>
                        </a:rPr>
                        <a:t>Résistance choc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884444"/>
                          </a:solidFill>
                        </a:rPr>
                        <a:t>Fragile (pièces mobiles)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6644"/>
                          </a:solidFill>
                        </a:rPr>
                        <a:t>Résistant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D7A1F"/>
                          </a:solidFill>
                        </a:rPr>
                        <a:t>Résistant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3560"/>
                          </a:solidFill>
                        </a:rPr>
                        <a:t>Bruit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884444"/>
                          </a:solidFill>
                        </a:rPr>
                        <a:t>Clic / bourdonnement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6644"/>
                          </a:solidFill>
                        </a:rPr>
                        <a:t>Silencieux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D7A1F"/>
                          </a:solidFill>
                        </a:rPr>
                        <a:t>Silencieux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3560"/>
                          </a:solidFill>
                        </a:rPr>
                        <a:t>Prix/Go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884444"/>
                          </a:solidFill>
                        </a:rPr>
                        <a:t>Le moins cher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6644"/>
                          </a:solidFill>
                        </a:rPr>
                        <a:t>Intermédiaire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D7A1F"/>
                          </a:solidFill>
                        </a:rPr>
                        <a:t>Le plus cher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11480" y="6035040"/>
            <a:ext cx="11365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Recommandation terrain 2024 : SSD NVMe minimum pour tout nouveau PC · Migration HDD→SSD = upgrade le plus impactant.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CrystalDiskInfo (gratuit) → vérifier la santé S.M.A.R.T. de n'importe quel disque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1 — Introduction à l'Informatique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RAM vs Stockage — L'analogie qui clarifie tout pour vos clients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719072"/>
            <a:ext cx="5349240" cy="4462272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719072"/>
            <a:ext cx="5349240" cy="4572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746504"/>
            <a:ext cx="5074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💼  LA RAM = Votre bureau de travail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304288"/>
            <a:ext cx="50292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377440"/>
            <a:ext cx="4754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Word en cours  │  Chrome × 12 onglets  │  Excel  │  Teams  │  Spotify  │  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73552"/>
            <a:ext cx="1627632" cy="310896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3273552"/>
            <a:ext cx="1627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Rapide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04288" y="3273552"/>
            <a:ext cx="1627632" cy="310896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304288" y="3273552"/>
            <a:ext cx="1627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Temporaire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59935" y="3273552"/>
            <a:ext cx="1627632" cy="310896"/>
          </a:xfrm>
          <a:prstGeom prst="rect">
            <a:avLst/>
          </a:prstGeom>
          <a:solidFill>
            <a:srgbClr val="00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059935" y="3273552"/>
            <a:ext cx="1627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S'efface à extinction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712463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Bureau TROP PETIT → vous ne pouvez pas ouvrir tous vos dossiers.
RAM INSUFFISANTE → Windows utilise le disque comme mémoire de secours
(le 'fichier d'échange') → 50 fois plus lent → PC qui rame.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719072"/>
            <a:ext cx="5760720" cy="4462272"/>
          </a:xfrm>
          <a:prstGeom prst="rect">
            <a:avLst/>
          </a:prstGeom>
          <a:solidFill>
            <a:srgbClr val="F5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035040" y="1719072"/>
            <a:ext cx="5760720" cy="457200"/>
          </a:xfrm>
          <a:prstGeom prst="rect">
            <a:avLst/>
          </a:prstGeom>
          <a:solidFill>
            <a:srgbClr val="00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72200" y="1746504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🗄️  LE DISQUE = Votre armoire permanente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2267712"/>
            <a:ext cx="5394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5080" y="2331720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📁 Projets 2024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2779776"/>
            <a:ext cx="5394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55080" y="2843784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📁 Photos famille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3291840"/>
            <a:ext cx="5394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55080" y="3355848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💿 Windows 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3803904"/>
            <a:ext cx="5394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55080" y="3867912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📦 Applications installées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4315968"/>
            <a:ext cx="5394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55080" y="4379976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📄 Mes Documents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490118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7A1F"/>
                </a:solidFill>
              </a:rPr>
              <a:t>Persiste après extinction · Vos fichiers = dans l'armoire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RAM = bureau de travail (temporaire) · Disque = armoire (permanent) · Les deux sont nécessaires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1 — Introduction à l'Informatique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Le CPU — Comment lire les performances d'un processeur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536192"/>
            <a:ext cx="1127455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 dirty="0">
                <a:solidFill>
                  <a:srgbClr val="595959"/>
                </a:solidFill>
              </a:rPr>
              <a:t>Savoir lire les specs CPU </a:t>
            </a:r>
            <a:r>
              <a:rPr sz="1300" b="1" i="1" dirty="0" err="1">
                <a:solidFill>
                  <a:srgbClr val="595959"/>
                </a:solidFill>
              </a:rPr>
              <a:t>vous</a:t>
            </a:r>
            <a:r>
              <a:rPr sz="1300" b="1" i="1" dirty="0">
                <a:solidFill>
                  <a:srgbClr val="595959"/>
                </a:solidFill>
              </a:rPr>
              <a:t> </a:t>
            </a:r>
            <a:r>
              <a:rPr sz="1300" b="1" i="1" dirty="0" err="1">
                <a:solidFill>
                  <a:srgbClr val="595959"/>
                </a:solidFill>
              </a:rPr>
              <a:t>permet</a:t>
            </a:r>
            <a:r>
              <a:rPr sz="1300" b="1" i="1" dirty="0">
                <a:solidFill>
                  <a:srgbClr val="595959"/>
                </a:solidFill>
              </a:rPr>
              <a:t> de donner </a:t>
            </a:r>
            <a:r>
              <a:rPr sz="1300" b="1" i="1" dirty="0" err="1">
                <a:solidFill>
                  <a:srgbClr val="595959"/>
                </a:solidFill>
              </a:rPr>
              <a:t>une</a:t>
            </a:r>
            <a:r>
              <a:rPr sz="1300" b="1" i="1" dirty="0">
                <a:solidFill>
                  <a:srgbClr val="595959"/>
                </a:solidFill>
              </a:rPr>
              <a:t> </a:t>
            </a:r>
            <a:r>
              <a:rPr sz="1300" b="1" i="1" dirty="0" err="1">
                <a:solidFill>
                  <a:srgbClr val="595959"/>
                </a:solidFill>
              </a:rPr>
              <a:t>recommandation</a:t>
            </a:r>
            <a:r>
              <a:rPr sz="1300" b="1" i="1" dirty="0">
                <a:solidFill>
                  <a:srgbClr val="595959"/>
                </a:solidFill>
              </a:rPr>
              <a:t> terrain </a:t>
            </a:r>
            <a:r>
              <a:rPr sz="1300" b="1" i="1" dirty="0" err="1">
                <a:solidFill>
                  <a:srgbClr val="595959"/>
                </a:solidFill>
              </a:rPr>
              <a:t>rapide</a:t>
            </a:r>
            <a:r>
              <a:rPr sz="1300" b="1" i="1" dirty="0">
                <a:solidFill>
                  <a:srgbClr val="595959"/>
                </a:solidFill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38528"/>
            <a:ext cx="11457432" cy="10789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938528"/>
            <a:ext cx="872490" cy="1078992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1" y="1938528"/>
            <a:ext cx="91821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 smtClean="0">
                <a:solidFill>
                  <a:srgbClr val="FFFFFF"/>
                </a:solidFill>
              </a:rPr>
              <a:t>F</a:t>
            </a:r>
            <a:r>
              <a:rPr lang="fr-CA" sz="1300" b="1" i="0" dirty="0" err="1" smtClean="0">
                <a:solidFill>
                  <a:srgbClr val="FFFFFF"/>
                </a:solidFill>
              </a:rPr>
              <a:t>réquence</a:t>
            </a:r>
            <a:endParaRPr sz="1300" b="1" i="0" dirty="0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70432" y="20299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Fréquence (GHz)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26464" y="2359152"/>
            <a:ext cx="54410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595959"/>
                </a:solidFill>
              </a:rPr>
              <a:t>Vitesse</a:t>
            </a:r>
            <a:r>
              <a:rPr sz="1200" b="0" i="0" dirty="0">
                <a:solidFill>
                  <a:srgbClr val="595959"/>
                </a:solidFill>
              </a:rPr>
              <a:t> de </a:t>
            </a:r>
            <a:r>
              <a:rPr sz="1200" b="0" i="0" dirty="0" err="1">
                <a:solidFill>
                  <a:srgbClr val="595959"/>
                </a:solidFill>
              </a:rPr>
              <a:t>chaque</a:t>
            </a:r>
            <a:r>
              <a:rPr sz="1200" b="0" i="0" dirty="0">
                <a:solidFill>
                  <a:srgbClr val="595959"/>
                </a:solidFill>
              </a:rPr>
              <a:t> </a:t>
            </a:r>
            <a:r>
              <a:rPr sz="1200" b="0" i="0" dirty="0" err="1">
                <a:solidFill>
                  <a:srgbClr val="595959"/>
                </a:solidFill>
              </a:rPr>
              <a:t>cœur</a:t>
            </a:r>
            <a:r>
              <a:rPr sz="1200" b="0" i="0" dirty="0">
                <a:solidFill>
                  <a:srgbClr val="595959"/>
                </a:solidFill>
              </a:rPr>
              <a:t>. Plus </a:t>
            </a:r>
            <a:r>
              <a:rPr sz="1200" b="0" i="0" dirty="0" err="1">
                <a:solidFill>
                  <a:srgbClr val="595959"/>
                </a:solidFill>
              </a:rPr>
              <a:t>c'est</a:t>
            </a:r>
            <a:r>
              <a:rPr sz="1200" b="0" i="0" dirty="0">
                <a:solidFill>
                  <a:srgbClr val="595959"/>
                </a:solidFill>
              </a:rPr>
              <a:t> </a:t>
            </a:r>
            <a:r>
              <a:rPr sz="1200" b="0" i="0" dirty="0" err="1">
                <a:solidFill>
                  <a:srgbClr val="595959"/>
                </a:solidFill>
              </a:rPr>
              <a:t>élevé</a:t>
            </a:r>
            <a:r>
              <a:rPr sz="1200" b="0" i="0" dirty="0">
                <a:solidFill>
                  <a:srgbClr val="595959"/>
                </a:solidFill>
              </a:rPr>
              <a:t>, plus </a:t>
            </a:r>
            <a:r>
              <a:rPr sz="1200" b="0" i="0" dirty="0" err="1">
                <a:solidFill>
                  <a:srgbClr val="595959"/>
                </a:solidFill>
              </a:rPr>
              <a:t>chaque</a:t>
            </a:r>
            <a:r>
              <a:rPr sz="1200" b="0" i="0" dirty="0">
                <a:solidFill>
                  <a:srgbClr val="595959"/>
                </a:solidFill>
              </a:rPr>
              <a:t> </a:t>
            </a:r>
            <a:r>
              <a:rPr sz="1200" b="0" i="0" dirty="0" err="1">
                <a:solidFill>
                  <a:srgbClr val="595959"/>
                </a:solidFill>
              </a:rPr>
              <a:t>tâche</a:t>
            </a:r>
            <a:r>
              <a:rPr sz="1200" b="0" i="0" dirty="0">
                <a:solidFill>
                  <a:srgbClr val="595959"/>
                </a:solidFill>
              </a:rPr>
              <a:t> </a:t>
            </a:r>
            <a:r>
              <a:rPr sz="1200" b="0" i="0" dirty="0" err="1">
                <a:solidFill>
                  <a:srgbClr val="595959"/>
                </a:solidFill>
              </a:rPr>
              <a:t>individuelle</a:t>
            </a:r>
            <a:r>
              <a:rPr sz="1200" b="0" i="0" dirty="0">
                <a:solidFill>
                  <a:srgbClr val="595959"/>
                </a:solidFill>
              </a:rPr>
              <a:t> </a:t>
            </a:r>
            <a:r>
              <a:rPr sz="1200" b="0" i="0" dirty="0" err="1">
                <a:solidFill>
                  <a:srgbClr val="595959"/>
                </a:solidFill>
              </a:rPr>
              <a:t>est</a:t>
            </a:r>
            <a:r>
              <a:rPr sz="1200" b="0" i="0" dirty="0">
                <a:solidFill>
                  <a:srgbClr val="595959"/>
                </a:solidFill>
              </a:rPr>
              <a:t> </a:t>
            </a:r>
            <a:r>
              <a:rPr sz="1200" b="0" i="0" dirty="0" err="1">
                <a:solidFill>
                  <a:srgbClr val="595959"/>
                </a:solidFill>
              </a:rPr>
              <a:t>rapide</a:t>
            </a:r>
            <a:r>
              <a:rPr sz="1200" b="0" i="0" dirty="0">
                <a:solidFill>
                  <a:srgbClr val="595959"/>
                </a:solidFill>
              </a:rPr>
              <a:t>.
</a:t>
            </a:r>
            <a:r>
              <a:rPr sz="1200" b="0" i="0" dirty="0" err="1">
                <a:solidFill>
                  <a:srgbClr val="595959"/>
                </a:solidFill>
              </a:rPr>
              <a:t>Limite</a:t>
            </a:r>
            <a:r>
              <a:rPr sz="1200" b="0" i="0" dirty="0">
                <a:solidFill>
                  <a:srgbClr val="595959"/>
                </a:solidFill>
              </a:rPr>
              <a:t> : la </a:t>
            </a:r>
            <a:r>
              <a:rPr sz="1200" b="0" i="0" dirty="0" err="1">
                <a:solidFill>
                  <a:srgbClr val="595959"/>
                </a:solidFill>
              </a:rPr>
              <a:t>fréquence</a:t>
            </a:r>
            <a:r>
              <a:rPr sz="1200" b="0" i="0" dirty="0">
                <a:solidFill>
                  <a:srgbClr val="595959"/>
                </a:solidFill>
              </a:rPr>
              <a:t> max </a:t>
            </a:r>
            <a:r>
              <a:rPr sz="1200" b="0" i="0" dirty="0" err="1">
                <a:solidFill>
                  <a:srgbClr val="595959"/>
                </a:solidFill>
              </a:rPr>
              <a:t>est</a:t>
            </a:r>
            <a:r>
              <a:rPr sz="1200" b="0" i="0" dirty="0">
                <a:solidFill>
                  <a:srgbClr val="595959"/>
                </a:solidFill>
              </a:rPr>
              <a:t> </a:t>
            </a:r>
            <a:r>
              <a:rPr sz="1200" b="0" i="0" dirty="0" err="1">
                <a:solidFill>
                  <a:srgbClr val="595959"/>
                </a:solidFill>
              </a:rPr>
              <a:t>bridée</a:t>
            </a:r>
            <a:r>
              <a:rPr sz="1200" b="0" i="0" dirty="0">
                <a:solidFill>
                  <a:srgbClr val="595959"/>
                </a:solidFill>
              </a:rPr>
              <a:t> </a:t>
            </a:r>
            <a:r>
              <a:rPr sz="1200" b="0" i="0" dirty="0" err="1">
                <a:solidFill>
                  <a:srgbClr val="595959"/>
                </a:solidFill>
              </a:rPr>
              <a:t>thermiquement</a:t>
            </a:r>
            <a:r>
              <a:rPr sz="1200" b="0" i="0" dirty="0">
                <a:solidFill>
                  <a:srgbClr val="595959"/>
                </a:solidFill>
              </a:rPr>
              <a:t>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34071" y="2011680"/>
            <a:ext cx="4480560" cy="329184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34071" y="2011680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Ex : Intel i5-12400 : 2.5 GHz base / 4.4 GHz boost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108960"/>
            <a:ext cx="11457432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sp>
        <p:nvSpPr>
          <p:cNvPr id="19" name="Rectangle 18"/>
          <p:cNvSpPr/>
          <p:nvPr/>
        </p:nvSpPr>
        <p:spPr>
          <a:xfrm>
            <a:off x="365760" y="3108960"/>
            <a:ext cx="872490" cy="1078992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3108960"/>
            <a:ext cx="87249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 smtClean="0">
                <a:solidFill>
                  <a:srgbClr val="FFFFFF"/>
                </a:solidFill>
              </a:rPr>
              <a:t>Nom</a:t>
            </a:r>
            <a:r>
              <a:rPr lang="fr-CA" sz="1300" b="1" i="0" dirty="0" err="1" smtClean="0">
                <a:solidFill>
                  <a:srgbClr val="FFFFFF"/>
                </a:solidFill>
              </a:rPr>
              <a:t>bre</a:t>
            </a:r>
            <a:r>
              <a:rPr lang="fr-CA" sz="1300" b="1" i="0" dirty="0" smtClean="0">
                <a:solidFill>
                  <a:srgbClr val="FFFFFF"/>
                </a:solidFill>
              </a:rPr>
              <a:t/>
            </a:r>
            <a:br>
              <a:rPr lang="fr-CA" sz="1300" b="1" i="0" dirty="0" smtClean="0">
                <a:solidFill>
                  <a:srgbClr val="FFFFFF"/>
                </a:solidFill>
              </a:rPr>
            </a:br>
            <a:r>
              <a:rPr lang="fr-CA" sz="1300" b="1" i="0" dirty="0" smtClean="0">
                <a:solidFill>
                  <a:srgbClr val="FFFFFF"/>
                </a:solidFill>
              </a:rPr>
              <a:t>de</a:t>
            </a:r>
            <a:br>
              <a:rPr lang="fr-CA" sz="1300" b="1" i="0" dirty="0" smtClean="0">
                <a:solidFill>
                  <a:srgbClr val="FFFFFF"/>
                </a:solidFill>
              </a:rPr>
            </a:br>
            <a:r>
              <a:rPr lang="fr-CA" sz="1300" b="1" i="0" dirty="0" err="1" smtClean="0">
                <a:solidFill>
                  <a:srgbClr val="FFFFFF"/>
                </a:solidFill>
              </a:rPr>
              <a:t>coeurs</a:t>
            </a:r>
            <a:endParaRPr sz="1300" b="1" i="0" dirty="0">
              <a:solidFill>
                <a:srgbClr val="FFFFFF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70432" y="3200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Nombre de cœurs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26463" y="3529584"/>
            <a:ext cx="53458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595959"/>
                </a:solidFill>
              </a:rPr>
              <a:t>Capacité</a:t>
            </a:r>
            <a:r>
              <a:rPr sz="1200" b="0" i="0" dirty="0">
                <a:solidFill>
                  <a:srgbClr val="595959"/>
                </a:solidFill>
              </a:rPr>
              <a:t> à faire </a:t>
            </a:r>
            <a:r>
              <a:rPr sz="1200" b="0" i="0" dirty="0" err="1">
                <a:solidFill>
                  <a:srgbClr val="595959"/>
                </a:solidFill>
              </a:rPr>
              <a:t>plusieurs</a:t>
            </a:r>
            <a:r>
              <a:rPr sz="1200" b="0" i="0" dirty="0">
                <a:solidFill>
                  <a:srgbClr val="595959"/>
                </a:solidFill>
              </a:rPr>
              <a:t> </a:t>
            </a:r>
            <a:r>
              <a:rPr lang="fr-CA" sz="1200" b="0" i="0" dirty="0" smtClean="0">
                <a:solidFill>
                  <a:srgbClr val="595959"/>
                </a:solidFill>
              </a:rPr>
              <a:t>choses</a:t>
            </a:r>
            <a:r>
              <a:rPr sz="1200" b="0" i="0" dirty="0" smtClean="0">
                <a:solidFill>
                  <a:srgbClr val="595959"/>
                </a:solidFill>
              </a:rPr>
              <a:t> </a:t>
            </a:r>
            <a:r>
              <a:rPr sz="1200" b="0" i="0" dirty="0" err="1">
                <a:solidFill>
                  <a:srgbClr val="595959"/>
                </a:solidFill>
              </a:rPr>
              <a:t>en</a:t>
            </a:r>
            <a:r>
              <a:rPr sz="1200" b="0" i="0" dirty="0">
                <a:solidFill>
                  <a:srgbClr val="595959"/>
                </a:solidFill>
              </a:rPr>
              <a:t> </a:t>
            </a:r>
            <a:r>
              <a:rPr lang="fr-CA" sz="1200" b="0" i="0" noProof="1" smtClean="0">
                <a:solidFill>
                  <a:srgbClr val="595959"/>
                </a:solidFill>
              </a:rPr>
              <a:t>parallèle</a:t>
            </a:r>
            <a:r>
              <a:rPr sz="1200" b="0" i="0" dirty="0" smtClean="0">
                <a:solidFill>
                  <a:srgbClr val="595959"/>
                </a:solidFill>
              </a:rPr>
              <a:t> </a:t>
            </a:r>
            <a:r>
              <a:rPr sz="1200" b="0" i="0" dirty="0">
                <a:solidFill>
                  <a:srgbClr val="595959"/>
                </a:solidFill>
              </a:rPr>
              <a:t>(</a:t>
            </a:r>
            <a:r>
              <a:rPr sz="1200" b="0" i="0" dirty="0" err="1">
                <a:solidFill>
                  <a:srgbClr val="595959"/>
                </a:solidFill>
              </a:rPr>
              <a:t>multitâche</a:t>
            </a:r>
            <a:r>
              <a:rPr sz="1200" b="0" i="0" dirty="0">
                <a:solidFill>
                  <a:srgbClr val="595959"/>
                </a:solidFill>
              </a:rPr>
              <a:t>).
6 </a:t>
            </a:r>
            <a:r>
              <a:rPr sz="1200" b="0" i="0" dirty="0" err="1">
                <a:solidFill>
                  <a:srgbClr val="595959"/>
                </a:solidFill>
              </a:rPr>
              <a:t>cœurs</a:t>
            </a:r>
            <a:r>
              <a:rPr sz="1200" b="0" i="0" dirty="0">
                <a:solidFill>
                  <a:srgbClr val="595959"/>
                </a:solidFill>
              </a:rPr>
              <a:t> = </a:t>
            </a:r>
            <a:r>
              <a:rPr sz="1200" b="0" i="0" dirty="0" err="1">
                <a:solidFill>
                  <a:srgbClr val="595959"/>
                </a:solidFill>
              </a:rPr>
              <a:t>peut</a:t>
            </a:r>
            <a:r>
              <a:rPr sz="1200" b="0" i="0" dirty="0">
                <a:solidFill>
                  <a:srgbClr val="595959"/>
                </a:solidFill>
              </a:rPr>
              <a:t> </a:t>
            </a:r>
            <a:r>
              <a:rPr sz="1200" b="0" i="0" dirty="0" err="1">
                <a:solidFill>
                  <a:srgbClr val="595959"/>
                </a:solidFill>
              </a:rPr>
              <a:t>traiter</a:t>
            </a:r>
            <a:r>
              <a:rPr sz="1200" b="0" i="0" dirty="0">
                <a:solidFill>
                  <a:srgbClr val="595959"/>
                </a:solidFill>
              </a:rPr>
              <a:t> 6 </a:t>
            </a:r>
            <a:r>
              <a:rPr sz="1200" b="0" i="0" dirty="0" err="1">
                <a:solidFill>
                  <a:srgbClr val="595959"/>
                </a:solidFill>
              </a:rPr>
              <a:t>tâches</a:t>
            </a:r>
            <a:r>
              <a:rPr sz="1200" b="0" i="0" dirty="0">
                <a:solidFill>
                  <a:srgbClr val="595959"/>
                </a:solidFill>
              </a:rPr>
              <a:t> </a:t>
            </a:r>
            <a:r>
              <a:rPr sz="1200" b="0" i="0" dirty="0" err="1">
                <a:solidFill>
                  <a:srgbClr val="595959"/>
                </a:solidFill>
              </a:rPr>
              <a:t>simultanées</a:t>
            </a:r>
            <a:r>
              <a:rPr sz="1200" b="0" i="0" dirty="0">
                <a:solidFill>
                  <a:srgbClr val="595959"/>
                </a:solidFill>
              </a:rPr>
              <a:t> sans </a:t>
            </a:r>
            <a:r>
              <a:rPr sz="1200" b="0" i="0" dirty="0" err="1">
                <a:solidFill>
                  <a:srgbClr val="595959"/>
                </a:solidFill>
              </a:rPr>
              <a:t>ralentissement</a:t>
            </a:r>
            <a:r>
              <a:rPr sz="1200" b="0" i="0" dirty="0">
                <a:solidFill>
                  <a:srgbClr val="595959"/>
                </a:solidFill>
              </a:rPr>
              <a:t>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34071" y="3182112"/>
            <a:ext cx="4480560" cy="329184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34071" y="3182112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Ex : i5-12400 : 6 cœurs / 12 threads (HyperThreading)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279392"/>
            <a:ext cx="11457432" cy="10789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760" y="4279392"/>
            <a:ext cx="872490" cy="1078992"/>
          </a:xfrm>
          <a:prstGeom prst="rect">
            <a:avLst/>
          </a:prstGeom>
          <a:solidFill>
            <a:srgbClr val="00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4279392"/>
            <a:ext cx="87249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 err="1" smtClean="0">
                <a:solidFill>
                  <a:srgbClr val="FFFFFF"/>
                </a:solidFill>
              </a:rPr>
              <a:t>Cac</a:t>
            </a:r>
            <a:r>
              <a:rPr lang="fr-CA" sz="1300" b="1" i="0" dirty="0" err="1" smtClean="0">
                <a:solidFill>
                  <a:srgbClr val="FFFFFF"/>
                </a:solidFill>
              </a:rPr>
              <a:t>he</a:t>
            </a:r>
            <a:endParaRPr sz="1300" b="1" i="0" dirty="0">
              <a:solidFill>
                <a:srgbClr val="FFFFFF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70432" y="4370831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Cache (L1/L2/L3)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26464" y="4700016"/>
            <a:ext cx="55458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595959"/>
                </a:solidFill>
              </a:rPr>
              <a:t>Mémoire</a:t>
            </a:r>
            <a:r>
              <a:rPr sz="1200" b="0" i="0" dirty="0">
                <a:solidFill>
                  <a:srgbClr val="595959"/>
                </a:solidFill>
              </a:rPr>
              <a:t> ultra-</a:t>
            </a:r>
            <a:r>
              <a:rPr sz="1200" b="0" i="0" dirty="0" err="1">
                <a:solidFill>
                  <a:srgbClr val="595959"/>
                </a:solidFill>
              </a:rPr>
              <a:t>rapide</a:t>
            </a:r>
            <a:r>
              <a:rPr sz="1200" b="0" i="0" dirty="0">
                <a:solidFill>
                  <a:srgbClr val="595959"/>
                </a:solidFill>
              </a:rPr>
              <a:t> </a:t>
            </a:r>
            <a:r>
              <a:rPr sz="1200" b="0" i="0" dirty="0" err="1">
                <a:solidFill>
                  <a:srgbClr val="595959"/>
                </a:solidFill>
              </a:rPr>
              <a:t>intégrée</a:t>
            </a:r>
            <a:r>
              <a:rPr sz="1200" b="0" i="0" dirty="0">
                <a:solidFill>
                  <a:srgbClr val="595959"/>
                </a:solidFill>
              </a:rPr>
              <a:t> au CPU. Le CPU </a:t>
            </a:r>
            <a:r>
              <a:rPr sz="1200" b="0" i="0" dirty="0" err="1">
                <a:solidFill>
                  <a:srgbClr val="595959"/>
                </a:solidFill>
              </a:rPr>
              <a:t>cherche</a:t>
            </a:r>
            <a:r>
              <a:rPr sz="1200" b="0" i="0" dirty="0">
                <a:solidFill>
                  <a:srgbClr val="595959"/>
                </a:solidFill>
              </a:rPr>
              <a:t> </a:t>
            </a:r>
            <a:r>
              <a:rPr sz="1200" b="0" i="0" dirty="0" err="1">
                <a:solidFill>
                  <a:srgbClr val="595959"/>
                </a:solidFill>
              </a:rPr>
              <a:t>ici</a:t>
            </a:r>
            <a:r>
              <a:rPr sz="1200" b="0" i="0" dirty="0">
                <a:solidFill>
                  <a:srgbClr val="595959"/>
                </a:solidFill>
              </a:rPr>
              <a:t> </a:t>
            </a:r>
            <a:r>
              <a:rPr sz="1200" b="0" i="0" dirty="0" err="1">
                <a:solidFill>
                  <a:srgbClr val="595959"/>
                </a:solidFill>
              </a:rPr>
              <a:t>avant</a:t>
            </a:r>
            <a:r>
              <a:rPr sz="1200" b="0" i="0" dirty="0">
                <a:solidFill>
                  <a:srgbClr val="595959"/>
                </a:solidFill>
              </a:rPr>
              <a:t> </a:t>
            </a:r>
            <a:r>
              <a:rPr sz="1200" b="0" i="0" dirty="0" err="1">
                <a:solidFill>
                  <a:srgbClr val="595959"/>
                </a:solidFill>
              </a:rPr>
              <a:t>d'aller</a:t>
            </a:r>
            <a:r>
              <a:rPr sz="1200" b="0" i="0" dirty="0">
                <a:solidFill>
                  <a:srgbClr val="595959"/>
                </a:solidFill>
              </a:rPr>
              <a:t> </a:t>
            </a:r>
            <a:r>
              <a:rPr sz="1200" b="0" i="0" dirty="0" err="1">
                <a:solidFill>
                  <a:srgbClr val="595959"/>
                </a:solidFill>
              </a:rPr>
              <a:t>en</a:t>
            </a:r>
            <a:r>
              <a:rPr sz="1200" b="0" i="0" dirty="0">
                <a:solidFill>
                  <a:srgbClr val="595959"/>
                </a:solidFill>
              </a:rPr>
              <a:t> RAM.
Grand cache = </a:t>
            </a:r>
            <a:r>
              <a:rPr sz="1200" b="0" i="0" dirty="0" err="1">
                <a:solidFill>
                  <a:srgbClr val="595959"/>
                </a:solidFill>
              </a:rPr>
              <a:t>moins</a:t>
            </a:r>
            <a:r>
              <a:rPr sz="1200" b="0" i="0" dirty="0">
                <a:solidFill>
                  <a:srgbClr val="595959"/>
                </a:solidFill>
              </a:rPr>
              <a:t> </a:t>
            </a:r>
            <a:r>
              <a:rPr sz="1200" b="0" i="0" dirty="0" err="1">
                <a:solidFill>
                  <a:srgbClr val="595959"/>
                </a:solidFill>
              </a:rPr>
              <a:t>d'attente</a:t>
            </a:r>
            <a:r>
              <a:rPr sz="1200" b="0" i="0" dirty="0">
                <a:solidFill>
                  <a:srgbClr val="595959"/>
                </a:solidFill>
              </a:rPr>
              <a:t> = performances </a:t>
            </a:r>
            <a:r>
              <a:rPr sz="1200" b="0" i="0" dirty="0" err="1">
                <a:solidFill>
                  <a:srgbClr val="595959"/>
                </a:solidFill>
              </a:rPr>
              <a:t>meilleures</a:t>
            </a:r>
            <a:r>
              <a:rPr sz="1200" b="0" i="0" dirty="0">
                <a:solidFill>
                  <a:srgbClr val="595959"/>
                </a:solidFill>
              </a:rPr>
              <a:t>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34071" y="4352544"/>
            <a:ext cx="4480560" cy="329184"/>
          </a:xfrm>
          <a:prstGeom prst="rect">
            <a:avLst/>
          </a:prstGeom>
          <a:solidFill>
            <a:srgbClr val="00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34071" y="4352544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Ex : i5-12400 : 18 MB de cache L3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449824"/>
            <a:ext cx="11457432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65760" y="5449824"/>
            <a:ext cx="872490" cy="1078992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5449824"/>
            <a:ext cx="87249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TDP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70432" y="554126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TDP (Watts)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2832" y="5870448"/>
            <a:ext cx="58685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595959"/>
                </a:solidFill>
              </a:rPr>
              <a:t>Consommation</a:t>
            </a:r>
            <a:r>
              <a:rPr sz="1200" b="0" i="0" dirty="0">
                <a:solidFill>
                  <a:srgbClr val="595959"/>
                </a:solidFill>
              </a:rPr>
              <a:t> </a:t>
            </a:r>
            <a:r>
              <a:rPr sz="1200" b="0" i="0" dirty="0" err="1">
                <a:solidFill>
                  <a:srgbClr val="595959"/>
                </a:solidFill>
              </a:rPr>
              <a:t>énergétique</a:t>
            </a:r>
            <a:r>
              <a:rPr sz="1200" b="0" i="0" dirty="0">
                <a:solidFill>
                  <a:srgbClr val="595959"/>
                </a:solidFill>
              </a:rPr>
              <a:t> et </a:t>
            </a:r>
            <a:r>
              <a:rPr sz="1200" b="0" i="0" dirty="0" err="1">
                <a:solidFill>
                  <a:srgbClr val="595959"/>
                </a:solidFill>
              </a:rPr>
              <a:t>chaleur</a:t>
            </a:r>
            <a:r>
              <a:rPr sz="1200" b="0" i="0" dirty="0">
                <a:solidFill>
                  <a:srgbClr val="595959"/>
                </a:solidFill>
              </a:rPr>
              <a:t> </a:t>
            </a:r>
            <a:r>
              <a:rPr sz="1200" b="0" i="0" dirty="0" err="1">
                <a:solidFill>
                  <a:srgbClr val="595959"/>
                </a:solidFill>
              </a:rPr>
              <a:t>produite</a:t>
            </a:r>
            <a:r>
              <a:rPr sz="1200" b="0" i="0" dirty="0">
                <a:solidFill>
                  <a:srgbClr val="595959"/>
                </a:solidFill>
              </a:rPr>
              <a:t>. Important pour le </a:t>
            </a:r>
            <a:r>
              <a:rPr sz="1200" b="0" i="0" dirty="0" err="1">
                <a:solidFill>
                  <a:srgbClr val="595959"/>
                </a:solidFill>
              </a:rPr>
              <a:t>choix</a:t>
            </a:r>
            <a:r>
              <a:rPr sz="1200" b="0" i="0" dirty="0">
                <a:solidFill>
                  <a:srgbClr val="595959"/>
                </a:solidFill>
              </a:rPr>
              <a:t> du </a:t>
            </a:r>
            <a:r>
              <a:rPr sz="1200" b="0" i="0" dirty="0" err="1">
                <a:solidFill>
                  <a:srgbClr val="595959"/>
                </a:solidFill>
              </a:rPr>
              <a:t>ventirad</a:t>
            </a:r>
            <a:r>
              <a:rPr sz="1200" b="0" i="0" dirty="0">
                <a:solidFill>
                  <a:srgbClr val="595959"/>
                </a:solidFill>
              </a:rPr>
              <a:t>.
PC portable : CPU </a:t>
            </a:r>
            <a:r>
              <a:rPr sz="1200" b="0" i="0" dirty="0" err="1">
                <a:solidFill>
                  <a:srgbClr val="595959"/>
                </a:solidFill>
              </a:rPr>
              <a:t>basse</a:t>
            </a:r>
            <a:r>
              <a:rPr sz="1200" b="0" i="0" dirty="0">
                <a:solidFill>
                  <a:srgbClr val="595959"/>
                </a:solidFill>
              </a:rPr>
              <a:t> </a:t>
            </a:r>
            <a:r>
              <a:rPr sz="1200" b="0" i="0" dirty="0" err="1">
                <a:solidFill>
                  <a:srgbClr val="595959"/>
                </a:solidFill>
              </a:rPr>
              <a:t>conso</a:t>
            </a:r>
            <a:r>
              <a:rPr sz="1200" b="0" i="0" dirty="0">
                <a:solidFill>
                  <a:srgbClr val="595959"/>
                </a:solidFill>
              </a:rPr>
              <a:t> (15-28W). Desktop : 65W à 125W.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34071" y="5522976"/>
            <a:ext cx="4480560" cy="329184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434071" y="5522976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Ex : i5-12400 : 65W TDP → ventirad stock suffisant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CPU-Z (gratuit cpuid.com) → onglet CPU → voir fréquence, cœurs, cache en temps réel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1 — Introduction à l'Informatique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La carte mère — Tout s'y connecte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719072"/>
            <a:ext cx="5577840" cy="14447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719072"/>
            <a:ext cx="685800" cy="1444752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70432" y="182880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Socket CPU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2157984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Accueille le processeur. Intel LGA 1700 ≠ AMD AM5 — incompatibles.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2670048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563A0"/>
                </a:solidFill>
              </a:rPr>
              <a:t>💡 Toujours vérifier la compatibilité socket avant d'acheter un CPU.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91072" y="1719072"/>
            <a:ext cx="5577840" cy="1444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91072" y="1719072"/>
            <a:ext cx="685800" cy="1444752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95744" y="182880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Slots RAM (DIMM)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2157984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2 à 4 emplacements pour les barrettes DDR4/DDR5. Couleurs : slots A et B.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95744" y="2670048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563A0"/>
                </a:solidFill>
              </a:rPr>
              <a:t>💡 Insérer en A2 si 1 barrette · A2+B2 si 2 barrettes (Dual Channel).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291839"/>
            <a:ext cx="5577840" cy="14447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3291839"/>
            <a:ext cx="685800" cy="1444752"/>
          </a:xfrm>
          <a:prstGeom prst="rect">
            <a:avLst/>
          </a:prstGeom>
          <a:solidFill>
            <a:srgbClr val="00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70432" y="340156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Slots PCIe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" y="373075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Connecteurs pour GPU, cartes réseau, SSD M.2 en x16, x4, x1.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" y="4242816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563A0"/>
                </a:solidFill>
              </a:rPr>
              <a:t>💡 PCIe 4.0 &gt; PCIe 3.0 — vérifier la génération pour NVMe rapide.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91072" y="3291839"/>
            <a:ext cx="5577840" cy="1444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91072" y="3291839"/>
            <a:ext cx="685800" cy="1444752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95744" y="340156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Ports SATA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95744" y="373075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Connectent les SSD 2.5" et HDD. 4 à 6 ports par carte mère.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95744" y="4242816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563A0"/>
                </a:solidFill>
              </a:rPr>
              <a:t>💡 Chaque port = 1 disque maximum. Câble SATA + alimentation.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864608"/>
            <a:ext cx="5577840" cy="14447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65760" y="4864608"/>
            <a:ext cx="685800" cy="1444752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70432" y="497433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Connecteurs panneau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70432" y="53035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Bouton power, reset, LEDs, USB frontal — câbles du boîtier.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815584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563A0"/>
                </a:solidFill>
              </a:rPr>
              <a:t>💡 Référence : manuel de la carte mère pour le pinout exact.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91072" y="4864608"/>
            <a:ext cx="5577840" cy="1444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91072" y="4864608"/>
            <a:ext cx="685800" cy="1444752"/>
          </a:xfrm>
          <a:prstGeom prst="rect">
            <a:avLst/>
          </a:prstGeom>
          <a:solidFill>
            <a:srgbClr val="2D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095744" y="497433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BIOS/UEFI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95744" y="53035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Firmware qui démarre avant Windows. Configure boot, overclock, XMP.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95744" y="5815584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563A0"/>
                </a:solidFill>
              </a:rPr>
              <a:t>💡 Accès : F2, Suppr ou F10 selon la marque au démarrage.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CPU-Z onglet Mainboard : fabricant, modèle, version du BIOS — infos essentielles pour le support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1 — Introduction à l'Informatique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CPU-Z — Votre première fenêtre sur le matériel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627632"/>
            <a:ext cx="11457432" cy="4005072"/>
          </a:xfrm>
          <a:prstGeom prst="rect">
            <a:avLst/>
          </a:prstGeom>
          <a:solidFill>
            <a:srgbClr val="F7F7F7"/>
          </a:solidFill>
          <a:ln w="15240">
            <a:solidFill>
              <a:srgbClr val="99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627632"/>
            <a:ext cx="11457432" cy="384048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2011680"/>
            <a:ext cx="11457432" cy="16459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1691640"/>
            <a:ext cx="11128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1A3560"/>
                </a:solidFill>
              </a:rPr>
              <a:t>[ Screenshot ] Interface CPU-Z — </a:t>
            </a:r>
            <a:r>
              <a:rPr sz="1200" b="1" i="0" dirty="0" err="1">
                <a:solidFill>
                  <a:srgbClr val="1A3560"/>
                </a:solidFill>
              </a:rPr>
              <a:t>Onglets</a:t>
            </a:r>
            <a:r>
              <a:rPr sz="1200" b="1" i="0" dirty="0">
                <a:solidFill>
                  <a:srgbClr val="1A3560"/>
                </a:solidFill>
              </a:rPr>
              <a:t> CPU · Memory · Mainboard · SPD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91556" y="3246120"/>
            <a:ext cx="1005840" cy="594360"/>
          </a:xfrm>
          <a:prstGeom prst="rect">
            <a:avLst/>
          </a:prstGeom>
          <a:solidFill>
            <a:srgbClr val="DDE4EE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29884" y="3081527"/>
            <a:ext cx="329184" cy="201168"/>
          </a:xfrm>
          <a:prstGeom prst="rect">
            <a:avLst/>
          </a:prstGeom>
          <a:solidFill>
            <a:srgbClr val="DDE4EE"/>
          </a:solidFill>
          <a:ln w="1016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93308" y="3410711"/>
            <a:ext cx="402336" cy="402336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922776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95959"/>
                </a:solidFill>
              </a:rPr>
              <a:t>Insérer ici : screenshot CPU-Z ouvert sur vos propres specs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70248"/>
            <a:ext cx="11091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AAAAA"/>
                </a:solidFill>
              </a:rPr>
              <a:t>Montrer aux apprenants : CPU model · RAM total · DDR type · Mainboard maker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303520"/>
            <a:ext cx="11457432" cy="329184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5303520"/>
            <a:ext cx="11457432" cy="16459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5349240"/>
            <a:ext cx="1118311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 err="1">
                <a:solidFill>
                  <a:srgbClr val="556688"/>
                </a:solidFill>
              </a:rPr>
              <a:t>Clic</a:t>
            </a:r>
            <a:r>
              <a:rPr sz="900" b="0" i="1" dirty="0">
                <a:solidFill>
                  <a:srgbClr val="556688"/>
                </a:solidFill>
              </a:rPr>
              <a:t> droit sur </a:t>
            </a:r>
            <a:r>
              <a:rPr sz="900" b="0" i="1" dirty="0" err="1">
                <a:solidFill>
                  <a:srgbClr val="556688"/>
                </a:solidFill>
              </a:rPr>
              <a:t>cette</a:t>
            </a:r>
            <a:r>
              <a:rPr sz="900" b="0" i="1" dirty="0">
                <a:solidFill>
                  <a:srgbClr val="556688"/>
                </a:solidFill>
              </a:rPr>
              <a:t> zone → Modifier </a:t>
            </a:r>
            <a:r>
              <a:rPr sz="900" b="0" i="1" dirty="0" err="1">
                <a:solidFill>
                  <a:srgbClr val="556688"/>
                </a:solidFill>
              </a:rPr>
              <a:t>l'image</a:t>
            </a:r>
            <a:r>
              <a:rPr sz="900" b="0" i="1" dirty="0">
                <a:solidFill>
                  <a:srgbClr val="556688"/>
                </a:solidFill>
              </a:rPr>
              <a:t> → </a:t>
            </a:r>
            <a:r>
              <a:rPr sz="900" b="0" i="1" dirty="0" err="1">
                <a:solidFill>
                  <a:srgbClr val="556688"/>
                </a:solidFill>
              </a:rPr>
              <a:t>choisir</a:t>
            </a:r>
            <a:r>
              <a:rPr sz="900" b="0" i="1" dirty="0">
                <a:solidFill>
                  <a:srgbClr val="556688"/>
                </a:solidFill>
              </a:rPr>
              <a:t> </a:t>
            </a:r>
            <a:r>
              <a:rPr sz="900" b="0" i="1" dirty="0" err="1">
                <a:solidFill>
                  <a:srgbClr val="556688"/>
                </a:solidFill>
              </a:rPr>
              <a:t>votre</a:t>
            </a:r>
            <a:r>
              <a:rPr sz="900" b="0" i="1" dirty="0">
                <a:solidFill>
                  <a:srgbClr val="556688"/>
                </a:solidFill>
              </a:rPr>
              <a:t> screenshot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705856"/>
            <a:ext cx="11365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Exercice : ouvrir CPU-Z sur votre VM → noter CPU, RAM (type + MHz + dual channel ?), carte mère.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cpuid.com/softwares/cpu-z.html — Gratuit · Sans adware · 2.5 MB</a:t>
            </a:r>
          </a:p>
        </p:txBody>
      </p:sp>
      <p:pic>
        <p:nvPicPr>
          <p:cNvPr id="1026" name="Picture 2" descr="Utilitaire CPU-Z - Onglet CPU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27632"/>
            <a:ext cx="12188825" cy="536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1 — Introduction à l'Informatique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Le système d'exploitation — Le chef d'orchestre logiciel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536192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</a:rPr>
              <a:t>L'OS fait le lien entre le matériel (CPU, RAM, disque) et les logiciels (Word, Chrome...).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874519"/>
          <a:ext cx="11457431" cy="4370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  <a:gridCol w="1828800"/>
                <a:gridCol w="2560320"/>
                <a:gridCol w="3136391"/>
              </a:tblGrid>
              <a:tr h="72847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</a:rPr>
                        <a:t>OS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</a:rPr>
                        <a:t>Part marché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</a:rPr>
                        <a:t>Coût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</a:rPr>
                        <a:t>Usage principal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</a:rPr>
                        <a:t>En support N1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</a:tr>
              <a:tr h="728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3560"/>
                          </a:solidFill>
                        </a:rPr>
                        <a:t>Windows 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</a:rPr>
                        <a:t>~72 % desktop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Inclus PC / payant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PME, particuliers, entreprises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D7A1F"/>
                          </a:solidFill>
                        </a:rPr>
                        <a:t>Oui — c'est notre focus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728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3560"/>
                          </a:solidFill>
                        </a:rPr>
                        <a:t>Windows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</a:rPr>
                        <a:t>~20 % desktop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Inclus PC / payant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Parcs anciens PME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D7A1F"/>
                          </a:solidFill>
                        </a:rPr>
                        <a:t>Oui — support jusqu'oct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28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3560"/>
                          </a:solidFill>
                        </a:rPr>
                        <a:t>macOS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</a:rPr>
                        <a:t>~15 % global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Matériel Apple inclus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Créatifs, design, devs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Rarement — support logiciel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728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3560"/>
                          </a:solidFill>
                        </a:rPr>
                        <a:t>Linux Ubuntu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</a:rPr>
                        <a:t>~3 % desktop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Gratuit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Serveurs, devs, sysadmins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Connaître l'existence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28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3560"/>
                          </a:solidFill>
                        </a:rPr>
                        <a:t>Android/iOS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</a:rPr>
                        <a:t>Mobiles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Gratuit (inclus)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Smartphones, tablettes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Wi-Fi, compte, apps seulement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Cette formation se concentre sur Windows 10/11 — représente 90 %+ du support en PME québécoise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1 — Introduction à l'Informatique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VirtualBox — Créer votre environnement de travail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536192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</a:rPr>
              <a:t>Une VM (machine virtuelle) = un PC entier simulé dans votre PC. Tout casser dans la VM = aucun risque sur votre vrai PC.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01952"/>
            <a:ext cx="5577840" cy="14447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901952"/>
            <a:ext cx="658368" cy="1444752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901952"/>
            <a:ext cx="65836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199339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Télécharger VirtualBox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" y="2322576"/>
            <a:ext cx="4663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virtualbox.org → Download → Choisir Windows Hosts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298094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2563A0"/>
                </a:solidFill>
              </a:rPr>
              <a:t>⚡ Gratuit, open source, ~105 MB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91072" y="1901952"/>
            <a:ext cx="5577840" cy="1444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91072" y="1901952"/>
            <a:ext cx="658368" cy="1444752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91072" y="1901952"/>
            <a:ext cx="65836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9168" y="199339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Télécharger l'ISO Windows 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2322576"/>
            <a:ext cx="4663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microsoft.com/software-download/windows11 → Télécharger l'image disque (ISO)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298094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2563A0"/>
                </a:solidFill>
              </a:rPr>
              <a:t>⚡ Gratuit et légal — ~5.8 GB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474720"/>
            <a:ext cx="5577840" cy="14447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3474720"/>
            <a:ext cx="658368" cy="1444752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3474720"/>
            <a:ext cx="65836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" y="35661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Créer une nouvelle VM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" y="3895344"/>
            <a:ext cx="4663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VirtualBox → Nouvelle → Nom : 'Pratique S1'
Type : Microsoft Windows → Version : Windows 11 (64-bit)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91072" y="3474720"/>
            <a:ext cx="5577840" cy="1444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91072" y="3474720"/>
            <a:ext cx="658368" cy="1444752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91072" y="3474720"/>
            <a:ext cx="65836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9168" y="35661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Configurer la mémoire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9168" y="3895344"/>
            <a:ext cx="4663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Mémoire vive : 4096 MB minimum (50 % de votre RAM)
Processeurs : 2 minimum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9168" y="455371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2563A0"/>
                </a:solidFill>
              </a:rPr>
              <a:t>⚡ Ne jamais dépasser 60 % de votre RAM réelle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047488"/>
            <a:ext cx="5577840" cy="14447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65760" y="5047488"/>
            <a:ext cx="658368" cy="1444752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65760" y="5047488"/>
            <a:ext cx="65836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" y="513892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Créer le disque virtuel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" y="5468112"/>
            <a:ext cx="4663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Créer un disque VDI → Dynamiquement alloué → 50 GB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" y="6126479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2563A0"/>
                </a:solidFill>
              </a:rPr>
              <a:t>⚡ VDI = disque virtuel dans un fichier sur votre vrai disque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91072" y="5047488"/>
            <a:ext cx="5577840" cy="1444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291072" y="5047488"/>
            <a:ext cx="658368" cy="1444752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91072" y="5047488"/>
            <a:ext cx="65836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59168" y="513892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Démarrer et installer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59168" y="5468112"/>
            <a:ext cx="4663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Démarrer la VM → Insérer l'ISO → Suivre l'installation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59168" y="6126479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2563A0"/>
                </a:solidFill>
              </a:rPr>
              <a:t>⚡ Durée : 20-40 min selon votre PC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Snapshot VirtualBox : Machine → Prendre un instantané → sauvegarder l'état → toujours revenir en arrière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1 — Introduction à l'Informatique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VirtualBox — Interface et configuration à connaître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5559552"/>
            <a:ext cx="11365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La VM sera votre lab pour toutes les séances suivantes — snapshots avant chaque exercice risqué.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Extension Pack VirtualBox = USB 3.0 + audio + webcam — optionnel mais pratique</a:t>
            </a:r>
          </a:p>
        </p:txBody>
      </p:sp>
      <p:sp>
        <p:nvSpPr>
          <p:cNvPr id="25" name="AutoShape 2" descr="Machines virtuelles : comment créer des VM ? - IONO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8152" y="1262455"/>
            <a:ext cx="7612000" cy="4297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8016"/>
            <a:ext cx="1036320" cy="3108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34440" y="1097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AA"/>
                </a:solidFill>
              </a:rPr>
              <a:t>Séance 1 — Introduction à l'Informatique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88552" y="73152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778899"/>
                </a:solidFill>
              </a:rPr>
              <a:t>CHAFIK MOUSTAID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88552" y="292608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45566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8368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C24A"/>
                </a:solidFill>
              </a:rPr>
              <a:t>VOCABULAIRE ESSENTIEL — 18 termes à maîtriser dès aujourd'hui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969264"/>
            <a:ext cx="11274552" cy="2286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078992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078992"/>
            <a:ext cx="73152" cy="749808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113385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DDAA"/>
                </a:solidFill>
              </a:rPr>
              <a:t>CPU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42646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Processeur — cerveau du PC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975104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1975104"/>
            <a:ext cx="73152" cy="749808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202996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DDAA"/>
                </a:solidFill>
              </a:rPr>
              <a:t>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32257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Mémoire temporaire de travail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871215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2871215"/>
            <a:ext cx="73152" cy="749808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2926079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DDAA"/>
                </a:solidFill>
              </a:rPr>
              <a:t>SSD/HDD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18687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Stockage permanent des données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767328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3767328"/>
            <a:ext cx="73152" cy="749808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3822191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DDAA"/>
                </a:solidFill>
              </a:rPr>
              <a:t>DDR4/DDR5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11480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Type de RAM — incompatibles entre eux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663440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4663440"/>
            <a:ext cx="73152" cy="749808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4718303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DDAA"/>
                </a:solidFill>
              </a:rPr>
              <a:t>BIOS/UEFI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01091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Logiciel qui démarre avant Windows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559552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5559552"/>
            <a:ext cx="73152" cy="749808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561441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DDAA"/>
                </a:solidFill>
              </a:rPr>
              <a:t>Driver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90702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Pilote d'un composant matériel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1078992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297680" y="1078992"/>
            <a:ext cx="73152" cy="749808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480560" y="113385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DDAA"/>
                </a:solidFill>
              </a:rPr>
              <a:t>BSOD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142646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Écran bleu de mort — crash Windows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97680" y="1975104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297680" y="1975104"/>
            <a:ext cx="73152" cy="749808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480560" y="202996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DDAA"/>
                </a:solidFill>
              </a:rPr>
              <a:t>N1/N2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60" y="232257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Niveaux de support informatique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97680" y="2871215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297680" y="2871215"/>
            <a:ext cx="73152" cy="749808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480560" y="2926079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DDAA"/>
                </a:solidFill>
              </a:rPr>
              <a:t>Ticket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60" y="3218687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Rapport écrit d'une intervention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97680" y="3767328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297680" y="3767328"/>
            <a:ext cx="73152" cy="749808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480560" y="3822191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DDAA"/>
                </a:solidFill>
              </a:rPr>
              <a:t>VM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80560" y="411480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Machine virtuelle — PC simulé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97680" y="4663440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4297680" y="4663440"/>
            <a:ext cx="73152" cy="749808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480560" y="4718303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DDAA"/>
                </a:solidFill>
              </a:rPr>
              <a:t>DNS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80560" y="501091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Annuaire Internet — traduit noms→IP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97680" y="5559552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4297680" y="5559552"/>
            <a:ext cx="73152" cy="749808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480560" y="561441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DDAA"/>
                </a:solidFill>
              </a:rPr>
              <a:t>DHCP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80560" y="590702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Attribution automatique des adresses IP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38160" y="1078992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138160" y="1078992"/>
            <a:ext cx="73152" cy="749808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321040" y="113385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DDAA"/>
                </a:solidFill>
              </a:rPr>
              <a:t>Ping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21040" y="142646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Test de connectivité réseau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138160" y="1975104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8138160" y="1975104"/>
            <a:ext cx="73152" cy="749808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21040" y="202996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DDAA"/>
                </a:solidFill>
              </a:rPr>
              <a:t>GPT/MBR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21040" y="232257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Schéma de partition d'un disque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38160" y="2871215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8138160" y="2871215"/>
            <a:ext cx="73152" cy="749808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321040" y="2926079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DDAA"/>
                </a:solidFill>
              </a:rPr>
              <a:t>TPM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21040" y="3218687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Puce de sécurité requise par W11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138160" y="3767328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8138160" y="3767328"/>
            <a:ext cx="73152" cy="749808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321040" y="3822191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DDAA"/>
                </a:solidFill>
              </a:rPr>
              <a:t>S.M.A.R.T.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21040" y="411480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Indicateur de santé d'un disque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138160" y="4663440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8138160" y="4663440"/>
            <a:ext cx="73152" cy="749808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321040" y="4718303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DDAA"/>
                </a:solidFill>
              </a:rPr>
              <a:t>PCIe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21040" y="501091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Bus interne pour GPU, SSD M.2, cartes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138160" y="5559552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8138160" y="5559552"/>
            <a:ext cx="73152" cy="749808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321040" y="561441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DDAA"/>
                </a:solidFill>
              </a:rPr>
              <a:t>Dual Channel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321040" y="590702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2 barrettes RAM en parallèle = +30 %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1 — Introduction à l'Informatique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Les 5 questions — À poser AVANT de toucher à quoi que ce soit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536192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</a:rPr>
              <a:t>Ces questions s'appliquent à chaque panne, chaque appel client, de la S1 à la fin de votre carrière.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01952"/>
            <a:ext cx="11457432" cy="8412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901952"/>
            <a:ext cx="658368" cy="841248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901952"/>
            <a:ext cx="65836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19659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3560"/>
                </a:solidFill>
              </a:rPr>
              <a:t>Qu'est-ce qui ne fonctionne pas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304288"/>
            <a:ext cx="10634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Écouter les mots EXACTS du client. Ne pas interpréter.
Reformuler pour confirmer : 'Si je comprends bien, le problème c'est...'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834640"/>
            <a:ext cx="11457432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5760" y="2834640"/>
            <a:ext cx="658368" cy="841248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2834640"/>
            <a:ext cx="65836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28986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3560"/>
                </a:solidFill>
              </a:rPr>
              <a:t>Depuis quand exactement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3236976"/>
            <a:ext cx="10634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Récent (1-2 jours) = changement récent probable.
Ancien (semaines/mois) = usure progressive ou évolution lente.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67328"/>
            <a:ext cx="11457432" cy="8412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3767328"/>
            <a:ext cx="658368" cy="841248"/>
          </a:xfrm>
          <a:prstGeom prst="rect">
            <a:avLst/>
          </a:prstGeom>
          <a:solidFill>
            <a:srgbClr val="00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3767328"/>
            <a:ext cx="65836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383133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3560"/>
                </a:solidFill>
              </a:rPr>
              <a:t>Vous avez changé quelque chose 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4169664"/>
            <a:ext cx="10634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Mise à jour Windows, nouvelle installation, déplacement du PC, chute.
Les clients oublient souvent — relancer avec : 'Même une petite chose ?'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700016"/>
            <a:ext cx="11457432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65760" y="4700016"/>
            <a:ext cx="658368" cy="841248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" y="4700016"/>
            <a:ext cx="65836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476402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3560"/>
                </a:solidFill>
              </a:rPr>
              <a:t>Ce PC seulement ou d'autres aussi 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" y="5102352"/>
            <a:ext cx="10634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Tous les PC du bureau = réseau ou serveur → escalade possible.
Un seul PC = problème localisé sur ce PC spécifiquement.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632704"/>
            <a:ext cx="11457432" cy="8412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65760" y="5632704"/>
            <a:ext cx="658368" cy="841248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60" y="5632704"/>
            <a:ext cx="65836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" y="569671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3560"/>
                </a:solidFill>
              </a:rPr>
              <a:t>Vous pouvez me montrer le problème en direct 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" y="6035040"/>
            <a:ext cx="10634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Voir par soi-même est irremplaçable. Ne jamais diagnostiquer uniquement
sur une description. Partage d'écran ou déplacement si nécessaire.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Le redémarrage résout 50 % des cas — mais le poser avant les 5 questions = perdre de l'information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1 — Introduction à l'Informatique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Technicien support — Comprendre les niveaux N1, N2, N3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1719072"/>
          <a:ext cx="11457431" cy="4956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560320"/>
                <a:gridCol w="2560320"/>
                <a:gridCol w="3593591"/>
              </a:tblGrid>
              <a:tr h="61950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</a:rPr>
                        <a:t>Compétence / Tâche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</a:rPr>
                        <a:t>N1 — Support utilisateur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</a:rPr>
                        <a:t>N2 — Technicien confirmé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</a:rPr>
                        <a:t>N3 — Expert infrastructure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</a:tr>
              <a:tr h="61950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3560"/>
                          </a:solidFill>
                        </a:rPr>
                        <a:t>Périphériques (clavier, souris)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D7A1F"/>
                          </a:solidFill>
                        </a:rPr>
                        <a:t>✓ Résout en autonomie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D7A1F"/>
                          </a:solidFill>
                        </a:rPr>
                        <a:t>✓ Référence rapide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1950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3560"/>
                          </a:solidFill>
                        </a:rPr>
                        <a:t>Windows — dépannage courant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D7A1F"/>
                          </a:solidFill>
                        </a:rPr>
                        <a:t>✓ Résout en autonomie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D7A1F"/>
                          </a:solidFill>
                        </a:rPr>
                        <a:t>✓ Résout + documente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950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3560"/>
                          </a:solidFill>
                        </a:rPr>
                        <a:t>Installation OS / drivers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D7A1F"/>
                          </a:solidFill>
                        </a:rPr>
                        <a:t>✓ avec procédure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D7A1F"/>
                          </a:solidFill>
                        </a:rPr>
                        <a:t>✓ en autonomie totale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1950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3560"/>
                          </a:solidFill>
                        </a:rPr>
                        <a:t>Réseau de base (IP, Wi-Fi)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D7A1F"/>
                          </a:solidFill>
                        </a:rPr>
                        <a:t>✓ diagnostic de 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D7A1F"/>
                          </a:solidFill>
                        </a:rPr>
                        <a:t>✓ config complète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D7A1F"/>
                          </a:solidFill>
                        </a:rPr>
                        <a:t>✓ architecture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950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3560"/>
                          </a:solidFill>
                        </a:rPr>
                        <a:t>Active Directory / GPO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</a:rPr>
                        <a:t>— escalade N2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D7A1F"/>
                          </a:solidFill>
                        </a:rPr>
                        <a:t>✓ Résout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D7A1F"/>
                          </a:solidFill>
                        </a:rPr>
                        <a:t>✓ Conçoit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1950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3560"/>
                          </a:solidFill>
                        </a:rPr>
                        <a:t>Serveurs Windows / Linux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</a:rPr>
                        <a:t>— escalade N2/N3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</a:rPr>
                        <a:t>partiel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D7A1F"/>
                          </a:solidFill>
                        </a:rPr>
                        <a:t>✓ Résout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950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3560"/>
                          </a:solidFill>
                        </a:rPr>
                        <a:t>Azure / Cloud / VMware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</a:rPr>
                        <a:t>— escalade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</a:rPr>
                        <a:t>partiel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D7A1F"/>
                          </a:solidFill>
                        </a:rPr>
                        <a:t>✓ Résout et conçoit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365760" y="6766560"/>
            <a:ext cx="11457432" cy="256032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6766560"/>
            <a:ext cx="11457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Cette formation → N1 opérationnel. N2 en 6-12 mois terrain. N3 = plusieurs années de spécialisation.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1 — Introduction à l'Informatique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Les 15 séances — Votre feuille de route complète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7472" y="1719072"/>
            <a:ext cx="2231136" cy="1536192"/>
          </a:xfrm>
          <a:prstGeom prst="rect">
            <a:avLst/>
          </a:prstGeom>
          <a:solidFill>
            <a:srgbClr val="E8F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7472" y="1719072"/>
            <a:ext cx="2231136" cy="384048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" y="177393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177393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2194560"/>
            <a:ext cx="20482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3560"/>
                </a:solidFill>
              </a:rPr>
              <a:t>Vous êtes ici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" y="2743200"/>
            <a:ext cx="1956816" cy="384048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4632" y="2743200"/>
            <a:ext cx="19568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← Vous êtes ici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06624" y="1719072"/>
            <a:ext cx="2231136" cy="15361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06624" y="1719072"/>
            <a:ext cx="2231136" cy="384048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98064" y="177393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00984" y="177393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Carte mère · CPU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98064" y="2194560"/>
            <a:ext cx="20482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</a:rPr>
              <a:t>Composants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63824" y="2834639"/>
            <a:ext cx="1298448" cy="292608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163824" y="2834639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Séance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65776" y="1719072"/>
            <a:ext cx="2231136" cy="15361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065776" y="1719072"/>
            <a:ext cx="2231136" cy="384048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57216" y="177393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0136" y="177393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Mémoire · Stockage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57216" y="2194560"/>
            <a:ext cx="20482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</a:rPr>
              <a:t>DDR · SSD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22976" y="2834639"/>
            <a:ext cx="1298448" cy="292608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522976" y="2834639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Séance 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24928" y="1719072"/>
            <a:ext cx="2231136" cy="15361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424928" y="1719072"/>
            <a:ext cx="2231136" cy="384048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516368" y="177393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19288" y="177393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Périphériques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16368" y="2194560"/>
            <a:ext cx="20482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</a:rPr>
              <a:t>USB · HDMI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82128" y="2834639"/>
            <a:ext cx="1298448" cy="292608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82128" y="2834639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Séance 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84080" y="1719072"/>
            <a:ext cx="2231136" cy="15361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784080" y="1719072"/>
            <a:ext cx="2231136" cy="384048"/>
          </a:xfrm>
          <a:prstGeom prst="rect">
            <a:avLst/>
          </a:prstGeom>
          <a:solidFill>
            <a:srgbClr val="25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875520" y="177393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78440" y="177393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Install. Windows 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75520" y="2194560"/>
            <a:ext cx="20482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</a:rPr>
              <a:t>Rufus · TPM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1280" y="2834639"/>
            <a:ext cx="1298448" cy="292608"/>
          </a:xfrm>
          <a:prstGeom prst="rect">
            <a:avLst/>
          </a:prstGeom>
          <a:solidFill>
            <a:srgbClr val="25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241280" y="2834639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Séance 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7472" y="3383280"/>
            <a:ext cx="2231136" cy="15361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347472" y="3383280"/>
            <a:ext cx="2231136" cy="384048"/>
          </a:xfrm>
          <a:prstGeom prst="rect">
            <a:avLst/>
          </a:prstGeom>
          <a:solidFill>
            <a:srgbClr val="25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38912" y="343814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1832" y="343814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Config. Système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912" y="3858768"/>
            <a:ext cx="20482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</a:rPr>
              <a:t>CMD · SFC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4672" y="4498848"/>
            <a:ext cx="1298448" cy="292608"/>
          </a:xfrm>
          <a:prstGeom prst="rect">
            <a:avLst/>
          </a:prstGeom>
          <a:solidFill>
            <a:srgbClr val="25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04672" y="4498848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Séance 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06624" y="3383280"/>
            <a:ext cx="2231136" cy="15361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2706624" y="3383280"/>
            <a:ext cx="2231136" cy="384048"/>
          </a:xfrm>
          <a:prstGeom prst="rect">
            <a:avLst/>
          </a:prstGeom>
          <a:solidFill>
            <a:srgbClr val="25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798064" y="343814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00984" y="343814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Sécurité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98064" y="3858768"/>
            <a:ext cx="20482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</a:rPr>
              <a:t>Phishing · 2FA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163824" y="4498848"/>
            <a:ext cx="1298448" cy="292608"/>
          </a:xfrm>
          <a:prstGeom prst="rect">
            <a:avLst/>
          </a:prstGeom>
          <a:solidFill>
            <a:srgbClr val="25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163824" y="4498848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Séance 7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65776" y="3383280"/>
            <a:ext cx="2231136" cy="15361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5065776" y="3383280"/>
            <a:ext cx="2231136" cy="384048"/>
          </a:xfrm>
          <a:prstGeom prst="rect">
            <a:avLst/>
          </a:prstGeom>
          <a:solidFill>
            <a:srgbClr val="0099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57216" y="343814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60136" y="343814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Réseau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57216" y="3858768"/>
            <a:ext cx="20482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</a:rPr>
              <a:t>TCP/IP · DNS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522976" y="4498848"/>
            <a:ext cx="1298448" cy="292608"/>
          </a:xfrm>
          <a:prstGeom prst="rect">
            <a:avLst/>
          </a:prstGeom>
          <a:solidFill>
            <a:srgbClr val="0099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522976" y="4498848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Séance 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424928" y="3383280"/>
            <a:ext cx="2231136" cy="15361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7424928" y="3383280"/>
            <a:ext cx="2231136" cy="384048"/>
          </a:xfrm>
          <a:prstGeom prst="rect">
            <a:avLst/>
          </a:prstGeom>
          <a:solidFill>
            <a:srgbClr val="0099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516368" y="343814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19288" y="343814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Partage réseau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516368" y="3858768"/>
            <a:ext cx="20482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</a:rPr>
              <a:t>OneDrive · SMB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882128" y="4498848"/>
            <a:ext cx="1298448" cy="292608"/>
          </a:xfrm>
          <a:prstGeom prst="rect">
            <a:avLst/>
          </a:prstGeom>
          <a:solidFill>
            <a:srgbClr val="0099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882128" y="4498848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Séance 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784080" y="3383280"/>
            <a:ext cx="2231136" cy="15361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9784080" y="3383280"/>
            <a:ext cx="2231136" cy="384048"/>
          </a:xfrm>
          <a:prstGeom prst="rect">
            <a:avLst/>
          </a:prstGeom>
          <a:solidFill>
            <a:srgbClr val="2D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875520" y="343814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S10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378440" y="343814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Maintenance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875520" y="3858768"/>
            <a:ext cx="20482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</a:rPr>
              <a:t>HWMonitor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241280" y="4498848"/>
            <a:ext cx="1298448" cy="292608"/>
          </a:xfrm>
          <a:prstGeom prst="rect">
            <a:avLst/>
          </a:prstGeom>
          <a:solidFill>
            <a:srgbClr val="2D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0241280" y="4498848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Séance 10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47472" y="5047488"/>
            <a:ext cx="2231136" cy="15361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347472" y="5047488"/>
            <a:ext cx="2231136" cy="384048"/>
          </a:xfrm>
          <a:prstGeom prst="rect">
            <a:avLst/>
          </a:prstGeom>
          <a:solidFill>
            <a:srgbClr val="2D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38912" y="5102351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S11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41832" y="5102351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Sauvegarde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38912" y="5522975"/>
            <a:ext cx="20482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</a:rPr>
              <a:t>3-2-1 · Recuva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04672" y="6163055"/>
            <a:ext cx="1298448" cy="292608"/>
          </a:xfrm>
          <a:prstGeom prst="rect">
            <a:avLst/>
          </a:prstGeom>
          <a:solidFill>
            <a:srgbClr val="2D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04672" y="6163055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Séance 11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706624" y="5047488"/>
            <a:ext cx="2231136" cy="15361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2706624" y="5047488"/>
            <a:ext cx="2231136" cy="384048"/>
          </a:xfrm>
          <a:prstGeom prst="rect">
            <a:avLst/>
          </a:prstGeom>
          <a:solidFill>
            <a:srgbClr val="2D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2798064" y="5102351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S12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300984" y="5102351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Support distance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798064" y="5522975"/>
            <a:ext cx="20482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</a:rPr>
              <a:t>AnyDesk · RDP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163824" y="6163055"/>
            <a:ext cx="1298448" cy="292608"/>
          </a:xfrm>
          <a:prstGeom prst="rect">
            <a:avLst/>
          </a:prstGeom>
          <a:solidFill>
            <a:srgbClr val="2D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3163824" y="6163055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Séance 12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065776" y="5047488"/>
            <a:ext cx="2231136" cy="15361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5065776" y="5047488"/>
            <a:ext cx="2231136" cy="384048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5157216" y="5102351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S13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660136" y="5102351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Diag. avancé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157216" y="5522975"/>
            <a:ext cx="20482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</a:rPr>
              <a:t>BSOD · SFC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522976" y="6163055"/>
            <a:ext cx="1298448" cy="292608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5522976" y="6163055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Séance 13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424928" y="5047488"/>
            <a:ext cx="2231136" cy="15361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7424928" y="5047488"/>
            <a:ext cx="2231136" cy="384048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7516368" y="5102351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S14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019288" y="5102351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10 pannes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516368" y="5522975"/>
            <a:ext cx="20482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</a:rPr>
              <a:t>Référence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882128" y="6163055"/>
            <a:ext cx="1298448" cy="292608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7882128" y="6163055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Séance 14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784080" y="5047488"/>
            <a:ext cx="2231136" cy="15361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9784080" y="5047488"/>
            <a:ext cx="2231136" cy="384048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9875520" y="5102351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S15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378440" y="5102351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Synthèse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875520" y="5522975"/>
            <a:ext cx="20482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</a:rPr>
              <a:t>Simulation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241280" y="6163055"/>
            <a:ext cx="1298448" cy="292608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10241280" y="6163055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Séance 15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60 heures · 15 séances · N1 opérationnel en fin de formation · SAMO Formation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1 — Introduction à l'Informatique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Outils à installer — Votre kit de technicien pour la formation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719072"/>
            <a:ext cx="5577840" cy="14447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719072"/>
            <a:ext cx="1097280" cy="1444752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1828800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VirtualBox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212848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FFCC"/>
                </a:solidFill>
              </a:rPr>
              <a:t>virtualbox.org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1828800"/>
            <a:ext cx="42245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Créer la VM Windows 11 pour pratiquer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2194560"/>
            <a:ext cx="42245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Gratuit · Open source · 105 MB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91072" y="1719072"/>
            <a:ext cx="5577840" cy="1444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91072" y="1719072"/>
            <a:ext cx="1097280" cy="1444752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1828800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CPU-Z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212848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FFCC"/>
                </a:solidFill>
              </a:rPr>
              <a:t>cpuid.com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1828800"/>
            <a:ext cx="42245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Lire CPU, RAM, carte mère, slots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0" y="2194560"/>
            <a:ext cx="42245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Gratuit · 2 MB · Sans adware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291839"/>
            <a:ext cx="5577840" cy="14447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3291839"/>
            <a:ext cx="1097280" cy="1444752"/>
          </a:xfrm>
          <a:prstGeom prst="rect">
            <a:avLst/>
          </a:prstGeom>
          <a:solidFill>
            <a:srgbClr val="00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8" y="3401568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CrystalDiskInfo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3785615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FFCC"/>
                </a:solidFill>
              </a:rPr>
              <a:t>crystalmark.info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72768" y="3401568"/>
            <a:ext cx="42245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Santé S.M.A.R.T. des disques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2768" y="3767327"/>
            <a:ext cx="42245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Gratuit · 5 MB · Portable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91072" y="3291839"/>
            <a:ext cx="5577840" cy="1444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91072" y="3291839"/>
            <a:ext cx="1097280" cy="1444752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3401568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HWMonitor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785615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FFCC"/>
                </a:solidFill>
              </a:rPr>
              <a:t>cpuid.com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0" y="3401568"/>
            <a:ext cx="42245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Températures CPU/GPU/SSD en live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0" y="3767327"/>
            <a:ext cx="42245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Gratuit · 2 MB · Léger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864608"/>
            <a:ext cx="5577840" cy="14447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65760" y="4864608"/>
            <a:ext cx="1097280" cy="1444752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75488" y="4974336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Malwarebytes Free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" y="5358384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FFCC"/>
                </a:solidFill>
              </a:rPr>
              <a:t>malwarebytes.com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72768" y="4974336"/>
            <a:ext cx="42245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Scan antimalware complémentaire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72768" y="5340096"/>
            <a:ext cx="42245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Gratuit · Essai 14j → version Free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91072" y="4864608"/>
            <a:ext cx="5577840" cy="1444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291072" y="4864608"/>
            <a:ext cx="1097280" cy="1444752"/>
          </a:xfrm>
          <a:prstGeom prst="rect">
            <a:avLst/>
          </a:prstGeom>
          <a:solidFill>
            <a:srgbClr val="2D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0" y="4974336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WinDirStat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358384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FFCC"/>
                </a:solidFill>
              </a:rPr>
              <a:t>windirstat.net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80" y="4974336"/>
            <a:ext cx="42245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Voir qui mange l'espace disque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80" y="5340096"/>
            <a:ext cx="42245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Gratuit · 1 MB · Ultra léger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Tous gratuits · Télécharger depuis les sites officiels uniquement · Pas de versions 'crackées'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25880" y="1280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560"/>
                </a:solidFill>
              </a:rPr>
              <a:t>Séance 1 — Introduction à l'Informatique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88552" y="9144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A3560"/>
                </a:solidFill>
              </a:rPr>
              <a:t>CHAFIK MOUSTAID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88552" y="292608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1A3560"/>
                </a:solidFill>
              </a:rPr>
              <a:t>À vous de jouer.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81328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6CC24A"/>
                </a:solidFill>
              </a:rPr>
              <a:t>Installez VirtualBox et explorez votre PC avec CPU-Z.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993392"/>
            <a:ext cx="11365992" cy="4572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1480" y="2148840"/>
            <a:ext cx="2743200" cy="42519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1480" y="2148840"/>
            <a:ext cx="2743200" cy="475488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2148840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CC24A"/>
                </a:solidFill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" y="2724912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Installer VirtualBox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" y="3108960"/>
            <a:ext cx="252374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</a:rPr>
              <a:t>virtualbox.org → Download → Installer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888736"/>
            <a:ext cx="2286000" cy="347472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588873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10 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2148840"/>
            <a:ext cx="2743200" cy="42519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91840" y="2148840"/>
            <a:ext cx="2743200" cy="475488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91840" y="2148840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CC24A"/>
                </a:solidFill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01568" y="2724912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Télécharger l'ISO Windows 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01568" y="3108960"/>
            <a:ext cx="252374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</a:rPr>
              <a:t>microsoft.com/software-download/windows11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20440" y="5888736"/>
            <a:ext cx="2286000" cy="347472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520440" y="588873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25 min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2148840"/>
            <a:ext cx="2743200" cy="42519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72200" y="2148840"/>
            <a:ext cx="2743200" cy="475488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72200" y="2148840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CC24A"/>
                </a:solidFill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81928" y="2724912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Créer la VM Windows 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1928" y="3108960"/>
            <a:ext cx="252374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</a:rPr>
              <a:t>Nouvelle VM → 4 GB RAM → 50 GB VDI → démarrer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5888736"/>
            <a:ext cx="2286000" cy="347472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0" y="588873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15 min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52559" y="2148840"/>
            <a:ext cx="2743200" cy="42519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052559" y="2148840"/>
            <a:ext cx="2743200" cy="475488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052559" y="2148840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CC24A"/>
                </a:solidFill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62287" y="2724912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Installer CPU-Z + l'explorer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62287" y="3108960"/>
            <a:ext cx="252374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</a:rPr>
              <a:t>cpuid.com → noter CPU, RAM, carte mère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81159" y="5888736"/>
            <a:ext cx="2286000" cy="347472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281159" y="588873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10 min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1 — Introduction à l'Informatique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Compétences Séance 1 — À valider avec votre formateur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84048" y="1764792"/>
            <a:ext cx="402336" cy="402336"/>
          </a:xfrm>
          <a:prstGeom prst="rect">
            <a:avLst/>
          </a:prstGeom>
          <a:solidFill>
            <a:srgbClr val="FFFFFF"/>
          </a:solidFill>
          <a:ln w="25400">
            <a:solidFill>
              <a:srgbClr val="6CC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" y="1728216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CC24A"/>
                </a:solidFill>
              </a:rPr>
              <a:t>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" y="1728216"/>
            <a:ext cx="10890504" cy="4754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1783080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J'explique la différence entre RAM et stockage avec l'analogie bureau/armoire.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372868"/>
            <a:ext cx="402336" cy="402336"/>
          </a:xfrm>
          <a:prstGeom prst="rect">
            <a:avLst/>
          </a:prstGeom>
          <a:solidFill>
            <a:srgbClr val="FFFFFF"/>
          </a:solidFill>
          <a:ln w="25400">
            <a:solidFill>
              <a:srgbClr val="6CC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4048" y="233629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CC24A"/>
                </a:solidFill>
              </a:rPr>
              <a:t>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" y="2336292"/>
            <a:ext cx="10890504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2391156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</a:rPr>
              <a:t>Je nomme les 6 composants internes principaux et j'explique le rôle de chacun.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2980944"/>
            <a:ext cx="402336" cy="402336"/>
          </a:xfrm>
          <a:prstGeom prst="rect">
            <a:avLst/>
          </a:prstGeom>
          <a:solidFill>
            <a:srgbClr val="FFFFFF"/>
          </a:solidFill>
          <a:ln w="25400">
            <a:solidFill>
              <a:srgbClr val="6CC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4048" y="294436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CC24A"/>
                </a:solidFill>
              </a:rPr>
              <a:t>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" y="2944368"/>
            <a:ext cx="10890504" cy="4754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2999232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Je distingue les 4 familles de PC (Desktop, Laptop, Serveur, Tablette).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3589020"/>
            <a:ext cx="402336" cy="402336"/>
          </a:xfrm>
          <a:prstGeom prst="rect">
            <a:avLst/>
          </a:prstGeom>
          <a:solidFill>
            <a:srgbClr val="FFFFFF"/>
          </a:solidFill>
          <a:ln w="25400">
            <a:solidFill>
              <a:srgbClr val="6CC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4048" y="355244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CC24A"/>
                </a:solidFill>
              </a:rPr>
              <a:t>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" y="3552444"/>
            <a:ext cx="10890504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3607308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</a:rPr>
              <a:t>Je connais et utilise les 5 questions de diagnostic avant toute intervention.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4197096"/>
            <a:ext cx="402336" cy="402336"/>
          </a:xfrm>
          <a:prstGeom prst="rect">
            <a:avLst/>
          </a:prstGeom>
          <a:solidFill>
            <a:srgbClr val="FFFFFF"/>
          </a:solidFill>
          <a:ln w="25400">
            <a:solidFill>
              <a:srgbClr val="6CC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84048" y="416052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CC24A"/>
                </a:solidFill>
              </a:rPr>
              <a:t>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" y="4160520"/>
            <a:ext cx="10890504" cy="4754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5840" y="4215383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J'ai installé VirtualBox et créé une VM Windows 11 fonctionnelle avec snapshot.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4805172"/>
            <a:ext cx="402336" cy="402336"/>
          </a:xfrm>
          <a:prstGeom prst="rect">
            <a:avLst/>
          </a:prstGeom>
          <a:solidFill>
            <a:srgbClr val="FFFFFF"/>
          </a:solidFill>
          <a:ln w="25400">
            <a:solidFill>
              <a:srgbClr val="6CC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84048" y="4768596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CC24A"/>
                </a:solidFill>
              </a:rPr>
              <a:t>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6112" y="4768596"/>
            <a:ext cx="10890504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05840" y="4823460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</a:rPr>
              <a:t>J'ai utilisé CPU-Z pour identifier CPU, RAM (type + MHz + dual channel ?), carte mère.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" y="5413248"/>
            <a:ext cx="402336" cy="402336"/>
          </a:xfrm>
          <a:prstGeom prst="rect">
            <a:avLst/>
          </a:prstGeom>
          <a:solidFill>
            <a:srgbClr val="FFFFFF"/>
          </a:solidFill>
          <a:ln w="25400">
            <a:solidFill>
              <a:srgbClr val="6CC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84048" y="537667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CC24A"/>
                </a:solidFill>
              </a:rPr>
              <a:t>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6112" y="5376672"/>
            <a:ext cx="10890504" cy="4754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05840" y="5431536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Je connais les 18 termes du vocabulaire essentiel de cette séance.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4048" y="6021324"/>
            <a:ext cx="402336" cy="402336"/>
          </a:xfrm>
          <a:prstGeom prst="rect">
            <a:avLst/>
          </a:prstGeom>
          <a:solidFill>
            <a:srgbClr val="FFFFFF"/>
          </a:solidFill>
          <a:ln w="25400">
            <a:solidFill>
              <a:srgbClr val="6CC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84048" y="598474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CC24A"/>
                </a:solidFill>
              </a:rPr>
              <a:t>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6112" y="5984748"/>
            <a:ext cx="10890504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05840" y="6039612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</a:rPr>
              <a:t>Je distingue N1 et N2 et comprends mon positionnement actuel dans la formation.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4048" y="6492240"/>
            <a:ext cx="11420856" cy="256032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84048" y="6492240"/>
            <a:ext cx="11420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FIN DE LA SÉANCE 1 — Cocher chaque point avec votre formateur avant de terminer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3441</TotalTime>
  <Words>2850</Words>
  <Application>Microsoft Office PowerPoint</Application>
  <PresentationFormat>Personnalisé</PresentationFormat>
  <Paragraphs>541</Paragraphs>
  <Slides>22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3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Chafik Moustaid</cp:lastModifiedBy>
  <cp:revision>5</cp:revision>
  <dcterms:created xsi:type="dcterms:W3CDTF">2013-01-27T09:14:16Z</dcterms:created>
  <dcterms:modified xsi:type="dcterms:W3CDTF">2026-07-07T02:34:24Z</dcterms:modified>
  <cp:category/>
</cp:coreProperties>
</file>