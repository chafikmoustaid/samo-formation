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0" d="100"/>
          <a:sy n="120" d="100"/>
        </p:scale>
        <p:origin x="-198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620A1D-39BF-4455-8A92-B7F11EFFEA1C}" type="datetimeFigureOut">
              <a:rPr lang="fr-CA" smtClean="0"/>
              <a:t>2026-07-06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D54C9-6465-486B-A455-6A366D83FD88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39334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09344" y="502920"/>
            <a:ext cx="768096" cy="768096"/>
          </a:xfrm>
          <a:prstGeom prst="ellipse">
            <a:avLst/>
          </a:prstGeom>
          <a:solidFill>
            <a:srgbClr val="1F6B4A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36" y="66751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6152" y="1307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Observateur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216152" y="15453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système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3657600" y="502920"/>
            <a:ext cx="768096" cy="768096"/>
          </a:xfrm>
          <a:prstGeom prst="ellipse">
            <a:avLst/>
          </a:prstGeom>
          <a:solidFill>
            <a:srgbClr val="1F6B4A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2" y="667512"/>
            <a:ext cx="438912" cy="4389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4408" y="1307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BSOD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3264408" y="15453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d'arrêt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5705856" y="502920"/>
            <a:ext cx="768096" cy="768096"/>
          </a:xfrm>
          <a:prstGeom prst="ellipse">
            <a:avLst/>
          </a:prstGeom>
          <a:solidFill>
            <a:srgbClr val="1F6B4A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667512"/>
            <a:ext cx="438912" cy="4389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12664" y="1307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SFC / DISM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5312664" y="15453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Réparation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7754112" y="502920"/>
            <a:ext cx="768096" cy="768096"/>
          </a:xfrm>
          <a:prstGeom prst="ellipse">
            <a:avLst/>
          </a:prstGeom>
          <a:solidFill>
            <a:srgbClr val="1F6B4A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04" y="667512"/>
            <a:ext cx="438912" cy="4389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60920" y="1307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MemTest86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7360920" y="15453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RAM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9802368" y="502920"/>
            <a:ext cx="768096" cy="768096"/>
          </a:xfrm>
          <a:prstGeom prst="ellipse">
            <a:avLst/>
          </a:prstGeom>
          <a:solidFill>
            <a:srgbClr val="1F6B4A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960" y="667512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409176" y="1307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WinRE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9409176" y="15453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</a:t>
            </a:r>
            <a:endParaRPr lang="en-US" sz="850" dirty="0"/>
          </a:p>
        </p:txBody>
      </p:sp>
      <p:sp>
        <p:nvSpPr>
          <p:cNvPr id="22" name="Text 15"/>
          <p:cNvSpPr/>
          <p:nvPr/>
        </p:nvSpPr>
        <p:spPr>
          <a:xfrm>
            <a:off x="822960" y="23317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Avancé</a:t>
            </a:r>
            <a:endParaRPr lang="en-US" sz="4600" dirty="0"/>
          </a:p>
        </p:txBody>
      </p:sp>
      <p:sp>
        <p:nvSpPr>
          <p:cNvPr id="23" name="Text 16"/>
          <p:cNvSpPr/>
          <p:nvPr/>
        </p:nvSpPr>
        <p:spPr>
          <a:xfrm>
            <a:off x="822960" y="30632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3FD1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</a:t>
            </a:r>
            <a:endParaRPr lang="en-US" sz="4600" dirty="0"/>
          </a:p>
        </p:txBody>
      </p:sp>
      <p:sp>
        <p:nvSpPr>
          <p:cNvPr id="24" name="Text 17"/>
          <p:cNvSpPr/>
          <p:nvPr/>
        </p:nvSpPr>
        <p:spPr>
          <a:xfrm>
            <a:off x="822960" y="4069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10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OBSERVATEUR · BSOD · SFC/DISM · MEMTEST86 · WHOCRASHED · WINRE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822960" y="4617720"/>
            <a:ext cx="11064240" cy="9144"/>
          </a:xfrm>
          <a:prstGeom prst="rect">
            <a:avLst/>
          </a:prstGeom>
          <a:solidFill>
            <a:srgbClr val="D6E2DC"/>
          </a:solidFill>
          <a:ln/>
        </p:spPr>
      </p:sp>
      <p:sp>
        <p:nvSpPr>
          <p:cNvPr id="26" name="Text 19"/>
          <p:cNvSpPr/>
          <p:nvPr/>
        </p:nvSpPr>
        <p:spPr>
          <a:xfrm>
            <a:off x="822960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13 / 15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7711135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· Juin 2026</a:t>
            </a:r>
            <a:endParaRPr lang="en-US" sz="1200" dirty="0"/>
          </a:p>
        </p:txBody>
      </p:sp>
      <p:sp>
        <p:nvSpPr>
          <p:cNvPr id="28" name="Text 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13 — Diagnostic Avancé Windows</a:t>
            </a:r>
            <a:endParaRPr lang="en-US" sz="900" dirty="0"/>
          </a:p>
        </p:txBody>
      </p:sp>
      <p:sp>
        <p:nvSpPr>
          <p:cNvPr id="29" name="Text 1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30" name="Text 2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31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HeaderLogo" descr="samo_logo_head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33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13 — Diagnostic Avancé Windows</a:t>
            </a:r>
          </a:p>
        </p:txBody>
      </p:sp>
      <p:sp>
        <p:nvSpPr>
          <p:cNvPr id="34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5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13 — Diagnostic Avancé Windows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Chaque crash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3FD1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laisse une trace.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2743200" cy="9144"/>
          </a:xfrm>
          <a:prstGeom prst="rect">
            <a:avLst/>
          </a:prstGeom>
          <a:solidFill>
            <a:srgbClr val="D6E2D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34340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L'Observateur d'événements, les fichiers .dmp, SFC — tout est écrit quelque part par Windows.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diagnostic avancé, c'est apprendre à lire ce que Windows a déjà consigné, plutôt que de deviner. Cette séance vous rend capable de remonter d'un symptôme flou à une cause précise.</a:t>
            </a:r>
            <a:endParaRPr lang="en-US" sz="1500" dirty="0"/>
          </a:p>
        </p:txBody>
      </p:sp>
      <p:sp>
        <p:nvSpPr>
          <p:cNvPr id="9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1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13 — Diagnostic Avancé Windows</a:t>
            </a:r>
          </a:p>
        </p:txBody>
      </p:sp>
      <p:sp>
        <p:nvSpPr>
          <p:cNvPr id="12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13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13 — Diagnostic Avancé Windows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 programme — 4 heures, 6 blocs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1F252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Observateur d'événements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Journaux · Niveaux de gravité · Filtrage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1F2528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BSOD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1828800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Anatomie · Codes d'arrêt · WhoCrashed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090672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1F2528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22783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SFC &amp; DISM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3639312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de réparation · Interprétation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3090672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1F2528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322783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RAM &amp; MemTest86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3639312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hors Windows · Interprétation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901184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1F2528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03834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Mode sans échec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5449824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· Cas d'usage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4901184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1F2528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503834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WinRE avancé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5449824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bootrec · Fichiers dump · Options</a:t>
            </a:r>
            <a:endParaRPr lang="en-US" sz="1150" dirty="0"/>
          </a:p>
        </p:txBody>
      </p:sp>
      <p:sp>
        <p:nvSpPr>
          <p:cNvPr id="24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6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13 — Diagnostic Avancé Windows</a:t>
            </a:r>
          </a:p>
        </p:txBody>
      </p:sp>
      <p:sp>
        <p:nvSpPr>
          <p:cNvPr id="27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8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diagnostic avancé — Lire les traces plutôt que deviner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6E2D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13 — Diagnostic Avancé Windows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4EEE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de base (N1)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Redémarrer, vérifier les câbles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le symptôme visible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une solution connue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580644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Suffit pour 80 % des cas courants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4EEE7"/>
          </a:solidFill>
          <a:ln/>
        </p:spPr>
      </p:sp>
      <p:sp>
        <p:nvSpPr>
          <p:cNvPr id="13" name="Text 11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avancé (N2)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les journaux système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un code d'erreur précis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Isoler la cause avec un outil dédié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11040" y="580644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Nécessaire quand le symptôme ne suffit pas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4EEE7"/>
          </a:solidFill>
          <a:ln/>
        </p:spPr>
      </p:sp>
      <p:sp>
        <p:nvSpPr>
          <p:cNvPr id="17" name="Text 15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directeur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documente presque tout ce qui plante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.dmp contient le nom du coupable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technicien N2 sait où chercher la preuve</a:t>
            </a:r>
            <a:endParaRPr lang="en-US" sz="1150" dirty="0"/>
          </a:p>
        </p:txBody>
      </p:sp>
      <p:sp>
        <p:nvSpPr>
          <p:cNvPr id="19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1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13 — Diagnostic Avancé Windows</a:t>
            </a:r>
          </a:p>
        </p:txBody>
      </p:sp>
      <p:sp>
        <p:nvSpPr>
          <p:cNvPr id="22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3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DE BORD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Observateur d'événements — Naviguer et filtrer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6E2D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13 — Diagnostic Avancé Windows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1F6B4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7830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l'outil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07568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Win+X → Observateur d'événements → Journaux Windows → Système.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365760" cy="365760"/>
          </a:xfrm>
          <a:prstGeom prst="ellipse">
            <a:avLst/>
          </a:prstGeom>
          <a:solidFill>
            <a:srgbClr val="1F6B4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2461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par gravité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353872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par « Critique + Erreur » sur les dernières 24 heures.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365760" cy="365760"/>
          </a:xfrm>
          <a:prstGeom prst="ellipse">
            <a:avLst/>
          </a:prstGeom>
          <a:solidFill>
            <a:srgbClr val="1F6B4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7091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Chercher l'heure exacte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500176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positionner autour de l'heure signalée par l'utilisateur.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0" y="13716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de gravité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17920" y="1828800"/>
            <a:ext cx="365760" cy="365760"/>
          </a:xfrm>
          <a:prstGeom prst="ellipse">
            <a:avLst/>
          </a:prstGeom>
          <a:solidFill>
            <a:srgbClr val="1F6B4A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20840" y="17830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0840" y="207568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 brutal du système — toujours investiguer en premier.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3291840"/>
            <a:ext cx="365760" cy="365760"/>
          </a:xfrm>
          <a:prstGeom prst="ellipse">
            <a:avLst/>
          </a:prstGeom>
          <a:solidFill>
            <a:srgbClr val="1F6B4A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20840" y="32461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/ Avertissement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20840" y="353872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= composant planté. Avertissement = à surveiller, pas urgent.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4754880"/>
            <a:ext cx="365760" cy="365760"/>
          </a:xfrm>
          <a:prstGeom prst="ellipse">
            <a:avLst/>
          </a:prstGeom>
          <a:solidFill>
            <a:srgbClr val="1F6B4A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20840" y="47091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20840" y="500176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normaux (démarrage, MàJ) — utile pour confirmer une chronologie.</a:t>
            </a:r>
            <a:endParaRPr lang="en-US" sz="1050" dirty="0"/>
          </a:p>
        </p:txBody>
      </p:sp>
      <p:sp>
        <p:nvSpPr>
          <p:cNvPr id="34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36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13 — Diagnostic Avancé Windows</a:t>
            </a:r>
          </a:p>
        </p:txBody>
      </p:sp>
      <p:sp>
        <p:nvSpPr>
          <p:cNvPr id="37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8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Observateur d'événements — Repérer un incident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6E2D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13 — Diagnostic Avancé Windows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7315200" cy="4434840"/>
          </a:xfrm>
          <a:prstGeom prst="roundRect">
            <a:avLst>
              <a:gd name="adj" fmla="val 1031"/>
            </a:avLst>
          </a:prstGeom>
          <a:solidFill>
            <a:srgbClr val="E4EEE7"/>
          </a:solidFill>
          <a:ln w="12700">
            <a:solidFill>
              <a:srgbClr val="D6E2D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4864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Capture d'écran 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352044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1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Insérer ici : capture de l'Observateur d'événements filtré sur Critique + Erreur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52120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1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droit sur cette zone → Modifier l'image → choisir votre capture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183880" y="13716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 à repérer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183880" y="1783080"/>
            <a:ext cx="3429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 Niveau : identifier rapidement la gravité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 Date et heure : corréler avec le symptôme signalé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 Source : identifie le composant en cause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 Détails : ID d'événement pour rechercher en ligne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83880" y="4663440"/>
            <a:ext cx="3429000" cy="1097280"/>
          </a:xfrm>
          <a:prstGeom prst="roundRect">
            <a:avLst>
              <a:gd name="adj" fmla="val 4167"/>
            </a:avLst>
          </a:prstGeom>
          <a:solidFill>
            <a:srgbClr val="1F6B4A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47548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l'ID d'événement exact (ex : Event ID 41) sur le site Microsoft pour une explication officielle.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1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eventvwr.msc pour un accès direct</a:t>
            </a:r>
            <a:endParaRPr lang="en-US" sz="1050" dirty="0"/>
          </a:p>
        </p:txBody>
      </p:sp>
      <p:pic>
        <p:nvPicPr>
          <p:cNvPr id="1026" name="Picture 2" descr="PC Astuces - L'Observateur d'événemen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" y="1339611"/>
            <a:ext cx="7315199" cy="4466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028" name="HeaderLogo" descr="samo_logo_hea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02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13 — Diagnostic Avancé Windows</a:t>
            </a:r>
          </a:p>
        </p:txBody>
      </p:sp>
      <p:sp>
        <p:nvSpPr>
          <p:cNvPr id="103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103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ANATOMIE D'UN CRASH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Comprendre un BSOD — Ce que l'écran bleu vous dit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6E2D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13 — Diagnostic Avancé Windows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4EEE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d'arrêt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en majuscules type IRQL_NOT_LESS_OR_EQUAL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 une famille de cause précise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noter le code exact avant de redémarrer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4EEE7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concerné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Souvent un pilote (.sys) est nommé à l'écran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fichier pointe directement vers le coupable probable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ce pilote pour une mise à jour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4EEE7"/>
          </a:solidFill>
          <a:ln/>
        </p:spPr>
      </p:sp>
      <p:sp>
        <p:nvSpPr>
          <p:cNvPr id="15" name="Text 13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QR code / adresse mémoire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Détails techniques pour analyse approfondie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utile sans outil d'analyse de dump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WhoCrashed traduit cela automatiquement</a:t>
            </a:r>
            <a:endParaRPr lang="en-US" sz="1150" dirty="0"/>
          </a:p>
        </p:txBody>
      </p:sp>
      <p:sp>
        <p:nvSpPr>
          <p:cNvPr id="1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13 — Diagnostic Avancé Windows</a:t>
            </a:r>
          </a:p>
        </p:txBody>
      </p:sp>
      <p:sp>
        <p:nvSpPr>
          <p:cNvPr id="2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BSOD — Décoder le code et identifier la cause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6E2D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13 — Diagnostic Avancé Windows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2743200"/>
        </p:xfrm>
        <a:graphic>
          <a:graphicData uri="http://schemas.openxmlformats.org/drawingml/2006/table">
            <a:tbl>
              <a:tblPr/>
              <a:tblGrid>
                <a:gridCol w="3291840"/>
                <a:gridCol w="3566160"/>
                <a:gridCol w="420624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Code d'arrêt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Cause probable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Premier test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B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4181A"/>
                          </a:solidFill>
                        </a:rPr>
                        <a:t>IRQL_NOT_LESS_OR_EQUAL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4181A"/>
                          </a:solidFill>
                        </a:rPr>
                        <a:t>RAM ou driver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4181A"/>
                          </a:solidFill>
                        </a:rPr>
                        <a:t>MemTest86 + mise à jour des pilotes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4181A"/>
                          </a:solidFill>
                        </a:rPr>
                        <a:t>MEMORY_MANAGEMENT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4181A"/>
                          </a:solidFill>
                        </a:rPr>
                        <a:t>RAM défectueuse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4181A"/>
                          </a:solidFill>
                        </a:rPr>
                        <a:t>MemTest86 — 2 passes minimum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4181A"/>
                          </a:solidFill>
                        </a:rPr>
                        <a:t>CRITICAL_PROCESS_DIED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4181A"/>
                          </a:solidFill>
                        </a:rPr>
                        <a:t>Fichiers Windows corrompus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4181A"/>
                          </a:solidFill>
                        </a:rPr>
                        <a:t>SFC /scannow + DISM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4181A"/>
                          </a:solidFill>
                        </a:rPr>
                        <a:t>SYSTEM_SERVICE_EXCEPTION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4181A"/>
                          </a:solidFill>
                        </a:rPr>
                        <a:t>Driver tiers planté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4181A"/>
                          </a:solidFill>
                        </a:rPr>
                        <a:t>Mode sans échec + WhoCrashed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4181A"/>
                          </a:solidFill>
                        </a:rPr>
                        <a:t>INACCESSIBLE_BOOT_DEVICE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4181A"/>
                          </a:solidFill>
                        </a:rPr>
                        <a:t>Disque ou partition inaccessible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4181A"/>
                          </a:solidFill>
                        </a:rPr>
                        <a:t>WinRE + réparation du démarrage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E7"/>
                    </a:solidFill>
                  </a:tcPr>
                </a:tc>
              </a:tr>
            </a:tbl>
          </a:graphicData>
        </a:graphic>
      </p:graphicFrame>
      <p:sp>
        <p:nvSpPr>
          <p:cNvPr id="8" name="Text 6"/>
          <p:cNvSpPr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1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dump : C:\Windows\Minidump\ · WhoCrashed gratuit sur resplendence.com</a:t>
            </a:r>
            <a:endParaRPr lang="en-US" sz="1050" dirty="0"/>
          </a:p>
        </p:txBody>
      </p:sp>
      <p:sp>
        <p:nvSpPr>
          <p:cNvPr id="10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2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13 — Diagnostic Avancé Windows</a:t>
            </a:r>
          </a:p>
        </p:txBody>
      </p:sp>
      <p:sp>
        <p:nvSpPr>
          <p:cNvPr id="13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14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AUTOMATIQUE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WhoCrashed — Identifier le driver responsable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6E2D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13 — Diagnostic Avancé Windows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7315200" cy="4434840"/>
          </a:xfrm>
          <a:prstGeom prst="roundRect">
            <a:avLst>
              <a:gd name="adj" fmla="val 1031"/>
            </a:avLst>
          </a:prstGeom>
          <a:solidFill>
            <a:srgbClr val="E4EEE7"/>
          </a:solidFill>
          <a:ln w="12700">
            <a:solidFill>
              <a:srgbClr val="D6E2D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4864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Capture d'écran 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352044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1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Insérer ici : capture WhoCrashed après analyse d'un fichier .dmp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52120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1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droit sur cette zone → Modifier l'image → choisir votre capture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183880" y="13716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 à repérer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183880" y="1783080"/>
            <a:ext cx="3429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automatique des fichiers dans Minidump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Nomme directement le pilote suspecté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Indique la probabilité de causalité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vers plus de détails techniques si besoin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83880" y="4663440"/>
            <a:ext cx="3429000" cy="1097280"/>
          </a:xfrm>
          <a:prstGeom prst="roundRect">
            <a:avLst>
              <a:gd name="adj" fmla="val 4167"/>
            </a:avLst>
          </a:prstGeom>
          <a:solidFill>
            <a:srgbClr val="1F6B4A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47548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WhoCrashed pointe un driver tiers (GPU, réseau, périphérique), mettre à jour ou réinstaller ce pilote en premier.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1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resplendence.com — version gratuite suffisante pour le diagnostic de base</a:t>
            </a:r>
            <a:endParaRPr lang="en-US" sz="1050" dirty="0"/>
          </a:p>
        </p:txBody>
      </p:sp>
      <p:pic>
        <p:nvPicPr>
          <p:cNvPr id="2050" name="Picture 2" descr="Comment lire et interpréter un fichier DMP de Windows suite à un crash ou  écran bleu - Lecoindune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" y="1371600"/>
            <a:ext cx="7315200" cy="4434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1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052" name="HeaderLogo" descr="samo_logo_hea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053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13 — Diagnostic Avancé Windows</a:t>
            </a:r>
          </a:p>
        </p:txBody>
      </p:sp>
      <p:sp>
        <p:nvSpPr>
          <p:cNvPr id="2054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055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ARSENAL DE RÉPARATION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SFC · DISM · Mode sans échec — L'ordre à respecter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6E2D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13 — Diagnostic Avancé Windows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1F6B4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37160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SFC — System File Checker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1664208"/>
            <a:ext cx="9692640" cy="880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sfc /scannow — toujours en premier.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744200" y="137160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5-15 min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617470"/>
            <a:ext cx="365760" cy="365760"/>
          </a:xfrm>
          <a:prstGeom prst="ellipse">
            <a:avLst/>
          </a:prstGeom>
          <a:solidFill>
            <a:srgbClr val="1F6B4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1747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57175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 — Deployment Imaging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864358"/>
            <a:ext cx="9692640" cy="880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 /online /cleanup-image /restorehealth — si SFC signale des erreurs non réparées.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744200" y="257175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15-30 min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817620"/>
            <a:ext cx="365760" cy="365760"/>
          </a:xfrm>
          <a:prstGeom prst="ellipse">
            <a:avLst/>
          </a:prstGeom>
          <a:solidFill>
            <a:srgbClr val="1F6B4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8176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77190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sans échec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4064508"/>
            <a:ext cx="9692640" cy="880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+ Redémarrer → F4 — si le BSOD vient d'un driver tiers.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744200" y="377190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Immédiat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5017770"/>
            <a:ext cx="365760" cy="365760"/>
          </a:xfrm>
          <a:prstGeom prst="ellipse">
            <a:avLst/>
          </a:prstGeom>
          <a:solidFill>
            <a:srgbClr val="1F6B4A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01777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497205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MemTest86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5264658"/>
            <a:ext cx="9692640" cy="880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USB bootable depuis memtest86.com — si le BSOD est de type RAM.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744200" y="497205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30-90 min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1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administrateur requis pour SFC et DISM · Toujours relancer SFC une dernière fois après DISM</a:t>
            </a:r>
            <a:endParaRPr lang="en-US" sz="1050" dirty="0"/>
          </a:p>
        </p:txBody>
      </p:sp>
      <p:sp>
        <p:nvSpPr>
          <p:cNvPr id="29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31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13 — Diagnostic Avancé Windows</a:t>
            </a:r>
          </a:p>
        </p:txBody>
      </p:sp>
      <p:sp>
        <p:nvSpPr>
          <p:cNvPr id="32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3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RÉPARATION APPROFONDIE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SFC et DISM — Interpréter les résultats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6E2D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13 — Diagnostic Avancé Windows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4EEE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SFC — résultats possibles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violation trouvée → système sain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trouvées et réparées → redémarrer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trouvées, non réparées → passer à DISM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4EEE7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 — sources d'image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défaut, utilise Windows Update comme source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Internet : spécifier une source ISO locale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/Source:WIM:D:\sources\install.wim:1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4EEE7"/>
          </a:solidFill>
          <a:ln/>
        </p:spPr>
      </p:sp>
      <p:sp>
        <p:nvSpPr>
          <p:cNvPr id="15" name="Text 13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réparation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Relancer sfc /scannow une dernière fois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Redémarrer et confirmer la disparition du symptôme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les erreurs trouvées dans le rapport</a:t>
            </a:r>
            <a:endParaRPr lang="en-US" sz="1150" dirty="0"/>
          </a:p>
        </p:txBody>
      </p:sp>
      <p:sp>
        <p:nvSpPr>
          <p:cNvPr id="1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13 — Diagnostic Avancé Windows</a:t>
            </a:r>
          </a:p>
        </p:txBody>
      </p:sp>
      <p:sp>
        <p:nvSpPr>
          <p:cNvPr id="2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SANS ÉCHEC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sans échec — Les 3 variantes et leur usage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6E2D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13 — Diagnostic Avancé Windows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4EEE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sans échec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Pilotes et services minimaux uniquement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Isoler si un driver tiers cause le problème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F4 depuis les options avancées WinRE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4EEE7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sans échec avec réseau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Identique + pilotes réseau activés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pour télécharger un correctif ou un pilote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F5 depuis les options avancées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4EEE7"/>
          </a:solidFill>
          <a:ln/>
        </p:spPr>
      </p:sp>
      <p:sp>
        <p:nvSpPr>
          <p:cNvPr id="15" name="Text 13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sans échec avec invite de commandes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CMD, pas d'interface graphique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pour des réparations en ligne de commande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F6 depuis les options avancées</a:t>
            </a:r>
            <a:endParaRPr lang="en-US" sz="1150" dirty="0"/>
          </a:p>
        </p:txBody>
      </p:sp>
      <p:sp>
        <p:nvSpPr>
          <p:cNvPr id="1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13 — Diagnostic Avancé Windows</a:t>
            </a:r>
          </a:p>
        </p:txBody>
      </p:sp>
      <p:sp>
        <p:nvSpPr>
          <p:cNvPr id="2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MATÉRIEL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MemTest86 — Procédure complète de diagnostic RAM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6E2D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13 — Diagnostic Avancé Windows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1F6B4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37160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 l'image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16642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memtest86.com → télécharger la version bootable USB.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365760" cy="365760"/>
          </a:xfrm>
          <a:prstGeom prst="ellipse">
            <a:avLst/>
          </a:prstGeom>
          <a:solidFill>
            <a:srgbClr val="1F6B4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33172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la clé USB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62432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l'outil fourni pour rendre la clé USB bootable.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365760" cy="365760"/>
          </a:xfrm>
          <a:prstGeom prst="ellipse">
            <a:avLst/>
          </a:prstGeom>
          <a:solidFill>
            <a:srgbClr val="1F6B4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29184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dessus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58444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Redémarrer le PC et sélectionner la clé USB dans le menu de boot.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365760" cy="365760"/>
          </a:xfrm>
          <a:prstGeom prst="ellipse">
            <a:avLst/>
          </a:prstGeom>
          <a:solidFill>
            <a:srgbClr val="1F6B4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25196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2 passes minimum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454456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Laisser tourner au moins 2 passes complètes — plusieurs heures possibles.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365760" cy="365760"/>
          </a:xfrm>
          <a:prstGeom prst="ellipse">
            <a:avLst/>
          </a:prstGeom>
          <a:solidFill>
            <a:srgbClr val="1F6B4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257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521208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550468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erreur = RAM saine. Toute erreur rouge = barrette à remplacer.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1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rapide intégrée à Windows : mdsched.exe (Diagnostic de la mémoire Windows)</a:t>
            </a:r>
            <a:endParaRPr lang="en-US" sz="1050" dirty="0"/>
          </a:p>
        </p:txBody>
      </p:sp>
      <p:sp>
        <p:nvSpPr>
          <p:cNvPr id="29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31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13 — Diagnostic Avancé Windows</a:t>
            </a:r>
          </a:p>
        </p:txBody>
      </p:sp>
      <p:sp>
        <p:nvSpPr>
          <p:cNvPr id="32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3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URGENCE SYSTÈME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WinRE — Quand Windows ne démarre plus du tout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6E2D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13 — Diagnostic Avancé Windows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1F6B4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37160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Réparation au démarrage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1664208"/>
            <a:ext cx="9692640" cy="880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tente une réparation automatique — toujours en premier.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744200" y="137160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min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617470"/>
            <a:ext cx="365760" cy="365760"/>
          </a:xfrm>
          <a:prstGeom prst="ellipse">
            <a:avLst/>
          </a:prstGeom>
          <a:solidFill>
            <a:srgbClr val="1F6B4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1747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57175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Restauration système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864358"/>
            <a:ext cx="9692640" cy="880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à un point de restauration, sans perdre les fichiers.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744200" y="257175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817620"/>
            <a:ext cx="365760" cy="365760"/>
          </a:xfrm>
          <a:prstGeom prst="ellipse">
            <a:avLst/>
          </a:prstGeom>
          <a:solidFill>
            <a:srgbClr val="1F6B4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8176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77190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de commandes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4064508"/>
            <a:ext cx="9692640" cy="880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bootrec /fixmbr · bootrec /fixboot · bootrec /rebuildbcd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744200" y="377190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5017770"/>
            <a:ext cx="365760" cy="365760"/>
          </a:xfrm>
          <a:prstGeom prst="ellipse">
            <a:avLst/>
          </a:prstGeom>
          <a:solidFill>
            <a:srgbClr val="1F6B4A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01777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497205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Réinitialiser ce PC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5264658"/>
            <a:ext cx="9692640" cy="880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1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« Conserver mes fichiers » — réinstalle Windows proprement.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744200" y="497205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30-60 min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1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 pendant le démarrage OU Shift+Redémarrer → Options avancées → WinRE</a:t>
            </a:r>
            <a:endParaRPr lang="en-US" sz="1050" dirty="0"/>
          </a:p>
        </p:txBody>
      </p:sp>
      <p:sp>
        <p:nvSpPr>
          <p:cNvPr id="29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31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13 — Diagnostic Avancé Windows</a:t>
            </a:r>
          </a:p>
        </p:txBody>
      </p:sp>
      <p:sp>
        <p:nvSpPr>
          <p:cNvPr id="32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3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DE CRASH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Fichiers dump — Types et emplacement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6E2D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13 — Diagnostic Avancé Windows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4EEE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dump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 fichier (~256 Ko), créé par défaut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C:\Windows\Minidump\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Suffisant pour WhoCrashed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4EEE7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dump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 la mémoire utilisée par le noyau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volumineux, plus d'informations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C:\Windows\MEMORY.DMP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4EEE7"/>
          </a:solidFill>
          <a:ln/>
        </p:spPr>
      </p:sp>
      <p:sp>
        <p:nvSpPr>
          <p:cNvPr id="15" name="Text 13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 complet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complète de la RAM au moment du crash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Réservé aux cas très complexes / support Microsoft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Nécessite beaucoup d'espace disque libre</a:t>
            </a:r>
            <a:endParaRPr lang="en-US" sz="1150" dirty="0"/>
          </a:p>
        </p:txBody>
      </p:sp>
      <p:sp>
        <p:nvSpPr>
          <p:cNvPr id="1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13 — Diagnostic Avancé Windows</a:t>
            </a:r>
          </a:p>
        </p:txBody>
      </p:sp>
      <p:sp>
        <p:nvSpPr>
          <p:cNvPr id="2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Erreurs fréquentes en diagnostic avancé — À éviter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6E2D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13 — Diagnostic Avancé Windows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4EEE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Précipitation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Réinstaller Windows avant d'avoir consulté les journaux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plusieurs composants à la fois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Ignorer le code d'arrêt exact du BSOD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4EEE7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 ordre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DISM avant SFC sans raison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la RAM avant de vérifier les logiciels/pilotes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Réinitialiser le PC sans sauvegarder d'abord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4EEE7"/>
          </a:solidFill>
          <a:ln/>
        </p:spPr>
      </p:sp>
      <p:sp>
        <p:nvSpPr>
          <p:cNvPr id="15" name="Text 13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noter le code d'erreur avant de redémarrer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Oublier de documenter les outils utilisés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indiquer si le problème est réellement résolu</a:t>
            </a:r>
            <a:endParaRPr lang="en-US" sz="1150" dirty="0"/>
          </a:p>
        </p:txBody>
      </p:sp>
      <p:sp>
        <p:nvSpPr>
          <p:cNvPr id="1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13 — Diagnostic Avancé Windows</a:t>
            </a:r>
          </a:p>
        </p:txBody>
      </p:sp>
      <p:sp>
        <p:nvSpPr>
          <p:cNvPr id="2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 escalader un diagnostic N1 vers N2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6E2D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13 — Diagnostic Avancé Windows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4EEE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Rester en N1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 résolu par redémarrage ou solution connue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identifiée en moins de 15 minutes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BSOD, aucun fichier dump à analyser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4EEE7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Escalader vers N2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BSOD récurrent malgré une première tentative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SFC/DISM ne résolvent pas le problème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probable = matériel (RAM, disque, carte mère)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4EEE7"/>
          </a:solidFill>
          <a:ln/>
        </p:spPr>
      </p:sp>
      <p:sp>
        <p:nvSpPr>
          <p:cNvPr id="15" name="Text 13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transmettre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d'arrêt exact et fréquence des crashs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déjà tentées et résultats obtenus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.dmp le plus récent si disponible</a:t>
            </a:r>
            <a:endParaRPr lang="en-US" sz="1150" dirty="0"/>
          </a:p>
        </p:txBody>
      </p:sp>
      <p:sp>
        <p:nvSpPr>
          <p:cNvPr id="1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13 — Diagnostic Avancé Windows</a:t>
            </a:r>
          </a:p>
        </p:txBody>
      </p:sp>
      <p:sp>
        <p:nvSpPr>
          <p:cNvPr id="2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PRATIQUE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 pratiques — Séance 13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6E2D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13 — Diagnostic Avancé Windows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3505200" cy="4983480"/>
          </a:xfrm>
          <a:prstGeom prst="roundRect">
            <a:avLst>
              <a:gd name="adj" fmla="val 1304"/>
            </a:avLst>
          </a:prstGeom>
          <a:solidFill>
            <a:srgbClr val="E4EEE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08760"/>
            <a:ext cx="313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1 — Hélène, ex-esthéticienne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13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BSOD répété avec le code MEMORY_MANAGEMENT depuis l'installation d'une nouvelle barrette RAM.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31394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utiliser en priorité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passes minimum lancer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faire si une erreur apparaît 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5806440"/>
            <a:ext cx="313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MemTest86 → 2 passes → remplacer la barrette fautive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28160" y="1371600"/>
            <a:ext cx="3505200" cy="4983480"/>
          </a:xfrm>
          <a:prstGeom prst="roundRect">
            <a:avLst>
              <a:gd name="adj" fmla="val 1304"/>
            </a:avLst>
          </a:prstGeom>
          <a:solidFill>
            <a:srgbClr val="E4EEE7"/>
          </a:solidFill>
          <a:ln/>
        </p:spPr>
      </p:sp>
      <p:sp>
        <p:nvSpPr>
          <p:cNvPr id="14" name="Text 12"/>
          <p:cNvSpPr/>
          <p:nvPr/>
        </p:nvSpPr>
        <p:spPr>
          <a:xfrm>
            <a:off x="4511040" y="1508760"/>
            <a:ext cx="313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2 — Bruno, ex-chauffeur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11040" y="1920240"/>
            <a:ext cx="313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PC freeze aléatoirement sans BSOD, aucun symptôme visible avant le gel complet.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11040" y="2880360"/>
            <a:ext cx="31394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chercher en premier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niveaux de gravité filtrer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prochaine étape si rien n'est trouvé 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11040" y="5806440"/>
            <a:ext cx="313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Observateur d'événements → Critique+Erreur → corréler l'heure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07680" y="1371600"/>
            <a:ext cx="3505200" cy="4983480"/>
          </a:xfrm>
          <a:prstGeom prst="roundRect">
            <a:avLst>
              <a:gd name="adj" fmla="val 1304"/>
            </a:avLst>
          </a:prstGeom>
          <a:solidFill>
            <a:srgbClr val="E4EEE7"/>
          </a:solidFill>
          <a:ln/>
        </p:spPr>
      </p:sp>
      <p:sp>
        <p:nvSpPr>
          <p:cNvPr id="19" name="Text 17"/>
          <p:cNvSpPr/>
          <p:nvPr/>
        </p:nvSpPr>
        <p:spPr>
          <a:xfrm>
            <a:off x="8290560" y="1508760"/>
            <a:ext cx="313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3 — Karine, ex-hôtesse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90560" y="1920240"/>
            <a:ext cx="313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 échoue avec une erreur de source lors d'une tentative de réparation, pas d'accès Internet.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90560" y="2880360"/>
            <a:ext cx="31394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DISM échoue-t-il probablement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solution alternative existe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faire si aucune image n'est disponible 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90560" y="5806440"/>
            <a:ext cx="313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Spécifier une source ISO locale avec /Source:WIM</a:t>
            </a:r>
            <a:endParaRPr lang="en-US" sz="950" dirty="0"/>
          </a:p>
        </p:txBody>
      </p:sp>
      <p:sp>
        <p:nvSpPr>
          <p:cNvPr id="23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5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13 — Diagnostic Avancé Windows</a:t>
            </a:r>
          </a:p>
        </p:txBody>
      </p:sp>
      <p:sp>
        <p:nvSpPr>
          <p:cNvPr id="26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7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13 — Diagnostic Avancé Windows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850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VOCABULAIRE DIAGNOSTIC — 18 termes essentiels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89611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F252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95097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BSOD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22529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Screen of Death — écran bleu d'arrêt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303776" y="89611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F2528"/>
          </a:solidFill>
          <a:ln/>
        </p:spPr>
      </p:sp>
      <p:sp>
        <p:nvSpPr>
          <p:cNvPr id="10" name="Text 8"/>
          <p:cNvSpPr/>
          <p:nvPr/>
        </p:nvSpPr>
        <p:spPr>
          <a:xfrm>
            <a:off x="4440936" y="95097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code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40936" y="122529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identifiant la famille de la panne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058912" y="89611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F2528"/>
          </a:solidFill>
          <a:ln/>
        </p:spPr>
      </p:sp>
      <p:sp>
        <p:nvSpPr>
          <p:cNvPr id="13" name="Text 11"/>
          <p:cNvSpPr/>
          <p:nvPr/>
        </p:nvSpPr>
        <p:spPr>
          <a:xfrm>
            <a:off x="8196072" y="95097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Observateur d'événements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96072" y="122529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centralisé des événements Windows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1850136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F2528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1905000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2179320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 numérique d'un événement précis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03776" y="1850136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F2528"/>
          </a:solidFill>
          <a:ln/>
        </p:spPr>
      </p:sp>
      <p:sp>
        <p:nvSpPr>
          <p:cNvPr id="19" name="Text 17"/>
          <p:cNvSpPr/>
          <p:nvPr/>
        </p:nvSpPr>
        <p:spPr>
          <a:xfrm>
            <a:off x="4440936" y="1905000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SFC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40936" y="2179320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File Checker — vérifie les fichiers système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058912" y="1850136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F2528"/>
          </a:solidFill>
          <a:ln/>
        </p:spPr>
      </p:sp>
      <p:sp>
        <p:nvSpPr>
          <p:cNvPr id="22" name="Text 20"/>
          <p:cNvSpPr/>
          <p:nvPr/>
        </p:nvSpPr>
        <p:spPr>
          <a:xfrm>
            <a:off x="8196072" y="1905000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196072" y="2179320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Répare l'image système Windows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" y="2804160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F2528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2859024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dump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3133344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 fichier de crash pour analyse rapide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03776" y="2804160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F2528"/>
          </a:solidFill>
          <a:ln/>
        </p:spPr>
      </p:sp>
      <p:sp>
        <p:nvSpPr>
          <p:cNvPr id="28" name="Text 26"/>
          <p:cNvSpPr/>
          <p:nvPr/>
        </p:nvSpPr>
        <p:spPr>
          <a:xfrm>
            <a:off x="4440936" y="2859024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WhoCrashed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440936" y="3133344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d'analyse automatique des fichiers dump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058912" y="2804160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F2528"/>
          </a:solidFill>
          <a:ln/>
        </p:spPr>
      </p:sp>
      <p:sp>
        <p:nvSpPr>
          <p:cNvPr id="31" name="Text 29"/>
          <p:cNvSpPr/>
          <p:nvPr/>
        </p:nvSpPr>
        <p:spPr>
          <a:xfrm>
            <a:off x="8196072" y="2859024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MemTest86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96072" y="3133344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bootable de test de la RAM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8640" y="3758184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F2528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3813048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sans échec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85800" y="4087368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 minimal pour isoler un driver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303776" y="3758184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F2528"/>
          </a:solidFill>
          <a:ln/>
        </p:spPr>
      </p:sp>
      <p:sp>
        <p:nvSpPr>
          <p:cNvPr id="37" name="Text 35"/>
          <p:cNvSpPr/>
          <p:nvPr/>
        </p:nvSpPr>
        <p:spPr>
          <a:xfrm>
            <a:off x="4440936" y="3813048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WinRE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440936" y="4087368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de récupération Windows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058912" y="3758184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F2528"/>
          </a:solidFill>
          <a:ln/>
        </p:spPr>
      </p:sp>
      <p:sp>
        <p:nvSpPr>
          <p:cNvPr id="40" name="Text 38"/>
          <p:cNvSpPr/>
          <p:nvPr/>
        </p:nvSpPr>
        <p:spPr>
          <a:xfrm>
            <a:off x="8196072" y="3813048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bootrec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196072" y="4087368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de réparation du démarrage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8640" y="4712208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F2528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4767072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dump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85800" y="5041392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de crash incluant la mémoire noyau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303776" y="4712208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F2528"/>
          </a:solidFill>
          <a:ln/>
        </p:spPr>
      </p:sp>
      <p:sp>
        <p:nvSpPr>
          <p:cNvPr id="46" name="Text 44"/>
          <p:cNvSpPr/>
          <p:nvPr/>
        </p:nvSpPr>
        <p:spPr>
          <a:xfrm>
            <a:off x="4440936" y="4767072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NLA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440936" y="5041392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réseau — sans lien direct ici, à vérifier RDP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058912" y="4712208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F2528"/>
          </a:solidFill>
          <a:ln/>
        </p:spPr>
      </p:sp>
      <p:sp>
        <p:nvSpPr>
          <p:cNvPr id="49" name="Text 47"/>
          <p:cNvSpPr/>
          <p:nvPr/>
        </p:nvSpPr>
        <p:spPr>
          <a:xfrm>
            <a:off x="8196072" y="4767072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tiers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8196072" y="5041392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non fourni par Microsoft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48640" y="566623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F2528"/>
          </a:solidFill>
          <a:ln/>
        </p:spPr>
      </p:sp>
      <p:sp>
        <p:nvSpPr>
          <p:cNvPr id="52" name="Text 50"/>
          <p:cNvSpPr/>
          <p:nvPr/>
        </p:nvSpPr>
        <p:spPr>
          <a:xfrm>
            <a:off x="685800" y="572109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restauration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85800" y="599541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de l'état système Windows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303776" y="566623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F2528"/>
          </a:solidFill>
          <a:ln/>
        </p:spPr>
      </p:sp>
      <p:sp>
        <p:nvSpPr>
          <p:cNvPr id="55" name="Text 53"/>
          <p:cNvSpPr/>
          <p:nvPr/>
        </p:nvSpPr>
        <p:spPr>
          <a:xfrm>
            <a:off x="4440936" y="572109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eventvwr.msc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4440936" y="599541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d'ouverture de l'Observateur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058912" y="566623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1F2528"/>
          </a:solidFill>
          <a:ln/>
        </p:spPr>
      </p:sp>
      <p:sp>
        <p:nvSpPr>
          <p:cNvPr id="58" name="Text 56"/>
          <p:cNvSpPr/>
          <p:nvPr/>
        </p:nvSpPr>
        <p:spPr>
          <a:xfrm>
            <a:off x="8196072" y="572109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Verifier.exe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8196072" y="599541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de vérification approfondie des pilotes</a:t>
            </a:r>
            <a:endParaRPr lang="en-US" sz="850" dirty="0"/>
          </a:p>
        </p:txBody>
      </p:sp>
      <p:sp>
        <p:nvSpPr>
          <p:cNvPr id="60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1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62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13 — Diagnostic Avancé Windows</a:t>
            </a:r>
          </a:p>
        </p:txBody>
      </p:sp>
      <p:sp>
        <p:nvSpPr>
          <p:cNvPr id="63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64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BOÎTE À OUTILS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Commandes et outils — Diagnostic avancé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D6E2D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13 — Diagnostic Avancé Windows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345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1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administrateur requis pour la plupart de ces commandes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394960" cy="1030986"/>
          </a:xfrm>
          <a:prstGeom prst="roundRect">
            <a:avLst>
              <a:gd name="adj" fmla="val 3548"/>
            </a:avLst>
          </a:prstGeom>
          <a:solidFill>
            <a:srgbClr val="0C0F0D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856232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sfc /scannow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2221992"/>
            <a:ext cx="5065776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et réparer les fichiers système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5394960" cy="1030986"/>
          </a:xfrm>
          <a:prstGeom prst="roundRect">
            <a:avLst>
              <a:gd name="adj" fmla="val 3548"/>
            </a:avLst>
          </a:prstGeom>
          <a:solidFill>
            <a:srgbClr val="0C0F0D"/>
          </a:solidFill>
          <a:ln/>
        </p:spPr>
      </p:sp>
      <p:sp>
        <p:nvSpPr>
          <p:cNvPr id="13" name="Text 11"/>
          <p:cNvSpPr/>
          <p:nvPr/>
        </p:nvSpPr>
        <p:spPr>
          <a:xfrm>
            <a:off x="6382512" y="1856232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DISM /Online /Cleanup-Image /RestoreHealth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82512" y="2221992"/>
            <a:ext cx="5065776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Réparer l'image Windows via Windows Update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978658"/>
            <a:ext cx="5394960" cy="1030986"/>
          </a:xfrm>
          <a:prstGeom prst="roundRect">
            <a:avLst>
              <a:gd name="adj" fmla="val 3548"/>
            </a:avLst>
          </a:prstGeom>
          <a:solidFill>
            <a:srgbClr val="0C0F0D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051810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eventvwr.msc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" y="3417570"/>
            <a:ext cx="5065776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l'Observateur d'événements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2978658"/>
            <a:ext cx="5394960" cy="1030986"/>
          </a:xfrm>
          <a:prstGeom prst="roundRect">
            <a:avLst>
              <a:gd name="adj" fmla="val 3548"/>
            </a:avLst>
          </a:prstGeom>
          <a:solidFill>
            <a:srgbClr val="0C0F0D"/>
          </a:solidFill>
          <a:ln/>
        </p:spPr>
      </p:sp>
      <p:sp>
        <p:nvSpPr>
          <p:cNvPr id="19" name="Text 17"/>
          <p:cNvSpPr/>
          <p:nvPr/>
        </p:nvSpPr>
        <p:spPr>
          <a:xfrm>
            <a:off x="6382512" y="3051810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bootrec /fixmbr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82512" y="3417570"/>
            <a:ext cx="5065776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Réparer le secteur de démarrage principal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174236"/>
            <a:ext cx="5394960" cy="1030986"/>
          </a:xfrm>
          <a:prstGeom prst="roundRect">
            <a:avLst>
              <a:gd name="adj" fmla="val 3548"/>
            </a:avLst>
          </a:prstGeom>
          <a:solidFill>
            <a:srgbClr val="0C0F0D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247388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bootrec /rebuildbcd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" y="4613148"/>
            <a:ext cx="5065776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Reconstruire la configuration de démarrage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4174236"/>
            <a:ext cx="5394960" cy="1030986"/>
          </a:xfrm>
          <a:prstGeom prst="roundRect">
            <a:avLst>
              <a:gd name="adj" fmla="val 3548"/>
            </a:avLst>
          </a:prstGeom>
          <a:solidFill>
            <a:srgbClr val="0C0F0D"/>
          </a:solidFill>
          <a:ln/>
        </p:spPr>
      </p:sp>
      <p:sp>
        <p:nvSpPr>
          <p:cNvPr id="25" name="Text 23"/>
          <p:cNvSpPr/>
          <p:nvPr/>
        </p:nvSpPr>
        <p:spPr>
          <a:xfrm>
            <a:off x="6382512" y="4247388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mdsched.exe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82512" y="4613148"/>
            <a:ext cx="5065776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le Diagnostic de la mémoire Windows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5369814"/>
            <a:ext cx="5394960" cy="1030986"/>
          </a:xfrm>
          <a:prstGeom prst="roundRect">
            <a:avLst>
              <a:gd name="adj" fmla="val 3548"/>
            </a:avLst>
          </a:prstGeom>
          <a:solidFill>
            <a:srgbClr val="0C0F0D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" y="5442966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verifier.exe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3232" y="5808726"/>
            <a:ext cx="5065776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Vérificateur de pilotes avancé Windows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5369814"/>
            <a:ext cx="5394960" cy="1030986"/>
          </a:xfrm>
          <a:prstGeom prst="roundRect">
            <a:avLst>
              <a:gd name="adj" fmla="val 3548"/>
            </a:avLst>
          </a:prstGeom>
          <a:solidFill>
            <a:srgbClr val="0C0F0D"/>
          </a:solidFill>
          <a:ln/>
        </p:spPr>
      </p:sp>
      <p:sp>
        <p:nvSpPr>
          <p:cNvPr id="31" name="Text 29"/>
          <p:cNvSpPr/>
          <p:nvPr/>
        </p:nvSpPr>
        <p:spPr>
          <a:xfrm>
            <a:off x="6382512" y="5442966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D1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wmic recoveros get autoreboot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82512" y="5808726"/>
            <a:ext cx="5065776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 comportement en cas de crash</a:t>
            </a:r>
            <a:endParaRPr lang="en-US" sz="1000" dirty="0"/>
          </a:p>
        </p:txBody>
      </p:sp>
      <p:sp>
        <p:nvSpPr>
          <p:cNvPr id="33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35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13 — Diagnostic Avancé Windows</a:t>
            </a:r>
          </a:p>
        </p:txBody>
      </p:sp>
      <p:sp>
        <p:nvSpPr>
          <p:cNvPr id="36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7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8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13 — Diagnostic Avancé Windows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vous de jouer.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Pratiquez le diagnostic avancé sur votre VM.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502920" cy="1085850"/>
          </a:xfrm>
          <a:prstGeom prst="roundRect">
            <a:avLst>
              <a:gd name="adj" fmla="val 9091"/>
            </a:avLst>
          </a:prstGeom>
          <a:solidFill>
            <a:srgbClr val="1F252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502920" cy="1085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F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61848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l'Observateur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280160" y="1947672"/>
            <a:ext cx="795528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eventvwr.msc → filtrer Critique+Erreur → identifier 3 événements récents.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418320" y="1618488"/>
            <a:ext cx="2103120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68930"/>
            <a:ext cx="502920" cy="1085850"/>
          </a:xfrm>
          <a:prstGeom prst="roundRect">
            <a:avLst>
              <a:gd name="adj" fmla="val 9091"/>
            </a:avLst>
          </a:prstGeom>
          <a:solidFill>
            <a:srgbClr val="1F252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68930"/>
            <a:ext cx="502920" cy="1085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F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284149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Simuler SFC/DISM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80160" y="3170682"/>
            <a:ext cx="795528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sfc /scannow puis DISM et interpréter les résultats obtenus.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418320" y="2841498"/>
            <a:ext cx="2103120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091940"/>
            <a:ext cx="502920" cy="1085850"/>
          </a:xfrm>
          <a:prstGeom prst="roundRect">
            <a:avLst>
              <a:gd name="adj" fmla="val 9091"/>
            </a:avLst>
          </a:prstGeom>
          <a:solidFill>
            <a:srgbClr val="1F252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91940"/>
            <a:ext cx="502920" cy="1085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F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06450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Décoder un code BSOD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280160" y="4393692"/>
            <a:ext cx="795528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d'un code donné, identifier la cause probable et le premier test à effectuer.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418320" y="4064508"/>
            <a:ext cx="2103120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5314950"/>
            <a:ext cx="502920" cy="1085850"/>
          </a:xfrm>
          <a:prstGeom prst="roundRect">
            <a:avLst>
              <a:gd name="adj" fmla="val 9091"/>
            </a:avLst>
          </a:prstGeom>
          <a:solidFill>
            <a:srgbClr val="1F252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314950"/>
            <a:ext cx="502920" cy="1085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F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80160" y="528751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en mode sans échec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280160" y="5616702"/>
            <a:ext cx="795528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Accéder à WinRE → démarrer en mode sans échec → revenir normalement.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418320" y="5287518"/>
            <a:ext cx="2103120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2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13 — Diagnostic Avancé Windows</a:t>
            </a:r>
          </a:p>
        </p:txBody>
      </p:sp>
      <p:sp>
        <p:nvSpPr>
          <p:cNvPr id="3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Compétences Séance 13 — À valider avec votre formateur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64240" cy="9144"/>
          </a:xfrm>
          <a:prstGeom prst="rect">
            <a:avLst/>
          </a:prstGeom>
          <a:solidFill>
            <a:srgbClr val="D6E2D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13 — Diagnostic Avancé Windows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99547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1F6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371600"/>
            <a:ext cx="10515600" cy="711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J'ouvre l'Observateur d'événements et filtre les niveaux Critique et Erreur.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271473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1F6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043526"/>
            <a:ext cx="10515600" cy="711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lis un code BSOD et identifie sa famille (RAM, driver, fichiers Windows).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43399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1F6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715452"/>
            <a:ext cx="10515600" cy="711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J'utilise WhoCrashed pour identifier le driver responsable d'un BSOD.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15325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1F6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387378"/>
            <a:ext cx="10515600" cy="711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J'exécute SFC puis DISM dans le bon ordre avec une invite de commandes admin.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87251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1F6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059304"/>
            <a:ext cx="10515600" cy="711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démarre en mode sans échec pour diagnostiquer un driver problématique.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959177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1F6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731230"/>
            <a:ext cx="10515600" cy="711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J'accède à WinRE et connais les 4 options de récupération disponibles.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631103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1F6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5403156"/>
            <a:ext cx="10515600" cy="711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lance MemTest86 depuis une clé USB pour tester la RAM hors de Windows.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155082"/>
            <a:ext cx="1106424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1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LA SÉANCE 13 — Valider avec votre formateur</a:t>
            </a:r>
            <a:endParaRPr lang="en-US" sz="1000" dirty="0"/>
          </a:p>
        </p:txBody>
      </p:sp>
      <p:sp>
        <p:nvSpPr>
          <p:cNvPr id="22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4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13 — Diagnostic Avancé Windows</a:t>
            </a:r>
          </a:p>
        </p:txBody>
      </p:sp>
      <p:sp>
        <p:nvSpPr>
          <p:cNvPr id="25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6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2676</Words>
  <Application>Microsoft Office PowerPoint</Application>
  <PresentationFormat>Personnalisé</PresentationFormat>
  <Paragraphs>512</Paragraphs>
  <Slides>22</Slides>
  <Notes>22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13 — Diagnostic Avancé Windows</dc:title>
  <dc:subject>PptxGenJS Presentation</dc:subject>
  <dc:creator>Chafik Moustaid</dc:creator>
  <cp:lastModifiedBy>Chafik Moustaid</cp:lastModifiedBy>
  <cp:revision>2</cp:revision>
  <dcterms:created xsi:type="dcterms:W3CDTF">2026-07-05T19:00:56Z</dcterms:created>
  <dcterms:modified xsi:type="dcterms:W3CDTF">2026-07-06T19:18:57Z</dcterms:modified>
</cp:coreProperties>
</file>