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40" d="100"/>
          <a:sy n="140" d="100"/>
        </p:scale>
        <p:origin x="-788" y="-3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E9D048-2ECD-4283-8E9D-5F08EC66CB48}" type="datetimeFigureOut">
              <a:rPr lang="fr-CA" smtClean="0"/>
              <a:t>2026-06-22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5EF82-5A54-44DC-AC1C-E359BA973B8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02780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re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H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7 — Comptes, Profils, Permissions et Diagnostic avancé</a:t>
            </a:r>
          </a:p>
        </p:txBody>
      </p:sp>
      <p:sp>
        <p:nvSpPr>
          <p:cNvPr id="903" name="FooterVersion"/>
          <p:cNvSpPr/>
          <p:nvPr/>
        </p:nvSpPr>
        <p:spPr>
          <a:xfrm>
            <a:off x="0" y="4900000"/>
            <a:ext cx="9144000" cy="20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650" i="1" dirty="0">
                <a:solidFill>
                  <a:srgbClr val="AAAAAA"/>
                </a:solidFill>
              </a:rPr>
              <a:t>Version 1 — Juin 2026</a:t>
            </a:r>
          </a:p>
        </p:txBody>
      </p:sp>
      <p:sp>
        <p:nvSpPr>
          <p:cNvPr id="11" name="MT"/>
          <p:cNvSpPr/>
          <p:nvPr/>
        </p:nvSpPr>
        <p:spPr>
          <a:xfrm>
            <a:off x="457200" y="1200000"/>
            <a:ext cx="8229600" cy="8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CA" sz="3600" b="1" i="0" dirty="0">
                <a:solidFill>
                  <a:srgbClr val="152B4E"/>
                </a:solidFill>
              </a:rPr>
              <a:t>TECHNIQUE SUPPORT INFORMATIQUE</a:t>
            </a:r>
            <a:endParaRPr lang="fr-CA" dirty="0"/>
          </a:p>
        </p:txBody>
      </p:sp>
      <p:sp>
        <p:nvSpPr>
          <p:cNvPr id="12" name="ST"/>
          <p:cNvSpPr/>
          <p:nvPr/>
        </p:nvSpPr>
        <p:spPr>
          <a:xfrm>
            <a:off x="457200" y="2150000"/>
            <a:ext cx="8229600" cy="5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CA" sz="1700" b="1" i="0" dirty="0">
                <a:solidFill>
                  <a:srgbClr val="152B4E"/>
                </a:solidFill>
              </a:rPr>
              <a:t>Séance 7 : Comptes, Profils, Permissions et Diagnostic avancé</a:t>
            </a:r>
            <a:endParaRPr lang="fr-CA" dirty="0"/>
          </a:p>
        </p:txBody>
      </p:sp>
      <p:sp>
        <p:nvSpPr>
          <p:cNvPr id="13" name="GB"/>
          <p:cNvSpPr/>
          <p:nvPr/>
        </p:nvSpPr>
        <p:spPr>
          <a:xfrm>
            <a:off x="3657600" y="2750000"/>
            <a:ext cx="1828800" cy="60000"/>
          </a:xfrm>
          <a:prstGeom prst="rect">
            <a:avLst/>
          </a:prstGeom>
          <a:solidFill>
            <a:srgbClr val="6CC24A"/>
          </a:solidFill>
          <a:ln w="0">
            <a:noFill/>
          </a:ln>
        </p:spPr>
      </p:sp>
      <p:sp>
        <p:nvSpPr>
          <p:cNvPr id="14" name="Me"/>
          <p:cNvSpPr/>
          <p:nvPr/>
        </p:nvSpPr>
        <p:spPr>
          <a:xfrm>
            <a:off x="457200" y="2950000"/>
            <a:ext cx="8229600" cy="3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CA" sz="1100" b="0" i="1" dirty="0">
                <a:solidFill>
                  <a:srgbClr val="7A7A7A"/>
                </a:solidFill>
              </a:rPr>
              <a:t>Manuel de Formation Maître  —  Durée : 4 Heures  —  Niveau N1→N2  —  Formation distance individuelle Teams</a:t>
            </a:r>
            <a:endParaRPr lang="fr-C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mmaire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H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7 — Comptes, Profils, Permissions et Diagnostic avancé</a:t>
            </a:r>
          </a:p>
        </p:txBody>
      </p:sp>
      <p:sp>
        <p:nvSpPr>
          <p:cNvPr id="903" name="FooterVersion"/>
          <p:cNvSpPr/>
          <p:nvPr/>
        </p:nvSpPr>
        <p:spPr>
          <a:xfrm>
            <a:off x="0" y="4900000"/>
            <a:ext cx="9144000" cy="20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650" i="1" dirty="0">
                <a:solidFill>
                  <a:srgbClr val="AAAAAA"/>
                </a:solidFill>
              </a:rPr>
              <a:t>Version 1 — Juin 2026</a:t>
            </a:r>
          </a:p>
        </p:txBody>
      </p:sp>
      <p:sp>
        <p:nvSpPr>
          <p:cNvPr id="10" name="T"/>
          <p:cNvSpPr/>
          <p:nvPr/>
        </p:nvSpPr>
        <p:spPr>
          <a:xfrm>
            <a:off x="347472" y="530000"/>
            <a:ext cx="8449056" cy="3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800" b="1" i="0" dirty="0">
                <a:solidFill>
                  <a:srgbClr val="152B4E"/>
                </a:solidFill>
              </a:rPr>
              <a:t>📋  SOMMAIRE DE LA SÉANCE 7</a:t>
            </a:r>
            <a:endParaRPr lang="fr-CA" dirty="0"/>
          </a:p>
        </p:txBody>
      </p:sp>
      <p:sp>
        <p:nvSpPr>
          <p:cNvPr id="11" name="GB"/>
          <p:cNvSpPr/>
          <p:nvPr/>
        </p:nvSpPr>
        <p:spPr>
          <a:xfrm>
            <a:off x="347472" y="890000"/>
            <a:ext cx="800000" cy="32000"/>
          </a:xfrm>
          <a:prstGeom prst="rect">
            <a:avLst/>
          </a:prstGeom>
          <a:solidFill>
            <a:srgbClr val="6CC24A"/>
          </a:solidFill>
          <a:ln w="0">
            <a:noFill/>
          </a:ln>
        </p:spPr>
      </p:sp>
      <p:sp>
        <p:nvSpPr>
          <p:cNvPr id="20" name="P1"/>
          <p:cNvSpPr/>
          <p:nvPr/>
        </p:nvSpPr>
        <p:spPr>
          <a:xfrm>
            <a:off x="347472" y="1020000"/>
            <a:ext cx="4100000" cy="540000"/>
          </a:xfrm>
          <a:prstGeom prst="roundRect">
            <a:avLst>
              <a:gd name="adj" fmla="val 4000"/>
            </a:avLst>
          </a:prstGeom>
          <a:solidFill>
            <a:srgbClr val="D6E8F7"/>
          </a:solidFill>
          <a:ln w="15240">
            <a:solidFill>
              <a:srgbClr val="2563A0"/>
            </a:solidFill>
          </a:ln>
        </p:spPr>
      </p:sp>
      <p:sp>
        <p:nvSpPr>
          <p:cNvPr id="4" name="P1L"/>
          <p:cNvSpPr/>
          <p:nvPr/>
        </p:nvSpPr>
        <p:spPr>
          <a:xfrm>
            <a:off x="380000" y="1040000"/>
            <a:ext cx="340000" cy="1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00" b="1" i="0" dirty="0">
                <a:solidFill>
                  <a:srgbClr val="6CC24A"/>
                </a:solidFill>
              </a:rPr>
              <a:t>P1</a:t>
            </a:r>
            <a:endParaRPr lang="fr-CA" dirty="0"/>
          </a:p>
        </p:txBody>
      </p:sp>
      <p:sp>
        <p:nvSpPr>
          <p:cNvPr id="22" name="P1T"/>
          <p:cNvSpPr/>
          <p:nvPr/>
        </p:nvSpPr>
        <p:spPr>
          <a:xfrm>
            <a:off x="380000" y="1190000"/>
            <a:ext cx="4000000" cy="3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fr-CA" sz="1050" b="1" i="0" dirty="0">
                <a:solidFill>
                  <a:srgbClr val="152B4E"/>
                </a:solidFill>
              </a:rPr>
              <a:t>Architecture interne d'un compte Windows — SID, groupes, droits</a:t>
            </a:r>
            <a:endParaRPr lang="fr-CA" dirty="0"/>
          </a:p>
        </p:txBody>
      </p:sp>
      <p:sp>
        <p:nvSpPr>
          <p:cNvPr id="23" name="P2"/>
          <p:cNvSpPr/>
          <p:nvPr/>
        </p:nvSpPr>
        <p:spPr>
          <a:xfrm>
            <a:off x="4600000" y="1020000"/>
            <a:ext cx="4200000" cy="540000"/>
          </a:xfrm>
          <a:prstGeom prst="roundRect">
            <a:avLst>
              <a:gd name="adj" fmla="val 4000"/>
            </a:avLst>
          </a:prstGeom>
          <a:solidFill>
            <a:srgbClr val="D6E8F7"/>
          </a:solidFill>
          <a:ln w="15240">
            <a:solidFill>
              <a:srgbClr val="2563A0"/>
            </a:solidFill>
          </a:ln>
        </p:spPr>
      </p:sp>
      <p:sp>
        <p:nvSpPr>
          <p:cNvPr id="24" name="P2L"/>
          <p:cNvSpPr/>
          <p:nvPr/>
        </p:nvSpPr>
        <p:spPr>
          <a:xfrm>
            <a:off x="4640000" y="1040000"/>
            <a:ext cx="340000" cy="1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00" b="1" i="0" dirty="0">
                <a:solidFill>
                  <a:srgbClr val="6CC24A"/>
                </a:solidFill>
              </a:rPr>
              <a:t>P2</a:t>
            </a:r>
            <a:endParaRPr lang="fr-CA" dirty="0"/>
          </a:p>
        </p:txBody>
      </p:sp>
      <p:sp>
        <p:nvSpPr>
          <p:cNvPr id="25" name="P2T"/>
          <p:cNvSpPr/>
          <p:nvPr/>
        </p:nvSpPr>
        <p:spPr>
          <a:xfrm>
            <a:off x="4640000" y="1190000"/>
            <a:ext cx="4100000" cy="3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fr-CA" sz="1050" b="1" i="0" dirty="0">
                <a:solidFill>
                  <a:srgbClr val="152B4E"/>
                </a:solidFill>
              </a:rPr>
              <a:t>Les profils utilisateurs — structure, NTUSER.DAT, corruption</a:t>
            </a:r>
            <a:endParaRPr lang="fr-CA" dirty="0"/>
          </a:p>
        </p:txBody>
      </p:sp>
      <p:sp>
        <p:nvSpPr>
          <p:cNvPr id="30" name="P3"/>
          <p:cNvSpPr/>
          <p:nvPr/>
        </p:nvSpPr>
        <p:spPr>
          <a:xfrm>
            <a:off x="347472" y="1620000"/>
            <a:ext cx="4100000" cy="540000"/>
          </a:xfrm>
          <a:prstGeom prst="roundRect">
            <a:avLst>
              <a:gd name="adj" fmla="val 4000"/>
            </a:avLst>
          </a:prstGeom>
          <a:solidFill>
            <a:srgbClr val="D6E8F7"/>
          </a:solidFill>
          <a:ln w="15240">
            <a:solidFill>
              <a:srgbClr val="2563A0"/>
            </a:solidFill>
          </a:ln>
        </p:spPr>
      </p:sp>
      <p:sp>
        <p:nvSpPr>
          <p:cNvPr id="31" name="P3L"/>
          <p:cNvSpPr/>
          <p:nvPr/>
        </p:nvSpPr>
        <p:spPr>
          <a:xfrm>
            <a:off x="380000" y="1640000"/>
            <a:ext cx="340000" cy="1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00" b="1" i="0" dirty="0">
                <a:solidFill>
                  <a:srgbClr val="6CC24A"/>
                </a:solidFill>
              </a:rPr>
              <a:t>P3</a:t>
            </a:r>
            <a:endParaRPr lang="fr-CA" dirty="0"/>
          </a:p>
        </p:txBody>
      </p:sp>
      <p:sp>
        <p:nvSpPr>
          <p:cNvPr id="32" name="P3T"/>
          <p:cNvSpPr/>
          <p:nvPr/>
        </p:nvSpPr>
        <p:spPr>
          <a:xfrm>
            <a:off x="380000" y="1790000"/>
            <a:ext cx="4000000" cy="3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fr-CA" sz="1050" b="1" i="0" dirty="0">
                <a:solidFill>
                  <a:srgbClr val="152B4E"/>
                </a:solidFill>
              </a:rPr>
              <a:t>Groupes, droits locaux et Access Token</a:t>
            </a:r>
            <a:endParaRPr lang="fr-CA" dirty="0"/>
          </a:p>
        </p:txBody>
      </p:sp>
      <p:sp>
        <p:nvSpPr>
          <p:cNvPr id="33" name="P4"/>
          <p:cNvSpPr/>
          <p:nvPr/>
        </p:nvSpPr>
        <p:spPr>
          <a:xfrm>
            <a:off x="4600000" y="1620000"/>
            <a:ext cx="4200000" cy="540000"/>
          </a:xfrm>
          <a:prstGeom prst="roundRect">
            <a:avLst>
              <a:gd name="adj" fmla="val 4000"/>
            </a:avLst>
          </a:prstGeom>
          <a:solidFill>
            <a:srgbClr val="D6E8F7"/>
          </a:solidFill>
          <a:ln w="15240">
            <a:solidFill>
              <a:srgbClr val="2563A0"/>
            </a:solidFill>
          </a:ln>
        </p:spPr>
      </p:sp>
      <p:sp>
        <p:nvSpPr>
          <p:cNvPr id="34" name="P4L"/>
          <p:cNvSpPr/>
          <p:nvPr/>
        </p:nvSpPr>
        <p:spPr>
          <a:xfrm>
            <a:off x="4640000" y="1640000"/>
            <a:ext cx="340000" cy="1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00" b="1" i="0" dirty="0">
                <a:solidFill>
                  <a:srgbClr val="6CC24A"/>
                </a:solidFill>
              </a:rPr>
              <a:t>P4</a:t>
            </a:r>
            <a:endParaRPr lang="fr-CA" dirty="0"/>
          </a:p>
        </p:txBody>
      </p:sp>
      <p:sp>
        <p:nvSpPr>
          <p:cNvPr id="35" name="P4T"/>
          <p:cNvSpPr/>
          <p:nvPr/>
        </p:nvSpPr>
        <p:spPr>
          <a:xfrm>
            <a:off x="4640000" y="1790000"/>
            <a:ext cx="4100000" cy="3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fr-CA" sz="1050" b="1" i="0" dirty="0">
                <a:solidFill>
                  <a:srgbClr val="152B4E"/>
                </a:solidFill>
              </a:rPr>
              <a:t>Permissions NTFS en profondeur — ACL, ACE, héritage</a:t>
            </a:r>
            <a:endParaRPr lang="fr-CA" dirty="0"/>
          </a:p>
        </p:txBody>
      </p:sp>
      <p:sp>
        <p:nvSpPr>
          <p:cNvPr id="40" name="P5"/>
          <p:cNvSpPr/>
          <p:nvPr/>
        </p:nvSpPr>
        <p:spPr>
          <a:xfrm>
            <a:off x="347472" y="2220000"/>
            <a:ext cx="4100000" cy="540000"/>
          </a:xfrm>
          <a:prstGeom prst="roundRect">
            <a:avLst>
              <a:gd name="adj" fmla="val 4000"/>
            </a:avLst>
          </a:prstGeom>
          <a:solidFill>
            <a:srgbClr val="D6E8F7"/>
          </a:solidFill>
          <a:ln w="15240">
            <a:solidFill>
              <a:srgbClr val="2563A0"/>
            </a:solidFill>
          </a:ln>
        </p:spPr>
      </p:sp>
      <p:sp>
        <p:nvSpPr>
          <p:cNvPr id="41" name="P5L"/>
          <p:cNvSpPr/>
          <p:nvPr/>
        </p:nvSpPr>
        <p:spPr>
          <a:xfrm>
            <a:off x="380000" y="2240000"/>
            <a:ext cx="340000" cy="1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00" b="1" i="0" dirty="0">
                <a:solidFill>
                  <a:srgbClr val="6CC24A"/>
                </a:solidFill>
              </a:rPr>
              <a:t>P5</a:t>
            </a:r>
            <a:endParaRPr lang="fr-CA" dirty="0"/>
          </a:p>
        </p:txBody>
      </p:sp>
      <p:sp>
        <p:nvSpPr>
          <p:cNvPr id="42" name="P5T"/>
          <p:cNvSpPr/>
          <p:nvPr/>
        </p:nvSpPr>
        <p:spPr>
          <a:xfrm>
            <a:off x="380000" y="2390000"/>
            <a:ext cx="4000000" cy="3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fr-CA" sz="1050" b="1" i="0" dirty="0">
                <a:solidFill>
                  <a:srgbClr val="152B4E"/>
                </a:solidFill>
              </a:rPr>
              <a:t>Diagnostic professionnel complet — méthode par couches</a:t>
            </a:r>
            <a:endParaRPr lang="fr-CA" dirty="0"/>
          </a:p>
        </p:txBody>
      </p:sp>
      <p:sp>
        <p:nvSpPr>
          <p:cNvPr id="43" name="Ex"/>
          <p:cNvSpPr/>
          <p:nvPr/>
        </p:nvSpPr>
        <p:spPr>
          <a:xfrm>
            <a:off x="4600000" y="2220000"/>
            <a:ext cx="4200000" cy="540000"/>
          </a:xfrm>
          <a:prstGeom prst="roundRect">
            <a:avLst>
              <a:gd name="adj" fmla="val 4000"/>
            </a:avLst>
          </a:prstGeom>
          <a:solidFill>
            <a:srgbClr val="E8F5E0"/>
          </a:solidFill>
          <a:ln w="15240">
            <a:solidFill>
              <a:srgbClr val="6CC24A"/>
            </a:solidFill>
          </a:ln>
        </p:spPr>
      </p:sp>
      <p:sp>
        <p:nvSpPr>
          <p:cNvPr id="44" name="ExL"/>
          <p:cNvSpPr/>
          <p:nvPr/>
        </p:nvSpPr>
        <p:spPr>
          <a:xfrm>
            <a:off x="4640000" y="2240000"/>
            <a:ext cx="340000" cy="1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endParaRPr lang="fr-CA" dirty="0"/>
          </a:p>
        </p:txBody>
      </p:sp>
      <p:sp>
        <p:nvSpPr>
          <p:cNvPr id="45" name="ExT"/>
          <p:cNvSpPr/>
          <p:nvPr/>
        </p:nvSpPr>
        <p:spPr>
          <a:xfrm>
            <a:off x="4640000" y="2390000"/>
            <a:ext cx="4100000" cy="3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fr-CA" sz="1050" b="1" i="0" dirty="0">
                <a:solidFill>
                  <a:srgbClr val="152B4E"/>
                </a:solidFill>
              </a:rPr>
              <a:t>Cas pratiques N2 et checklist de fin de séance</a:t>
            </a:r>
            <a:endParaRPr lang="fr-CA" dirty="0"/>
          </a:p>
        </p:txBody>
      </p:sp>
      <p:sp>
        <p:nvSpPr>
          <p:cNvPr id="50" name="Key"/>
          <p:cNvSpPr/>
          <p:nvPr/>
        </p:nvSpPr>
        <p:spPr>
          <a:xfrm>
            <a:off x="347472" y="2900000"/>
            <a:ext cx="8449056" cy="380000"/>
          </a:xfrm>
          <a:prstGeom prst="rect">
            <a:avLst/>
          </a:prstGeom>
          <a:solidFill>
            <a:srgbClr val="1A3560"/>
          </a:solidFill>
          <a:ln w="0">
            <a:noFill/>
          </a:ln>
        </p:spPr>
      </p:sp>
      <p:sp>
        <p:nvSpPr>
          <p:cNvPr id="51" name="KT"/>
          <p:cNvSpPr/>
          <p:nvPr/>
        </p:nvSpPr>
        <p:spPr>
          <a:xfrm>
            <a:off x="380000" y="2920000"/>
            <a:ext cx="8384000" cy="3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CA" sz="1100" b="1" i="0" dirty="0">
                <a:solidFill>
                  <a:srgbClr val="6CC24A"/>
                </a:solidFill>
              </a:rPr>
              <a:t>SID = identité système  |  Profil = environnement  |  NTFS = contrôle d'accès fichiers  |  Access Token = clé d'accès totale</a:t>
            </a:r>
            <a:endParaRPr lang="fr-CA" dirty="0"/>
          </a:p>
        </p:txBody>
      </p:sp>
      <p:sp>
        <p:nvSpPr>
          <p:cNvPr id="52" name="Sub"/>
          <p:cNvSpPr/>
          <p:nvPr/>
        </p:nvSpPr>
        <p:spPr>
          <a:xfrm>
            <a:off x="347472" y="3400000"/>
            <a:ext cx="8449056" cy="2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CA" sz="1000" b="0" i="1" dirty="0">
                <a:solidFill>
                  <a:srgbClr val="7A7A7A"/>
                </a:solidFill>
              </a:rPr>
              <a:t>Les illustrations du Word original sont reproduites une par slide pour un maximum de clarté.</a:t>
            </a:r>
            <a:endParaRPr lang="fr-CA" dirty="0"/>
          </a:p>
        </p:txBody>
      </p:sp>
      <p:sp>
        <p:nvSpPr>
          <p:cNvPr id="36" name="P5L"/>
          <p:cNvSpPr/>
          <p:nvPr/>
        </p:nvSpPr>
        <p:spPr>
          <a:xfrm>
            <a:off x="4640000" y="2242400"/>
            <a:ext cx="340000" cy="1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00" b="1" i="0" dirty="0" smtClean="0">
                <a:solidFill>
                  <a:srgbClr val="6CC24A"/>
                </a:solidFill>
              </a:rPr>
              <a:t>P6</a:t>
            </a:r>
            <a:endParaRPr lang="fr-C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1-Architecture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H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7 — Comptes, Profils, Permissions et Diagnostic avancé</a:t>
            </a:r>
          </a:p>
        </p:txBody>
      </p:sp>
      <p:sp>
        <p:nvSpPr>
          <p:cNvPr id="903" name="FooterVersion"/>
          <p:cNvSpPr/>
          <p:nvPr/>
        </p:nvSpPr>
        <p:spPr>
          <a:xfrm>
            <a:off x="0" y="4900000"/>
            <a:ext cx="9144000" cy="20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650" i="1" dirty="0">
                <a:solidFill>
                  <a:srgbClr val="AAAAAA"/>
                </a:solidFill>
              </a:rPr>
              <a:t>Version 1 — Juin 2026</a:t>
            </a:r>
          </a:p>
        </p:txBody>
      </p:sp>
      <p:sp>
        <p:nvSpPr>
          <p:cNvPr id="10" name="T"/>
          <p:cNvSpPr/>
          <p:nvPr/>
        </p:nvSpPr>
        <p:spPr>
          <a:xfrm>
            <a:off x="347472" y="530000"/>
            <a:ext cx="8449056" cy="3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800" b="1" i="0" dirty="0">
                <a:solidFill>
                  <a:srgbClr val="152B4E"/>
                </a:solidFill>
              </a:rPr>
              <a:t>🔑  PARTIE 1 — ARCHITECTURE INTERNE D'UN COMPTE WINDOWS</a:t>
            </a:r>
            <a:endParaRPr lang="fr-CA" dirty="0"/>
          </a:p>
        </p:txBody>
      </p:sp>
      <p:sp>
        <p:nvSpPr>
          <p:cNvPr id="11" name="GB"/>
          <p:cNvSpPr/>
          <p:nvPr/>
        </p:nvSpPr>
        <p:spPr>
          <a:xfrm>
            <a:off x="347472" y="890000"/>
            <a:ext cx="800000" cy="32000"/>
          </a:xfrm>
          <a:prstGeom prst="rect">
            <a:avLst/>
          </a:prstGeom>
          <a:solidFill>
            <a:srgbClr val="6CC24A"/>
          </a:solidFill>
          <a:ln w="0">
            <a:noFill/>
          </a:ln>
        </p:spPr>
      </p:sp>
      <p:sp>
        <p:nvSpPr>
          <p:cNvPr id="20" name="C1"/>
          <p:cNvSpPr/>
          <p:nvPr/>
        </p:nvSpPr>
        <p:spPr>
          <a:xfrm>
            <a:off x="347472" y="980000"/>
            <a:ext cx="4050000" cy="1750000"/>
          </a:xfrm>
          <a:prstGeom prst="roundRect">
            <a:avLst>
              <a:gd name="adj" fmla="val 4000"/>
            </a:avLst>
          </a:prstGeom>
          <a:solidFill>
            <a:srgbClr val="EAF4FF"/>
          </a:solidFill>
          <a:ln w="15240">
            <a:solidFill>
              <a:srgbClr val="2563A0"/>
            </a:solidFill>
          </a:ln>
        </p:spPr>
      </p:sp>
      <p:sp>
        <p:nvSpPr>
          <p:cNvPr id="4" name="C1S"/>
          <p:cNvSpPr/>
          <p:nvPr/>
        </p:nvSpPr>
        <p:spPr>
          <a:xfrm>
            <a:off x="347472" y="980000"/>
            <a:ext cx="45720" cy="1750000"/>
          </a:xfrm>
          <a:prstGeom prst="rect">
            <a:avLst/>
          </a:prstGeom>
          <a:solidFill>
            <a:srgbClr val="2563A0"/>
          </a:solidFill>
          <a:ln w="0">
            <a:noFill/>
          </a:ln>
        </p:spPr>
      </p:sp>
      <p:sp>
        <p:nvSpPr>
          <p:cNvPr id="22" name="C1T"/>
          <p:cNvSpPr/>
          <p:nvPr/>
        </p:nvSpPr>
        <p:spPr>
          <a:xfrm>
            <a:off x="450000" y="1010000"/>
            <a:ext cx="3950000" cy="23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200" b="1" i="0" dirty="0">
                <a:solidFill>
                  <a:srgbClr val="2563A0"/>
                </a:solidFill>
              </a:rPr>
              <a:t>1 — Nom visible (Username)</a:t>
            </a:r>
            <a:endParaRPr lang="fr-CA" dirty="0"/>
          </a:p>
        </p:txBody>
      </p:sp>
      <p:sp>
        <p:nvSpPr>
          <p:cNvPr id="23" name="C1B"/>
          <p:cNvSpPr/>
          <p:nvPr/>
        </p:nvSpPr>
        <p:spPr>
          <a:xfrm>
            <a:off x="450000" y="1250000"/>
            <a:ext cx="3950000" cy="14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fr-CA" sz="1000" b="0" i="0" dirty="0">
                <a:solidFill>
                  <a:srgbClr val="152B4E"/>
                </a:solidFill>
              </a:rPr>
              <a:t>Le nom visible est l'étiquette affichée dans l'écran de connexion, C:\Users, gestion des comptes.</a:t>
            </a:r>
            <a:endParaRPr lang="fr-CA" dirty="0"/>
          </a:p>
          <a:p>
            <a:pPr marL="0" indent="0" algn="l">
              <a:buNone/>
            </a:pPr>
            <a:r>
              <a:rPr lang="fr-CA" sz="1000" b="1" i="0" dirty="0" smtClean="0">
                <a:solidFill>
                  <a:srgbClr val="D0021B"/>
                </a:solidFill>
              </a:rPr>
              <a:t>⚠️  </a:t>
            </a:r>
            <a:r>
              <a:rPr lang="fr-CA" sz="1000" b="1" i="0" dirty="0">
                <a:solidFill>
                  <a:srgbClr val="D0021B"/>
                </a:solidFill>
              </a:rPr>
              <a:t>Le nom visible n'est PAS l'identité réelle du compte.</a:t>
            </a:r>
            <a:endParaRPr lang="fr-CA" dirty="0"/>
          </a:p>
          <a:p>
            <a:pPr marL="0" indent="0" algn="l">
              <a:buNone/>
            </a:pPr>
            <a:r>
              <a:rPr lang="fr-CA" sz="1000" b="0" i="0" dirty="0">
                <a:solidFill>
                  <a:srgbClr val="152B4E"/>
                </a:solidFill>
              </a:rPr>
              <a:t>Windows travaille avec le SID.</a:t>
            </a:r>
            <a:endParaRPr lang="fr-CA" dirty="0"/>
          </a:p>
          <a:p>
            <a:pPr marL="0" indent="0" algn="l">
              <a:buNone/>
            </a:pPr>
            <a:r>
              <a:rPr lang="fr-CA" sz="1000" b="1" i="0" dirty="0" smtClean="0">
                <a:solidFill>
                  <a:srgbClr val="152B4E"/>
                </a:solidFill>
              </a:rPr>
              <a:t>Si </a:t>
            </a:r>
            <a:r>
              <a:rPr lang="fr-CA" sz="1000" b="1" i="0" dirty="0">
                <a:solidFill>
                  <a:srgbClr val="152B4E"/>
                </a:solidFill>
              </a:rPr>
              <a:t>tu renommes un utilisateur :</a:t>
            </a:r>
            <a:endParaRPr lang="fr-CA" dirty="0"/>
          </a:p>
          <a:p>
            <a:pPr marL="0" indent="0" algn="l">
              <a:buNone/>
            </a:pPr>
            <a:r>
              <a:rPr lang="fr-CA" sz="1000" b="0" i="0" dirty="0">
                <a:solidFill>
                  <a:srgbClr val="152B4E"/>
                </a:solidFill>
              </a:rPr>
              <a:t>• Le nom change</a:t>
            </a:r>
            <a:endParaRPr lang="fr-CA" dirty="0"/>
          </a:p>
          <a:p>
            <a:pPr marL="0" indent="0" algn="l">
              <a:buNone/>
            </a:pPr>
            <a:r>
              <a:rPr lang="fr-CA" sz="1000" b="0" i="0" dirty="0">
                <a:solidFill>
                  <a:srgbClr val="152B4E"/>
                </a:solidFill>
              </a:rPr>
              <a:t>• Le dossier peut rester avec l'ancien nom</a:t>
            </a:r>
            <a:endParaRPr lang="fr-CA" dirty="0"/>
          </a:p>
          <a:p>
            <a:pPr marL="0" indent="0" algn="l">
              <a:buNone/>
            </a:pPr>
            <a:r>
              <a:rPr lang="fr-CA" sz="1000" b="1" i="0" dirty="0">
                <a:solidFill>
                  <a:srgbClr val="6CC24A"/>
                </a:solidFill>
              </a:rPr>
              <a:t>• Le SID NE CHANGE PAS  ✅</a:t>
            </a:r>
            <a:endParaRPr lang="fr-CA" dirty="0"/>
          </a:p>
          <a:p>
            <a:pPr marL="0" indent="0" algn="l">
              <a:buNone/>
            </a:pPr>
            <a:endParaRPr lang="fr-CA" dirty="0"/>
          </a:p>
          <a:p>
            <a:pPr marL="0" indent="0" algn="l">
              <a:buNone/>
            </a:pPr>
            <a:r>
              <a:rPr lang="fr-CA" sz="950" b="0" i="1" dirty="0">
                <a:solidFill>
                  <a:srgbClr val="7A7A7A"/>
                </a:solidFill>
              </a:rPr>
              <a:t>→ Le nom visible = couche superficielle.</a:t>
            </a:r>
            <a:endParaRPr lang="fr-CA" dirty="0"/>
          </a:p>
        </p:txBody>
      </p:sp>
      <p:sp>
        <p:nvSpPr>
          <p:cNvPr id="30" name="C2"/>
          <p:cNvSpPr/>
          <p:nvPr/>
        </p:nvSpPr>
        <p:spPr>
          <a:xfrm>
            <a:off x="4600000" y="980000"/>
            <a:ext cx="4200000" cy="1750000"/>
          </a:xfrm>
          <a:prstGeom prst="roundRect">
            <a:avLst>
              <a:gd name="adj" fmla="val 4000"/>
            </a:avLst>
          </a:prstGeom>
          <a:solidFill>
            <a:srgbClr val="FDE8E8"/>
          </a:solidFill>
          <a:ln w="15240">
            <a:solidFill>
              <a:srgbClr val="D0021B"/>
            </a:solidFill>
          </a:ln>
        </p:spPr>
      </p:sp>
      <p:sp>
        <p:nvSpPr>
          <p:cNvPr id="31" name="C2S"/>
          <p:cNvSpPr/>
          <p:nvPr/>
        </p:nvSpPr>
        <p:spPr>
          <a:xfrm>
            <a:off x="4600000" y="980000"/>
            <a:ext cx="45720" cy="1750000"/>
          </a:xfrm>
          <a:prstGeom prst="rect">
            <a:avLst/>
          </a:prstGeom>
          <a:solidFill>
            <a:srgbClr val="D0021B"/>
          </a:solidFill>
          <a:ln w="0">
            <a:noFill/>
          </a:ln>
        </p:spPr>
      </p:sp>
      <p:sp>
        <p:nvSpPr>
          <p:cNvPr id="32" name="C2T"/>
          <p:cNvSpPr/>
          <p:nvPr/>
        </p:nvSpPr>
        <p:spPr>
          <a:xfrm>
            <a:off x="4705000" y="1010000"/>
            <a:ext cx="4050000" cy="23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200" b="1" i="0" dirty="0">
                <a:solidFill>
                  <a:srgbClr val="D0021B"/>
                </a:solidFill>
              </a:rPr>
              <a:t>2 — SID (Security Identifier)</a:t>
            </a:r>
            <a:endParaRPr lang="fr-CA" dirty="0"/>
          </a:p>
        </p:txBody>
      </p:sp>
      <p:sp>
        <p:nvSpPr>
          <p:cNvPr id="33" name="C2B"/>
          <p:cNvSpPr/>
          <p:nvPr/>
        </p:nvSpPr>
        <p:spPr>
          <a:xfrm>
            <a:off x="4705000" y="1250000"/>
            <a:ext cx="4050000" cy="14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fr-CA" sz="1000" b="0" i="0" dirty="0">
                <a:solidFill>
                  <a:srgbClr val="152B4E"/>
                </a:solidFill>
              </a:rPr>
              <a:t>Identifiant unique attribué par Windows à chaque compte.</a:t>
            </a:r>
            <a:endParaRPr lang="fr-CA" dirty="0"/>
          </a:p>
          <a:p>
            <a:pPr marL="0" indent="0" algn="l">
              <a:buNone/>
            </a:pPr>
            <a:r>
              <a:rPr lang="fr-CA" sz="950" b="1" i="0" dirty="0" smtClean="0">
                <a:solidFill>
                  <a:srgbClr val="D0021B"/>
                </a:solidFill>
              </a:rPr>
              <a:t>Structure </a:t>
            </a:r>
            <a:r>
              <a:rPr lang="fr-CA" sz="950" b="1" i="0" dirty="0">
                <a:solidFill>
                  <a:srgbClr val="D0021B"/>
                </a:solidFill>
              </a:rPr>
              <a:t>: S-1-5-21-XXXXX-XXXXX-XXXXX-1001</a:t>
            </a:r>
            <a:endParaRPr lang="fr-CA" dirty="0"/>
          </a:p>
          <a:p>
            <a:pPr marL="0" indent="0" algn="l">
              <a:buNone/>
            </a:pPr>
            <a:r>
              <a:rPr lang="fr-CA" sz="1000" b="1" i="0" dirty="0" smtClean="0">
                <a:solidFill>
                  <a:srgbClr val="152B4E"/>
                </a:solidFill>
              </a:rPr>
              <a:t>Windows </a:t>
            </a:r>
            <a:r>
              <a:rPr lang="fr-CA" sz="1000" b="1" i="0" dirty="0">
                <a:solidFill>
                  <a:srgbClr val="152B4E"/>
                </a:solidFill>
              </a:rPr>
              <a:t>associe au SID :</a:t>
            </a:r>
            <a:endParaRPr lang="fr-CA" dirty="0"/>
          </a:p>
          <a:p>
            <a:pPr marL="0" indent="0" algn="l">
              <a:buNone/>
            </a:pPr>
            <a:r>
              <a:rPr lang="fr-CA" sz="1000" b="0" i="0" dirty="0">
                <a:solidFill>
                  <a:srgbClr val="152B4E"/>
                </a:solidFill>
              </a:rPr>
              <a:t>• Permissions NTFS (fichiers/dossiers)</a:t>
            </a:r>
            <a:endParaRPr lang="fr-CA" dirty="0"/>
          </a:p>
          <a:p>
            <a:pPr marL="0" indent="0" algn="l">
              <a:buNone/>
            </a:pPr>
            <a:r>
              <a:rPr lang="fr-CA" sz="1000" b="0" i="0" dirty="0">
                <a:solidFill>
                  <a:srgbClr val="152B4E"/>
                </a:solidFill>
              </a:rPr>
              <a:t>• Droits dans le registre Windows</a:t>
            </a:r>
            <a:endParaRPr lang="fr-CA" dirty="0"/>
          </a:p>
          <a:p>
            <a:pPr marL="0" indent="0" algn="l">
              <a:buNone/>
            </a:pPr>
            <a:r>
              <a:rPr lang="fr-CA" sz="1000" b="0" i="0" dirty="0">
                <a:solidFill>
                  <a:srgbClr val="152B4E"/>
                </a:solidFill>
              </a:rPr>
              <a:t>• Accès réseau</a:t>
            </a:r>
            <a:endParaRPr lang="fr-CA" dirty="0"/>
          </a:p>
          <a:p>
            <a:pPr marL="0" indent="0" algn="l">
              <a:buNone/>
            </a:pPr>
            <a:r>
              <a:rPr lang="fr-CA" sz="1000" b="0" i="0" dirty="0">
                <a:solidFill>
                  <a:srgbClr val="152B4E"/>
                </a:solidFill>
              </a:rPr>
              <a:t>• Propriété des fichiers</a:t>
            </a:r>
            <a:endParaRPr lang="fr-CA" dirty="0"/>
          </a:p>
          <a:p>
            <a:pPr marL="0" indent="0" algn="l">
              <a:buNone/>
            </a:pPr>
            <a:r>
              <a:rPr lang="fr-CA" sz="950" b="0" i="1" dirty="0" smtClean="0">
                <a:solidFill>
                  <a:srgbClr val="D0021B"/>
                </a:solidFill>
              </a:rPr>
              <a:t>Cas </a:t>
            </a:r>
            <a:r>
              <a:rPr lang="fr-CA" sz="950" b="0" i="1" dirty="0">
                <a:solidFill>
                  <a:srgbClr val="D0021B"/>
                </a:solidFill>
              </a:rPr>
              <a:t>terrain : ancien user supprimé → nouveau même nom → accès refusé. Pourquoi ? SID différent.</a:t>
            </a:r>
            <a:endParaRPr lang="fr-CA" dirty="0"/>
          </a:p>
        </p:txBody>
      </p:sp>
      <p:sp>
        <p:nvSpPr>
          <p:cNvPr id="40" name="Flow"/>
          <p:cNvSpPr/>
          <p:nvPr/>
        </p:nvSpPr>
        <p:spPr>
          <a:xfrm>
            <a:off x="347472" y="2780000"/>
            <a:ext cx="8449056" cy="380000"/>
          </a:xfrm>
          <a:prstGeom prst="rect">
            <a:avLst/>
          </a:prstGeom>
          <a:solidFill>
            <a:srgbClr val="1A3560"/>
          </a:solidFill>
          <a:ln w="0">
            <a:noFill/>
          </a:ln>
        </p:spPr>
      </p:sp>
      <p:sp>
        <p:nvSpPr>
          <p:cNvPr id="41" name="FT"/>
          <p:cNvSpPr/>
          <p:nvPr/>
        </p:nvSpPr>
        <p:spPr>
          <a:xfrm>
            <a:off x="380000" y="2800000"/>
            <a:ext cx="8384000" cy="3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CA" sz="1100" b="1" i="0" dirty="0">
                <a:solidFill>
                  <a:srgbClr val="6CC24A"/>
                </a:solidFill>
              </a:rPr>
              <a:t>Schéma global : Nom visible → SID → Groupe → Droits locaux → Profil → Permissions NTFS</a:t>
            </a:r>
            <a:endParaRPr lang="fr-CA" dirty="0"/>
          </a:p>
          <a:p>
            <a:pPr marL="0" indent="0" algn="ctr">
              <a:buNone/>
            </a:pPr>
            <a:r>
              <a:rPr lang="fr-CA" sz="950" b="0" i="1" dirty="0">
                <a:solidFill>
                  <a:srgbClr val="AACCEE"/>
                </a:solidFill>
              </a:rPr>
              <a:t>Chaque couche dépend du SID — le SID est l'identité RÉELLE.</a:t>
            </a:r>
            <a:endParaRPr lang="fr-CA" dirty="0"/>
          </a:p>
        </p:txBody>
      </p:sp>
      <p:sp>
        <p:nvSpPr>
          <p:cNvPr id="50" name="C3"/>
          <p:cNvSpPr/>
          <p:nvPr/>
        </p:nvSpPr>
        <p:spPr>
          <a:xfrm>
            <a:off x="347472" y="3280000"/>
            <a:ext cx="4050000" cy="1500000"/>
          </a:xfrm>
          <a:prstGeom prst="roundRect">
            <a:avLst>
              <a:gd name="adj" fmla="val 4000"/>
            </a:avLst>
          </a:prstGeom>
          <a:solidFill>
            <a:srgbClr val="E8F5E0"/>
          </a:solidFill>
          <a:ln w="15240">
            <a:solidFill>
              <a:srgbClr val="6CC24A"/>
            </a:solidFill>
          </a:ln>
        </p:spPr>
      </p:sp>
      <p:sp>
        <p:nvSpPr>
          <p:cNvPr id="51" name="C3S"/>
          <p:cNvSpPr/>
          <p:nvPr/>
        </p:nvSpPr>
        <p:spPr>
          <a:xfrm>
            <a:off x="347472" y="3280000"/>
            <a:ext cx="45720" cy="1500000"/>
          </a:xfrm>
          <a:prstGeom prst="rect">
            <a:avLst/>
          </a:prstGeom>
          <a:solidFill>
            <a:srgbClr val="6CC24A"/>
          </a:solidFill>
          <a:ln w="0">
            <a:noFill/>
          </a:ln>
        </p:spPr>
      </p:sp>
      <p:sp>
        <p:nvSpPr>
          <p:cNvPr id="52" name="C3T"/>
          <p:cNvSpPr/>
          <p:nvPr/>
        </p:nvSpPr>
        <p:spPr>
          <a:xfrm>
            <a:off x="450000" y="3310000"/>
            <a:ext cx="3950000" cy="23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200" b="1" i="0" dirty="0">
                <a:solidFill>
                  <a:srgbClr val="6CC24A"/>
                </a:solidFill>
              </a:rPr>
              <a:t>3 — Groupe d'appartenance</a:t>
            </a:r>
            <a:endParaRPr lang="fr-CA" dirty="0"/>
          </a:p>
        </p:txBody>
      </p:sp>
      <p:sp>
        <p:nvSpPr>
          <p:cNvPr id="53" name="C3B"/>
          <p:cNvSpPr/>
          <p:nvPr/>
        </p:nvSpPr>
        <p:spPr>
          <a:xfrm>
            <a:off x="450000" y="3550000"/>
            <a:ext cx="3950000" cy="119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fr-CA" sz="1000" b="0" i="0" dirty="0">
                <a:solidFill>
                  <a:srgbClr val="152B4E"/>
                </a:solidFill>
              </a:rPr>
              <a:t>Un groupe est un conteneur de droits.</a:t>
            </a:r>
            <a:endParaRPr lang="fr-CA" dirty="0"/>
          </a:p>
          <a:p>
            <a:pPr marL="0" indent="0" algn="l">
              <a:buNone/>
            </a:pPr>
            <a:r>
              <a:rPr lang="fr-CA" sz="1000" b="0" i="0" dirty="0">
                <a:solidFill>
                  <a:srgbClr val="152B4E"/>
                </a:solidFill>
              </a:rPr>
              <a:t>Exemples : Administrateurs · Utilisateurs · Invités · Remote Desktop Users</a:t>
            </a:r>
            <a:endParaRPr lang="fr-CA" dirty="0"/>
          </a:p>
          <a:p>
            <a:pPr marL="0" indent="0" algn="l">
              <a:buNone/>
            </a:pPr>
            <a:r>
              <a:rPr lang="fr-CA" sz="1000" b="1" i="0" dirty="0" smtClean="0">
                <a:solidFill>
                  <a:srgbClr val="152B4E"/>
                </a:solidFill>
              </a:rPr>
              <a:t>Permissions </a:t>
            </a:r>
            <a:r>
              <a:rPr lang="fr-CA" sz="1000" b="1" i="0" dirty="0">
                <a:solidFill>
                  <a:srgbClr val="152B4E"/>
                </a:solidFill>
              </a:rPr>
              <a:t>effectives = Somme des autorisations − Refus explicites</a:t>
            </a:r>
            <a:endParaRPr lang="fr-CA" dirty="0"/>
          </a:p>
          <a:p>
            <a:pPr marL="0" indent="0" algn="l">
              <a:buNone/>
            </a:pPr>
            <a:r>
              <a:rPr lang="fr-CA" sz="1000" b="1" i="0" dirty="0">
                <a:solidFill>
                  <a:srgbClr val="D0021B"/>
                </a:solidFill>
              </a:rPr>
              <a:t>🔥  Refus prioritaire &gt; Autorisation. Toujours.</a:t>
            </a:r>
            <a:endParaRPr lang="fr-CA" dirty="0"/>
          </a:p>
          <a:p>
            <a:pPr marL="0" indent="0" algn="l">
              <a:buNone/>
            </a:pPr>
            <a:r>
              <a:rPr lang="fr-CA" sz="950" b="0" i="1" dirty="0" smtClean="0">
                <a:solidFill>
                  <a:srgbClr val="7A7A7A"/>
                </a:solidFill>
              </a:rPr>
              <a:t>Cas </a:t>
            </a:r>
            <a:r>
              <a:rPr lang="fr-CA" sz="950" b="0" i="1" dirty="0">
                <a:solidFill>
                  <a:srgbClr val="7A7A7A"/>
                </a:solidFill>
              </a:rPr>
              <a:t>: Jean ∈ Utilisateurs ∩ Administrateurs. Dossier refusé explicitement à Jean → Accès refusé malgré Admin.</a:t>
            </a:r>
            <a:endParaRPr lang="fr-CA" dirty="0"/>
          </a:p>
        </p:txBody>
      </p:sp>
      <p:sp>
        <p:nvSpPr>
          <p:cNvPr id="54" name="C4"/>
          <p:cNvSpPr/>
          <p:nvPr/>
        </p:nvSpPr>
        <p:spPr>
          <a:xfrm>
            <a:off x="4600000" y="3280000"/>
            <a:ext cx="4200000" cy="1500000"/>
          </a:xfrm>
          <a:prstGeom prst="roundRect">
            <a:avLst>
              <a:gd name="adj" fmla="val 4000"/>
            </a:avLst>
          </a:prstGeom>
          <a:solidFill>
            <a:srgbClr val="FFF3DC"/>
          </a:solidFill>
          <a:ln w="15240">
            <a:solidFill>
              <a:srgbClr val="E07B00"/>
            </a:solidFill>
          </a:ln>
        </p:spPr>
      </p:sp>
      <p:sp>
        <p:nvSpPr>
          <p:cNvPr id="55" name="C4S"/>
          <p:cNvSpPr/>
          <p:nvPr/>
        </p:nvSpPr>
        <p:spPr>
          <a:xfrm>
            <a:off x="4600000" y="3280000"/>
            <a:ext cx="45720" cy="1500000"/>
          </a:xfrm>
          <a:prstGeom prst="rect">
            <a:avLst/>
          </a:prstGeom>
          <a:solidFill>
            <a:srgbClr val="E07B00"/>
          </a:solidFill>
          <a:ln w="0">
            <a:noFill/>
          </a:ln>
        </p:spPr>
      </p:sp>
      <p:sp>
        <p:nvSpPr>
          <p:cNvPr id="56" name="C4T"/>
          <p:cNvSpPr/>
          <p:nvPr/>
        </p:nvSpPr>
        <p:spPr>
          <a:xfrm>
            <a:off x="4705000" y="3310000"/>
            <a:ext cx="4050000" cy="23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200" b="1" i="0" dirty="0">
                <a:solidFill>
                  <a:srgbClr val="E07B00"/>
                </a:solidFill>
              </a:rPr>
              <a:t>6 — Droits locaux vs NTFS</a:t>
            </a:r>
            <a:endParaRPr lang="fr-CA" dirty="0"/>
          </a:p>
        </p:txBody>
      </p:sp>
      <p:sp>
        <p:nvSpPr>
          <p:cNvPr id="57" name="C4B"/>
          <p:cNvSpPr/>
          <p:nvPr/>
        </p:nvSpPr>
        <p:spPr>
          <a:xfrm>
            <a:off x="4705000" y="3550000"/>
            <a:ext cx="4050000" cy="119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fr-CA" sz="1000" b="1" i="0" dirty="0">
                <a:solidFill>
                  <a:srgbClr val="152B4E"/>
                </a:solidFill>
              </a:rPr>
              <a:t>Droit local = autorisation système (action Windows)</a:t>
            </a:r>
            <a:endParaRPr lang="fr-CA" dirty="0"/>
          </a:p>
          <a:p>
            <a:pPr marL="0" indent="0" algn="l">
              <a:buNone/>
            </a:pPr>
            <a:r>
              <a:rPr lang="fr-CA" sz="1000" b="0" i="0" dirty="0">
                <a:solidFill>
                  <a:srgbClr val="152B4E"/>
                </a:solidFill>
              </a:rPr>
              <a:t>Exemples : se connecter · arrêter · installer pilote · RDP</a:t>
            </a:r>
            <a:endParaRPr lang="fr-CA" dirty="0"/>
          </a:p>
          <a:p>
            <a:pPr marL="0" indent="0" algn="l">
              <a:buNone/>
            </a:pPr>
            <a:r>
              <a:rPr lang="fr-CA" sz="1000" b="0" i="1" dirty="0">
                <a:solidFill>
                  <a:srgbClr val="7A7A7A"/>
                </a:solidFill>
              </a:rPr>
              <a:t>→ définis dans secpol.msc</a:t>
            </a:r>
            <a:endParaRPr lang="fr-CA" dirty="0"/>
          </a:p>
          <a:p>
            <a:pPr marL="0" indent="0" algn="l">
              <a:buNone/>
            </a:pPr>
            <a:r>
              <a:rPr lang="fr-CA" sz="1000" b="1" i="0" dirty="0" smtClean="0">
                <a:solidFill>
                  <a:srgbClr val="152B4E"/>
                </a:solidFill>
              </a:rPr>
              <a:t>Permission </a:t>
            </a:r>
            <a:r>
              <a:rPr lang="fr-CA" sz="1000" b="1" i="0" dirty="0">
                <a:solidFill>
                  <a:srgbClr val="152B4E"/>
                </a:solidFill>
              </a:rPr>
              <a:t>NTFS = accès aux fichiers/dossiers uniquement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 smtClean="0">
                <a:solidFill>
                  <a:srgbClr val="152B4E"/>
                </a:solidFill>
              </a:rPr>
              <a:t>Les </a:t>
            </a:r>
            <a:r>
              <a:rPr lang="fr-CA" sz="950" b="0" i="0" dirty="0">
                <a:solidFill>
                  <a:srgbClr val="152B4E"/>
                </a:solidFill>
              </a:rPr>
              <a:t>deux utilisent le SID mais fonctionnent à des niveaux différents.</a:t>
            </a:r>
            <a:endParaRPr lang="fr-CA" dirty="0"/>
          </a:p>
          <a:p>
            <a:pPr marL="0" indent="0" algn="l">
              <a:buNone/>
            </a:pPr>
            <a:r>
              <a:rPr lang="fr-CA" sz="950" b="1" i="0" dirty="0">
                <a:solidFill>
                  <a:srgbClr val="D0021B"/>
                </a:solidFill>
              </a:rPr>
              <a:t>⚠️  Un administrateur peut toujours être bloqué par un refus NTFS explicite.</a:t>
            </a:r>
            <a:endParaRPr lang="fr-CA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mg-LoginScheme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H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7 — Comptes, Profils, Permissions et Diagnostic avancé</a:t>
            </a:r>
          </a:p>
        </p:txBody>
      </p:sp>
      <p:sp>
        <p:nvSpPr>
          <p:cNvPr id="903" name="FooterVersion"/>
          <p:cNvSpPr/>
          <p:nvPr/>
        </p:nvSpPr>
        <p:spPr>
          <a:xfrm>
            <a:off x="0" y="4900000"/>
            <a:ext cx="9144000" cy="20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650" i="1" dirty="0">
                <a:solidFill>
                  <a:srgbClr val="AAAAAA"/>
                </a:solidFill>
              </a:rPr>
              <a:t>Version 1 — Juin 2026</a:t>
            </a:r>
          </a:p>
        </p:txBody>
      </p:sp>
      <p:sp>
        <p:nvSpPr>
          <p:cNvPr id="10" name="Title"/>
          <p:cNvSpPr/>
          <p:nvPr/>
        </p:nvSpPr>
        <p:spPr>
          <a:xfrm>
            <a:off x="347472" y="530000"/>
            <a:ext cx="8449056" cy="3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600" b="1" i="0" dirty="0">
                <a:solidFill>
                  <a:srgbClr val="152B4E"/>
                </a:solidFill>
              </a:rPr>
              <a:t>🖼  Schéma conceptuel — Nom visible ≠ Identité (SID)</a:t>
            </a:r>
            <a:endParaRPr lang="fr-CA" dirty="0"/>
          </a:p>
        </p:txBody>
      </p:sp>
      <p:sp>
        <p:nvSpPr>
          <p:cNvPr id="11" name="TBar"/>
          <p:cNvSpPr/>
          <p:nvPr/>
        </p:nvSpPr>
        <p:spPr>
          <a:xfrm>
            <a:off x="347472" y="890000"/>
            <a:ext cx="800000" cy="32000"/>
          </a:xfrm>
          <a:prstGeom prst="rect">
            <a:avLst/>
          </a:prstGeom>
          <a:solidFill>
            <a:srgbClr val="6CC24A"/>
          </a:solidFill>
          <a:ln w="0">
            <a:noFill/>
          </a:ln>
        </p:spPr>
      </p:sp>
      <p:pic>
        <p:nvPicPr>
          <p:cNvPr id="20" name="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00" y="960000"/>
            <a:ext cx="7700218" cy="3989253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</p:pic>
      <p:sp>
        <p:nvSpPr>
          <p:cNvPr id="30" name="Cap"/>
          <p:cNvSpPr/>
          <p:nvPr/>
        </p:nvSpPr>
        <p:spPr>
          <a:xfrm>
            <a:off x="380000" y="9197000"/>
            <a:ext cx="8384000" cy="1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CA" sz="850" b="0" i="1" dirty="0">
                <a:solidFill>
                  <a:srgbClr val="7A7A7A"/>
                </a:solidFill>
              </a:rPr>
              <a:t>Illustration : l'écran de connexion affiche le Nom visible — Windows utilise le SID en interne</a:t>
            </a:r>
            <a:endParaRPr lang="fr-C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mg-SID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H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7 — Comptes, Profils, Permissions et Diagnostic avancé</a:t>
            </a:r>
          </a:p>
        </p:txBody>
      </p:sp>
      <p:sp>
        <p:nvSpPr>
          <p:cNvPr id="903" name="FooterVersion"/>
          <p:cNvSpPr/>
          <p:nvPr/>
        </p:nvSpPr>
        <p:spPr>
          <a:xfrm>
            <a:off x="0" y="4900000"/>
            <a:ext cx="9144000" cy="20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650" i="1" dirty="0">
                <a:solidFill>
                  <a:srgbClr val="AAAAAA"/>
                </a:solidFill>
              </a:rPr>
              <a:t>Version 1 — Juin 2026</a:t>
            </a:r>
          </a:p>
        </p:txBody>
      </p:sp>
      <p:sp>
        <p:nvSpPr>
          <p:cNvPr id="10" name="Title"/>
          <p:cNvSpPr/>
          <p:nvPr/>
        </p:nvSpPr>
        <p:spPr>
          <a:xfrm>
            <a:off x="347472" y="530000"/>
            <a:ext cx="8449056" cy="3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600" b="1" i="0" dirty="0">
                <a:solidFill>
                  <a:srgbClr val="152B4E"/>
                </a:solidFill>
              </a:rPr>
              <a:t>🖼  Structure d'un SID (Security Identifier)</a:t>
            </a:r>
            <a:endParaRPr lang="fr-CA" dirty="0"/>
          </a:p>
        </p:txBody>
      </p:sp>
      <p:sp>
        <p:nvSpPr>
          <p:cNvPr id="11" name="TBar"/>
          <p:cNvSpPr/>
          <p:nvPr/>
        </p:nvSpPr>
        <p:spPr>
          <a:xfrm>
            <a:off x="347472" y="890000"/>
            <a:ext cx="800000" cy="32000"/>
          </a:xfrm>
          <a:prstGeom prst="rect">
            <a:avLst/>
          </a:prstGeom>
          <a:solidFill>
            <a:srgbClr val="6CC24A"/>
          </a:solidFill>
          <a:ln w="0">
            <a:noFill/>
          </a:ln>
        </p:spPr>
      </p:sp>
      <p:pic>
        <p:nvPicPr>
          <p:cNvPr id="20" name="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00" y="960000"/>
            <a:ext cx="7215857" cy="373832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</p:pic>
      <p:sp>
        <p:nvSpPr>
          <p:cNvPr id="30" name="Cap"/>
          <p:cNvSpPr/>
          <p:nvPr/>
        </p:nvSpPr>
        <p:spPr>
          <a:xfrm>
            <a:off x="380000" y="9197000"/>
            <a:ext cx="8384000" cy="1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CA" sz="850" b="0" i="1" dirty="0">
                <a:solidFill>
                  <a:srgbClr val="7A7A7A"/>
                </a:solidFill>
              </a:rPr>
              <a:t>S-1-5-21-[Identifier Authority]-[Sub Authority x3]-[Relative ID] — Chaque partie identifie le domaine et l'utilisateur unique</a:t>
            </a:r>
            <a:endParaRPr lang="fr-CA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mg-GroupHeritage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H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7 — Comptes, Profils, Permissions et Diagnostic avancé</a:t>
            </a:r>
          </a:p>
        </p:txBody>
      </p:sp>
      <p:sp>
        <p:nvSpPr>
          <p:cNvPr id="903" name="FooterVersion"/>
          <p:cNvSpPr/>
          <p:nvPr/>
        </p:nvSpPr>
        <p:spPr>
          <a:xfrm>
            <a:off x="0" y="4900000"/>
            <a:ext cx="9144000" cy="20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650" i="1" dirty="0">
                <a:solidFill>
                  <a:srgbClr val="AAAAAA"/>
                </a:solidFill>
              </a:rPr>
              <a:t>Version 1 — Juin 2026</a:t>
            </a:r>
          </a:p>
        </p:txBody>
      </p:sp>
      <p:sp>
        <p:nvSpPr>
          <p:cNvPr id="10" name="Title"/>
          <p:cNvSpPr/>
          <p:nvPr/>
        </p:nvSpPr>
        <p:spPr>
          <a:xfrm>
            <a:off x="347472" y="530000"/>
            <a:ext cx="8449056" cy="3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600" b="1" i="0" dirty="0">
                <a:solidFill>
                  <a:srgbClr val="152B4E"/>
                </a:solidFill>
              </a:rPr>
              <a:t>🖼  Schéma héritage groupe — arbre d'appartenance</a:t>
            </a:r>
            <a:endParaRPr lang="fr-CA" dirty="0"/>
          </a:p>
        </p:txBody>
      </p:sp>
      <p:sp>
        <p:nvSpPr>
          <p:cNvPr id="11" name="TBar"/>
          <p:cNvSpPr/>
          <p:nvPr/>
        </p:nvSpPr>
        <p:spPr>
          <a:xfrm>
            <a:off x="347472" y="890000"/>
            <a:ext cx="800000" cy="32000"/>
          </a:xfrm>
          <a:prstGeom prst="rect">
            <a:avLst/>
          </a:prstGeom>
          <a:solidFill>
            <a:srgbClr val="6CC24A"/>
          </a:solidFill>
          <a:ln w="0">
            <a:noFill/>
          </a:ln>
        </p:spPr>
      </p:sp>
      <p:pic>
        <p:nvPicPr>
          <p:cNvPr id="20" name="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00" y="960000"/>
            <a:ext cx="7396927" cy="3832127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</p:pic>
      <p:sp>
        <p:nvSpPr>
          <p:cNvPr id="30" name="Cap"/>
          <p:cNvSpPr/>
          <p:nvPr/>
        </p:nvSpPr>
        <p:spPr>
          <a:xfrm>
            <a:off x="380000" y="9197000"/>
            <a:ext cx="8384000" cy="1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CA" sz="850" b="0" i="1" dirty="0">
                <a:solidFill>
                  <a:srgbClr val="7A7A7A"/>
                </a:solidFill>
              </a:rPr>
              <a:t>Un utilisateur hérite des droits de chaque groupe auquel il appartient — les droits s'accumulent, les refus prévalent</a:t>
            </a:r>
            <a:endParaRPr lang="fr-CA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roitsLocaux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H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7 — Comptes, Profils, Permissions et Diagnostic avancé</a:t>
            </a:r>
          </a:p>
        </p:txBody>
      </p:sp>
      <p:sp>
        <p:nvSpPr>
          <p:cNvPr id="903" name="FooterVersion"/>
          <p:cNvSpPr/>
          <p:nvPr/>
        </p:nvSpPr>
        <p:spPr>
          <a:xfrm>
            <a:off x="0" y="4900000"/>
            <a:ext cx="9144000" cy="20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650" i="1" dirty="0">
                <a:solidFill>
                  <a:srgbClr val="AAAAAA"/>
                </a:solidFill>
              </a:rPr>
              <a:t>Version 1 — Juin 2026</a:t>
            </a:r>
          </a:p>
        </p:txBody>
      </p:sp>
      <p:sp>
        <p:nvSpPr>
          <p:cNvPr id="10" name="T"/>
          <p:cNvSpPr/>
          <p:nvPr/>
        </p:nvSpPr>
        <p:spPr>
          <a:xfrm>
            <a:off x="347472" y="530000"/>
            <a:ext cx="8449056" cy="3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800" b="1" i="0" dirty="0">
                <a:solidFill>
                  <a:srgbClr val="152B4E"/>
                </a:solidFill>
              </a:rPr>
              <a:t>🔐  6 — DROITS LOCAUX — AUTORISATION SYSTÈME (≠ NTFS)</a:t>
            </a:r>
            <a:endParaRPr lang="fr-CA" dirty="0"/>
          </a:p>
        </p:txBody>
      </p:sp>
      <p:sp>
        <p:nvSpPr>
          <p:cNvPr id="11" name="GB"/>
          <p:cNvSpPr/>
          <p:nvPr/>
        </p:nvSpPr>
        <p:spPr>
          <a:xfrm>
            <a:off x="347472" y="890000"/>
            <a:ext cx="800000" cy="32000"/>
          </a:xfrm>
          <a:prstGeom prst="rect">
            <a:avLst/>
          </a:prstGeom>
          <a:solidFill>
            <a:srgbClr val="6CC24A"/>
          </a:solidFill>
          <a:ln w="0">
            <a:noFill/>
          </a:ln>
        </p:spPr>
      </p:sp>
      <p:sp>
        <p:nvSpPr>
          <p:cNvPr id="20" name="Left"/>
          <p:cNvSpPr/>
          <p:nvPr/>
        </p:nvSpPr>
        <p:spPr>
          <a:xfrm>
            <a:off x="347472" y="980000"/>
            <a:ext cx="4050000" cy="3963500"/>
          </a:xfrm>
          <a:prstGeom prst="roundRect">
            <a:avLst>
              <a:gd name="adj" fmla="val 4000"/>
            </a:avLst>
          </a:prstGeom>
          <a:solidFill>
            <a:srgbClr val="EAF4FF"/>
          </a:solidFill>
          <a:ln w="15240">
            <a:solidFill>
              <a:srgbClr val="2563A0"/>
            </a:solidFill>
          </a:ln>
        </p:spPr>
      </p:sp>
      <p:sp>
        <p:nvSpPr>
          <p:cNvPr id="4" name="LS"/>
          <p:cNvSpPr/>
          <p:nvPr/>
        </p:nvSpPr>
        <p:spPr>
          <a:xfrm>
            <a:off x="347472" y="980000"/>
            <a:ext cx="45720" cy="3963500"/>
          </a:xfrm>
          <a:prstGeom prst="rect">
            <a:avLst/>
          </a:prstGeom>
          <a:solidFill>
            <a:srgbClr val="2563A0"/>
          </a:solidFill>
          <a:ln w="0">
            <a:noFill/>
          </a:ln>
        </p:spPr>
      </p:sp>
      <p:sp>
        <p:nvSpPr>
          <p:cNvPr id="22" name="LT"/>
          <p:cNvSpPr/>
          <p:nvPr/>
        </p:nvSpPr>
        <p:spPr>
          <a:xfrm>
            <a:off x="450000" y="1010000"/>
            <a:ext cx="3950000" cy="23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200" b="1" i="0" dirty="0">
                <a:solidFill>
                  <a:srgbClr val="2563A0"/>
                </a:solidFill>
              </a:rPr>
              <a:t>Qu'est-ce qu'un droit local ?</a:t>
            </a:r>
            <a:endParaRPr lang="fr-CA" dirty="0"/>
          </a:p>
        </p:txBody>
      </p:sp>
      <p:sp>
        <p:nvSpPr>
          <p:cNvPr id="23" name="LB"/>
          <p:cNvSpPr/>
          <p:nvPr/>
        </p:nvSpPr>
        <p:spPr>
          <a:xfrm>
            <a:off x="450000" y="1250000"/>
            <a:ext cx="3950000" cy="36535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fr-CA" sz="1000" b="1" i="0" dirty="0">
                <a:solidFill>
                  <a:srgbClr val="152B4E"/>
                </a:solidFill>
              </a:rPr>
              <a:t>Un droit local est une autorisation système, pas une permission sur un fichier.</a:t>
            </a:r>
            <a:endParaRPr lang="fr-CA" dirty="0"/>
          </a:p>
          <a:p>
            <a:pPr marL="0" indent="0" algn="l">
              <a:buNone/>
            </a:pPr>
            <a:r>
              <a:rPr lang="fr-CA" sz="1000" b="0" i="0" dirty="0">
                <a:solidFill>
                  <a:srgbClr val="152B4E"/>
                </a:solidFill>
              </a:rPr>
              <a:t>Il donne le droit d'effectuer une action au niveau du système d'exploitation.</a:t>
            </a:r>
            <a:endParaRPr lang="fr-CA" dirty="0"/>
          </a:p>
          <a:p>
            <a:pPr marL="0" indent="0" algn="l">
              <a:buNone/>
            </a:pPr>
            <a:endParaRPr lang="fr-CA" dirty="0"/>
          </a:p>
          <a:p>
            <a:pPr marL="0" indent="0" algn="l">
              <a:buNone/>
            </a:pPr>
            <a:r>
              <a:rPr lang="fr-CA" sz="1000" b="1" i="0" dirty="0">
                <a:solidFill>
                  <a:srgbClr val="2563A0"/>
                </a:solidFill>
              </a:rPr>
              <a:t>Exemples de droits locaux :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• Se connecter localement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• Se connecter via Bureau à distance (RDP)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• Arrêter le système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• Installer / charger des pilotes de périphériques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• Modifier l'heure système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• Sauvegarder / restaurer des fichiers</a:t>
            </a:r>
            <a:endParaRPr lang="fr-CA" dirty="0"/>
          </a:p>
          <a:p>
            <a:pPr marL="0" indent="0" algn="l">
              <a:buNone/>
            </a:pPr>
            <a:endParaRPr lang="fr-CA" dirty="0"/>
          </a:p>
          <a:p>
            <a:pPr marL="0" indent="0" algn="l">
              <a:buNone/>
            </a:pPr>
            <a:r>
              <a:rPr lang="fr-CA" sz="1000" b="1" i="0" dirty="0">
                <a:solidFill>
                  <a:srgbClr val="2563A0"/>
                </a:solidFill>
              </a:rPr>
              <a:t>Où les trouver ?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secpol.msc → Stratégies locales → Attribution des droits utilisateur</a:t>
            </a:r>
            <a:endParaRPr lang="fr-CA" dirty="0"/>
          </a:p>
          <a:p>
            <a:pPr marL="0" indent="0" algn="l">
              <a:buNone/>
            </a:pPr>
            <a:endParaRPr lang="fr-CA" dirty="0"/>
          </a:p>
          <a:p>
            <a:pPr marL="0" indent="0" algn="l">
              <a:buNone/>
            </a:pPr>
            <a:r>
              <a:rPr lang="fr-CA" sz="1000" b="1" i="0" dirty="0">
                <a:solidFill>
                  <a:srgbClr val="152B4E"/>
                </a:solidFill>
              </a:rPr>
              <a:t>Cas : Utilisateur a Contrôle total NTFS mais ne peut pas se connecter en RDP.</a:t>
            </a:r>
            <a:endParaRPr lang="fr-CA" dirty="0"/>
          </a:p>
          <a:p>
            <a:pPr marL="0" indent="0" algn="l">
              <a:buNone/>
            </a:pPr>
            <a:r>
              <a:rPr lang="fr-CA" sz="950" b="0" i="1" dirty="0">
                <a:solidFill>
                  <a:srgbClr val="D0021B"/>
                </a:solidFill>
              </a:rPr>
              <a:t>→ Ce n'est pas un problème NTFS — c'est un droit local manquant.</a:t>
            </a:r>
            <a:endParaRPr lang="fr-CA" dirty="0"/>
          </a:p>
        </p:txBody>
      </p:sp>
      <p:sp>
        <p:nvSpPr>
          <p:cNvPr id="30" name="Right"/>
          <p:cNvSpPr/>
          <p:nvPr/>
        </p:nvSpPr>
        <p:spPr>
          <a:xfrm>
            <a:off x="4600000" y="980000"/>
            <a:ext cx="4200000" cy="3963500"/>
          </a:xfrm>
          <a:prstGeom prst="roundRect">
            <a:avLst>
              <a:gd name="adj" fmla="val 4000"/>
            </a:avLst>
          </a:prstGeom>
          <a:solidFill>
            <a:srgbClr val="FFF3DC"/>
          </a:solidFill>
          <a:ln w="15240">
            <a:solidFill>
              <a:srgbClr val="E07B00"/>
            </a:solidFill>
          </a:ln>
        </p:spPr>
      </p:sp>
      <p:sp>
        <p:nvSpPr>
          <p:cNvPr id="31" name="RS"/>
          <p:cNvSpPr/>
          <p:nvPr/>
        </p:nvSpPr>
        <p:spPr>
          <a:xfrm>
            <a:off x="4600000" y="980000"/>
            <a:ext cx="45720" cy="3963500"/>
          </a:xfrm>
          <a:prstGeom prst="rect">
            <a:avLst/>
          </a:prstGeom>
          <a:solidFill>
            <a:srgbClr val="E07B00"/>
          </a:solidFill>
          <a:ln w="0">
            <a:noFill/>
          </a:ln>
        </p:spPr>
      </p:sp>
      <p:sp>
        <p:nvSpPr>
          <p:cNvPr id="32" name="RT"/>
          <p:cNvSpPr/>
          <p:nvPr/>
        </p:nvSpPr>
        <p:spPr>
          <a:xfrm>
            <a:off x="4705000" y="1010000"/>
            <a:ext cx="4050000" cy="23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200" b="1" i="0" dirty="0">
                <a:solidFill>
                  <a:srgbClr val="E07B00"/>
                </a:solidFill>
              </a:rPr>
              <a:t>Piège fréquent — Admin ≠ tout permis</a:t>
            </a:r>
            <a:endParaRPr lang="fr-CA" dirty="0"/>
          </a:p>
        </p:txBody>
      </p:sp>
      <p:sp>
        <p:nvSpPr>
          <p:cNvPr id="33" name="RB"/>
          <p:cNvSpPr/>
          <p:nvPr/>
        </p:nvSpPr>
        <p:spPr>
          <a:xfrm>
            <a:off x="4705000" y="1250000"/>
            <a:ext cx="4050000" cy="36535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fr-CA" sz="1050" b="1" i="0" dirty="0">
                <a:solidFill>
                  <a:srgbClr val="D0021B"/>
                </a:solidFill>
              </a:rPr>
              <a:t>'Un administrateur peut tout faire.'</a:t>
            </a:r>
            <a:endParaRPr lang="fr-CA" dirty="0"/>
          </a:p>
          <a:p>
            <a:pPr marL="0" indent="0" algn="l">
              <a:buNone/>
            </a:pPr>
            <a:r>
              <a:rPr lang="fr-CA" sz="1050" b="1" i="0" dirty="0">
                <a:solidFill>
                  <a:srgbClr val="D0021B"/>
                </a:solidFill>
              </a:rPr>
              <a:t>FAUX.</a:t>
            </a:r>
            <a:endParaRPr lang="fr-CA" dirty="0"/>
          </a:p>
          <a:p>
            <a:pPr marL="0" indent="0" algn="l">
              <a:buNone/>
            </a:pPr>
            <a:endParaRPr lang="fr-CA" dirty="0"/>
          </a:p>
          <a:p>
            <a:pPr marL="0" indent="0" algn="l">
              <a:buNone/>
            </a:pPr>
            <a:r>
              <a:rPr lang="fr-CA" sz="1000" b="0" i="0" dirty="0">
                <a:solidFill>
                  <a:srgbClr val="152B4E"/>
                </a:solidFill>
              </a:rPr>
              <a:t>Un administrateur peut avoir tous les droits locaux,</a:t>
            </a:r>
            <a:endParaRPr lang="fr-CA" dirty="0"/>
          </a:p>
          <a:p>
            <a:pPr marL="0" indent="0" algn="l">
              <a:buNone/>
            </a:pPr>
            <a:r>
              <a:rPr lang="fr-CA" sz="1000" b="1" i="0" dirty="0">
                <a:solidFill>
                  <a:srgbClr val="152B4E"/>
                </a:solidFill>
              </a:rPr>
              <a:t>mais peut toujours être bloqué par un refus NTFS explicite.</a:t>
            </a:r>
            <a:endParaRPr lang="fr-CA" dirty="0"/>
          </a:p>
          <a:p>
            <a:pPr marL="0" indent="0" algn="l">
              <a:buNone/>
            </a:pPr>
            <a:endParaRPr lang="fr-CA" dirty="0"/>
          </a:p>
          <a:p>
            <a:pPr marL="0" indent="0" algn="l">
              <a:buNone/>
            </a:pPr>
            <a:r>
              <a:rPr lang="fr-CA" sz="1000" b="1" i="0" dirty="0">
                <a:solidFill>
                  <a:srgbClr val="152B4E"/>
                </a:solidFill>
              </a:rPr>
              <a:t>Exemple terrain :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• Est administrateur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• A contrôle total sur un dossier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• MAIS ne peut pas modifier l'heure système</a:t>
            </a:r>
            <a:endParaRPr lang="fr-CA" dirty="0"/>
          </a:p>
          <a:p>
            <a:pPr marL="0" indent="0" algn="l">
              <a:buNone/>
            </a:pPr>
            <a:r>
              <a:rPr lang="fr-CA" sz="950" b="0" i="1" dirty="0">
                <a:solidFill>
                  <a:srgbClr val="D0021B"/>
                </a:solidFill>
              </a:rPr>
              <a:t>Pourquoi ? Le droit local 'Modifier l'heure système' n'est pas attribué à son groupe.</a:t>
            </a:r>
            <a:endParaRPr lang="fr-CA" dirty="0"/>
          </a:p>
          <a:p>
            <a:pPr marL="0" indent="0" algn="l">
              <a:buNone/>
            </a:pPr>
            <a:endParaRPr lang="fr-CA" dirty="0"/>
          </a:p>
          <a:p>
            <a:pPr marL="0" indent="0" algn="l">
              <a:buNone/>
            </a:pPr>
            <a:r>
              <a:rPr lang="fr-CA" sz="1000" b="1" i="0" dirty="0">
                <a:solidFill>
                  <a:srgbClr val="152B4E"/>
                </a:solidFill>
              </a:rPr>
              <a:t>Résumé :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Permissions NTFS → fichiers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Droits locaux → actions système</a:t>
            </a:r>
            <a:endParaRPr lang="fr-CA" dirty="0"/>
          </a:p>
          <a:p>
            <a:pPr marL="0" indent="0" algn="l">
              <a:buNone/>
            </a:pPr>
            <a:r>
              <a:rPr lang="fr-CA" sz="950" b="0" i="1" dirty="0">
                <a:solidFill>
                  <a:srgbClr val="7A7A7A"/>
                </a:solidFill>
              </a:rPr>
              <a:t>Les deux utilisent le SID — niveaux différents.</a:t>
            </a:r>
            <a:endParaRPr lang="fr-C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mg-Secpol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H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7 — Comptes, Profils, Permissions et Diagnostic avancé</a:t>
            </a:r>
          </a:p>
        </p:txBody>
      </p:sp>
      <p:sp>
        <p:nvSpPr>
          <p:cNvPr id="903" name="FooterVersion"/>
          <p:cNvSpPr/>
          <p:nvPr/>
        </p:nvSpPr>
        <p:spPr>
          <a:xfrm>
            <a:off x="0" y="4900000"/>
            <a:ext cx="9144000" cy="20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650" i="1" dirty="0">
                <a:solidFill>
                  <a:srgbClr val="AAAAAA"/>
                </a:solidFill>
              </a:rPr>
              <a:t>Version 1 — Juin 2026</a:t>
            </a:r>
          </a:p>
        </p:txBody>
      </p:sp>
      <p:sp>
        <p:nvSpPr>
          <p:cNvPr id="10" name="Title"/>
          <p:cNvSpPr/>
          <p:nvPr/>
        </p:nvSpPr>
        <p:spPr>
          <a:xfrm>
            <a:off x="347472" y="530000"/>
            <a:ext cx="8449056" cy="3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600" b="1" i="0" dirty="0">
                <a:solidFill>
                  <a:srgbClr val="152B4E"/>
                </a:solidFill>
              </a:rPr>
              <a:t>🖼  secpol.msc — Stratégies locales / Attribution des droits utilisateur</a:t>
            </a:r>
            <a:endParaRPr lang="fr-CA" dirty="0"/>
          </a:p>
        </p:txBody>
      </p:sp>
      <p:sp>
        <p:nvSpPr>
          <p:cNvPr id="11" name="TBar"/>
          <p:cNvSpPr/>
          <p:nvPr/>
        </p:nvSpPr>
        <p:spPr>
          <a:xfrm>
            <a:off x="347472" y="890000"/>
            <a:ext cx="800000" cy="32000"/>
          </a:xfrm>
          <a:prstGeom prst="rect">
            <a:avLst/>
          </a:prstGeom>
          <a:solidFill>
            <a:srgbClr val="6CC24A"/>
          </a:solidFill>
          <a:ln w="0">
            <a:noFill/>
          </a:ln>
        </p:spPr>
      </p:sp>
      <p:pic>
        <p:nvPicPr>
          <p:cNvPr id="20" name="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01" y="960001"/>
            <a:ext cx="7415034" cy="3841508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</p:pic>
      <p:sp>
        <p:nvSpPr>
          <p:cNvPr id="30" name="Cap"/>
          <p:cNvSpPr/>
          <p:nvPr/>
        </p:nvSpPr>
        <p:spPr>
          <a:xfrm>
            <a:off x="380000" y="9197000"/>
            <a:ext cx="8384000" cy="1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CA" sz="850" b="0" i="1" dirty="0">
                <a:solidFill>
                  <a:srgbClr val="7A7A7A"/>
                </a:solidFill>
              </a:rPr>
              <a:t>Local Security Policy — chaque droit système est listé avec les groupes autorisés. Ici : 'Allow log on locally', 'Log on through Remote Desktop Services', etc.</a:t>
            </a:r>
            <a:endParaRPr lang="fr-C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2-Profils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H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7 — Comptes, Profils, Permissions et Diagnostic avancé</a:t>
            </a:r>
          </a:p>
        </p:txBody>
      </p:sp>
      <p:sp>
        <p:nvSpPr>
          <p:cNvPr id="903" name="FooterVersion"/>
          <p:cNvSpPr/>
          <p:nvPr/>
        </p:nvSpPr>
        <p:spPr>
          <a:xfrm>
            <a:off x="0" y="4900000"/>
            <a:ext cx="9144000" cy="20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650" i="1" dirty="0">
                <a:solidFill>
                  <a:srgbClr val="AAAAAA"/>
                </a:solidFill>
              </a:rPr>
              <a:t>Version 1 — Juin 2026</a:t>
            </a:r>
          </a:p>
        </p:txBody>
      </p:sp>
      <p:sp>
        <p:nvSpPr>
          <p:cNvPr id="10" name="T"/>
          <p:cNvSpPr/>
          <p:nvPr/>
        </p:nvSpPr>
        <p:spPr>
          <a:xfrm>
            <a:off x="347472" y="530000"/>
            <a:ext cx="8449056" cy="3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800" b="1" i="0" dirty="0">
                <a:solidFill>
                  <a:srgbClr val="152B4E"/>
                </a:solidFill>
              </a:rPr>
              <a:t>📁  PARTIE 2 — LES PROFILS UTILISATEURS</a:t>
            </a:r>
            <a:endParaRPr lang="fr-CA" dirty="0"/>
          </a:p>
        </p:txBody>
      </p:sp>
      <p:sp>
        <p:nvSpPr>
          <p:cNvPr id="11" name="GB"/>
          <p:cNvSpPr/>
          <p:nvPr/>
        </p:nvSpPr>
        <p:spPr>
          <a:xfrm>
            <a:off x="347472" y="890000"/>
            <a:ext cx="800000" cy="32000"/>
          </a:xfrm>
          <a:prstGeom prst="rect">
            <a:avLst/>
          </a:prstGeom>
          <a:solidFill>
            <a:srgbClr val="6CC24A"/>
          </a:solidFill>
          <a:ln w="0">
            <a:noFill/>
          </a:ln>
        </p:spPr>
      </p:sp>
      <p:sp>
        <p:nvSpPr>
          <p:cNvPr id="20" name="Top"/>
          <p:cNvSpPr/>
          <p:nvPr/>
        </p:nvSpPr>
        <p:spPr>
          <a:xfrm>
            <a:off x="347472" y="980000"/>
            <a:ext cx="8449056" cy="520000"/>
          </a:xfrm>
          <a:prstGeom prst="roundRect">
            <a:avLst>
              <a:gd name="adj" fmla="val 4000"/>
            </a:avLst>
          </a:prstGeom>
          <a:solidFill>
            <a:srgbClr val="EAF4FF"/>
          </a:solidFill>
          <a:ln w="15240">
            <a:solidFill>
              <a:srgbClr val="2563A0"/>
            </a:solidFill>
          </a:ln>
        </p:spPr>
      </p:sp>
      <p:sp>
        <p:nvSpPr>
          <p:cNvPr id="4" name="TopT"/>
          <p:cNvSpPr/>
          <p:nvPr/>
        </p:nvSpPr>
        <p:spPr>
          <a:xfrm>
            <a:off x="380000" y="1000000"/>
            <a:ext cx="8384000" cy="4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CA" sz="1150" b="1" i="0" dirty="0">
                <a:solidFill>
                  <a:srgbClr val="2563A0"/>
                </a:solidFill>
              </a:rPr>
              <a:t>Profil ≠ Compte  |  Le profil est l'ENVIRONNEMENT du compte.</a:t>
            </a:r>
            <a:endParaRPr lang="fr-CA" dirty="0"/>
          </a:p>
          <a:p>
            <a:pPr marL="0" indent="0" algn="ctr">
              <a:buNone/>
            </a:pPr>
            <a:r>
              <a:rPr lang="fr-CA" sz="1000" b="0" i="1" dirty="0">
                <a:solidFill>
                  <a:srgbClr val="7A7A7A"/>
                </a:solidFill>
              </a:rPr>
              <a:t>Un compte peut exister sans profil. Un profil sans compte = dossier orphelin.</a:t>
            </a:r>
            <a:endParaRPr lang="fr-CA" dirty="0"/>
          </a:p>
        </p:txBody>
      </p:sp>
      <p:sp>
        <p:nvSpPr>
          <p:cNvPr id="22" name="C1"/>
          <p:cNvSpPr/>
          <p:nvPr/>
        </p:nvSpPr>
        <p:spPr>
          <a:xfrm>
            <a:off x="347472" y="1560000"/>
            <a:ext cx="2700000" cy="3383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23" name="C1T"/>
          <p:cNvSpPr/>
          <p:nvPr/>
        </p:nvSpPr>
        <p:spPr>
          <a:xfrm>
            <a:off x="380000" y="1590000"/>
            <a:ext cx="2630000" cy="23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100" b="1" i="0" dirty="0">
                <a:solidFill>
                  <a:srgbClr val="152B4E"/>
                </a:solidFill>
              </a:rPr>
              <a:t>Structure du profil</a:t>
            </a:r>
            <a:endParaRPr lang="fr-CA" dirty="0"/>
          </a:p>
        </p:txBody>
      </p:sp>
      <p:sp>
        <p:nvSpPr>
          <p:cNvPr id="24" name="C1B"/>
          <p:cNvSpPr/>
          <p:nvPr/>
        </p:nvSpPr>
        <p:spPr>
          <a:xfrm>
            <a:off x="380000" y="1830000"/>
            <a:ext cx="2630000" cy="30835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fr-CA" sz="950" b="1" i="0" dirty="0">
                <a:solidFill>
                  <a:srgbClr val="2563A0"/>
                </a:solidFill>
              </a:rPr>
              <a:t>C:\Users\NomUtilisateur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├── Desktop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├── Documents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├── Downloads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├── AppData</a:t>
            </a:r>
            <a:endParaRPr lang="fr-CA" dirty="0"/>
          </a:p>
          <a:p>
            <a:pPr marL="0" indent="0" algn="l">
              <a:buNone/>
            </a:pPr>
            <a:r>
              <a:rPr lang="fr-CA" sz="900" b="0" i="0" dirty="0">
                <a:solidFill>
                  <a:srgbClr val="7A7A7A"/>
                </a:solidFill>
              </a:rPr>
              <a:t>│   ├── Local</a:t>
            </a:r>
            <a:endParaRPr lang="fr-CA" dirty="0"/>
          </a:p>
          <a:p>
            <a:pPr marL="0" indent="0" algn="l">
              <a:buNone/>
            </a:pPr>
            <a:r>
              <a:rPr lang="fr-CA" sz="900" b="0" i="0" dirty="0">
                <a:solidFill>
                  <a:srgbClr val="7A7A7A"/>
                </a:solidFill>
              </a:rPr>
              <a:t>│   ├── Roaming</a:t>
            </a:r>
            <a:endParaRPr lang="fr-CA" dirty="0"/>
          </a:p>
          <a:p>
            <a:pPr marL="0" indent="0" algn="l">
              <a:buNone/>
            </a:pPr>
            <a:r>
              <a:rPr lang="fr-CA" sz="900" b="0" i="0" dirty="0">
                <a:solidFill>
                  <a:srgbClr val="7A7A7A"/>
                </a:solidFill>
              </a:rPr>
              <a:t>│   └── LocalLow</a:t>
            </a:r>
            <a:endParaRPr lang="fr-CA" dirty="0"/>
          </a:p>
          <a:p>
            <a:pPr marL="0" indent="0" algn="l">
              <a:buNone/>
            </a:pPr>
            <a:r>
              <a:rPr lang="fr-CA" sz="950" b="1" i="0" dirty="0">
                <a:solidFill>
                  <a:srgbClr val="D0021B"/>
                </a:solidFill>
              </a:rPr>
              <a:t>└── NTUSER.DAT  ⚠️</a:t>
            </a:r>
            <a:endParaRPr lang="fr-CA" dirty="0"/>
          </a:p>
          <a:p>
            <a:pPr marL="0" indent="0" algn="l">
              <a:buNone/>
            </a:pPr>
            <a:endParaRPr lang="fr-CA" dirty="0"/>
          </a:p>
          <a:p>
            <a:pPr marL="0" indent="0" algn="l">
              <a:buNone/>
            </a:pPr>
            <a:r>
              <a:rPr lang="fr-CA" sz="950" b="1" i="0" dirty="0">
                <a:solidFill>
                  <a:srgbClr val="D0021B"/>
                </a:solidFill>
              </a:rPr>
              <a:t>NTUSER.DAT = ruche registre utilisateur.</a:t>
            </a:r>
            <a:endParaRPr lang="fr-CA" dirty="0"/>
          </a:p>
          <a:p>
            <a:pPr marL="0" indent="0" algn="l">
              <a:buNone/>
            </a:pPr>
            <a:r>
              <a:rPr lang="fr-CA" sz="900" b="0" i="0" dirty="0">
                <a:solidFill>
                  <a:srgbClr val="152B4E"/>
                </a:solidFill>
              </a:rPr>
              <a:t>Chargé dans HKEY_CURRENT_USER à chaque connexion.</a:t>
            </a:r>
            <a:endParaRPr lang="fr-CA" dirty="0"/>
          </a:p>
          <a:p>
            <a:pPr marL="0" indent="0" algn="l">
              <a:buNone/>
            </a:pPr>
            <a:r>
              <a:rPr lang="fr-CA" sz="900" b="1" i="0" dirty="0">
                <a:solidFill>
                  <a:srgbClr val="D0021B"/>
                </a:solidFill>
              </a:rPr>
              <a:t>Si corrompu → profil ne charge pas.</a:t>
            </a:r>
            <a:endParaRPr lang="fr-CA" dirty="0"/>
          </a:p>
        </p:txBody>
      </p:sp>
      <p:sp>
        <p:nvSpPr>
          <p:cNvPr id="25" name="C2"/>
          <p:cNvSpPr/>
          <p:nvPr/>
        </p:nvSpPr>
        <p:spPr>
          <a:xfrm>
            <a:off x="3120000" y="1560000"/>
            <a:ext cx="2700000" cy="3383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26" name="C2T"/>
          <p:cNvSpPr/>
          <p:nvPr/>
        </p:nvSpPr>
        <p:spPr>
          <a:xfrm>
            <a:off x="3155000" y="1590000"/>
            <a:ext cx="2630000" cy="23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100" b="1" i="0" dirty="0">
                <a:solidFill>
                  <a:srgbClr val="152B4E"/>
                </a:solidFill>
              </a:rPr>
              <a:t>Processus de chargement</a:t>
            </a:r>
            <a:endParaRPr lang="fr-CA" dirty="0"/>
          </a:p>
        </p:txBody>
      </p:sp>
      <p:sp>
        <p:nvSpPr>
          <p:cNvPr id="27" name="C2B"/>
          <p:cNvSpPr/>
          <p:nvPr/>
        </p:nvSpPr>
        <p:spPr>
          <a:xfrm>
            <a:off x="3155000" y="1830000"/>
            <a:ext cx="2630000" cy="30835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1  Windows authentifie le compte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2  Récupère le SID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3  Cherche SID dans ProfileList (registre)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4  Lit ProfileImagePath</a:t>
            </a:r>
            <a:endParaRPr lang="fr-CA" dirty="0"/>
          </a:p>
          <a:p>
            <a:pPr marL="0" indent="0" algn="l">
              <a:buNone/>
            </a:pPr>
            <a:r>
              <a:rPr lang="fr-CA" sz="950" b="1" i="0" dirty="0">
                <a:solidFill>
                  <a:srgbClr val="D0021B"/>
                </a:solidFill>
              </a:rPr>
              <a:t>5  Charge NTUSER.DAT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6  Monte l'environnement</a:t>
            </a:r>
            <a:endParaRPr lang="fr-CA" dirty="0"/>
          </a:p>
          <a:p>
            <a:pPr marL="0" indent="0" algn="l">
              <a:buNone/>
            </a:pPr>
            <a:endParaRPr lang="fr-CA" dirty="0"/>
          </a:p>
          <a:p>
            <a:pPr marL="0" indent="0" algn="l">
              <a:buNone/>
            </a:pPr>
            <a:r>
              <a:rPr lang="fr-CA" sz="950" b="1" i="0" dirty="0">
                <a:solidFill>
                  <a:srgbClr val="D0021B"/>
                </a:solidFill>
              </a:rPr>
              <a:t>Si étape échoue → PROFIL TEMPORAIRE</a:t>
            </a:r>
            <a:endParaRPr lang="fr-CA" dirty="0"/>
          </a:p>
          <a:p>
            <a:pPr marL="0" indent="0" algn="l">
              <a:buNone/>
            </a:pPr>
            <a:endParaRPr lang="fr-CA" dirty="0"/>
          </a:p>
          <a:p>
            <a:pPr marL="0" indent="0" algn="l">
              <a:buNone/>
            </a:pPr>
            <a:r>
              <a:rPr lang="fr-CA" sz="950" b="1" i="0" dirty="0">
                <a:solidFill>
                  <a:srgbClr val="152B4E"/>
                </a:solidFill>
              </a:rPr>
              <a:t>Registre :</a:t>
            </a:r>
            <a:endParaRPr lang="fr-CA" dirty="0"/>
          </a:p>
          <a:p>
            <a:pPr marL="0" indent="0" algn="l">
              <a:buNone/>
            </a:pPr>
            <a:r>
              <a:rPr lang="fr-CA" sz="900" b="0" i="0" dirty="0">
                <a:solidFill>
                  <a:srgbClr val="152B4E"/>
                </a:solidFill>
              </a:rPr>
              <a:t>HKLM\...\ProfileList\SID</a:t>
            </a:r>
            <a:endParaRPr lang="fr-CA" dirty="0"/>
          </a:p>
          <a:p>
            <a:pPr marL="0" indent="0" algn="l">
              <a:buNone/>
            </a:pPr>
            <a:r>
              <a:rPr lang="fr-CA" sz="900" b="0" i="0" dirty="0">
                <a:solidFill>
                  <a:srgbClr val="152B4E"/>
                </a:solidFill>
              </a:rPr>
              <a:t>→ ProfileImagePath = C:\Users\Nom</a:t>
            </a:r>
            <a:endParaRPr lang="fr-CA" dirty="0"/>
          </a:p>
        </p:txBody>
      </p:sp>
      <p:sp>
        <p:nvSpPr>
          <p:cNvPr id="28" name="C3"/>
          <p:cNvSpPr/>
          <p:nvPr/>
        </p:nvSpPr>
        <p:spPr>
          <a:xfrm>
            <a:off x="5890000" y="1560000"/>
            <a:ext cx="3000000" cy="3383500"/>
          </a:xfrm>
          <a:prstGeom prst="roundRect">
            <a:avLst>
              <a:gd name="adj" fmla="val 3000"/>
            </a:avLst>
          </a:prstGeom>
          <a:solidFill>
            <a:srgbClr val="FDE8E8"/>
          </a:solidFill>
          <a:ln w="15240">
            <a:solidFill>
              <a:srgbClr val="D0021B"/>
            </a:solidFill>
          </a:ln>
        </p:spPr>
      </p:sp>
      <p:sp>
        <p:nvSpPr>
          <p:cNvPr id="29" name="C3T"/>
          <p:cNvSpPr/>
          <p:nvPr/>
        </p:nvSpPr>
        <p:spPr>
          <a:xfrm>
            <a:off x="5925000" y="1590000"/>
            <a:ext cx="2935000" cy="23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100" b="1" i="0" dirty="0">
                <a:solidFill>
                  <a:srgbClr val="D0021B"/>
                </a:solidFill>
              </a:rPr>
              <a:t>Profil temporaire — causes</a:t>
            </a:r>
            <a:endParaRPr lang="fr-CA" dirty="0"/>
          </a:p>
        </p:txBody>
      </p:sp>
      <p:sp>
        <p:nvSpPr>
          <p:cNvPr id="291" name="C3B"/>
          <p:cNvSpPr/>
          <p:nvPr/>
        </p:nvSpPr>
        <p:spPr>
          <a:xfrm>
            <a:off x="5925000" y="1830000"/>
            <a:ext cx="2935000" cy="30835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fr-CA" sz="950" b="0" i="1" dirty="0">
                <a:solidFill>
                  <a:srgbClr val="D0021B"/>
                </a:solidFill>
              </a:rPr>
              <a:t>Message : 'Vous avez été connecté avec un profil temporaire.'</a:t>
            </a:r>
            <a:endParaRPr lang="fr-CA" dirty="0"/>
          </a:p>
          <a:p>
            <a:pPr marL="0" indent="0" algn="l">
              <a:buNone/>
            </a:pPr>
            <a:endParaRPr lang="fr-CA" dirty="0"/>
          </a:p>
          <a:p>
            <a:pPr marL="0" indent="0" algn="l">
              <a:buNone/>
            </a:pPr>
            <a:r>
              <a:rPr lang="fr-CA" sz="950" b="1" i="0" dirty="0">
                <a:solidFill>
                  <a:srgbClr val="152B4E"/>
                </a:solidFill>
              </a:rPr>
              <a:t>Causes :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• NTUSER.DAT corrompu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• Mauvaise fermeture de session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• Antivirus bloquant le chargement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• Clé ProfileList corrompue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• SID en double avec extension .bak</a:t>
            </a:r>
            <a:endParaRPr lang="fr-CA" dirty="0"/>
          </a:p>
          <a:p>
            <a:pPr marL="0" indent="0" algn="l">
              <a:buNone/>
            </a:pPr>
            <a:endParaRPr lang="fr-CA" dirty="0"/>
          </a:p>
          <a:p>
            <a:pPr marL="0" indent="0" algn="l">
              <a:buNone/>
            </a:pPr>
            <a:r>
              <a:rPr lang="fr-CA" sz="950" b="1" i="0" dirty="0">
                <a:solidFill>
                  <a:srgbClr val="152B4E"/>
                </a:solidFill>
              </a:rPr>
              <a:t>Diagnostic :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1  Vérifier C:\Users\Nom existe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2  Ouvrir regedit → ProfileList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3  Chercher SID + SID.bak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4  Supprimer SID vide, renommer .bak → SID</a:t>
            </a:r>
            <a:endParaRPr lang="fr-CA" dirty="0"/>
          </a:p>
          <a:p>
            <a:pPr marL="0" indent="0" algn="l">
              <a:buNone/>
            </a:pPr>
            <a:endParaRPr lang="fr-CA" sz="950" b="1" i="0" dirty="0" smtClean="0">
              <a:solidFill>
                <a:srgbClr val="D0021B"/>
              </a:solidFill>
            </a:endParaRPr>
          </a:p>
          <a:p>
            <a:pPr marL="0" indent="0" algn="l">
              <a:buNone/>
            </a:pPr>
            <a:r>
              <a:rPr lang="fr-CA" sz="950" b="1" i="0" dirty="0" smtClean="0">
                <a:solidFill>
                  <a:srgbClr val="D0021B"/>
                </a:solidFill>
              </a:rPr>
              <a:t>⚠️  </a:t>
            </a:r>
            <a:r>
              <a:rPr lang="fr-CA" sz="950" b="1" i="0" dirty="0">
                <a:solidFill>
                  <a:srgbClr val="D0021B"/>
                </a:solidFill>
              </a:rPr>
              <a:t>Les données sont souvent encore présentes !</a:t>
            </a:r>
            <a:endParaRPr lang="fr-CA" dirty="0"/>
          </a:p>
          <a:p>
            <a:pPr marL="0" indent="0" algn="l">
              <a:buNone/>
            </a:pPr>
            <a:r>
              <a:rPr lang="fr-CA" sz="900" b="0" i="1" dirty="0">
                <a:solidFill>
                  <a:srgbClr val="7A7A7A"/>
                </a:solidFill>
              </a:rPr>
              <a:t>Ne jamais supprimer le profil précipitamment.</a:t>
            </a:r>
            <a:endParaRPr lang="fr-CA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mg-NTUSER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H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7 — Comptes, Profils, Permissions et Diagnostic avancé</a:t>
            </a:r>
          </a:p>
        </p:txBody>
      </p:sp>
      <p:sp>
        <p:nvSpPr>
          <p:cNvPr id="903" name="FooterVersion"/>
          <p:cNvSpPr/>
          <p:nvPr/>
        </p:nvSpPr>
        <p:spPr>
          <a:xfrm>
            <a:off x="0" y="4900000"/>
            <a:ext cx="9144000" cy="20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650" i="1" dirty="0">
                <a:solidFill>
                  <a:srgbClr val="AAAAAA"/>
                </a:solidFill>
              </a:rPr>
              <a:t>Version 1 — Juin 2026</a:t>
            </a:r>
          </a:p>
        </p:txBody>
      </p:sp>
      <p:sp>
        <p:nvSpPr>
          <p:cNvPr id="10" name="Title"/>
          <p:cNvSpPr/>
          <p:nvPr/>
        </p:nvSpPr>
        <p:spPr>
          <a:xfrm>
            <a:off x="347472" y="530000"/>
            <a:ext cx="8449056" cy="3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600" b="1" i="0" dirty="0">
                <a:solidFill>
                  <a:srgbClr val="152B4E"/>
                </a:solidFill>
              </a:rPr>
              <a:t>🖼  NTUSER.DAT — Structure interne de la ruche registre utilisateur</a:t>
            </a:r>
            <a:endParaRPr lang="fr-CA" dirty="0"/>
          </a:p>
        </p:txBody>
      </p:sp>
      <p:sp>
        <p:nvSpPr>
          <p:cNvPr id="11" name="TBar"/>
          <p:cNvSpPr/>
          <p:nvPr/>
        </p:nvSpPr>
        <p:spPr>
          <a:xfrm>
            <a:off x="347472" y="890000"/>
            <a:ext cx="800000" cy="32000"/>
          </a:xfrm>
          <a:prstGeom prst="rect">
            <a:avLst/>
          </a:prstGeom>
          <a:solidFill>
            <a:srgbClr val="6CC24A"/>
          </a:solidFill>
          <a:ln w="0">
            <a:noFill/>
          </a:ln>
        </p:spPr>
      </p:sp>
      <p:pic>
        <p:nvPicPr>
          <p:cNvPr id="20" name="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00" y="960000"/>
            <a:ext cx="7645897" cy="3961111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</p:pic>
      <p:sp>
        <p:nvSpPr>
          <p:cNvPr id="30" name="Cap"/>
          <p:cNvSpPr/>
          <p:nvPr/>
        </p:nvSpPr>
        <p:spPr>
          <a:xfrm>
            <a:off x="380000" y="9197000"/>
            <a:ext cx="8384000" cy="1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CA" sz="850" b="0" i="1" dirty="0">
                <a:solidFill>
                  <a:srgbClr val="7A7A7A"/>
                </a:solidFill>
              </a:rPr>
              <a:t>HxD : structure binaire de NTUSER.DAT avec séquences primaire et secondaire — interruption lors de l'écriture = corruption du profil</a:t>
            </a:r>
            <a:endParaRPr lang="fr-CA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mg-CUsers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H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7 — Comptes, Profils, Permissions et Diagnostic avancé</a:t>
            </a:r>
          </a:p>
        </p:txBody>
      </p:sp>
      <p:sp>
        <p:nvSpPr>
          <p:cNvPr id="903" name="FooterVersion"/>
          <p:cNvSpPr/>
          <p:nvPr/>
        </p:nvSpPr>
        <p:spPr>
          <a:xfrm>
            <a:off x="0" y="4900000"/>
            <a:ext cx="9144000" cy="20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650" i="1" dirty="0">
                <a:solidFill>
                  <a:srgbClr val="AAAAAA"/>
                </a:solidFill>
              </a:rPr>
              <a:t>Version 1 — Juin 2026</a:t>
            </a:r>
          </a:p>
        </p:txBody>
      </p:sp>
      <p:sp>
        <p:nvSpPr>
          <p:cNvPr id="10" name="Title"/>
          <p:cNvSpPr/>
          <p:nvPr/>
        </p:nvSpPr>
        <p:spPr>
          <a:xfrm>
            <a:off x="347472" y="530000"/>
            <a:ext cx="8449056" cy="3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600" b="1" i="0" dirty="0">
                <a:solidFill>
                  <a:srgbClr val="152B4E"/>
                </a:solidFill>
              </a:rPr>
              <a:t>🖼  C:\Users — Structure complète avec AppData visible</a:t>
            </a:r>
            <a:endParaRPr lang="fr-CA" dirty="0"/>
          </a:p>
        </p:txBody>
      </p:sp>
      <p:sp>
        <p:nvSpPr>
          <p:cNvPr id="11" name="TBar"/>
          <p:cNvSpPr/>
          <p:nvPr/>
        </p:nvSpPr>
        <p:spPr>
          <a:xfrm>
            <a:off x="347472" y="890000"/>
            <a:ext cx="800000" cy="32000"/>
          </a:xfrm>
          <a:prstGeom prst="rect">
            <a:avLst/>
          </a:prstGeom>
          <a:solidFill>
            <a:srgbClr val="6CC24A"/>
          </a:solidFill>
          <a:ln w="0">
            <a:noFill/>
          </a:ln>
        </p:spPr>
      </p:sp>
      <p:pic>
        <p:nvPicPr>
          <p:cNvPr id="20" name="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00" y="960000"/>
            <a:ext cx="7580000" cy="3926972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</p:pic>
      <p:sp>
        <p:nvSpPr>
          <p:cNvPr id="30" name="Cap"/>
          <p:cNvSpPr/>
          <p:nvPr/>
        </p:nvSpPr>
        <p:spPr>
          <a:xfrm>
            <a:off x="380000" y="9197000"/>
            <a:ext cx="8384000" cy="1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CA" sz="850" b="0" i="1" dirty="0">
                <a:solidFill>
                  <a:srgbClr val="7A7A7A"/>
                </a:solidFill>
              </a:rPr>
              <a:t>Explorateur Windows avec 'Éléments masqués' activé — AppData visible, NTUSER.DAT présent. Les données sont souvent intactes même lors d'un profil temporaire.</a:t>
            </a:r>
            <a:endParaRPr lang="fr-CA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mg-RegSmall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H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7 — Comptes, Profils, Permissions et Diagnostic avancé</a:t>
            </a:r>
          </a:p>
        </p:txBody>
      </p:sp>
      <p:sp>
        <p:nvSpPr>
          <p:cNvPr id="903" name="FooterVersion"/>
          <p:cNvSpPr/>
          <p:nvPr/>
        </p:nvSpPr>
        <p:spPr>
          <a:xfrm>
            <a:off x="0" y="4900000"/>
            <a:ext cx="9144000" cy="20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650" i="1" dirty="0">
                <a:solidFill>
                  <a:srgbClr val="AAAAAA"/>
                </a:solidFill>
              </a:rPr>
              <a:t>Version 1 — Juin 2026</a:t>
            </a:r>
          </a:p>
        </p:txBody>
      </p:sp>
      <p:sp>
        <p:nvSpPr>
          <p:cNvPr id="10" name="Title"/>
          <p:cNvSpPr/>
          <p:nvPr/>
        </p:nvSpPr>
        <p:spPr>
          <a:xfrm>
            <a:off x="347472" y="530000"/>
            <a:ext cx="8449056" cy="3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600" b="1" i="0" dirty="0">
                <a:solidFill>
                  <a:srgbClr val="152B4E"/>
                </a:solidFill>
              </a:rPr>
              <a:t>🖼  Registre — ProfileList et ProfileImagePath</a:t>
            </a:r>
            <a:endParaRPr lang="fr-CA" dirty="0"/>
          </a:p>
        </p:txBody>
      </p:sp>
      <p:sp>
        <p:nvSpPr>
          <p:cNvPr id="11" name="TBar"/>
          <p:cNvSpPr/>
          <p:nvPr/>
        </p:nvSpPr>
        <p:spPr>
          <a:xfrm>
            <a:off x="347472" y="890000"/>
            <a:ext cx="800000" cy="32000"/>
          </a:xfrm>
          <a:prstGeom prst="rect">
            <a:avLst/>
          </a:prstGeom>
          <a:solidFill>
            <a:srgbClr val="6CC24A"/>
          </a:solidFill>
          <a:ln w="0">
            <a:noFill/>
          </a:ln>
        </p:spPr>
      </p:sp>
      <p:pic>
        <p:nvPicPr>
          <p:cNvPr id="20" name="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00" y="960000"/>
            <a:ext cx="7580000" cy="3926972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</p:pic>
      <p:sp>
        <p:nvSpPr>
          <p:cNvPr id="30" name="Cap"/>
          <p:cNvSpPr/>
          <p:nvPr/>
        </p:nvSpPr>
        <p:spPr>
          <a:xfrm>
            <a:off x="380000" y="9197000"/>
            <a:ext cx="8384000" cy="1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CA" sz="850" b="0" i="1" dirty="0">
                <a:solidFill>
                  <a:srgbClr val="7A7A7A"/>
                </a:solidFill>
              </a:rPr>
              <a:t>HKLM\Software\Microsoft\Windows NT\CurrentVersion\ProfileList\SID — ProfileImagePath pointe vers C:\Users\Tom</a:t>
            </a:r>
            <a:endParaRPr lang="fr-CA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mg-RegLarge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H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7 — Comptes, Profils, Permissions et Diagnostic avancé</a:t>
            </a:r>
          </a:p>
        </p:txBody>
      </p:sp>
      <p:sp>
        <p:nvSpPr>
          <p:cNvPr id="903" name="FooterVersion"/>
          <p:cNvSpPr/>
          <p:nvPr/>
        </p:nvSpPr>
        <p:spPr>
          <a:xfrm>
            <a:off x="0" y="4900000"/>
            <a:ext cx="9144000" cy="20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650" i="1" dirty="0">
                <a:solidFill>
                  <a:srgbClr val="AAAAAA"/>
                </a:solidFill>
              </a:rPr>
              <a:t>Version 1 — Juin 2026</a:t>
            </a:r>
          </a:p>
        </p:txBody>
      </p:sp>
      <p:sp>
        <p:nvSpPr>
          <p:cNvPr id="10" name="Title"/>
          <p:cNvSpPr/>
          <p:nvPr/>
        </p:nvSpPr>
        <p:spPr>
          <a:xfrm>
            <a:off x="347472" y="530000"/>
            <a:ext cx="8449056" cy="3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600" b="1" i="0" dirty="0">
                <a:solidFill>
                  <a:srgbClr val="152B4E"/>
                </a:solidFill>
              </a:rPr>
              <a:t>🖼  Registre — Vue complète de la clé ProfileList</a:t>
            </a:r>
            <a:endParaRPr lang="fr-CA" dirty="0"/>
          </a:p>
        </p:txBody>
      </p:sp>
      <p:sp>
        <p:nvSpPr>
          <p:cNvPr id="11" name="TBar"/>
          <p:cNvSpPr/>
          <p:nvPr/>
        </p:nvSpPr>
        <p:spPr>
          <a:xfrm>
            <a:off x="347472" y="890000"/>
            <a:ext cx="800000" cy="32000"/>
          </a:xfrm>
          <a:prstGeom prst="rect">
            <a:avLst/>
          </a:prstGeom>
          <a:solidFill>
            <a:srgbClr val="6CC24A"/>
          </a:solidFill>
          <a:ln w="0">
            <a:noFill/>
          </a:ln>
        </p:spPr>
      </p:sp>
      <p:pic>
        <p:nvPicPr>
          <p:cNvPr id="20" name="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00" y="960000"/>
            <a:ext cx="7387873" cy="3827436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</p:pic>
      <p:sp>
        <p:nvSpPr>
          <p:cNvPr id="30" name="Cap"/>
          <p:cNvSpPr/>
          <p:nvPr/>
        </p:nvSpPr>
        <p:spPr>
          <a:xfrm>
            <a:off x="380000" y="9197000"/>
            <a:ext cx="8384000" cy="1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CA" sz="850" b="0" i="1" dirty="0">
                <a:solidFill>
                  <a:srgbClr val="7A7A7A"/>
                </a:solidFill>
              </a:rPr>
              <a:t>Registre éditeur : chaque SID correspond à un profil utilisateur — si on voit SID et SID.bak = profil temporaire déclenché</a:t>
            </a:r>
            <a:endParaRPr lang="fr-CA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rruptionCas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H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7 — Comptes, Profils, Permissions et Diagnostic avancé</a:t>
            </a:r>
          </a:p>
        </p:txBody>
      </p:sp>
      <p:sp>
        <p:nvSpPr>
          <p:cNvPr id="903" name="FooterVersion"/>
          <p:cNvSpPr/>
          <p:nvPr/>
        </p:nvSpPr>
        <p:spPr>
          <a:xfrm>
            <a:off x="0" y="4900000"/>
            <a:ext cx="9144000" cy="20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650" i="1" dirty="0">
                <a:solidFill>
                  <a:srgbClr val="AAAAAA"/>
                </a:solidFill>
              </a:rPr>
              <a:t>Version 1 — Juin 2026</a:t>
            </a:r>
          </a:p>
        </p:txBody>
      </p:sp>
      <p:sp>
        <p:nvSpPr>
          <p:cNvPr id="10" name="T"/>
          <p:cNvSpPr/>
          <p:nvPr/>
        </p:nvSpPr>
        <p:spPr>
          <a:xfrm>
            <a:off x="347472" y="530000"/>
            <a:ext cx="8449056" cy="3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800" b="1" i="0" dirty="0">
                <a:solidFill>
                  <a:srgbClr val="152B4E"/>
                </a:solidFill>
              </a:rPr>
              <a:t>💡  PROFIL — CAS TERRAIN ET ERREURS FRÉQUENTES</a:t>
            </a:r>
            <a:endParaRPr lang="fr-CA" dirty="0"/>
          </a:p>
        </p:txBody>
      </p:sp>
      <p:sp>
        <p:nvSpPr>
          <p:cNvPr id="11" name="GB"/>
          <p:cNvSpPr/>
          <p:nvPr/>
        </p:nvSpPr>
        <p:spPr>
          <a:xfrm>
            <a:off x="347472" y="890000"/>
            <a:ext cx="800000" cy="32000"/>
          </a:xfrm>
          <a:prstGeom prst="rect">
            <a:avLst/>
          </a:prstGeom>
          <a:solidFill>
            <a:srgbClr val="6CC24A"/>
          </a:solidFill>
          <a:ln w="0">
            <a:noFill/>
          </a:ln>
        </p:spPr>
      </p:sp>
      <p:sp>
        <p:nvSpPr>
          <p:cNvPr id="20" name="C1"/>
          <p:cNvSpPr/>
          <p:nvPr/>
        </p:nvSpPr>
        <p:spPr>
          <a:xfrm>
            <a:off x="347472" y="980000"/>
            <a:ext cx="4052528" cy="1985010"/>
          </a:xfrm>
          <a:prstGeom prst="roundRect">
            <a:avLst>
              <a:gd name="adj" fmla="val 4000"/>
            </a:avLst>
          </a:prstGeom>
          <a:solidFill>
            <a:srgbClr val="EAF4FF"/>
          </a:solidFill>
          <a:ln w="15240">
            <a:solidFill>
              <a:srgbClr val="2563A0"/>
            </a:solidFill>
          </a:ln>
        </p:spPr>
      </p:sp>
      <p:sp>
        <p:nvSpPr>
          <p:cNvPr id="4" name="C1S"/>
          <p:cNvSpPr/>
          <p:nvPr/>
        </p:nvSpPr>
        <p:spPr>
          <a:xfrm>
            <a:off x="347472" y="980000"/>
            <a:ext cx="45719" cy="1985010"/>
          </a:xfrm>
          <a:prstGeom prst="rect">
            <a:avLst/>
          </a:prstGeom>
          <a:solidFill>
            <a:srgbClr val="2563A0"/>
          </a:solidFill>
          <a:ln w="0">
            <a:noFill/>
          </a:ln>
        </p:spPr>
      </p:sp>
      <p:sp>
        <p:nvSpPr>
          <p:cNvPr id="22" name="C1T"/>
          <p:cNvSpPr/>
          <p:nvPr/>
        </p:nvSpPr>
        <p:spPr>
          <a:xfrm>
            <a:off x="450000" y="1010000"/>
            <a:ext cx="3950000" cy="23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200" b="1" i="0" dirty="0">
                <a:solidFill>
                  <a:srgbClr val="2563A0"/>
                </a:solidFill>
              </a:rPr>
              <a:t>Coupure courant — pourquoi ça corrompt</a:t>
            </a:r>
            <a:endParaRPr lang="fr-CA" dirty="0"/>
          </a:p>
        </p:txBody>
      </p:sp>
      <p:sp>
        <p:nvSpPr>
          <p:cNvPr id="23" name="C1B"/>
          <p:cNvSpPr/>
          <p:nvPr/>
        </p:nvSpPr>
        <p:spPr>
          <a:xfrm>
            <a:off x="450000" y="1250000"/>
            <a:ext cx="3950000" cy="17150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fr-CA" sz="1000" b="0" i="0" dirty="0">
                <a:solidFill>
                  <a:srgbClr val="152B4E"/>
                </a:solidFill>
              </a:rPr>
              <a:t>Quand l'utilisateur est connecté, NTUSER.DAT est ouvert et Windows y écrit en permanence.</a:t>
            </a:r>
            <a:endParaRPr lang="fr-CA" dirty="0"/>
          </a:p>
          <a:p>
            <a:pPr marL="0" indent="0" algn="l">
              <a:buNone/>
            </a:pPr>
            <a:r>
              <a:rPr lang="fr-CA" sz="1000" b="1" i="0" dirty="0">
                <a:solidFill>
                  <a:srgbClr val="152B4E"/>
                </a:solidFill>
              </a:rPr>
              <a:t>Si l'électricité coupe :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• Windows n'a pas le temps de fermer proprement la ruche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• L'écriture est interrompue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• Fichier laissé dans un état incohérent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• Au redémarrage : Windows tente de charger NTUSER.DAT → structure invalide → profil temporaire</a:t>
            </a:r>
            <a:endParaRPr lang="fr-CA" dirty="0"/>
          </a:p>
          <a:p>
            <a:pPr marL="0" indent="0" algn="l">
              <a:buNone/>
            </a:pPr>
            <a:r>
              <a:rPr lang="fr-CA" sz="950" b="1" i="0" dirty="0" smtClean="0">
                <a:solidFill>
                  <a:srgbClr val="152B4E"/>
                </a:solidFill>
              </a:rPr>
              <a:t>Même </a:t>
            </a:r>
            <a:r>
              <a:rPr lang="fr-CA" sz="950" b="1" i="0" dirty="0">
                <a:solidFill>
                  <a:srgbClr val="152B4E"/>
                </a:solidFill>
              </a:rPr>
              <a:t>cause pour un antivirus :</a:t>
            </a:r>
            <a:endParaRPr lang="fr-CA" dirty="0"/>
          </a:p>
          <a:p>
            <a:pPr marL="0" indent="0" algn="l">
              <a:buNone/>
            </a:pPr>
            <a:r>
              <a:rPr lang="fr-CA" sz="950" b="0" i="1" dirty="0">
                <a:solidFill>
                  <a:srgbClr val="D0021B"/>
                </a:solidFill>
              </a:rPr>
              <a:t>Si l'AV analyse/bloque NTUSER.DAT au moment du chargement → Windows ne peut pas ouvrir la ruche → profil temporaire.</a:t>
            </a:r>
            <a:endParaRPr lang="fr-CA" dirty="0"/>
          </a:p>
        </p:txBody>
      </p:sp>
      <p:sp>
        <p:nvSpPr>
          <p:cNvPr id="24" name="C2"/>
          <p:cNvSpPr/>
          <p:nvPr/>
        </p:nvSpPr>
        <p:spPr>
          <a:xfrm>
            <a:off x="4600000" y="980000"/>
            <a:ext cx="4200000" cy="1985010"/>
          </a:xfrm>
          <a:prstGeom prst="roundRect">
            <a:avLst>
              <a:gd name="adj" fmla="val 4000"/>
            </a:avLst>
          </a:prstGeom>
          <a:solidFill>
            <a:srgbClr val="FFF3DC"/>
          </a:solidFill>
          <a:ln w="15240">
            <a:solidFill>
              <a:srgbClr val="E07B00"/>
            </a:solidFill>
          </a:ln>
        </p:spPr>
      </p:sp>
      <p:sp>
        <p:nvSpPr>
          <p:cNvPr id="25" name="C2S"/>
          <p:cNvSpPr/>
          <p:nvPr/>
        </p:nvSpPr>
        <p:spPr>
          <a:xfrm>
            <a:off x="4600000" y="980000"/>
            <a:ext cx="45719" cy="1985010"/>
          </a:xfrm>
          <a:prstGeom prst="rect">
            <a:avLst/>
          </a:prstGeom>
          <a:solidFill>
            <a:srgbClr val="E07B00"/>
          </a:solidFill>
          <a:ln w="0">
            <a:noFill/>
          </a:ln>
        </p:spPr>
      </p:sp>
      <p:sp>
        <p:nvSpPr>
          <p:cNvPr id="26" name="C2T"/>
          <p:cNvSpPr/>
          <p:nvPr/>
        </p:nvSpPr>
        <p:spPr>
          <a:xfrm>
            <a:off x="4705000" y="1010000"/>
            <a:ext cx="4050000" cy="23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200" b="1" i="0" dirty="0">
                <a:solidFill>
                  <a:srgbClr val="E07B00"/>
                </a:solidFill>
              </a:rPr>
              <a:t>Supprimer un compte ≠ Supprimer le dossier</a:t>
            </a:r>
            <a:endParaRPr lang="fr-CA" dirty="0"/>
          </a:p>
        </p:txBody>
      </p:sp>
      <p:sp>
        <p:nvSpPr>
          <p:cNvPr id="27" name="C2B"/>
          <p:cNvSpPr/>
          <p:nvPr/>
        </p:nvSpPr>
        <p:spPr>
          <a:xfrm>
            <a:off x="4705000" y="1250000"/>
            <a:ext cx="4050000" cy="149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fr-CA" sz="1000" b="1" i="0" dirty="0">
                <a:solidFill>
                  <a:srgbClr val="152B4E"/>
                </a:solidFill>
              </a:rPr>
              <a:t>Supprimer un compte :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• Supprime l'entrée dans SAM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• Supprime le SID du système</a:t>
            </a:r>
            <a:endParaRPr lang="fr-CA" dirty="0"/>
          </a:p>
          <a:p>
            <a:pPr marL="0" indent="0" algn="l">
              <a:buNone/>
            </a:pPr>
            <a:r>
              <a:rPr lang="fr-CA" sz="1000" b="1" i="0" dirty="0">
                <a:solidFill>
                  <a:srgbClr val="D0021B"/>
                </a:solidFill>
              </a:rPr>
              <a:t>Mais Windows ne supprime PAS C:\Users\Nom</a:t>
            </a:r>
            <a:endParaRPr lang="fr-CA" dirty="0"/>
          </a:p>
          <a:p>
            <a:pPr marL="0" indent="0" algn="l">
              <a:buNone/>
            </a:pPr>
            <a:r>
              <a:rPr lang="fr-CA" sz="900" b="0" i="1" dirty="0">
                <a:solidFill>
                  <a:srgbClr val="7A7A7A"/>
                </a:solidFill>
              </a:rPr>
              <a:t>(pour éviter perte accidentelle de données)</a:t>
            </a:r>
            <a:endParaRPr lang="fr-CA" dirty="0"/>
          </a:p>
          <a:p>
            <a:pPr marL="0" indent="0" algn="l">
              <a:buNone/>
            </a:pPr>
            <a:endParaRPr lang="fr-CA" dirty="0"/>
          </a:p>
          <a:p>
            <a:pPr marL="0" indent="0" algn="l">
              <a:buNone/>
            </a:pPr>
            <a:r>
              <a:rPr lang="fr-CA" sz="1000" b="1" i="0" dirty="0">
                <a:solidFill>
                  <a:srgbClr val="152B4E"/>
                </a:solidFill>
              </a:rPr>
              <a:t>Conséquence : si on recrée un user même nom :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• Nouveau SID → accès refusé aux anciens fichiers</a:t>
            </a:r>
            <a:endParaRPr lang="fr-CA" dirty="0"/>
          </a:p>
          <a:p>
            <a:pPr marL="0" indent="0" algn="l">
              <a:buNone/>
            </a:pPr>
            <a:r>
              <a:rPr lang="fr-CA" sz="950" b="0" i="1" dirty="0">
                <a:solidFill>
                  <a:srgbClr val="D0021B"/>
                </a:solidFill>
              </a:rPr>
              <a:t>Supprimer un compte supprime l'identité, pas l'environnement.</a:t>
            </a:r>
            <a:endParaRPr lang="fr-CA" dirty="0"/>
          </a:p>
        </p:txBody>
      </p:sp>
      <p:sp>
        <p:nvSpPr>
          <p:cNvPr id="30" name="TH300"/>
          <p:cNvSpPr/>
          <p:nvPr/>
        </p:nvSpPr>
        <p:spPr>
          <a:xfrm>
            <a:off x="334971" y="3101739"/>
            <a:ext cx="3379622" cy="260000"/>
          </a:xfrm>
          <a:prstGeom prst="rect">
            <a:avLst/>
          </a:prstGeom>
          <a:solidFill>
            <a:srgbClr val="1A3560"/>
          </a:solidFill>
          <a:ln w="0">
            <a:noFill/>
          </a:ln>
        </p:spPr>
      </p:sp>
      <p:sp>
        <p:nvSpPr>
          <p:cNvPr id="80" name="THT300"/>
          <p:cNvSpPr/>
          <p:nvPr/>
        </p:nvSpPr>
        <p:spPr>
          <a:xfrm>
            <a:off x="359971" y="3101739"/>
            <a:ext cx="3354622" cy="2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900" b="1" i="0" dirty="0">
                <a:solidFill>
                  <a:srgbClr val="FFFFFF"/>
                </a:solidFill>
              </a:rPr>
              <a:t>Problème</a:t>
            </a:r>
            <a:endParaRPr lang="fr-CA" dirty="0"/>
          </a:p>
        </p:txBody>
      </p:sp>
      <p:sp>
        <p:nvSpPr>
          <p:cNvPr id="31" name="TH301"/>
          <p:cNvSpPr/>
          <p:nvPr/>
        </p:nvSpPr>
        <p:spPr>
          <a:xfrm>
            <a:off x="3714593" y="3101739"/>
            <a:ext cx="5069433" cy="260000"/>
          </a:xfrm>
          <a:prstGeom prst="rect">
            <a:avLst/>
          </a:prstGeom>
          <a:solidFill>
            <a:srgbClr val="1A3560"/>
          </a:solidFill>
          <a:ln w="0">
            <a:noFill/>
          </a:ln>
        </p:spPr>
      </p:sp>
      <p:sp>
        <p:nvSpPr>
          <p:cNvPr id="81" name="THT301"/>
          <p:cNvSpPr/>
          <p:nvPr/>
        </p:nvSpPr>
        <p:spPr>
          <a:xfrm>
            <a:off x="3739593" y="3101739"/>
            <a:ext cx="5044433" cy="2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900" b="1" i="0" dirty="0">
                <a:solidFill>
                  <a:srgbClr val="FFFFFF"/>
                </a:solidFill>
              </a:rPr>
              <a:t>Cause technique</a:t>
            </a:r>
            <a:endParaRPr lang="fr-CA" dirty="0"/>
          </a:p>
        </p:txBody>
      </p:sp>
      <p:sp>
        <p:nvSpPr>
          <p:cNvPr id="230" name="TD00"/>
          <p:cNvSpPr/>
          <p:nvPr/>
        </p:nvSpPr>
        <p:spPr>
          <a:xfrm>
            <a:off x="334971" y="3361739"/>
            <a:ext cx="3379622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330" name="TDT00"/>
          <p:cNvSpPr/>
          <p:nvPr/>
        </p:nvSpPr>
        <p:spPr>
          <a:xfrm>
            <a:off x="359971" y="3361739"/>
            <a:ext cx="3354622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1" i="0" dirty="0">
                <a:solidFill>
                  <a:srgbClr val="152B4E"/>
                </a:solidFill>
              </a:rPr>
              <a:t>Coupure courant → profil temporaire</a:t>
            </a:r>
            <a:endParaRPr lang="fr-CA" dirty="0"/>
          </a:p>
        </p:txBody>
      </p:sp>
      <p:sp>
        <p:nvSpPr>
          <p:cNvPr id="231" name="TD01"/>
          <p:cNvSpPr/>
          <p:nvPr/>
        </p:nvSpPr>
        <p:spPr>
          <a:xfrm>
            <a:off x="3714593" y="3361739"/>
            <a:ext cx="5069433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331" name="TDT01"/>
          <p:cNvSpPr/>
          <p:nvPr/>
        </p:nvSpPr>
        <p:spPr>
          <a:xfrm>
            <a:off x="3739593" y="3361739"/>
            <a:ext cx="5044433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NTUSER.DAT écriture interrompue</a:t>
            </a:r>
            <a:endParaRPr lang="fr-CA" dirty="0"/>
          </a:p>
        </p:txBody>
      </p:sp>
      <p:sp>
        <p:nvSpPr>
          <p:cNvPr id="240" name="TD10"/>
          <p:cNvSpPr/>
          <p:nvPr/>
        </p:nvSpPr>
        <p:spPr>
          <a:xfrm>
            <a:off x="334971" y="3581739"/>
            <a:ext cx="3379622" cy="220000"/>
          </a:xfrm>
          <a:prstGeom prst="rect">
            <a:avLst/>
          </a:prstGeom>
          <a:solidFill>
            <a:srgbClr val="F0F4FA"/>
          </a:solidFill>
          <a:ln w="15240">
            <a:solidFill>
              <a:srgbClr val="DDDDDD"/>
            </a:solidFill>
          </a:ln>
        </p:spPr>
      </p:sp>
      <p:sp>
        <p:nvSpPr>
          <p:cNvPr id="340" name="TDT10"/>
          <p:cNvSpPr/>
          <p:nvPr/>
        </p:nvSpPr>
        <p:spPr>
          <a:xfrm>
            <a:off x="359971" y="3581739"/>
            <a:ext cx="3354622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1" i="0" dirty="0">
                <a:solidFill>
                  <a:srgbClr val="152B4E"/>
                </a:solidFill>
              </a:rPr>
              <a:t>Antivirus → profil temporaire</a:t>
            </a:r>
            <a:endParaRPr lang="fr-CA" dirty="0"/>
          </a:p>
        </p:txBody>
      </p:sp>
      <p:sp>
        <p:nvSpPr>
          <p:cNvPr id="241" name="TD11"/>
          <p:cNvSpPr/>
          <p:nvPr/>
        </p:nvSpPr>
        <p:spPr>
          <a:xfrm>
            <a:off x="3714593" y="3581739"/>
            <a:ext cx="5069433" cy="220000"/>
          </a:xfrm>
          <a:prstGeom prst="rect">
            <a:avLst/>
          </a:prstGeom>
          <a:solidFill>
            <a:srgbClr val="F0F4FA"/>
          </a:solidFill>
          <a:ln w="15240">
            <a:solidFill>
              <a:srgbClr val="DDDDDD"/>
            </a:solidFill>
          </a:ln>
        </p:spPr>
      </p:sp>
      <p:sp>
        <p:nvSpPr>
          <p:cNvPr id="341" name="TDT11"/>
          <p:cNvSpPr/>
          <p:nvPr/>
        </p:nvSpPr>
        <p:spPr>
          <a:xfrm>
            <a:off x="3739593" y="3581739"/>
            <a:ext cx="5044433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Fichier verrouillé ou mis en quarantaine</a:t>
            </a:r>
            <a:endParaRPr lang="fr-CA" dirty="0"/>
          </a:p>
        </p:txBody>
      </p:sp>
      <p:sp>
        <p:nvSpPr>
          <p:cNvPr id="250" name="TD20"/>
          <p:cNvSpPr/>
          <p:nvPr/>
        </p:nvSpPr>
        <p:spPr>
          <a:xfrm>
            <a:off x="334971" y="3801739"/>
            <a:ext cx="3379622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350" name="TDT20"/>
          <p:cNvSpPr/>
          <p:nvPr/>
        </p:nvSpPr>
        <p:spPr>
          <a:xfrm>
            <a:off x="359971" y="3801739"/>
            <a:ext cx="3354622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1" i="0" dirty="0">
                <a:solidFill>
                  <a:srgbClr val="152B4E"/>
                </a:solidFill>
              </a:rPr>
              <a:t>Suppression compte → accès refusé</a:t>
            </a:r>
            <a:endParaRPr lang="fr-CA" dirty="0"/>
          </a:p>
        </p:txBody>
      </p:sp>
      <p:sp>
        <p:nvSpPr>
          <p:cNvPr id="251" name="TD21"/>
          <p:cNvSpPr/>
          <p:nvPr/>
        </p:nvSpPr>
        <p:spPr>
          <a:xfrm>
            <a:off x="3714593" y="3801739"/>
            <a:ext cx="5069433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351" name="TDT21"/>
          <p:cNvSpPr/>
          <p:nvPr/>
        </p:nvSpPr>
        <p:spPr>
          <a:xfrm>
            <a:off x="3739593" y="3801739"/>
            <a:ext cx="5044433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SID supprimé, dossier conservé — SID différent</a:t>
            </a:r>
            <a:endParaRPr lang="fr-CA" dirty="0"/>
          </a:p>
        </p:txBody>
      </p:sp>
      <p:sp>
        <p:nvSpPr>
          <p:cNvPr id="260" name="TD30"/>
          <p:cNvSpPr/>
          <p:nvPr/>
        </p:nvSpPr>
        <p:spPr>
          <a:xfrm>
            <a:off x="334971" y="4021739"/>
            <a:ext cx="3379622" cy="220000"/>
          </a:xfrm>
          <a:prstGeom prst="rect">
            <a:avLst/>
          </a:prstGeom>
          <a:solidFill>
            <a:srgbClr val="F0F4FA"/>
          </a:solidFill>
          <a:ln w="15240">
            <a:solidFill>
              <a:srgbClr val="DDDDDD"/>
            </a:solidFill>
          </a:ln>
        </p:spPr>
      </p:sp>
      <p:sp>
        <p:nvSpPr>
          <p:cNvPr id="360" name="TDT30"/>
          <p:cNvSpPr/>
          <p:nvPr/>
        </p:nvSpPr>
        <p:spPr>
          <a:xfrm>
            <a:off x="359971" y="4021739"/>
            <a:ext cx="3354622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1" i="0" dirty="0">
                <a:solidFill>
                  <a:srgbClr val="152B4E"/>
                </a:solidFill>
              </a:rPr>
              <a:t>Profil partiel</a:t>
            </a:r>
            <a:endParaRPr lang="fr-CA" dirty="0"/>
          </a:p>
        </p:txBody>
      </p:sp>
      <p:sp>
        <p:nvSpPr>
          <p:cNvPr id="261" name="TD31"/>
          <p:cNvSpPr/>
          <p:nvPr/>
        </p:nvSpPr>
        <p:spPr>
          <a:xfrm>
            <a:off x="3714593" y="4021739"/>
            <a:ext cx="5069433" cy="220000"/>
          </a:xfrm>
          <a:prstGeom prst="rect">
            <a:avLst/>
          </a:prstGeom>
          <a:solidFill>
            <a:srgbClr val="F0F4FA"/>
          </a:solidFill>
          <a:ln w="15240">
            <a:solidFill>
              <a:srgbClr val="DDDDDD"/>
            </a:solidFill>
          </a:ln>
        </p:spPr>
      </p:sp>
      <p:sp>
        <p:nvSpPr>
          <p:cNvPr id="361" name="TDT31"/>
          <p:cNvSpPr/>
          <p:nvPr/>
        </p:nvSpPr>
        <p:spPr>
          <a:xfrm>
            <a:off x="3739593" y="4021739"/>
            <a:ext cx="5044433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NTUSER.DAT partiellement corrompu ou AppData inaccessible</a:t>
            </a:r>
            <a:endParaRPr lang="fr-CA" dirty="0"/>
          </a:p>
        </p:txBody>
      </p:sp>
      <p:sp>
        <p:nvSpPr>
          <p:cNvPr id="41" name="ET"/>
          <p:cNvSpPr/>
          <p:nvPr/>
        </p:nvSpPr>
        <p:spPr>
          <a:xfrm>
            <a:off x="380000" y="3900000"/>
            <a:ext cx="8384000" cy="2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CA" sz="1050" b="1" i="0" dirty="0">
                <a:solidFill>
                  <a:srgbClr val="FFFFFF"/>
                </a:solidFill>
              </a:rPr>
              <a:t>❌  Erreurs à ne JAMAIS faire : Supprimer profil immédiatement · Recréer sans sauvegarde · Réinstaller Windows</a:t>
            </a:r>
            <a:endParaRPr lang="fr-CA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3-Groupes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H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7 — Comptes, Profils, Permissions et Diagnostic avancé</a:t>
            </a:r>
          </a:p>
        </p:txBody>
      </p:sp>
      <p:sp>
        <p:nvSpPr>
          <p:cNvPr id="903" name="FooterVersion"/>
          <p:cNvSpPr/>
          <p:nvPr/>
        </p:nvSpPr>
        <p:spPr>
          <a:xfrm>
            <a:off x="0" y="4900000"/>
            <a:ext cx="9144000" cy="20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650" i="1" dirty="0">
                <a:solidFill>
                  <a:srgbClr val="AAAAAA"/>
                </a:solidFill>
              </a:rPr>
              <a:t>Version 1 — Juin 2026</a:t>
            </a:r>
          </a:p>
        </p:txBody>
      </p:sp>
      <p:sp>
        <p:nvSpPr>
          <p:cNvPr id="10" name="T"/>
          <p:cNvSpPr/>
          <p:nvPr/>
        </p:nvSpPr>
        <p:spPr>
          <a:xfrm>
            <a:off x="347472" y="530000"/>
            <a:ext cx="8449056" cy="3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800" b="1" i="0" dirty="0">
                <a:solidFill>
                  <a:srgbClr val="152B4E"/>
                </a:solidFill>
              </a:rPr>
              <a:t>👥  PARTIE 3 — GROUPES, ACCESS TOKEN ET PERMISSIONS NTFS</a:t>
            </a:r>
            <a:endParaRPr lang="fr-CA" dirty="0"/>
          </a:p>
        </p:txBody>
      </p:sp>
      <p:sp>
        <p:nvSpPr>
          <p:cNvPr id="11" name="GB"/>
          <p:cNvSpPr/>
          <p:nvPr/>
        </p:nvSpPr>
        <p:spPr>
          <a:xfrm>
            <a:off x="347472" y="890000"/>
            <a:ext cx="800000" cy="32000"/>
          </a:xfrm>
          <a:prstGeom prst="rect">
            <a:avLst/>
          </a:prstGeom>
          <a:solidFill>
            <a:srgbClr val="6CC24A"/>
          </a:solidFill>
          <a:ln w="0">
            <a:noFill/>
          </a:ln>
        </p:spPr>
      </p:sp>
      <p:sp>
        <p:nvSpPr>
          <p:cNvPr id="20" name="AT"/>
          <p:cNvSpPr/>
          <p:nvPr/>
        </p:nvSpPr>
        <p:spPr>
          <a:xfrm>
            <a:off x="347472" y="980000"/>
            <a:ext cx="8449056" cy="550000"/>
          </a:xfrm>
          <a:prstGeom prst="roundRect">
            <a:avLst>
              <a:gd name="adj" fmla="val 4000"/>
            </a:avLst>
          </a:prstGeom>
          <a:solidFill>
            <a:srgbClr val="EAF4FF"/>
          </a:solidFill>
          <a:ln w="15240">
            <a:solidFill>
              <a:srgbClr val="2563A0"/>
            </a:solidFill>
          </a:ln>
        </p:spPr>
      </p:sp>
      <p:sp>
        <p:nvSpPr>
          <p:cNvPr id="4" name="ATT"/>
          <p:cNvSpPr/>
          <p:nvPr/>
        </p:nvSpPr>
        <p:spPr>
          <a:xfrm>
            <a:off x="380000" y="1000000"/>
            <a:ext cx="8384000" cy="23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CA" sz="1200" b="1" i="0" dirty="0">
                <a:solidFill>
                  <a:srgbClr val="2563A0"/>
                </a:solidFill>
              </a:rPr>
              <a:t>Access Token — créé à la connexion, utilisé pour TOUTES les actions</a:t>
            </a:r>
            <a:endParaRPr lang="fr-CA" dirty="0"/>
          </a:p>
        </p:txBody>
      </p:sp>
      <p:sp>
        <p:nvSpPr>
          <p:cNvPr id="22" name="ATB"/>
          <p:cNvSpPr/>
          <p:nvPr/>
        </p:nvSpPr>
        <p:spPr>
          <a:xfrm>
            <a:off x="190123" y="1230000"/>
            <a:ext cx="8819877" cy="2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CA" sz="1000" b="0" i="0" dirty="0">
                <a:solidFill>
                  <a:srgbClr val="152B4E"/>
                </a:solidFill>
              </a:rPr>
              <a:t>1 Authentification → 2 Récupère SID → 3 Récupère tous les groupes → 4 Crée l'Access Token (SID + groupes + droits locaux) → 5 Token utilisé pour chaque action</a:t>
            </a:r>
            <a:endParaRPr lang="fr-CA" dirty="0"/>
          </a:p>
        </p:txBody>
      </p:sp>
      <p:sp>
        <p:nvSpPr>
          <p:cNvPr id="30" name="TH300"/>
          <p:cNvSpPr/>
          <p:nvPr/>
        </p:nvSpPr>
        <p:spPr>
          <a:xfrm>
            <a:off x="347472" y="1590000"/>
            <a:ext cx="2365735" cy="260000"/>
          </a:xfrm>
          <a:prstGeom prst="rect">
            <a:avLst/>
          </a:prstGeom>
          <a:solidFill>
            <a:srgbClr val="1A3560"/>
          </a:solidFill>
          <a:ln w="0">
            <a:noFill/>
          </a:ln>
        </p:spPr>
      </p:sp>
      <p:sp>
        <p:nvSpPr>
          <p:cNvPr id="80" name="THT300"/>
          <p:cNvSpPr/>
          <p:nvPr/>
        </p:nvSpPr>
        <p:spPr>
          <a:xfrm>
            <a:off x="372472" y="1590000"/>
            <a:ext cx="2340735" cy="2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900" b="1" i="0" dirty="0">
                <a:solidFill>
                  <a:srgbClr val="FFFFFF"/>
                </a:solidFill>
              </a:rPr>
              <a:t>Groupe Windows</a:t>
            </a:r>
            <a:endParaRPr lang="fr-CA" dirty="0"/>
          </a:p>
        </p:txBody>
      </p:sp>
      <p:sp>
        <p:nvSpPr>
          <p:cNvPr id="31" name="TH301"/>
          <p:cNvSpPr/>
          <p:nvPr/>
        </p:nvSpPr>
        <p:spPr>
          <a:xfrm>
            <a:off x="2713207" y="1590000"/>
            <a:ext cx="3210641" cy="260000"/>
          </a:xfrm>
          <a:prstGeom prst="rect">
            <a:avLst/>
          </a:prstGeom>
          <a:solidFill>
            <a:srgbClr val="1A3560"/>
          </a:solidFill>
          <a:ln w="0">
            <a:noFill/>
          </a:ln>
        </p:spPr>
      </p:sp>
      <p:sp>
        <p:nvSpPr>
          <p:cNvPr id="81" name="THT301"/>
          <p:cNvSpPr/>
          <p:nvPr/>
        </p:nvSpPr>
        <p:spPr>
          <a:xfrm>
            <a:off x="2738207" y="1590000"/>
            <a:ext cx="3185641" cy="2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900" b="1" i="0" dirty="0">
                <a:solidFill>
                  <a:srgbClr val="FFFFFF"/>
                </a:solidFill>
              </a:rPr>
              <a:t>Droits typiques</a:t>
            </a:r>
            <a:endParaRPr lang="fr-CA" dirty="0"/>
          </a:p>
        </p:txBody>
      </p:sp>
      <p:sp>
        <p:nvSpPr>
          <p:cNvPr id="32" name="TH302"/>
          <p:cNvSpPr/>
          <p:nvPr/>
        </p:nvSpPr>
        <p:spPr>
          <a:xfrm>
            <a:off x="5923848" y="1590000"/>
            <a:ext cx="2872679" cy="260000"/>
          </a:xfrm>
          <a:prstGeom prst="rect">
            <a:avLst/>
          </a:prstGeom>
          <a:solidFill>
            <a:srgbClr val="1A3560"/>
          </a:solidFill>
          <a:ln w="0">
            <a:noFill/>
          </a:ln>
        </p:spPr>
      </p:sp>
      <p:sp>
        <p:nvSpPr>
          <p:cNvPr id="82" name="THT302"/>
          <p:cNvSpPr/>
          <p:nvPr/>
        </p:nvSpPr>
        <p:spPr>
          <a:xfrm>
            <a:off x="5948848" y="1590000"/>
            <a:ext cx="2847679" cy="2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900" b="1" i="0" dirty="0">
                <a:solidFill>
                  <a:srgbClr val="FFFFFF"/>
                </a:solidFill>
              </a:rPr>
              <a:t>Usage</a:t>
            </a:r>
            <a:endParaRPr lang="fr-CA" dirty="0"/>
          </a:p>
        </p:txBody>
      </p:sp>
      <p:sp>
        <p:nvSpPr>
          <p:cNvPr id="230" name="TD00"/>
          <p:cNvSpPr/>
          <p:nvPr/>
        </p:nvSpPr>
        <p:spPr>
          <a:xfrm>
            <a:off x="347472" y="1850000"/>
            <a:ext cx="2365735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330" name="TDT00"/>
          <p:cNvSpPr/>
          <p:nvPr/>
        </p:nvSpPr>
        <p:spPr>
          <a:xfrm>
            <a:off x="372472" y="1850000"/>
            <a:ext cx="2340735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1" i="0" dirty="0">
                <a:solidFill>
                  <a:srgbClr val="152B4E"/>
                </a:solidFill>
              </a:rPr>
              <a:t>Administrateurs</a:t>
            </a:r>
            <a:endParaRPr lang="fr-CA" dirty="0"/>
          </a:p>
        </p:txBody>
      </p:sp>
      <p:sp>
        <p:nvSpPr>
          <p:cNvPr id="231" name="TD01"/>
          <p:cNvSpPr/>
          <p:nvPr/>
        </p:nvSpPr>
        <p:spPr>
          <a:xfrm>
            <a:off x="2713207" y="1850000"/>
            <a:ext cx="3210641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331" name="TDT01"/>
          <p:cNvSpPr/>
          <p:nvPr/>
        </p:nvSpPr>
        <p:spPr>
          <a:xfrm>
            <a:off x="2738207" y="1850000"/>
            <a:ext cx="3185641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Contrôle total système (sous réserve NTFS)</a:t>
            </a:r>
            <a:endParaRPr lang="fr-CA" dirty="0"/>
          </a:p>
        </p:txBody>
      </p:sp>
      <p:sp>
        <p:nvSpPr>
          <p:cNvPr id="232" name="TD02"/>
          <p:cNvSpPr/>
          <p:nvPr/>
        </p:nvSpPr>
        <p:spPr>
          <a:xfrm>
            <a:off x="5923848" y="1850000"/>
            <a:ext cx="2872679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332" name="TDT02"/>
          <p:cNvSpPr/>
          <p:nvPr/>
        </p:nvSpPr>
        <p:spPr>
          <a:xfrm>
            <a:off x="5948848" y="1850000"/>
            <a:ext cx="2847679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Administration du PC</a:t>
            </a:r>
            <a:endParaRPr lang="fr-CA" dirty="0"/>
          </a:p>
        </p:txBody>
      </p:sp>
      <p:sp>
        <p:nvSpPr>
          <p:cNvPr id="240" name="TD10"/>
          <p:cNvSpPr/>
          <p:nvPr/>
        </p:nvSpPr>
        <p:spPr>
          <a:xfrm>
            <a:off x="347472" y="2070000"/>
            <a:ext cx="2365735" cy="220000"/>
          </a:xfrm>
          <a:prstGeom prst="rect">
            <a:avLst/>
          </a:prstGeom>
          <a:solidFill>
            <a:srgbClr val="F0F4FA"/>
          </a:solidFill>
          <a:ln w="15240">
            <a:solidFill>
              <a:srgbClr val="DDDDDD"/>
            </a:solidFill>
          </a:ln>
        </p:spPr>
      </p:sp>
      <p:sp>
        <p:nvSpPr>
          <p:cNvPr id="340" name="TDT10"/>
          <p:cNvSpPr/>
          <p:nvPr/>
        </p:nvSpPr>
        <p:spPr>
          <a:xfrm>
            <a:off x="372472" y="2070000"/>
            <a:ext cx="2340735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1" i="0" dirty="0">
                <a:solidFill>
                  <a:srgbClr val="152B4E"/>
                </a:solidFill>
              </a:rPr>
              <a:t>Utilisateurs</a:t>
            </a:r>
            <a:endParaRPr lang="fr-CA" dirty="0"/>
          </a:p>
        </p:txBody>
      </p:sp>
      <p:sp>
        <p:nvSpPr>
          <p:cNvPr id="241" name="TD11"/>
          <p:cNvSpPr/>
          <p:nvPr/>
        </p:nvSpPr>
        <p:spPr>
          <a:xfrm>
            <a:off x="2713207" y="2070000"/>
            <a:ext cx="3210641" cy="220000"/>
          </a:xfrm>
          <a:prstGeom prst="rect">
            <a:avLst/>
          </a:prstGeom>
          <a:solidFill>
            <a:srgbClr val="F0F4FA"/>
          </a:solidFill>
          <a:ln w="15240">
            <a:solidFill>
              <a:srgbClr val="DDDDDD"/>
            </a:solidFill>
          </a:ln>
        </p:spPr>
      </p:sp>
      <p:sp>
        <p:nvSpPr>
          <p:cNvPr id="341" name="TDT11"/>
          <p:cNvSpPr/>
          <p:nvPr/>
        </p:nvSpPr>
        <p:spPr>
          <a:xfrm>
            <a:off x="2738207" y="2070000"/>
            <a:ext cx="3185641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Droits standards — pas d'installation de logiciels</a:t>
            </a:r>
            <a:endParaRPr lang="fr-CA" dirty="0"/>
          </a:p>
        </p:txBody>
      </p:sp>
      <p:sp>
        <p:nvSpPr>
          <p:cNvPr id="242" name="TD12"/>
          <p:cNvSpPr/>
          <p:nvPr/>
        </p:nvSpPr>
        <p:spPr>
          <a:xfrm>
            <a:off x="5923848" y="2070000"/>
            <a:ext cx="2872679" cy="220000"/>
          </a:xfrm>
          <a:prstGeom prst="rect">
            <a:avLst/>
          </a:prstGeom>
          <a:solidFill>
            <a:srgbClr val="F0F4FA"/>
          </a:solidFill>
          <a:ln w="15240">
            <a:solidFill>
              <a:srgbClr val="DDDDDD"/>
            </a:solidFill>
          </a:ln>
        </p:spPr>
      </p:sp>
      <p:sp>
        <p:nvSpPr>
          <p:cNvPr id="342" name="TDT12"/>
          <p:cNvSpPr/>
          <p:nvPr/>
        </p:nvSpPr>
        <p:spPr>
          <a:xfrm>
            <a:off x="5948848" y="2070000"/>
            <a:ext cx="2847679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Comptes standards</a:t>
            </a:r>
            <a:endParaRPr lang="fr-CA" dirty="0"/>
          </a:p>
        </p:txBody>
      </p:sp>
      <p:sp>
        <p:nvSpPr>
          <p:cNvPr id="250" name="TD20"/>
          <p:cNvSpPr/>
          <p:nvPr/>
        </p:nvSpPr>
        <p:spPr>
          <a:xfrm>
            <a:off x="347472" y="2290000"/>
            <a:ext cx="2365735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350" name="TDT20"/>
          <p:cNvSpPr/>
          <p:nvPr/>
        </p:nvSpPr>
        <p:spPr>
          <a:xfrm>
            <a:off x="372472" y="2290000"/>
            <a:ext cx="2340735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1" i="0" dirty="0">
                <a:solidFill>
                  <a:srgbClr val="152B4E"/>
                </a:solidFill>
              </a:rPr>
              <a:t>Invités</a:t>
            </a:r>
            <a:endParaRPr lang="fr-CA" dirty="0"/>
          </a:p>
        </p:txBody>
      </p:sp>
      <p:sp>
        <p:nvSpPr>
          <p:cNvPr id="251" name="TD21"/>
          <p:cNvSpPr/>
          <p:nvPr/>
        </p:nvSpPr>
        <p:spPr>
          <a:xfrm>
            <a:off x="2713207" y="2290000"/>
            <a:ext cx="3210641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351" name="TDT21"/>
          <p:cNvSpPr/>
          <p:nvPr/>
        </p:nvSpPr>
        <p:spPr>
          <a:xfrm>
            <a:off x="2738207" y="2290000"/>
            <a:ext cx="3185641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Accès très restreint — profil temporaire</a:t>
            </a:r>
            <a:endParaRPr lang="fr-CA" dirty="0"/>
          </a:p>
        </p:txBody>
      </p:sp>
      <p:sp>
        <p:nvSpPr>
          <p:cNvPr id="252" name="TD22"/>
          <p:cNvSpPr/>
          <p:nvPr/>
        </p:nvSpPr>
        <p:spPr>
          <a:xfrm>
            <a:off x="5923848" y="2290000"/>
            <a:ext cx="2872679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352" name="TDT22"/>
          <p:cNvSpPr/>
          <p:nvPr/>
        </p:nvSpPr>
        <p:spPr>
          <a:xfrm>
            <a:off x="5948848" y="2290000"/>
            <a:ext cx="2847679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Accès ponctuel</a:t>
            </a:r>
            <a:endParaRPr lang="fr-CA" dirty="0"/>
          </a:p>
        </p:txBody>
      </p:sp>
      <p:sp>
        <p:nvSpPr>
          <p:cNvPr id="260" name="TD30"/>
          <p:cNvSpPr/>
          <p:nvPr/>
        </p:nvSpPr>
        <p:spPr>
          <a:xfrm>
            <a:off x="347472" y="2510000"/>
            <a:ext cx="2365735" cy="220000"/>
          </a:xfrm>
          <a:prstGeom prst="rect">
            <a:avLst/>
          </a:prstGeom>
          <a:solidFill>
            <a:srgbClr val="F0F4FA"/>
          </a:solidFill>
          <a:ln w="15240">
            <a:solidFill>
              <a:srgbClr val="DDDDDD"/>
            </a:solidFill>
          </a:ln>
        </p:spPr>
      </p:sp>
      <p:sp>
        <p:nvSpPr>
          <p:cNvPr id="360" name="TDT30"/>
          <p:cNvSpPr/>
          <p:nvPr/>
        </p:nvSpPr>
        <p:spPr>
          <a:xfrm>
            <a:off x="372472" y="2510000"/>
            <a:ext cx="2340735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1" i="0" dirty="0">
                <a:solidFill>
                  <a:srgbClr val="152B4E"/>
                </a:solidFill>
              </a:rPr>
              <a:t>Utilisateurs Bureau à distance</a:t>
            </a:r>
            <a:endParaRPr lang="fr-CA" dirty="0"/>
          </a:p>
        </p:txBody>
      </p:sp>
      <p:sp>
        <p:nvSpPr>
          <p:cNvPr id="261" name="TD31"/>
          <p:cNvSpPr/>
          <p:nvPr/>
        </p:nvSpPr>
        <p:spPr>
          <a:xfrm>
            <a:off x="2713207" y="2510000"/>
            <a:ext cx="3210641" cy="220000"/>
          </a:xfrm>
          <a:prstGeom prst="rect">
            <a:avLst/>
          </a:prstGeom>
          <a:solidFill>
            <a:srgbClr val="F0F4FA"/>
          </a:solidFill>
          <a:ln w="15240">
            <a:solidFill>
              <a:srgbClr val="DDDDDD"/>
            </a:solidFill>
          </a:ln>
        </p:spPr>
      </p:sp>
      <p:sp>
        <p:nvSpPr>
          <p:cNvPr id="361" name="TDT31"/>
          <p:cNvSpPr/>
          <p:nvPr/>
        </p:nvSpPr>
        <p:spPr>
          <a:xfrm>
            <a:off x="2738207" y="2510000"/>
            <a:ext cx="3185641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Droit RDP (droit local, pas NTFS)</a:t>
            </a:r>
            <a:endParaRPr lang="fr-CA" dirty="0"/>
          </a:p>
        </p:txBody>
      </p:sp>
      <p:sp>
        <p:nvSpPr>
          <p:cNvPr id="262" name="TD32"/>
          <p:cNvSpPr/>
          <p:nvPr/>
        </p:nvSpPr>
        <p:spPr>
          <a:xfrm>
            <a:off x="5923848" y="2510000"/>
            <a:ext cx="2872679" cy="220000"/>
          </a:xfrm>
          <a:prstGeom prst="rect">
            <a:avLst/>
          </a:prstGeom>
          <a:solidFill>
            <a:srgbClr val="F0F4FA"/>
          </a:solidFill>
          <a:ln w="15240">
            <a:solidFill>
              <a:srgbClr val="DDDDDD"/>
            </a:solidFill>
          </a:ln>
        </p:spPr>
      </p:sp>
      <p:sp>
        <p:nvSpPr>
          <p:cNvPr id="362" name="TDT32"/>
          <p:cNvSpPr/>
          <p:nvPr/>
        </p:nvSpPr>
        <p:spPr>
          <a:xfrm>
            <a:off x="5948848" y="2510000"/>
            <a:ext cx="2847679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Connexion à distance</a:t>
            </a:r>
            <a:endParaRPr lang="fr-CA" dirty="0"/>
          </a:p>
        </p:txBody>
      </p:sp>
      <p:sp>
        <p:nvSpPr>
          <p:cNvPr id="40" name="TH400"/>
          <p:cNvSpPr/>
          <p:nvPr/>
        </p:nvSpPr>
        <p:spPr>
          <a:xfrm>
            <a:off x="347472" y="2700000"/>
            <a:ext cx="1182867" cy="260000"/>
          </a:xfrm>
          <a:prstGeom prst="rect">
            <a:avLst/>
          </a:prstGeom>
          <a:solidFill>
            <a:srgbClr val="1A3560"/>
          </a:solidFill>
          <a:ln w="0">
            <a:noFill/>
          </a:ln>
        </p:spPr>
      </p:sp>
      <p:sp>
        <p:nvSpPr>
          <p:cNvPr id="90" name="THT400"/>
          <p:cNvSpPr/>
          <p:nvPr/>
        </p:nvSpPr>
        <p:spPr>
          <a:xfrm>
            <a:off x="372472" y="2700000"/>
            <a:ext cx="1157867" cy="2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900" b="1" i="0" dirty="0">
                <a:solidFill>
                  <a:srgbClr val="FFFFFF"/>
                </a:solidFill>
              </a:rPr>
              <a:t>Type</a:t>
            </a:r>
            <a:endParaRPr lang="fr-CA" dirty="0"/>
          </a:p>
        </p:txBody>
      </p:sp>
      <p:sp>
        <p:nvSpPr>
          <p:cNvPr id="41" name="TH401"/>
          <p:cNvSpPr/>
          <p:nvPr/>
        </p:nvSpPr>
        <p:spPr>
          <a:xfrm>
            <a:off x="1530339" y="2700000"/>
            <a:ext cx="1689811" cy="260000"/>
          </a:xfrm>
          <a:prstGeom prst="rect">
            <a:avLst/>
          </a:prstGeom>
          <a:solidFill>
            <a:srgbClr val="1A3560"/>
          </a:solidFill>
          <a:ln w="0">
            <a:noFill/>
          </a:ln>
        </p:spPr>
      </p:sp>
      <p:sp>
        <p:nvSpPr>
          <p:cNvPr id="91" name="THT401"/>
          <p:cNvSpPr/>
          <p:nvPr/>
        </p:nvSpPr>
        <p:spPr>
          <a:xfrm>
            <a:off x="1555339" y="2700000"/>
            <a:ext cx="1664811" cy="2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900" b="1" i="0" dirty="0">
                <a:solidFill>
                  <a:srgbClr val="FFFFFF"/>
                </a:solidFill>
              </a:rPr>
              <a:t>S'applique à</a:t>
            </a:r>
            <a:endParaRPr lang="fr-CA" dirty="0"/>
          </a:p>
        </p:txBody>
      </p:sp>
      <p:sp>
        <p:nvSpPr>
          <p:cNvPr id="42" name="TH402"/>
          <p:cNvSpPr/>
          <p:nvPr/>
        </p:nvSpPr>
        <p:spPr>
          <a:xfrm>
            <a:off x="3220150" y="2700000"/>
            <a:ext cx="1689811" cy="260000"/>
          </a:xfrm>
          <a:prstGeom prst="rect">
            <a:avLst/>
          </a:prstGeom>
          <a:solidFill>
            <a:srgbClr val="1A3560"/>
          </a:solidFill>
          <a:ln w="0">
            <a:noFill/>
          </a:ln>
        </p:spPr>
      </p:sp>
      <p:sp>
        <p:nvSpPr>
          <p:cNvPr id="92" name="THT402"/>
          <p:cNvSpPr/>
          <p:nvPr/>
        </p:nvSpPr>
        <p:spPr>
          <a:xfrm>
            <a:off x="3245150" y="2700000"/>
            <a:ext cx="1664811" cy="2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900" b="1" i="0" dirty="0">
                <a:solidFill>
                  <a:srgbClr val="FFFFFF"/>
                </a:solidFill>
              </a:rPr>
              <a:t>Outil Windows</a:t>
            </a:r>
            <a:endParaRPr lang="fr-CA" dirty="0"/>
          </a:p>
        </p:txBody>
      </p:sp>
      <p:sp>
        <p:nvSpPr>
          <p:cNvPr id="43" name="TH403"/>
          <p:cNvSpPr/>
          <p:nvPr/>
        </p:nvSpPr>
        <p:spPr>
          <a:xfrm>
            <a:off x="4909961" y="2700000"/>
            <a:ext cx="3886565" cy="260000"/>
          </a:xfrm>
          <a:prstGeom prst="rect">
            <a:avLst/>
          </a:prstGeom>
          <a:solidFill>
            <a:srgbClr val="1A3560"/>
          </a:solidFill>
          <a:ln w="0">
            <a:noFill/>
          </a:ln>
        </p:spPr>
      </p:sp>
      <p:sp>
        <p:nvSpPr>
          <p:cNvPr id="93" name="THT403"/>
          <p:cNvSpPr/>
          <p:nvPr/>
        </p:nvSpPr>
        <p:spPr>
          <a:xfrm>
            <a:off x="4934961" y="2700000"/>
            <a:ext cx="3861565" cy="2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900" b="1" i="0" dirty="0">
                <a:solidFill>
                  <a:srgbClr val="FFFFFF"/>
                </a:solidFill>
              </a:rPr>
              <a:t>Exemple</a:t>
            </a:r>
            <a:endParaRPr lang="fr-CA" dirty="0"/>
          </a:p>
        </p:txBody>
      </p:sp>
      <p:sp>
        <p:nvSpPr>
          <p:cNvPr id="5" name="TD00"/>
          <p:cNvSpPr/>
          <p:nvPr/>
        </p:nvSpPr>
        <p:spPr>
          <a:xfrm>
            <a:off x="347472" y="2960000"/>
            <a:ext cx="1182867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6" name="TDT00"/>
          <p:cNvSpPr/>
          <p:nvPr/>
        </p:nvSpPr>
        <p:spPr>
          <a:xfrm>
            <a:off x="372472" y="2960000"/>
            <a:ext cx="1157867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1" i="0" dirty="0">
                <a:solidFill>
                  <a:srgbClr val="152B4E"/>
                </a:solidFill>
              </a:rPr>
              <a:t>Droit local</a:t>
            </a:r>
            <a:endParaRPr lang="fr-CA" dirty="0"/>
          </a:p>
        </p:txBody>
      </p:sp>
      <p:sp>
        <p:nvSpPr>
          <p:cNvPr id="8" name="TD01"/>
          <p:cNvSpPr/>
          <p:nvPr/>
        </p:nvSpPr>
        <p:spPr>
          <a:xfrm>
            <a:off x="1530339" y="2960000"/>
            <a:ext cx="1689811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9" name="TDT01"/>
          <p:cNvSpPr/>
          <p:nvPr/>
        </p:nvSpPr>
        <p:spPr>
          <a:xfrm>
            <a:off x="1555339" y="2960000"/>
            <a:ext cx="1664811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Actions système OS</a:t>
            </a:r>
            <a:endParaRPr lang="fr-CA" dirty="0"/>
          </a:p>
        </p:txBody>
      </p:sp>
      <p:sp>
        <p:nvSpPr>
          <p:cNvPr id="12" name="TD02"/>
          <p:cNvSpPr/>
          <p:nvPr/>
        </p:nvSpPr>
        <p:spPr>
          <a:xfrm>
            <a:off x="3220150" y="2960000"/>
            <a:ext cx="1689811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13" name="TDT02"/>
          <p:cNvSpPr/>
          <p:nvPr/>
        </p:nvSpPr>
        <p:spPr>
          <a:xfrm>
            <a:off x="3245150" y="2960000"/>
            <a:ext cx="1664811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secpol.msc</a:t>
            </a:r>
            <a:endParaRPr lang="fr-CA" dirty="0"/>
          </a:p>
        </p:txBody>
      </p:sp>
      <p:sp>
        <p:nvSpPr>
          <p:cNvPr id="243" name="TD03"/>
          <p:cNvSpPr/>
          <p:nvPr/>
        </p:nvSpPr>
        <p:spPr>
          <a:xfrm>
            <a:off x="4909961" y="2960000"/>
            <a:ext cx="3886565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343" name="TDT03"/>
          <p:cNvSpPr/>
          <p:nvPr/>
        </p:nvSpPr>
        <p:spPr>
          <a:xfrm>
            <a:off x="4934961" y="2960000"/>
            <a:ext cx="3861565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Installer un pilote · Arrêter le PC · Se connecter en RDP</a:t>
            </a:r>
            <a:endParaRPr lang="fr-CA" dirty="0"/>
          </a:p>
        </p:txBody>
      </p:sp>
      <p:sp>
        <p:nvSpPr>
          <p:cNvPr id="14" name="TD10"/>
          <p:cNvSpPr/>
          <p:nvPr/>
        </p:nvSpPr>
        <p:spPr>
          <a:xfrm>
            <a:off x="347472" y="3180000"/>
            <a:ext cx="1182867" cy="220000"/>
          </a:xfrm>
          <a:prstGeom prst="rect">
            <a:avLst/>
          </a:prstGeom>
          <a:solidFill>
            <a:srgbClr val="F0F4FA"/>
          </a:solidFill>
          <a:ln w="15240">
            <a:solidFill>
              <a:srgbClr val="DDDDDD"/>
            </a:solidFill>
          </a:ln>
        </p:spPr>
      </p:sp>
      <p:sp>
        <p:nvSpPr>
          <p:cNvPr id="15" name="TDT10"/>
          <p:cNvSpPr/>
          <p:nvPr/>
        </p:nvSpPr>
        <p:spPr>
          <a:xfrm>
            <a:off x="372472" y="3180000"/>
            <a:ext cx="1157867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1" i="0" dirty="0">
                <a:solidFill>
                  <a:srgbClr val="152B4E"/>
                </a:solidFill>
              </a:rPr>
              <a:t>Permission NTFS</a:t>
            </a:r>
            <a:endParaRPr lang="fr-CA" dirty="0"/>
          </a:p>
        </p:txBody>
      </p:sp>
      <p:sp>
        <p:nvSpPr>
          <p:cNvPr id="16" name="TD11"/>
          <p:cNvSpPr/>
          <p:nvPr/>
        </p:nvSpPr>
        <p:spPr>
          <a:xfrm>
            <a:off x="1530339" y="3180000"/>
            <a:ext cx="1689811" cy="220000"/>
          </a:xfrm>
          <a:prstGeom prst="rect">
            <a:avLst/>
          </a:prstGeom>
          <a:solidFill>
            <a:srgbClr val="F0F4FA"/>
          </a:solidFill>
          <a:ln w="15240">
            <a:solidFill>
              <a:srgbClr val="DDDDDD"/>
            </a:solidFill>
          </a:ln>
        </p:spPr>
      </p:sp>
      <p:sp>
        <p:nvSpPr>
          <p:cNvPr id="17" name="TDT11"/>
          <p:cNvSpPr/>
          <p:nvPr/>
        </p:nvSpPr>
        <p:spPr>
          <a:xfrm>
            <a:off x="1555339" y="3180000"/>
            <a:ext cx="1664811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Fichiers et dossiers</a:t>
            </a:r>
            <a:endParaRPr lang="fr-CA" dirty="0"/>
          </a:p>
        </p:txBody>
      </p:sp>
      <p:sp>
        <p:nvSpPr>
          <p:cNvPr id="18" name="TD12"/>
          <p:cNvSpPr/>
          <p:nvPr/>
        </p:nvSpPr>
        <p:spPr>
          <a:xfrm>
            <a:off x="3220150" y="3180000"/>
            <a:ext cx="1689811" cy="220000"/>
          </a:xfrm>
          <a:prstGeom prst="rect">
            <a:avLst/>
          </a:prstGeom>
          <a:solidFill>
            <a:srgbClr val="F0F4FA"/>
          </a:solidFill>
          <a:ln w="15240">
            <a:solidFill>
              <a:srgbClr val="DDDDDD"/>
            </a:solidFill>
          </a:ln>
        </p:spPr>
      </p:sp>
      <p:sp>
        <p:nvSpPr>
          <p:cNvPr id="19" name="TDT12"/>
          <p:cNvSpPr/>
          <p:nvPr/>
        </p:nvSpPr>
        <p:spPr>
          <a:xfrm>
            <a:off x="3245150" y="3180000"/>
            <a:ext cx="1664811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Propriétés → Sécurité</a:t>
            </a:r>
            <a:endParaRPr lang="fr-CA" dirty="0"/>
          </a:p>
        </p:txBody>
      </p:sp>
      <p:sp>
        <p:nvSpPr>
          <p:cNvPr id="253" name="TD13"/>
          <p:cNvSpPr/>
          <p:nvPr/>
        </p:nvSpPr>
        <p:spPr>
          <a:xfrm>
            <a:off x="4909961" y="3180000"/>
            <a:ext cx="3886565" cy="220000"/>
          </a:xfrm>
          <a:prstGeom prst="rect">
            <a:avLst/>
          </a:prstGeom>
          <a:solidFill>
            <a:srgbClr val="F0F4FA"/>
          </a:solidFill>
          <a:ln w="15240">
            <a:solidFill>
              <a:srgbClr val="DDDDDD"/>
            </a:solidFill>
          </a:ln>
        </p:spPr>
      </p:sp>
      <p:sp>
        <p:nvSpPr>
          <p:cNvPr id="353" name="TDT13"/>
          <p:cNvSpPr/>
          <p:nvPr/>
        </p:nvSpPr>
        <p:spPr>
          <a:xfrm>
            <a:off x="4934961" y="3180000"/>
            <a:ext cx="3861565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Lire C:\Data · Modifier un dossier</a:t>
            </a:r>
            <a:endParaRPr lang="fr-CA" dirty="0"/>
          </a:p>
        </p:txBody>
      </p:sp>
      <p:sp>
        <p:nvSpPr>
          <p:cNvPr id="50" name="Rule"/>
          <p:cNvSpPr/>
          <p:nvPr/>
        </p:nvSpPr>
        <p:spPr>
          <a:xfrm>
            <a:off x="347472" y="3425774"/>
            <a:ext cx="8449056" cy="330000"/>
          </a:xfrm>
          <a:prstGeom prst="roundRect">
            <a:avLst>
              <a:gd name="adj" fmla="val 3000"/>
            </a:avLst>
          </a:prstGeom>
          <a:solidFill>
            <a:srgbClr val="FDE8E8"/>
          </a:solidFill>
          <a:ln w="15240">
            <a:solidFill>
              <a:srgbClr val="D0021B"/>
            </a:solidFill>
          </a:ln>
        </p:spPr>
      </p:sp>
      <p:sp>
        <p:nvSpPr>
          <p:cNvPr id="51" name="RT"/>
          <p:cNvSpPr/>
          <p:nvPr/>
        </p:nvSpPr>
        <p:spPr>
          <a:xfrm>
            <a:off x="412526" y="3425774"/>
            <a:ext cx="8384000" cy="29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CA" sz="1100" b="1" i="0" dirty="0">
                <a:solidFill>
                  <a:srgbClr val="D0021B"/>
                </a:solidFill>
              </a:rPr>
              <a:t>🔥  RÈGLE ABSOLUE NTFS : Refus explicite &gt; Autorisation. Même pour un administrateur. Toujours sans exception.</a:t>
            </a:r>
            <a:endParaRPr lang="fr-CA" dirty="0"/>
          </a:p>
        </p:txBody>
      </p:sp>
      <p:sp>
        <p:nvSpPr>
          <p:cNvPr id="52" name="How"/>
          <p:cNvSpPr/>
          <p:nvPr/>
        </p:nvSpPr>
        <p:spPr>
          <a:xfrm>
            <a:off x="363664" y="3755774"/>
            <a:ext cx="8449056" cy="23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100" b="1" i="0" dirty="0">
                <a:solidFill>
                  <a:srgbClr val="152B4E"/>
                </a:solidFill>
              </a:rPr>
              <a:t>Comment Windows calcule les permissions effectives :</a:t>
            </a:r>
            <a:endParaRPr lang="fr-CA" dirty="0"/>
          </a:p>
        </p:txBody>
      </p:sp>
      <p:sp>
        <p:nvSpPr>
          <p:cNvPr id="53" name="HB"/>
          <p:cNvSpPr/>
          <p:nvPr/>
        </p:nvSpPr>
        <p:spPr>
          <a:xfrm>
            <a:off x="347472" y="3940000"/>
            <a:ext cx="8449056" cy="7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fr-CA" sz="1000" b="0" i="0" dirty="0">
                <a:solidFill>
                  <a:srgbClr val="152B4E"/>
                </a:solidFill>
              </a:rPr>
              <a:t>1  Windows récupère l'Access Token (SID user + SID groupes)</a:t>
            </a:r>
            <a:endParaRPr lang="fr-CA" dirty="0"/>
          </a:p>
          <a:p>
            <a:pPr marL="0" indent="0" algn="l">
              <a:buNone/>
            </a:pPr>
            <a:r>
              <a:rPr lang="fr-CA" sz="1000" b="0" i="0" dirty="0">
                <a:solidFill>
                  <a:srgbClr val="152B4E"/>
                </a:solidFill>
              </a:rPr>
              <a:t>2  Compare tous les SID du token avec les ACE de l'ACL du fichier</a:t>
            </a:r>
            <a:endParaRPr lang="fr-CA" dirty="0"/>
          </a:p>
          <a:p>
            <a:pPr marL="0" indent="0" algn="l">
              <a:buNone/>
            </a:pPr>
            <a:r>
              <a:rPr lang="fr-CA" sz="1000" b="0" i="0" dirty="0">
                <a:solidFill>
                  <a:srgbClr val="152B4E"/>
                </a:solidFill>
              </a:rPr>
              <a:t>3  Additionne toutes les autorisations (cumul des groupes)</a:t>
            </a:r>
            <a:endParaRPr lang="fr-CA" dirty="0"/>
          </a:p>
          <a:p>
            <a:pPr marL="0" indent="0" algn="l">
              <a:buNone/>
            </a:pPr>
            <a:r>
              <a:rPr lang="fr-CA" sz="1000" b="1" i="0" dirty="0">
                <a:solidFill>
                  <a:srgbClr val="D0021B"/>
                </a:solidFill>
              </a:rPr>
              <a:t>4  Applique les refus explicites → ils écrasent toutes les autorisations</a:t>
            </a:r>
            <a:endParaRPr lang="fr-CA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mg-AccessToken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H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7 — Comptes, Profils, Permissions et Diagnostic avancé</a:t>
            </a:r>
          </a:p>
        </p:txBody>
      </p:sp>
      <p:sp>
        <p:nvSpPr>
          <p:cNvPr id="903" name="FooterVersion"/>
          <p:cNvSpPr/>
          <p:nvPr/>
        </p:nvSpPr>
        <p:spPr>
          <a:xfrm>
            <a:off x="0" y="4900000"/>
            <a:ext cx="9144000" cy="20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650" i="1" dirty="0">
                <a:solidFill>
                  <a:srgbClr val="AAAAAA"/>
                </a:solidFill>
              </a:rPr>
              <a:t>Version 1 — Juin 2026</a:t>
            </a:r>
          </a:p>
        </p:txBody>
      </p:sp>
      <p:sp>
        <p:nvSpPr>
          <p:cNvPr id="10" name="Title"/>
          <p:cNvSpPr/>
          <p:nvPr/>
        </p:nvSpPr>
        <p:spPr>
          <a:xfrm>
            <a:off x="347472" y="530000"/>
            <a:ext cx="8449056" cy="3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600" b="1" i="0" dirty="0">
                <a:solidFill>
                  <a:srgbClr val="152B4E"/>
                </a:solidFill>
              </a:rPr>
              <a:t>🖼  Access Token vs Security Descriptor — Comment Windows vérifie l'accès</a:t>
            </a:r>
            <a:endParaRPr lang="fr-CA" dirty="0"/>
          </a:p>
        </p:txBody>
      </p:sp>
      <p:sp>
        <p:nvSpPr>
          <p:cNvPr id="11" name="TBar"/>
          <p:cNvSpPr/>
          <p:nvPr/>
        </p:nvSpPr>
        <p:spPr>
          <a:xfrm>
            <a:off x="347472" y="890000"/>
            <a:ext cx="800000" cy="32000"/>
          </a:xfrm>
          <a:prstGeom prst="rect">
            <a:avLst/>
          </a:prstGeom>
          <a:solidFill>
            <a:srgbClr val="6CC24A"/>
          </a:solidFill>
          <a:ln w="0">
            <a:noFill/>
          </a:ln>
        </p:spPr>
      </p:sp>
      <p:pic>
        <p:nvPicPr>
          <p:cNvPr id="20" name="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00" y="960000"/>
            <a:ext cx="7580000" cy="3926972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</p:pic>
      <p:sp>
        <p:nvSpPr>
          <p:cNvPr id="30" name="Cap"/>
          <p:cNvSpPr/>
          <p:nvPr/>
        </p:nvSpPr>
        <p:spPr>
          <a:xfrm>
            <a:off x="380000" y="9197000"/>
            <a:ext cx="8384000" cy="1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CA" sz="850" b="0" i="1" dirty="0">
                <a:solidFill>
                  <a:srgbClr val="7A7A7A"/>
                </a:solidFill>
              </a:rPr>
              <a:t>Sujet (User's Access Token : SID user, Group SIDs, Privileges) → Object's Security Descriptor (ACL avec SACL + DACL) → ACE → décision Allow/Deny</a:t>
            </a:r>
            <a:endParaRPr lang="fr-CA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4-NTFS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H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7 — Comptes, Profils, Permissions et Diagnostic avancé</a:t>
            </a:r>
          </a:p>
        </p:txBody>
      </p:sp>
      <p:sp>
        <p:nvSpPr>
          <p:cNvPr id="903" name="FooterVersion"/>
          <p:cNvSpPr/>
          <p:nvPr/>
        </p:nvSpPr>
        <p:spPr>
          <a:xfrm>
            <a:off x="0" y="4900000"/>
            <a:ext cx="9144000" cy="20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650" i="1" dirty="0">
                <a:solidFill>
                  <a:srgbClr val="AAAAAA"/>
                </a:solidFill>
              </a:rPr>
              <a:t>Version 1 — Juin 2026</a:t>
            </a:r>
          </a:p>
        </p:txBody>
      </p:sp>
      <p:sp>
        <p:nvSpPr>
          <p:cNvPr id="10" name="T"/>
          <p:cNvSpPr/>
          <p:nvPr/>
        </p:nvSpPr>
        <p:spPr>
          <a:xfrm>
            <a:off x="347472" y="530000"/>
            <a:ext cx="8449056" cy="3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800" b="1" i="0" dirty="0">
                <a:solidFill>
                  <a:srgbClr val="152B4E"/>
                </a:solidFill>
              </a:rPr>
              <a:t>🔒  PARTIE 4 — PERMISSIONS NTFS EN PROFONDEUR</a:t>
            </a:r>
            <a:endParaRPr lang="fr-CA" dirty="0"/>
          </a:p>
        </p:txBody>
      </p:sp>
      <p:sp>
        <p:nvSpPr>
          <p:cNvPr id="11" name="GB"/>
          <p:cNvSpPr/>
          <p:nvPr/>
        </p:nvSpPr>
        <p:spPr>
          <a:xfrm>
            <a:off x="347472" y="890000"/>
            <a:ext cx="800000" cy="32000"/>
          </a:xfrm>
          <a:prstGeom prst="rect">
            <a:avLst/>
          </a:prstGeom>
          <a:solidFill>
            <a:srgbClr val="6CC24A"/>
          </a:solidFill>
          <a:ln w="0">
            <a:noFill/>
          </a:ln>
        </p:spPr>
      </p:sp>
      <p:sp>
        <p:nvSpPr>
          <p:cNvPr id="20" name="D"/>
          <p:cNvSpPr/>
          <p:nvPr/>
        </p:nvSpPr>
        <p:spPr>
          <a:xfrm>
            <a:off x="347472" y="980000"/>
            <a:ext cx="8449056" cy="330000"/>
          </a:xfrm>
          <a:prstGeom prst="roundRect">
            <a:avLst>
              <a:gd name="adj" fmla="val 3000"/>
            </a:avLst>
          </a:prstGeom>
          <a:solidFill>
            <a:srgbClr val="EAF4FF"/>
          </a:solidFill>
          <a:ln w="15240">
            <a:solidFill>
              <a:srgbClr val="2563A0"/>
            </a:solidFill>
          </a:ln>
        </p:spPr>
      </p:sp>
      <p:sp>
        <p:nvSpPr>
          <p:cNvPr id="4" name="DT"/>
          <p:cNvSpPr/>
          <p:nvPr/>
        </p:nvSpPr>
        <p:spPr>
          <a:xfrm>
            <a:off x="380000" y="995000"/>
            <a:ext cx="8384000" cy="3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CA" sz="1050" b="0" i="0" dirty="0">
                <a:solidFill>
                  <a:srgbClr val="152B4E"/>
                </a:solidFill>
              </a:rPr>
              <a:t>NTFS = système de fichiers Windows — il gère stockage, journalisation, chiffrement, compression et surtout les PERMISSIONS.</a:t>
            </a:r>
            <a:endParaRPr lang="fr-CA" dirty="0"/>
          </a:p>
          <a:p>
            <a:pPr marL="0" indent="0" algn="ctr">
              <a:buNone/>
            </a:pPr>
            <a:r>
              <a:rPr lang="fr-CA" sz="1050" b="1" i="0" dirty="0">
                <a:solidFill>
                  <a:srgbClr val="2563A0"/>
                </a:solidFill>
              </a:rPr>
              <a:t>Chaque fichier/dossier possède : un propriétaire (SID) + une ACL (Access Control List)</a:t>
            </a:r>
            <a:endParaRPr lang="fr-CA" dirty="0"/>
          </a:p>
        </p:txBody>
      </p:sp>
      <p:sp>
        <p:nvSpPr>
          <p:cNvPr id="22" name="ACL"/>
          <p:cNvSpPr/>
          <p:nvPr/>
        </p:nvSpPr>
        <p:spPr>
          <a:xfrm>
            <a:off x="347472" y="1370000"/>
            <a:ext cx="4050000" cy="13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23" name="ACLT"/>
          <p:cNvSpPr/>
          <p:nvPr/>
        </p:nvSpPr>
        <p:spPr>
          <a:xfrm>
            <a:off x="380000" y="1400000"/>
            <a:ext cx="4000000" cy="23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100" b="1" i="0" dirty="0">
                <a:solidFill>
                  <a:srgbClr val="152B4E"/>
                </a:solidFill>
              </a:rPr>
              <a:t>Structure ACL / ACE</a:t>
            </a:r>
            <a:endParaRPr lang="fr-CA" dirty="0"/>
          </a:p>
        </p:txBody>
      </p:sp>
      <p:sp>
        <p:nvSpPr>
          <p:cNvPr id="24" name="ACLB"/>
          <p:cNvSpPr/>
          <p:nvPr/>
        </p:nvSpPr>
        <p:spPr>
          <a:xfrm>
            <a:off x="380000" y="1640000"/>
            <a:ext cx="4000000" cy="10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fr-CA" sz="1000" b="1" i="0" dirty="0">
                <a:solidFill>
                  <a:srgbClr val="152B4E"/>
                </a:solidFill>
              </a:rPr>
              <a:t>ACL (Access Control List) = liste d'entrées ACE</a:t>
            </a:r>
            <a:endParaRPr lang="fr-CA" dirty="0"/>
          </a:p>
          <a:p>
            <a:pPr marL="0" indent="0" algn="l">
              <a:buNone/>
            </a:pPr>
            <a:endParaRPr lang="fr-CA" dirty="0"/>
          </a:p>
          <a:p>
            <a:pPr marL="0" indent="0" algn="l">
              <a:buNone/>
            </a:pPr>
            <a:r>
              <a:rPr lang="fr-CA" sz="1000" b="1" i="0" dirty="0">
                <a:solidFill>
                  <a:srgbClr val="152B4E"/>
                </a:solidFill>
              </a:rPr>
              <a:t>Chaque ACE (Access Control Entry) contient :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• Un SID (utilisateur ou groupe)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• Un type : Autoriser ou Refuser (Deny)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• Un niveau d'accès (Lecture, Écriture, Contrôle total...)</a:t>
            </a:r>
            <a:endParaRPr lang="fr-CA" dirty="0"/>
          </a:p>
          <a:p>
            <a:pPr marL="0" indent="0" algn="l">
              <a:buNone/>
            </a:pPr>
            <a:endParaRPr lang="fr-CA" dirty="0"/>
          </a:p>
          <a:p>
            <a:pPr marL="0" indent="0" algn="l">
              <a:buNone/>
            </a:pPr>
            <a:r>
              <a:rPr lang="fr-CA" sz="950" b="1" i="0" dirty="0">
                <a:solidFill>
                  <a:srgbClr val="D0021B"/>
                </a:solidFill>
              </a:rPr>
              <a:t>🔥  Deny &gt; Allow. Toujours. Sans exception.</a:t>
            </a:r>
            <a:endParaRPr lang="fr-CA" dirty="0"/>
          </a:p>
        </p:txBody>
      </p:sp>
      <p:sp>
        <p:nvSpPr>
          <p:cNvPr id="30" name="TH300"/>
          <p:cNvSpPr/>
          <p:nvPr/>
        </p:nvSpPr>
        <p:spPr>
          <a:xfrm>
            <a:off x="4600000" y="1370000"/>
            <a:ext cx="1470000" cy="260000"/>
          </a:xfrm>
          <a:prstGeom prst="rect">
            <a:avLst/>
          </a:prstGeom>
          <a:solidFill>
            <a:srgbClr val="1A3560"/>
          </a:solidFill>
          <a:ln w="0">
            <a:noFill/>
          </a:ln>
        </p:spPr>
      </p:sp>
      <p:sp>
        <p:nvSpPr>
          <p:cNvPr id="80" name="THT300"/>
          <p:cNvSpPr/>
          <p:nvPr/>
        </p:nvSpPr>
        <p:spPr>
          <a:xfrm>
            <a:off x="4625000" y="1370000"/>
            <a:ext cx="1445000" cy="2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900" b="1" i="0" dirty="0">
                <a:solidFill>
                  <a:srgbClr val="FFFFFF"/>
                </a:solidFill>
              </a:rPr>
              <a:t>Permission</a:t>
            </a:r>
            <a:endParaRPr lang="fr-CA" dirty="0"/>
          </a:p>
        </p:txBody>
      </p:sp>
      <p:sp>
        <p:nvSpPr>
          <p:cNvPr id="31" name="TH301"/>
          <p:cNvSpPr/>
          <p:nvPr/>
        </p:nvSpPr>
        <p:spPr>
          <a:xfrm>
            <a:off x="6070000" y="1370000"/>
            <a:ext cx="2730000" cy="260000"/>
          </a:xfrm>
          <a:prstGeom prst="rect">
            <a:avLst/>
          </a:prstGeom>
          <a:solidFill>
            <a:srgbClr val="1A3560"/>
          </a:solidFill>
          <a:ln w="0">
            <a:noFill/>
          </a:ln>
        </p:spPr>
      </p:sp>
      <p:sp>
        <p:nvSpPr>
          <p:cNvPr id="81" name="THT301"/>
          <p:cNvSpPr/>
          <p:nvPr/>
        </p:nvSpPr>
        <p:spPr>
          <a:xfrm>
            <a:off x="6095000" y="1370000"/>
            <a:ext cx="2705000" cy="2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900" b="1" i="0" dirty="0">
                <a:solidFill>
                  <a:srgbClr val="FFFFFF"/>
                </a:solidFill>
              </a:rPr>
              <a:t>Ce qu'elle permet</a:t>
            </a:r>
            <a:endParaRPr lang="fr-CA" dirty="0"/>
          </a:p>
        </p:txBody>
      </p:sp>
      <p:sp>
        <p:nvSpPr>
          <p:cNvPr id="230" name="TD00"/>
          <p:cNvSpPr/>
          <p:nvPr/>
        </p:nvSpPr>
        <p:spPr>
          <a:xfrm>
            <a:off x="4600000" y="1630000"/>
            <a:ext cx="1470000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330" name="TDT00"/>
          <p:cNvSpPr/>
          <p:nvPr/>
        </p:nvSpPr>
        <p:spPr>
          <a:xfrm>
            <a:off x="4625000" y="1630000"/>
            <a:ext cx="1445000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1" i="0" dirty="0">
                <a:solidFill>
                  <a:srgbClr val="152B4E"/>
                </a:solidFill>
              </a:rPr>
              <a:t>Lecture</a:t>
            </a:r>
            <a:endParaRPr lang="fr-CA" dirty="0"/>
          </a:p>
        </p:txBody>
      </p:sp>
      <p:sp>
        <p:nvSpPr>
          <p:cNvPr id="231" name="TD01"/>
          <p:cNvSpPr/>
          <p:nvPr/>
        </p:nvSpPr>
        <p:spPr>
          <a:xfrm>
            <a:off x="6070000" y="1630000"/>
            <a:ext cx="2730000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331" name="TDT01"/>
          <p:cNvSpPr/>
          <p:nvPr/>
        </p:nvSpPr>
        <p:spPr>
          <a:xfrm>
            <a:off x="6095000" y="1630000"/>
            <a:ext cx="2705000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Voir et copier les fichiers</a:t>
            </a:r>
            <a:endParaRPr lang="fr-CA" dirty="0"/>
          </a:p>
        </p:txBody>
      </p:sp>
      <p:sp>
        <p:nvSpPr>
          <p:cNvPr id="240" name="TD10"/>
          <p:cNvSpPr/>
          <p:nvPr/>
        </p:nvSpPr>
        <p:spPr>
          <a:xfrm>
            <a:off x="4600000" y="1850000"/>
            <a:ext cx="1470000" cy="220000"/>
          </a:xfrm>
          <a:prstGeom prst="rect">
            <a:avLst/>
          </a:prstGeom>
          <a:solidFill>
            <a:srgbClr val="F0F4FA"/>
          </a:solidFill>
          <a:ln w="15240">
            <a:solidFill>
              <a:srgbClr val="DDDDDD"/>
            </a:solidFill>
          </a:ln>
        </p:spPr>
      </p:sp>
      <p:sp>
        <p:nvSpPr>
          <p:cNvPr id="340" name="TDT10"/>
          <p:cNvSpPr/>
          <p:nvPr/>
        </p:nvSpPr>
        <p:spPr>
          <a:xfrm>
            <a:off x="4625000" y="1850000"/>
            <a:ext cx="1445000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1" i="0" dirty="0">
                <a:solidFill>
                  <a:srgbClr val="152B4E"/>
                </a:solidFill>
              </a:rPr>
              <a:t>Écriture</a:t>
            </a:r>
            <a:endParaRPr lang="fr-CA" dirty="0"/>
          </a:p>
        </p:txBody>
      </p:sp>
      <p:sp>
        <p:nvSpPr>
          <p:cNvPr id="241" name="TD11"/>
          <p:cNvSpPr/>
          <p:nvPr/>
        </p:nvSpPr>
        <p:spPr>
          <a:xfrm>
            <a:off x="6070000" y="1850000"/>
            <a:ext cx="2730000" cy="220000"/>
          </a:xfrm>
          <a:prstGeom prst="rect">
            <a:avLst/>
          </a:prstGeom>
          <a:solidFill>
            <a:srgbClr val="F0F4FA"/>
          </a:solidFill>
          <a:ln w="15240">
            <a:solidFill>
              <a:srgbClr val="DDDDDD"/>
            </a:solidFill>
          </a:ln>
        </p:spPr>
      </p:sp>
      <p:sp>
        <p:nvSpPr>
          <p:cNvPr id="341" name="TDT11"/>
          <p:cNvSpPr/>
          <p:nvPr/>
        </p:nvSpPr>
        <p:spPr>
          <a:xfrm>
            <a:off x="6095000" y="1850000"/>
            <a:ext cx="2705000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Créer, modifier</a:t>
            </a:r>
            <a:endParaRPr lang="fr-CA" dirty="0"/>
          </a:p>
        </p:txBody>
      </p:sp>
      <p:sp>
        <p:nvSpPr>
          <p:cNvPr id="250" name="TD20"/>
          <p:cNvSpPr/>
          <p:nvPr/>
        </p:nvSpPr>
        <p:spPr>
          <a:xfrm>
            <a:off x="4600000" y="2070000"/>
            <a:ext cx="1470000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350" name="TDT20"/>
          <p:cNvSpPr/>
          <p:nvPr/>
        </p:nvSpPr>
        <p:spPr>
          <a:xfrm>
            <a:off x="4625000" y="2070000"/>
            <a:ext cx="1445000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1" i="0" dirty="0">
                <a:solidFill>
                  <a:srgbClr val="152B4E"/>
                </a:solidFill>
              </a:rPr>
              <a:t>Modification</a:t>
            </a:r>
            <a:endParaRPr lang="fr-CA" dirty="0"/>
          </a:p>
        </p:txBody>
      </p:sp>
      <p:sp>
        <p:nvSpPr>
          <p:cNvPr id="251" name="TD21"/>
          <p:cNvSpPr/>
          <p:nvPr/>
        </p:nvSpPr>
        <p:spPr>
          <a:xfrm>
            <a:off x="6070000" y="2070000"/>
            <a:ext cx="2730000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351" name="TDT21"/>
          <p:cNvSpPr/>
          <p:nvPr/>
        </p:nvSpPr>
        <p:spPr>
          <a:xfrm>
            <a:off x="6095000" y="2070000"/>
            <a:ext cx="2705000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Lecture + écriture + suppression</a:t>
            </a:r>
            <a:endParaRPr lang="fr-CA" dirty="0"/>
          </a:p>
        </p:txBody>
      </p:sp>
      <p:sp>
        <p:nvSpPr>
          <p:cNvPr id="260" name="TD30"/>
          <p:cNvSpPr/>
          <p:nvPr/>
        </p:nvSpPr>
        <p:spPr>
          <a:xfrm>
            <a:off x="4600000" y="2290000"/>
            <a:ext cx="1470000" cy="220000"/>
          </a:xfrm>
          <a:prstGeom prst="rect">
            <a:avLst/>
          </a:prstGeom>
          <a:solidFill>
            <a:srgbClr val="F0F4FA"/>
          </a:solidFill>
          <a:ln w="15240">
            <a:solidFill>
              <a:srgbClr val="DDDDDD"/>
            </a:solidFill>
          </a:ln>
        </p:spPr>
      </p:sp>
      <p:sp>
        <p:nvSpPr>
          <p:cNvPr id="360" name="TDT30"/>
          <p:cNvSpPr/>
          <p:nvPr/>
        </p:nvSpPr>
        <p:spPr>
          <a:xfrm>
            <a:off x="4625000" y="2290000"/>
            <a:ext cx="1445000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1" i="0" dirty="0">
                <a:solidFill>
                  <a:srgbClr val="152B4E"/>
                </a:solidFill>
              </a:rPr>
              <a:t>Contrôle total</a:t>
            </a:r>
            <a:endParaRPr lang="fr-CA" dirty="0"/>
          </a:p>
        </p:txBody>
      </p:sp>
      <p:sp>
        <p:nvSpPr>
          <p:cNvPr id="261" name="TD31"/>
          <p:cNvSpPr/>
          <p:nvPr/>
        </p:nvSpPr>
        <p:spPr>
          <a:xfrm>
            <a:off x="6070000" y="2290000"/>
            <a:ext cx="2730000" cy="220000"/>
          </a:xfrm>
          <a:prstGeom prst="rect">
            <a:avLst/>
          </a:prstGeom>
          <a:solidFill>
            <a:srgbClr val="F0F4FA"/>
          </a:solidFill>
          <a:ln w="15240">
            <a:solidFill>
              <a:srgbClr val="DDDDDD"/>
            </a:solidFill>
          </a:ln>
        </p:spPr>
      </p:sp>
      <p:sp>
        <p:nvSpPr>
          <p:cNvPr id="361" name="TDT31"/>
          <p:cNvSpPr/>
          <p:nvPr/>
        </p:nvSpPr>
        <p:spPr>
          <a:xfrm>
            <a:off x="6095000" y="2290000"/>
            <a:ext cx="2705000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Tout + modifier les permissions elles-mêmes</a:t>
            </a:r>
            <a:endParaRPr lang="fr-CA" dirty="0"/>
          </a:p>
        </p:txBody>
      </p:sp>
      <p:sp>
        <p:nvSpPr>
          <p:cNvPr id="270" name="TD40"/>
          <p:cNvSpPr/>
          <p:nvPr/>
        </p:nvSpPr>
        <p:spPr>
          <a:xfrm>
            <a:off x="4600000" y="2510000"/>
            <a:ext cx="1470000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370" name="TDT40"/>
          <p:cNvSpPr/>
          <p:nvPr/>
        </p:nvSpPr>
        <p:spPr>
          <a:xfrm>
            <a:off x="4625000" y="2510000"/>
            <a:ext cx="1445000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1" i="0" dirty="0">
                <a:solidFill>
                  <a:srgbClr val="152B4E"/>
                </a:solidFill>
              </a:rPr>
              <a:t>Permissions avancées</a:t>
            </a:r>
            <a:endParaRPr lang="fr-CA" dirty="0"/>
          </a:p>
        </p:txBody>
      </p:sp>
      <p:sp>
        <p:nvSpPr>
          <p:cNvPr id="271" name="TD41"/>
          <p:cNvSpPr/>
          <p:nvPr/>
        </p:nvSpPr>
        <p:spPr>
          <a:xfrm>
            <a:off x="6070000" y="2510000"/>
            <a:ext cx="2730000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371" name="TDT41"/>
          <p:cNvSpPr/>
          <p:nvPr/>
        </p:nvSpPr>
        <p:spPr>
          <a:xfrm>
            <a:off x="6095000" y="2510000"/>
            <a:ext cx="2705000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Traverser dossier · Lire attributs · Prendre possession...</a:t>
            </a:r>
            <a:endParaRPr lang="fr-CA" dirty="0"/>
          </a:p>
        </p:txBody>
      </p:sp>
      <p:sp>
        <p:nvSpPr>
          <p:cNvPr id="40" name="Her"/>
          <p:cNvSpPr/>
          <p:nvPr/>
        </p:nvSpPr>
        <p:spPr>
          <a:xfrm>
            <a:off x="347472" y="2780000"/>
            <a:ext cx="8449056" cy="500000"/>
          </a:xfrm>
          <a:prstGeom prst="roundRect">
            <a:avLst>
              <a:gd name="adj" fmla="val 3000"/>
            </a:avLst>
          </a:prstGeom>
          <a:solidFill>
            <a:srgbClr val="E8F5E0"/>
          </a:solidFill>
          <a:ln w="15240">
            <a:solidFill>
              <a:srgbClr val="6CC24A"/>
            </a:solidFill>
          </a:ln>
        </p:spPr>
      </p:sp>
      <p:sp>
        <p:nvSpPr>
          <p:cNvPr id="41" name="HerT"/>
          <p:cNvSpPr/>
          <p:nvPr/>
        </p:nvSpPr>
        <p:spPr>
          <a:xfrm>
            <a:off x="380000" y="2810000"/>
            <a:ext cx="8384000" cy="2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100" b="1" i="0" dirty="0">
                <a:solidFill>
                  <a:srgbClr val="6CC24A"/>
                </a:solidFill>
              </a:rPr>
              <a:t>Héritage des permissions</a:t>
            </a:r>
            <a:endParaRPr lang="fr-CA" dirty="0"/>
          </a:p>
        </p:txBody>
      </p:sp>
      <p:sp>
        <p:nvSpPr>
          <p:cNvPr id="42" name="HerB"/>
          <p:cNvSpPr/>
          <p:nvPr/>
        </p:nvSpPr>
        <p:spPr>
          <a:xfrm>
            <a:off x="380000" y="3020000"/>
            <a:ext cx="8384000" cy="2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fr-CA" sz="1000" b="0" i="0" dirty="0">
                <a:solidFill>
                  <a:srgbClr val="152B4E"/>
                </a:solidFill>
              </a:rPr>
              <a:t>Par défaut : dossier parent → sous-dossiers/fichiers. Permission explicite prime sur héritée. On peut désactiver l'héritage (→ convertir en explicites).</a:t>
            </a:r>
            <a:endParaRPr lang="fr-CA" dirty="0"/>
          </a:p>
        </p:txBody>
      </p:sp>
      <p:sp>
        <p:nvSpPr>
          <p:cNvPr id="50" name="TH500"/>
          <p:cNvSpPr/>
          <p:nvPr/>
        </p:nvSpPr>
        <p:spPr>
          <a:xfrm>
            <a:off x="347472" y="3380000"/>
            <a:ext cx="2534716" cy="260000"/>
          </a:xfrm>
          <a:prstGeom prst="rect">
            <a:avLst/>
          </a:prstGeom>
          <a:solidFill>
            <a:srgbClr val="1A3560"/>
          </a:solidFill>
          <a:ln w="0">
            <a:noFill/>
          </a:ln>
        </p:spPr>
      </p:sp>
      <p:sp>
        <p:nvSpPr>
          <p:cNvPr id="100" name="THT500"/>
          <p:cNvSpPr/>
          <p:nvPr/>
        </p:nvSpPr>
        <p:spPr>
          <a:xfrm>
            <a:off x="372472" y="3380000"/>
            <a:ext cx="2509716" cy="2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900" b="1" i="0" dirty="0">
                <a:solidFill>
                  <a:srgbClr val="FFFFFF"/>
                </a:solidFill>
              </a:rPr>
              <a:t>Situation terrain</a:t>
            </a:r>
            <a:endParaRPr lang="fr-CA" dirty="0"/>
          </a:p>
        </p:txBody>
      </p:sp>
      <p:sp>
        <p:nvSpPr>
          <p:cNvPr id="51" name="TH501"/>
          <p:cNvSpPr/>
          <p:nvPr/>
        </p:nvSpPr>
        <p:spPr>
          <a:xfrm>
            <a:off x="2882188" y="3380000"/>
            <a:ext cx="2957169" cy="260000"/>
          </a:xfrm>
          <a:prstGeom prst="rect">
            <a:avLst/>
          </a:prstGeom>
          <a:solidFill>
            <a:srgbClr val="1A3560"/>
          </a:solidFill>
          <a:ln w="0">
            <a:noFill/>
          </a:ln>
        </p:spPr>
      </p:sp>
      <p:sp>
        <p:nvSpPr>
          <p:cNvPr id="101" name="THT501"/>
          <p:cNvSpPr/>
          <p:nvPr/>
        </p:nvSpPr>
        <p:spPr>
          <a:xfrm>
            <a:off x="2907188" y="3380000"/>
            <a:ext cx="2932169" cy="2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900" b="1" i="0" dirty="0">
                <a:solidFill>
                  <a:srgbClr val="FFFFFF"/>
                </a:solidFill>
              </a:rPr>
              <a:t>Cause</a:t>
            </a:r>
            <a:endParaRPr lang="fr-CA" dirty="0"/>
          </a:p>
        </p:txBody>
      </p:sp>
      <p:sp>
        <p:nvSpPr>
          <p:cNvPr id="52" name="TH502"/>
          <p:cNvSpPr/>
          <p:nvPr/>
        </p:nvSpPr>
        <p:spPr>
          <a:xfrm>
            <a:off x="5839357" y="3380000"/>
            <a:ext cx="2957169" cy="260000"/>
          </a:xfrm>
          <a:prstGeom prst="rect">
            <a:avLst/>
          </a:prstGeom>
          <a:solidFill>
            <a:srgbClr val="1A3560"/>
          </a:solidFill>
          <a:ln w="0">
            <a:noFill/>
          </a:ln>
        </p:spPr>
      </p:sp>
      <p:sp>
        <p:nvSpPr>
          <p:cNvPr id="102" name="THT502"/>
          <p:cNvSpPr/>
          <p:nvPr/>
        </p:nvSpPr>
        <p:spPr>
          <a:xfrm>
            <a:off x="5864357" y="3380000"/>
            <a:ext cx="2932169" cy="2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900" b="1" i="0" dirty="0">
                <a:solidFill>
                  <a:srgbClr val="FFFFFF"/>
                </a:solidFill>
              </a:rPr>
              <a:t>Solution</a:t>
            </a:r>
            <a:endParaRPr lang="fr-CA" dirty="0"/>
          </a:p>
        </p:txBody>
      </p:sp>
      <p:sp>
        <p:nvSpPr>
          <p:cNvPr id="5" name="TD00"/>
          <p:cNvSpPr/>
          <p:nvPr/>
        </p:nvSpPr>
        <p:spPr>
          <a:xfrm>
            <a:off x="347472" y="3640000"/>
            <a:ext cx="2534716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6" name="TDT00"/>
          <p:cNvSpPr/>
          <p:nvPr/>
        </p:nvSpPr>
        <p:spPr>
          <a:xfrm>
            <a:off x="372472" y="3640000"/>
            <a:ext cx="2509716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1" i="0" dirty="0">
                <a:solidFill>
                  <a:srgbClr val="152B4E"/>
                </a:solidFill>
              </a:rPr>
              <a:t>Admin — accès refusé</a:t>
            </a:r>
            <a:endParaRPr lang="fr-CA" dirty="0"/>
          </a:p>
        </p:txBody>
      </p:sp>
      <p:sp>
        <p:nvSpPr>
          <p:cNvPr id="8" name="TD01"/>
          <p:cNvSpPr/>
          <p:nvPr/>
        </p:nvSpPr>
        <p:spPr>
          <a:xfrm>
            <a:off x="2882188" y="3640000"/>
            <a:ext cx="2957169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9" name="TDT01"/>
          <p:cNvSpPr/>
          <p:nvPr/>
        </p:nvSpPr>
        <p:spPr>
          <a:xfrm>
            <a:off x="2907188" y="3640000"/>
            <a:ext cx="2932169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Deny NTFS explicite sur ce dossier</a:t>
            </a:r>
            <a:endParaRPr lang="fr-CA" dirty="0"/>
          </a:p>
        </p:txBody>
      </p:sp>
      <p:sp>
        <p:nvSpPr>
          <p:cNvPr id="252" name="TD02"/>
          <p:cNvSpPr/>
          <p:nvPr/>
        </p:nvSpPr>
        <p:spPr>
          <a:xfrm>
            <a:off x="5839357" y="3640000"/>
            <a:ext cx="2957169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352" name="TDT02"/>
          <p:cNvSpPr/>
          <p:nvPr/>
        </p:nvSpPr>
        <p:spPr>
          <a:xfrm>
            <a:off x="5864357" y="3640000"/>
            <a:ext cx="2932169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Prendre possession → réappliquer permissions</a:t>
            </a:r>
            <a:endParaRPr lang="fr-CA" dirty="0"/>
          </a:p>
        </p:txBody>
      </p:sp>
      <p:sp>
        <p:nvSpPr>
          <p:cNvPr id="12" name="TD10"/>
          <p:cNvSpPr/>
          <p:nvPr/>
        </p:nvSpPr>
        <p:spPr>
          <a:xfrm>
            <a:off x="347472" y="3860000"/>
            <a:ext cx="2534716" cy="220000"/>
          </a:xfrm>
          <a:prstGeom prst="rect">
            <a:avLst/>
          </a:prstGeom>
          <a:solidFill>
            <a:srgbClr val="F0F4FA"/>
          </a:solidFill>
          <a:ln w="15240">
            <a:solidFill>
              <a:srgbClr val="DDDDDD"/>
            </a:solidFill>
          </a:ln>
        </p:spPr>
      </p:sp>
      <p:sp>
        <p:nvSpPr>
          <p:cNvPr id="13" name="TDT10"/>
          <p:cNvSpPr/>
          <p:nvPr/>
        </p:nvSpPr>
        <p:spPr>
          <a:xfrm>
            <a:off x="372472" y="3860000"/>
            <a:ext cx="2509716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1" i="0" dirty="0">
                <a:solidFill>
                  <a:srgbClr val="152B4E"/>
                </a:solidFill>
              </a:rPr>
              <a:t>Lecture OK, modification KO</a:t>
            </a:r>
            <a:endParaRPr lang="fr-CA" dirty="0"/>
          </a:p>
        </p:txBody>
      </p:sp>
      <p:sp>
        <p:nvSpPr>
          <p:cNvPr id="14" name="TD11"/>
          <p:cNvSpPr/>
          <p:nvPr/>
        </p:nvSpPr>
        <p:spPr>
          <a:xfrm>
            <a:off x="2882188" y="3860000"/>
            <a:ext cx="2957169" cy="220000"/>
          </a:xfrm>
          <a:prstGeom prst="rect">
            <a:avLst/>
          </a:prstGeom>
          <a:solidFill>
            <a:srgbClr val="F0F4FA"/>
          </a:solidFill>
          <a:ln w="15240">
            <a:solidFill>
              <a:srgbClr val="DDDDDD"/>
            </a:solidFill>
          </a:ln>
        </p:spPr>
      </p:sp>
      <p:sp>
        <p:nvSpPr>
          <p:cNvPr id="15" name="TDT11"/>
          <p:cNvSpPr/>
          <p:nvPr/>
        </p:nvSpPr>
        <p:spPr>
          <a:xfrm>
            <a:off x="2907188" y="3860000"/>
            <a:ext cx="2932169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Permission héritée Lecture uniquement</a:t>
            </a:r>
            <a:endParaRPr lang="fr-CA" dirty="0"/>
          </a:p>
        </p:txBody>
      </p:sp>
      <p:sp>
        <p:nvSpPr>
          <p:cNvPr id="262" name="TD12"/>
          <p:cNvSpPr/>
          <p:nvPr/>
        </p:nvSpPr>
        <p:spPr>
          <a:xfrm>
            <a:off x="5839357" y="3860000"/>
            <a:ext cx="2957169" cy="220000"/>
          </a:xfrm>
          <a:prstGeom prst="rect">
            <a:avLst/>
          </a:prstGeom>
          <a:solidFill>
            <a:srgbClr val="F0F4FA"/>
          </a:solidFill>
          <a:ln w="15240">
            <a:solidFill>
              <a:srgbClr val="DDDDDD"/>
            </a:solidFill>
          </a:ln>
        </p:spPr>
      </p:sp>
      <p:sp>
        <p:nvSpPr>
          <p:cNvPr id="362" name="TDT12"/>
          <p:cNvSpPr/>
          <p:nvPr/>
        </p:nvSpPr>
        <p:spPr>
          <a:xfrm>
            <a:off x="5864357" y="3860000"/>
            <a:ext cx="2932169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Ajouter ACE Modification explicite</a:t>
            </a:r>
            <a:endParaRPr lang="fr-CA" dirty="0"/>
          </a:p>
        </p:txBody>
      </p:sp>
      <p:sp>
        <p:nvSpPr>
          <p:cNvPr id="16" name="TD20"/>
          <p:cNvSpPr/>
          <p:nvPr/>
        </p:nvSpPr>
        <p:spPr>
          <a:xfrm>
            <a:off x="347472" y="4080000"/>
            <a:ext cx="2534716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17" name="TDT20"/>
          <p:cNvSpPr/>
          <p:nvPr/>
        </p:nvSpPr>
        <p:spPr>
          <a:xfrm>
            <a:off x="372472" y="4080000"/>
            <a:ext cx="2509716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1" i="0" dirty="0">
                <a:solidFill>
                  <a:srgbClr val="152B4E"/>
                </a:solidFill>
              </a:rPr>
              <a:t>SID inconnu dans ACL</a:t>
            </a:r>
            <a:endParaRPr lang="fr-CA" dirty="0"/>
          </a:p>
        </p:txBody>
      </p:sp>
      <p:sp>
        <p:nvSpPr>
          <p:cNvPr id="18" name="TD21"/>
          <p:cNvSpPr/>
          <p:nvPr/>
        </p:nvSpPr>
        <p:spPr>
          <a:xfrm>
            <a:off x="2882188" y="4080000"/>
            <a:ext cx="2957169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19" name="TDT21"/>
          <p:cNvSpPr/>
          <p:nvPr/>
        </p:nvSpPr>
        <p:spPr>
          <a:xfrm>
            <a:off x="2907188" y="4080000"/>
            <a:ext cx="2932169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Compte supprimé, SID encore présent</a:t>
            </a:r>
            <a:endParaRPr lang="fr-CA" dirty="0"/>
          </a:p>
        </p:txBody>
      </p:sp>
      <p:sp>
        <p:nvSpPr>
          <p:cNvPr id="272" name="TD22"/>
          <p:cNvSpPr/>
          <p:nvPr/>
        </p:nvSpPr>
        <p:spPr>
          <a:xfrm>
            <a:off x="5839357" y="4080000"/>
            <a:ext cx="2957169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372" name="TDT22"/>
          <p:cNvSpPr/>
          <p:nvPr/>
        </p:nvSpPr>
        <p:spPr>
          <a:xfrm>
            <a:off x="5864357" y="4080000"/>
            <a:ext cx="2932169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Prendre possession → recréer compte</a:t>
            </a:r>
            <a:endParaRPr lang="fr-CA" dirty="0"/>
          </a:p>
        </p:txBody>
      </p:sp>
      <p:sp>
        <p:nvSpPr>
          <p:cNvPr id="280" name="TD30"/>
          <p:cNvSpPr/>
          <p:nvPr/>
        </p:nvSpPr>
        <p:spPr>
          <a:xfrm>
            <a:off x="347472" y="4300000"/>
            <a:ext cx="2534716" cy="220000"/>
          </a:xfrm>
          <a:prstGeom prst="rect">
            <a:avLst/>
          </a:prstGeom>
          <a:solidFill>
            <a:srgbClr val="F0F4FA"/>
          </a:solidFill>
          <a:ln w="15240">
            <a:solidFill>
              <a:srgbClr val="DDDDDD"/>
            </a:solidFill>
          </a:ln>
        </p:spPr>
      </p:sp>
      <p:sp>
        <p:nvSpPr>
          <p:cNvPr id="380" name="TDT30"/>
          <p:cNvSpPr/>
          <p:nvPr/>
        </p:nvSpPr>
        <p:spPr>
          <a:xfrm>
            <a:off x="372472" y="4300000"/>
            <a:ext cx="2509716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1" i="0" dirty="0">
                <a:solidFill>
                  <a:srgbClr val="152B4E"/>
                </a:solidFill>
              </a:rPr>
              <a:t>Suppression OK, écriture KO</a:t>
            </a:r>
            <a:endParaRPr lang="fr-CA" dirty="0"/>
          </a:p>
        </p:txBody>
      </p:sp>
      <p:sp>
        <p:nvSpPr>
          <p:cNvPr id="281" name="TD31"/>
          <p:cNvSpPr/>
          <p:nvPr/>
        </p:nvSpPr>
        <p:spPr>
          <a:xfrm>
            <a:off x="2882188" y="4300000"/>
            <a:ext cx="2957169" cy="220000"/>
          </a:xfrm>
          <a:prstGeom prst="rect">
            <a:avLst/>
          </a:prstGeom>
          <a:solidFill>
            <a:srgbClr val="F0F4FA"/>
          </a:solidFill>
          <a:ln w="15240">
            <a:solidFill>
              <a:srgbClr val="DDDDDD"/>
            </a:solidFill>
          </a:ln>
        </p:spPr>
      </p:sp>
      <p:sp>
        <p:nvSpPr>
          <p:cNvPr id="381" name="TDT31"/>
          <p:cNvSpPr/>
          <p:nvPr/>
        </p:nvSpPr>
        <p:spPr>
          <a:xfrm>
            <a:off x="2907188" y="4300000"/>
            <a:ext cx="2932169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Supprimer autorisé / Écriture refusée</a:t>
            </a:r>
            <a:endParaRPr lang="fr-CA" dirty="0"/>
          </a:p>
        </p:txBody>
      </p:sp>
      <p:sp>
        <p:nvSpPr>
          <p:cNvPr id="282" name="TD32"/>
          <p:cNvSpPr/>
          <p:nvPr/>
        </p:nvSpPr>
        <p:spPr>
          <a:xfrm>
            <a:off x="5839357" y="4300000"/>
            <a:ext cx="2957169" cy="220000"/>
          </a:xfrm>
          <a:prstGeom prst="rect">
            <a:avLst/>
          </a:prstGeom>
          <a:solidFill>
            <a:srgbClr val="F0F4FA"/>
          </a:solidFill>
          <a:ln w="15240">
            <a:solidFill>
              <a:srgbClr val="DDDDDD"/>
            </a:solidFill>
          </a:ln>
        </p:spPr>
      </p:sp>
      <p:sp>
        <p:nvSpPr>
          <p:cNvPr id="382" name="TDT32"/>
          <p:cNvSpPr/>
          <p:nvPr/>
        </p:nvSpPr>
        <p:spPr>
          <a:xfrm>
            <a:off x="5864357" y="4300000"/>
            <a:ext cx="2932169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Analyser l'ACL complète — nuance subtile</a:t>
            </a:r>
            <a:endParaRPr lang="fr-CA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mg-HeritageTree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H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7 — Comptes, Profils, Permissions et Diagnostic avancé</a:t>
            </a:r>
          </a:p>
        </p:txBody>
      </p:sp>
      <p:sp>
        <p:nvSpPr>
          <p:cNvPr id="903" name="FooterVersion"/>
          <p:cNvSpPr/>
          <p:nvPr/>
        </p:nvSpPr>
        <p:spPr>
          <a:xfrm>
            <a:off x="0" y="4900000"/>
            <a:ext cx="9144000" cy="20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650" i="1" dirty="0">
                <a:solidFill>
                  <a:srgbClr val="AAAAAA"/>
                </a:solidFill>
              </a:rPr>
              <a:t>Version 1 — Juin 2026</a:t>
            </a:r>
          </a:p>
        </p:txBody>
      </p:sp>
      <p:sp>
        <p:nvSpPr>
          <p:cNvPr id="10" name="Title"/>
          <p:cNvSpPr/>
          <p:nvPr/>
        </p:nvSpPr>
        <p:spPr>
          <a:xfrm>
            <a:off x="347472" y="530000"/>
            <a:ext cx="8449056" cy="3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600" b="1" i="0" dirty="0">
                <a:solidFill>
                  <a:srgbClr val="152B4E"/>
                </a:solidFill>
              </a:rPr>
              <a:t>🖼  Héritage des permissions — Structure arborescente</a:t>
            </a:r>
            <a:endParaRPr lang="fr-CA" dirty="0"/>
          </a:p>
        </p:txBody>
      </p:sp>
      <p:sp>
        <p:nvSpPr>
          <p:cNvPr id="11" name="TBar"/>
          <p:cNvSpPr/>
          <p:nvPr/>
        </p:nvSpPr>
        <p:spPr>
          <a:xfrm>
            <a:off x="347472" y="890000"/>
            <a:ext cx="800000" cy="32000"/>
          </a:xfrm>
          <a:prstGeom prst="rect">
            <a:avLst/>
          </a:prstGeom>
          <a:solidFill>
            <a:srgbClr val="6CC24A"/>
          </a:solidFill>
          <a:ln w="0">
            <a:noFill/>
          </a:ln>
        </p:spPr>
      </p:sp>
      <p:pic>
        <p:nvPicPr>
          <p:cNvPr id="20" name="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00" y="960000"/>
            <a:ext cx="7664004" cy="3970492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</p:pic>
      <p:sp>
        <p:nvSpPr>
          <p:cNvPr id="30" name="Cap"/>
          <p:cNvSpPr/>
          <p:nvPr/>
        </p:nvSpPr>
        <p:spPr>
          <a:xfrm>
            <a:off x="380000" y="9197000"/>
            <a:ext cx="8384000" cy="1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CA" sz="850" b="0" i="1" dirty="0">
                <a:solidFill>
                  <a:srgbClr val="7A7A7A"/>
                </a:solidFill>
              </a:rPr>
              <a:t>Chaque niveau hérite des permissions du parent — Application01 → App1-General → Shared document pool. Les groupes (Guests-App1, Internals-App1) déterminent l'accès à chaque branche.</a:t>
            </a:r>
            <a:endParaRPr lang="fr-CA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mg-NTFSFlow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H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7 — Comptes, Profils, Permissions et Diagnostic avancé</a:t>
            </a:r>
          </a:p>
        </p:txBody>
      </p:sp>
      <p:sp>
        <p:nvSpPr>
          <p:cNvPr id="903" name="FooterVersion"/>
          <p:cNvSpPr/>
          <p:nvPr/>
        </p:nvSpPr>
        <p:spPr>
          <a:xfrm>
            <a:off x="0" y="4900000"/>
            <a:ext cx="9144000" cy="20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650" i="1" dirty="0">
                <a:solidFill>
                  <a:srgbClr val="AAAAAA"/>
                </a:solidFill>
              </a:rPr>
              <a:t>Version 1 — Juin 2026</a:t>
            </a:r>
          </a:p>
        </p:txBody>
      </p:sp>
      <p:sp>
        <p:nvSpPr>
          <p:cNvPr id="10" name="Title"/>
          <p:cNvSpPr/>
          <p:nvPr/>
        </p:nvSpPr>
        <p:spPr>
          <a:xfrm>
            <a:off x="347472" y="530000"/>
            <a:ext cx="8449056" cy="3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600" b="1" i="0" dirty="0">
                <a:solidFill>
                  <a:srgbClr val="152B4E"/>
                </a:solidFill>
              </a:rPr>
              <a:t>🖼  Comment Windows évalue les permissions NTFS — Flowchart complet</a:t>
            </a:r>
            <a:endParaRPr lang="fr-CA" dirty="0"/>
          </a:p>
        </p:txBody>
      </p:sp>
      <p:sp>
        <p:nvSpPr>
          <p:cNvPr id="11" name="TBar"/>
          <p:cNvSpPr/>
          <p:nvPr/>
        </p:nvSpPr>
        <p:spPr>
          <a:xfrm>
            <a:off x="347472" y="890000"/>
            <a:ext cx="800000" cy="32000"/>
          </a:xfrm>
          <a:prstGeom prst="rect">
            <a:avLst/>
          </a:prstGeom>
          <a:solidFill>
            <a:srgbClr val="6CC24A"/>
          </a:solidFill>
          <a:ln w="0">
            <a:noFill/>
          </a:ln>
        </p:spPr>
      </p:sp>
      <p:pic>
        <p:nvPicPr>
          <p:cNvPr id="20" name="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00" y="960000"/>
            <a:ext cx="7580000" cy="3926972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</p:pic>
      <p:sp>
        <p:nvSpPr>
          <p:cNvPr id="30" name="Cap"/>
          <p:cNvSpPr/>
          <p:nvPr/>
        </p:nvSpPr>
        <p:spPr>
          <a:xfrm>
            <a:off x="380000" y="9197000"/>
            <a:ext cx="8384000" cy="1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CA" sz="850" b="0" i="1" dirty="0">
                <a:solidFill>
                  <a:srgbClr val="7A7A7A"/>
                </a:solidFill>
              </a:rPr>
              <a:t>START → Deny explicite? → Oui : Accès REFUSÉ · Non → Propriétaire? → Permissions explicites? → Groupes? → Héritage? → Non : Accès REFUSÉ</a:t>
            </a:r>
            <a:endParaRPr lang="fr-CA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mg-DACL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H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7 — Comptes, Profils, Permissions et Diagnostic avancé</a:t>
            </a:r>
          </a:p>
        </p:txBody>
      </p:sp>
      <p:sp>
        <p:nvSpPr>
          <p:cNvPr id="903" name="FooterVersion"/>
          <p:cNvSpPr/>
          <p:nvPr/>
        </p:nvSpPr>
        <p:spPr>
          <a:xfrm>
            <a:off x="0" y="4900000"/>
            <a:ext cx="9144000" cy="20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650" i="1" dirty="0">
                <a:solidFill>
                  <a:srgbClr val="AAAAAA"/>
                </a:solidFill>
              </a:rPr>
              <a:t>Version 1 — Juin 2026</a:t>
            </a:r>
          </a:p>
        </p:txBody>
      </p:sp>
      <p:sp>
        <p:nvSpPr>
          <p:cNvPr id="10" name="Title"/>
          <p:cNvSpPr/>
          <p:nvPr/>
        </p:nvSpPr>
        <p:spPr>
          <a:xfrm>
            <a:off x="347472" y="530000"/>
            <a:ext cx="8449056" cy="3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600" b="1" i="0" dirty="0">
                <a:solidFill>
                  <a:srgbClr val="152B4E"/>
                </a:solidFill>
              </a:rPr>
              <a:t>🖼  DACL et ACE — Mécanisme de contrôle d'accès</a:t>
            </a:r>
            <a:endParaRPr lang="fr-CA" dirty="0"/>
          </a:p>
        </p:txBody>
      </p:sp>
      <p:sp>
        <p:nvSpPr>
          <p:cNvPr id="11" name="TBar"/>
          <p:cNvSpPr/>
          <p:nvPr/>
        </p:nvSpPr>
        <p:spPr>
          <a:xfrm>
            <a:off x="347472" y="890000"/>
            <a:ext cx="800000" cy="32000"/>
          </a:xfrm>
          <a:prstGeom prst="rect">
            <a:avLst/>
          </a:prstGeom>
          <a:solidFill>
            <a:srgbClr val="6CC24A"/>
          </a:solidFill>
          <a:ln w="0">
            <a:noFill/>
          </a:ln>
        </p:spPr>
      </p:sp>
      <p:pic>
        <p:nvPicPr>
          <p:cNvPr id="20" name="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00" y="960000"/>
            <a:ext cx="7580000" cy="3926972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</p:pic>
      <p:sp>
        <p:nvSpPr>
          <p:cNvPr id="30" name="Cap"/>
          <p:cNvSpPr/>
          <p:nvPr/>
        </p:nvSpPr>
        <p:spPr>
          <a:xfrm>
            <a:off x="380000" y="9197000"/>
            <a:ext cx="8384000" cy="1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CA" sz="850" b="0" i="1" dirty="0">
                <a:solidFill>
                  <a:srgbClr val="7A7A7A"/>
                </a:solidFill>
              </a:rPr>
              <a:t>Thread A (Andrew, Group A, B, C) → Object DACL : ACE1 Deny Andrew · ACE2 Allow Group A Write · ACE3 Allow Everyone Read/Execute → Thread A refusé malgré Group A</a:t>
            </a:r>
            <a:endParaRPr lang="fr-CA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mg-NTFSWin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H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7 — Comptes, Profils, Permissions et Diagnostic avancé</a:t>
            </a:r>
          </a:p>
        </p:txBody>
      </p:sp>
      <p:sp>
        <p:nvSpPr>
          <p:cNvPr id="903" name="FooterVersion"/>
          <p:cNvSpPr/>
          <p:nvPr/>
        </p:nvSpPr>
        <p:spPr>
          <a:xfrm>
            <a:off x="0" y="4900000"/>
            <a:ext cx="9144000" cy="20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650" i="1" dirty="0">
                <a:solidFill>
                  <a:srgbClr val="AAAAAA"/>
                </a:solidFill>
              </a:rPr>
              <a:t>Version 1 — Juin 2026</a:t>
            </a:r>
          </a:p>
        </p:txBody>
      </p:sp>
      <p:sp>
        <p:nvSpPr>
          <p:cNvPr id="10" name="Title"/>
          <p:cNvSpPr/>
          <p:nvPr/>
        </p:nvSpPr>
        <p:spPr>
          <a:xfrm>
            <a:off x="347472" y="530000"/>
            <a:ext cx="8449056" cy="3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600" b="1" i="0" dirty="0">
                <a:solidFill>
                  <a:srgbClr val="152B4E"/>
                </a:solidFill>
              </a:rPr>
              <a:t>🖼  Interface NTFS — Onglet Sécurité (Propriétés d'un dossier)</a:t>
            </a:r>
            <a:endParaRPr lang="fr-CA" dirty="0"/>
          </a:p>
        </p:txBody>
      </p:sp>
      <p:sp>
        <p:nvSpPr>
          <p:cNvPr id="11" name="TBar"/>
          <p:cNvSpPr/>
          <p:nvPr/>
        </p:nvSpPr>
        <p:spPr>
          <a:xfrm>
            <a:off x="347472" y="890000"/>
            <a:ext cx="800000" cy="32000"/>
          </a:xfrm>
          <a:prstGeom prst="rect">
            <a:avLst/>
          </a:prstGeom>
          <a:solidFill>
            <a:srgbClr val="6CC24A"/>
          </a:solidFill>
          <a:ln w="0">
            <a:noFill/>
          </a:ln>
        </p:spPr>
      </p:sp>
      <p:pic>
        <p:nvPicPr>
          <p:cNvPr id="20" name="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00" y="960000"/>
            <a:ext cx="7650424" cy="3963456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</p:pic>
      <p:sp>
        <p:nvSpPr>
          <p:cNvPr id="30" name="Cap"/>
          <p:cNvSpPr/>
          <p:nvPr/>
        </p:nvSpPr>
        <p:spPr>
          <a:xfrm>
            <a:off x="380000" y="9197000"/>
            <a:ext cx="8384000" cy="1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CA" sz="850" b="0" i="1" dirty="0">
                <a:solidFill>
                  <a:srgbClr val="7A7A7A"/>
                </a:solidFill>
              </a:rPr>
              <a:t>Propriétés → Sécurité : liste des groupes (Administrateurs, CREATOR OWNER, Everyone, SYSTEM, Users) avec les cases Allow/Deny pour chaque permission</a:t>
            </a:r>
            <a:endParaRPr lang="fr-CA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mg-NTFSAdv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H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7 — Comptes, Profils, Permissions et Diagnostic avancé</a:t>
            </a:r>
          </a:p>
        </p:txBody>
      </p:sp>
      <p:sp>
        <p:nvSpPr>
          <p:cNvPr id="903" name="FooterVersion"/>
          <p:cNvSpPr/>
          <p:nvPr/>
        </p:nvSpPr>
        <p:spPr>
          <a:xfrm>
            <a:off x="0" y="4900000"/>
            <a:ext cx="9144000" cy="20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650" i="1" dirty="0">
                <a:solidFill>
                  <a:srgbClr val="AAAAAA"/>
                </a:solidFill>
              </a:rPr>
              <a:t>Version 1 — Juin 2026</a:t>
            </a:r>
          </a:p>
        </p:txBody>
      </p:sp>
      <p:sp>
        <p:nvSpPr>
          <p:cNvPr id="10" name="Title"/>
          <p:cNvSpPr/>
          <p:nvPr/>
        </p:nvSpPr>
        <p:spPr>
          <a:xfrm>
            <a:off x="347472" y="530000"/>
            <a:ext cx="8449056" cy="3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600" b="1" i="0" dirty="0">
                <a:solidFill>
                  <a:srgbClr val="152B4E"/>
                </a:solidFill>
              </a:rPr>
              <a:t>🖼  Advanced Security Settings — ACE avec héritage détaillé</a:t>
            </a:r>
            <a:endParaRPr lang="fr-CA" dirty="0"/>
          </a:p>
        </p:txBody>
      </p:sp>
      <p:sp>
        <p:nvSpPr>
          <p:cNvPr id="11" name="TBar"/>
          <p:cNvSpPr/>
          <p:nvPr/>
        </p:nvSpPr>
        <p:spPr>
          <a:xfrm>
            <a:off x="347472" y="890000"/>
            <a:ext cx="800000" cy="32000"/>
          </a:xfrm>
          <a:prstGeom prst="rect">
            <a:avLst/>
          </a:prstGeom>
          <a:solidFill>
            <a:srgbClr val="6CC24A"/>
          </a:solidFill>
          <a:ln w="0">
            <a:noFill/>
          </a:ln>
        </p:spPr>
      </p:sp>
      <p:pic>
        <p:nvPicPr>
          <p:cNvPr id="20" name="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00" y="960000"/>
            <a:ext cx="7686638" cy="3982218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</p:pic>
      <p:sp>
        <p:nvSpPr>
          <p:cNvPr id="30" name="Cap"/>
          <p:cNvSpPr/>
          <p:nvPr/>
        </p:nvSpPr>
        <p:spPr>
          <a:xfrm>
            <a:off x="380000" y="9197000"/>
            <a:ext cx="8384000" cy="1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CA" sz="850" b="0" i="1" dirty="0">
                <a:solidFill>
                  <a:srgbClr val="7A7A7A"/>
                </a:solidFill>
              </a:rPr>
              <a:t>Advanced Security Settings for Data : Type / Nom / Permission / Inherited From / Apply To — 'Inherit from parent...' définit la propagation aux sous-dossiers</a:t>
            </a:r>
            <a:endParaRPr lang="fr-CA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5-Diag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H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7 — Comptes, Profils, Permissions et Diagnostic avancé</a:t>
            </a:r>
          </a:p>
        </p:txBody>
      </p:sp>
      <p:sp>
        <p:nvSpPr>
          <p:cNvPr id="903" name="FooterVersion"/>
          <p:cNvSpPr/>
          <p:nvPr/>
        </p:nvSpPr>
        <p:spPr>
          <a:xfrm>
            <a:off x="0" y="4900000"/>
            <a:ext cx="9144000" cy="20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650" i="1" dirty="0">
                <a:solidFill>
                  <a:srgbClr val="AAAAAA"/>
                </a:solidFill>
              </a:rPr>
              <a:t>Version 1 — Juin 2026</a:t>
            </a:r>
          </a:p>
        </p:txBody>
      </p:sp>
      <p:sp>
        <p:nvSpPr>
          <p:cNvPr id="10" name="T"/>
          <p:cNvSpPr/>
          <p:nvPr/>
        </p:nvSpPr>
        <p:spPr>
          <a:xfrm>
            <a:off x="347472" y="530000"/>
            <a:ext cx="8449056" cy="3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800" b="1" i="0" dirty="0">
                <a:solidFill>
                  <a:srgbClr val="152B4E"/>
                </a:solidFill>
              </a:rPr>
              <a:t>🔍  PARTIE 5 — DIAGNOSTIC PROFESSIONNEL PAR COUCHES</a:t>
            </a:r>
            <a:endParaRPr lang="fr-CA" dirty="0"/>
          </a:p>
        </p:txBody>
      </p:sp>
      <p:sp>
        <p:nvSpPr>
          <p:cNvPr id="11" name="GB"/>
          <p:cNvSpPr/>
          <p:nvPr/>
        </p:nvSpPr>
        <p:spPr>
          <a:xfrm>
            <a:off x="347472" y="890000"/>
            <a:ext cx="800000" cy="32000"/>
          </a:xfrm>
          <a:prstGeom prst="rect">
            <a:avLst/>
          </a:prstGeom>
          <a:solidFill>
            <a:srgbClr val="6CC24A"/>
          </a:solidFill>
          <a:ln w="0">
            <a:noFill/>
          </a:ln>
        </p:spPr>
      </p:sp>
      <p:sp>
        <p:nvSpPr>
          <p:cNvPr id="12" name="Key"/>
          <p:cNvSpPr/>
          <p:nvPr/>
        </p:nvSpPr>
        <p:spPr>
          <a:xfrm>
            <a:off x="347472" y="980000"/>
            <a:ext cx="8449056" cy="2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CA" sz="1100" b="1" i="0" dirty="0">
                <a:solidFill>
                  <a:srgbClr val="152B4E"/>
                </a:solidFill>
              </a:rPr>
              <a:t>Règle d'or : diagnostiquer par couche — ne jamais sauter d'étage — un technicien ne 'tente pas', il vérifie.</a:t>
            </a:r>
            <a:endParaRPr lang="fr-CA" dirty="0"/>
          </a:p>
        </p:txBody>
      </p:sp>
      <p:sp>
        <p:nvSpPr>
          <p:cNvPr id="210" name="SR1"/>
          <p:cNvSpPr/>
          <p:nvPr/>
        </p:nvSpPr>
        <p:spPr>
          <a:xfrm>
            <a:off x="347472" y="1210000"/>
            <a:ext cx="8449056" cy="430000"/>
          </a:xfrm>
          <a:prstGeom prst="roundRect">
            <a:avLst>
              <a:gd name="adj" fmla="val 3000"/>
            </a:avLst>
          </a:prstGeom>
          <a:solidFill>
            <a:srgbClr val="1A3560"/>
          </a:solidFill>
          <a:ln w="15240">
            <a:solidFill>
              <a:srgbClr val="1A3560"/>
            </a:solidFill>
          </a:ln>
        </p:spPr>
      </p:sp>
      <p:sp>
        <p:nvSpPr>
          <p:cNvPr id="211" name="SN1"/>
          <p:cNvSpPr/>
          <p:nvPr/>
        </p:nvSpPr>
        <p:spPr>
          <a:xfrm>
            <a:off x="347472" y="1210000"/>
            <a:ext cx="75000" cy="430000"/>
          </a:xfrm>
          <a:prstGeom prst="rect">
            <a:avLst/>
          </a:prstGeom>
          <a:solidFill>
            <a:srgbClr val="1A3560"/>
          </a:solidFill>
          <a:ln w="0">
            <a:noFill/>
          </a:ln>
        </p:spPr>
      </p:sp>
      <p:sp>
        <p:nvSpPr>
          <p:cNvPr id="212" name="ST1"/>
          <p:cNvSpPr/>
          <p:nvPr/>
        </p:nvSpPr>
        <p:spPr>
          <a:xfrm>
            <a:off x="455000" y="1225000"/>
            <a:ext cx="8294000" cy="4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100" b="1" i="0" dirty="0">
                <a:solidFill>
                  <a:srgbClr val="FFFFFF"/>
                </a:solidFill>
              </a:rPr>
              <a:t>1  Identifier l'utilisateur exact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AACCEE"/>
                </a:solidFill>
              </a:rPr>
              <a:t>Quel compte connecté ? Local ou Microsoft ? Est-ce le bon ? → whoami</a:t>
            </a:r>
            <a:endParaRPr lang="fr-CA" dirty="0"/>
          </a:p>
        </p:txBody>
      </p:sp>
      <p:sp>
        <p:nvSpPr>
          <p:cNvPr id="220" name="SR2"/>
          <p:cNvSpPr/>
          <p:nvPr/>
        </p:nvSpPr>
        <p:spPr>
          <a:xfrm>
            <a:off x="347472" y="1690000"/>
            <a:ext cx="8449056" cy="430000"/>
          </a:xfrm>
          <a:prstGeom prst="roundRect">
            <a:avLst>
              <a:gd name="adj" fmla="val 3000"/>
            </a:avLst>
          </a:prstGeom>
          <a:solidFill>
            <a:srgbClr val="1A3560"/>
          </a:solidFill>
          <a:ln w="15240">
            <a:solidFill>
              <a:srgbClr val="2563A0"/>
            </a:solidFill>
          </a:ln>
        </p:spPr>
      </p:sp>
      <p:sp>
        <p:nvSpPr>
          <p:cNvPr id="221" name="SN2"/>
          <p:cNvSpPr/>
          <p:nvPr/>
        </p:nvSpPr>
        <p:spPr>
          <a:xfrm>
            <a:off x="347472" y="1690000"/>
            <a:ext cx="75000" cy="430000"/>
          </a:xfrm>
          <a:prstGeom prst="rect">
            <a:avLst/>
          </a:prstGeom>
          <a:solidFill>
            <a:srgbClr val="2563A0"/>
          </a:solidFill>
          <a:ln w="0">
            <a:noFill/>
          </a:ln>
        </p:spPr>
      </p:sp>
      <p:sp>
        <p:nvSpPr>
          <p:cNvPr id="222" name="ST2"/>
          <p:cNvSpPr/>
          <p:nvPr/>
        </p:nvSpPr>
        <p:spPr>
          <a:xfrm>
            <a:off x="455000" y="1705000"/>
            <a:ext cx="8294000" cy="4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100" b="1" i="0" dirty="0">
                <a:solidFill>
                  <a:srgbClr val="FFFFFF"/>
                </a:solidFill>
              </a:rPr>
              <a:t>2  Vérifier les groupes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AACCEE"/>
                </a:solidFill>
              </a:rPr>
              <a:t>Est-il vraiment admin ? Membre RDP ? → whoami /groups</a:t>
            </a:r>
            <a:endParaRPr lang="fr-CA" dirty="0"/>
          </a:p>
        </p:txBody>
      </p:sp>
      <p:sp>
        <p:nvSpPr>
          <p:cNvPr id="230" name="SR3"/>
          <p:cNvSpPr/>
          <p:nvPr/>
        </p:nvSpPr>
        <p:spPr>
          <a:xfrm>
            <a:off x="347472" y="2170000"/>
            <a:ext cx="8449056" cy="430000"/>
          </a:xfrm>
          <a:prstGeom prst="roundRect">
            <a:avLst>
              <a:gd name="adj" fmla="val 3000"/>
            </a:avLst>
          </a:prstGeom>
          <a:solidFill>
            <a:srgbClr val="1A3560"/>
          </a:solidFill>
          <a:ln w="15240">
            <a:solidFill>
              <a:srgbClr val="2563A0"/>
            </a:solidFill>
          </a:ln>
        </p:spPr>
      </p:sp>
      <p:sp>
        <p:nvSpPr>
          <p:cNvPr id="231" name="SN3"/>
          <p:cNvSpPr/>
          <p:nvPr/>
        </p:nvSpPr>
        <p:spPr>
          <a:xfrm>
            <a:off x="347472" y="2170000"/>
            <a:ext cx="75000" cy="430000"/>
          </a:xfrm>
          <a:prstGeom prst="rect">
            <a:avLst/>
          </a:prstGeom>
          <a:solidFill>
            <a:srgbClr val="2563A0"/>
          </a:solidFill>
          <a:ln w="0">
            <a:noFill/>
          </a:ln>
        </p:spPr>
      </p:sp>
      <p:sp>
        <p:nvSpPr>
          <p:cNvPr id="232" name="ST3"/>
          <p:cNvSpPr/>
          <p:nvPr/>
        </p:nvSpPr>
        <p:spPr>
          <a:xfrm>
            <a:off x="455000" y="2185000"/>
            <a:ext cx="8294000" cy="4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100" b="1" i="0" dirty="0">
                <a:solidFill>
                  <a:srgbClr val="FFFFFF"/>
                </a:solidFill>
              </a:rPr>
              <a:t>3  Vérifier les droits locaux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AACCEE"/>
                </a:solidFill>
              </a:rPr>
              <a:t>Peut-il se connecter ? Installer ? → secpol.msc → Attribution droits</a:t>
            </a:r>
            <a:endParaRPr lang="fr-CA" dirty="0"/>
          </a:p>
        </p:txBody>
      </p:sp>
      <p:sp>
        <p:nvSpPr>
          <p:cNvPr id="240" name="SR4"/>
          <p:cNvSpPr/>
          <p:nvPr/>
        </p:nvSpPr>
        <p:spPr>
          <a:xfrm>
            <a:off x="347472" y="2650000"/>
            <a:ext cx="8449056" cy="430000"/>
          </a:xfrm>
          <a:prstGeom prst="roundRect">
            <a:avLst>
              <a:gd name="adj" fmla="val 3000"/>
            </a:avLst>
          </a:prstGeom>
          <a:solidFill>
            <a:srgbClr val="1A3560"/>
          </a:solidFill>
          <a:ln w="15240">
            <a:solidFill>
              <a:srgbClr val="7B1FA2"/>
            </a:solidFill>
          </a:ln>
        </p:spPr>
      </p:sp>
      <p:sp>
        <p:nvSpPr>
          <p:cNvPr id="241" name="SN4"/>
          <p:cNvSpPr/>
          <p:nvPr/>
        </p:nvSpPr>
        <p:spPr>
          <a:xfrm>
            <a:off x="347472" y="2650000"/>
            <a:ext cx="75000" cy="430000"/>
          </a:xfrm>
          <a:prstGeom prst="rect">
            <a:avLst/>
          </a:prstGeom>
          <a:solidFill>
            <a:srgbClr val="7B1FA2"/>
          </a:solidFill>
          <a:ln w="0">
            <a:noFill/>
          </a:ln>
        </p:spPr>
      </p:sp>
      <p:sp>
        <p:nvSpPr>
          <p:cNvPr id="242" name="ST4"/>
          <p:cNvSpPr/>
          <p:nvPr/>
        </p:nvSpPr>
        <p:spPr>
          <a:xfrm>
            <a:off x="455000" y="2665000"/>
            <a:ext cx="8294000" cy="4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100" b="1" i="0" dirty="0">
                <a:solidFill>
                  <a:srgbClr val="FFFFFF"/>
                </a:solidFill>
              </a:rPr>
              <a:t>4  Vérifier le profil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AACCEE"/>
                </a:solidFill>
              </a:rPr>
              <a:t>Bureau vide ? Profil temporaire ? Dossier présent ? ProfileList ? SID.bak ?</a:t>
            </a:r>
            <a:endParaRPr lang="fr-CA" dirty="0"/>
          </a:p>
        </p:txBody>
      </p:sp>
      <p:sp>
        <p:nvSpPr>
          <p:cNvPr id="250" name="SR5"/>
          <p:cNvSpPr/>
          <p:nvPr/>
        </p:nvSpPr>
        <p:spPr>
          <a:xfrm>
            <a:off x="347472" y="3130000"/>
            <a:ext cx="8449056" cy="430000"/>
          </a:xfrm>
          <a:prstGeom prst="roundRect">
            <a:avLst>
              <a:gd name="adj" fmla="val 3000"/>
            </a:avLst>
          </a:prstGeom>
          <a:solidFill>
            <a:srgbClr val="1A3560"/>
          </a:solidFill>
          <a:ln w="15240">
            <a:solidFill>
              <a:srgbClr val="6CC24A"/>
            </a:solidFill>
          </a:ln>
        </p:spPr>
      </p:sp>
      <p:sp>
        <p:nvSpPr>
          <p:cNvPr id="251" name="SN5"/>
          <p:cNvSpPr/>
          <p:nvPr/>
        </p:nvSpPr>
        <p:spPr>
          <a:xfrm>
            <a:off x="347472" y="3130000"/>
            <a:ext cx="75000" cy="430000"/>
          </a:xfrm>
          <a:prstGeom prst="rect">
            <a:avLst/>
          </a:prstGeom>
          <a:solidFill>
            <a:srgbClr val="6CC24A"/>
          </a:solidFill>
          <a:ln w="0">
            <a:noFill/>
          </a:ln>
        </p:spPr>
      </p:sp>
      <p:sp>
        <p:nvSpPr>
          <p:cNvPr id="252" name="ST5"/>
          <p:cNvSpPr/>
          <p:nvPr/>
        </p:nvSpPr>
        <p:spPr>
          <a:xfrm>
            <a:off x="455000" y="3145000"/>
            <a:ext cx="8294000" cy="4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100" b="1" i="0" dirty="0">
                <a:solidFill>
                  <a:srgbClr val="FFFFFF"/>
                </a:solidFill>
              </a:rPr>
              <a:t>5  Vérifier NTFS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AACCEE"/>
                </a:solidFill>
              </a:rPr>
              <a:t>ACL correcte ? Refus explicite ? Héritage activé ? Propriétaire correct ?</a:t>
            </a:r>
            <a:endParaRPr lang="fr-CA" dirty="0"/>
          </a:p>
        </p:txBody>
      </p:sp>
      <p:sp>
        <p:nvSpPr>
          <p:cNvPr id="260" name="SR6"/>
          <p:cNvSpPr/>
          <p:nvPr/>
        </p:nvSpPr>
        <p:spPr>
          <a:xfrm>
            <a:off x="347472" y="3610000"/>
            <a:ext cx="8449056" cy="430000"/>
          </a:xfrm>
          <a:prstGeom prst="roundRect">
            <a:avLst>
              <a:gd name="adj" fmla="val 3000"/>
            </a:avLst>
          </a:prstGeom>
          <a:solidFill>
            <a:srgbClr val="1A3560"/>
          </a:solidFill>
          <a:ln w="15240">
            <a:solidFill>
              <a:srgbClr val="E07B00"/>
            </a:solidFill>
          </a:ln>
        </p:spPr>
      </p:sp>
      <p:sp>
        <p:nvSpPr>
          <p:cNvPr id="261" name="SN6"/>
          <p:cNvSpPr/>
          <p:nvPr/>
        </p:nvSpPr>
        <p:spPr>
          <a:xfrm>
            <a:off x="347472" y="3610000"/>
            <a:ext cx="75000" cy="430000"/>
          </a:xfrm>
          <a:prstGeom prst="rect">
            <a:avLst/>
          </a:prstGeom>
          <a:solidFill>
            <a:srgbClr val="E07B00"/>
          </a:solidFill>
          <a:ln w="0">
            <a:noFill/>
          </a:ln>
        </p:spPr>
      </p:sp>
      <p:sp>
        <p:nvSpPr>
          <p:cNvPr id="262" name="ST6"/>
          <p:cNvSpPr/>
          <p:nvPr/>
        </p:nvSpPr>
        <p:spPr>
          <a:xfrm>
            <a:off x="455000" y="3625000"/>
            <a:ext cx="8294000" cy="4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100" b="1" i="0" dirty="0">
                <a:solidFill>
                  <a:srgbClr val="FFFFFF"/>
                </a:solidFill>
              </a:rPr>
              <a:t>6  Vérifier le propriétaire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AACCEE"/>
                </a:solidFill>
              </a:rPr>
              <a:t>SID inconnu ? Ancien disque ? Migration système ? → Prendre possession</a:t>
            </a:r>
            <a:endParaRPr lang="fr-CA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N2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H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7 — Comptes, Profils, Permissions et Diagnostic avancé</a:t>
            </a:r>
          </a:p>
        </p:txBody>
      </p:sp>
      <p:sp>
        <p:nvSpPr>
          <p:cNvPr id="903" name="FooterVersion"/>
          <p:cNvSpPr/>
          <p:nvPr/>
        </p:nvSpPr>
        <p:spPr>
          <a:xfrm>
            <a:off x="0" y="4900000"/>
            <a:ext cx="9144000" cy="20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650" i="1" dirty="0">
                <a:solidFill>
                  <a:srgbClr val="AAAAAA"/>
                </a:solidFill>
              </a:rPr>
              <a:t>Version 1 — Juin 2026</a:t>
            </a:r>
          </a:p>
        </p:txBody>
      </p:sp>
      <p:sp>
        <p:nvSpPr>
          <p:cNvPr id="10" name="T"/>
          <p:cNvSpPr/>
          <p:nvPr/>
        </p:nvSpPr>
        <p:spPr>
          <a:xfrm>
            <a:off x="347472" y="530000"/>
            <a:ext cx="8449056" cy="3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800" b="1" i="0" dirty="0">
                <a:solidFill>
                  <a:srgbClr val="152B4E"/>
                </a:solidFill>
              </a:rPr>
              <a:t>🧩  CAS GLOBAL NIVEAU N2 — ANALYSE COUCHE PAR COUCHE</a:t>
            </a:r>
            <a:endParaRPr lang="fr-CA" dirty="0"/>
          </a:p>
        </p:txBody>
      </p:sp>
      <p:sp>
        <p:nvSpPr>
          <p:cNvPr id="11" name="GB"/>
          <p:cNvSpPr/>
          <p:nvPr/>
        </p:nvSpPr>
        <p:spPr>
          <a:xfrm>
            <a:off x="347472" y="890000"/>
            <a:ext cx="800000" cy="32000"/>
          </a:xfrm>
          <a:prstGeom prst="rect">
            <a:avLst/>
          </a:prstGeom>
          <a:solidFill>
            <a:srgbClr val="6CC24A"/>
          </a:solidFill>
          <a:ln w="0">
            <a:noFill/>
          </a:ln>
        </p:spPr>
      </p:sp>
      <p:sp>
        <p:nvSpPr>
          <p:cNvPr id="20" name="Sit"/>
          <p:cNvSpPr/>
          <p:nvPr/>
        </p:nvSpPr>
        <p:spPr>
          <a:xfrm>
            <a:off x="347472" y="980000"/>
            <a:ext cx="4050000" cy="1550000"/>
          </a:xfrm>
          <a:prstGeom prst="roundRect">
            <a:avLst>
              <a:gd name="adj" fmla="val 4000"/>
            </a:avLst>
          </a:prstGeom>
          <a:solidFill>
            <a:srgbClr val="FFF3DC"/>
          </a:solidFill>
          <a:ln w="15240">
            <a:solidFill>
              <a:srgbClr val="E07B00"/>
            </a:solidFill>
          </a:ln>
        </p:spPr>
      </p:sp>
      <p:sp>
        <p:nvSpPr>
          <p:cNvPr id="4" name="SitT"/>
          <p:cNvSpPr/>
          <p:nvPr/>
        </p:nvSpPr>
        <p:spPr>
          <a:xfrm>
            <a:off x="380000" y="1010000"/>
            <a:ext cx="4000000" cy="23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200" b="1" i="0" dirty="0">
                <a:solidFill>
                  <a:srgbClr val="E07B00"/>
                </a:solidFill>
              </a:rPr>
              <a:t>Situation</a:t>
            </a:r>
            <a:endParaRPr lang="fr-CA" dirty="0"/>
          </a:p>
        </p:txBody>
      </p:sp>
      <p:sp>
        <p:nvSpPr>
          <p:cNvPr id="22" name="SitB"/>
          <p:cNvSpPr/>
          <p:nvPr/>
        </p:nvSpPr>
        <p:spPr>
          <a:xfrm>
            <a:off x="380000" y="1250000"/>
            <a:ext cx="4000000" cy="12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fr-CA" sz="1000" b="0" i="0" dirty="0">
                <a:solidFill>
                  <a:srgbClr val="152B4E"/>
                </a:solidFill>
              </a:rPr>
              <a:t>Utilisateur ne peut pas accéder à D:\Finance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• Est administrateur ✅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• A migré un ancien disque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• Peut lire mais pas modifier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• Bureau normal (pas de profil temporaire)</a:t>
            </a:r>
            <a:endParaRPr lang="fr-CA" dirty="0"/>
          </a:p>
        </p:txBody>
      </p:sp>
      <p:sp>
        <p:nvSpPr>
          <p:cNvPr id="23" name="Ana"/>
          <p:cNvSpPr/>
          <p:nvPr/>
        </p:nvSpPr>
        <p:spPr>
          <a:xfrm>
            <a:off x="4600000" y="980000"/>
            <a:ext cx="4200000" cy="1550000"/>
          </a:xfrm>
          <a:prstGeom prst="roundRect">
            <a:avLst>
              <a:gd name="adj" fmla="val 4000"/>
            </a:avLst>
          </a:prstGeom>
          <a:solidFill>
            <a:srgbClr val="EAF4FF"/>
          </a:solidFill>
          <a:ln w="15240">
            <a:solidFill>
              <a:srgbClr val="2563A0"/>
            </a:solidFill>
          </a:ln>
        </p:spPr>
      </p:sp>
      <p:sp>
        <p:nvSpPr>
          <p:cNvPr id="24" name="AnaT"/>
          <p:cNvSpPr/>
          <p:nvPr/>
        </p:nvSpPr>
        <p:spPr>
          <a:xfrm>
            <a:off x="4640000" y="1010000"/>
            <a:ext cx="4150000" cy="23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200" b="1" i="0" dirty="0">
                <a:solidFill>
                  <a:srgbClr val="2563A0"/>
                </a:solidFill>
              </a:rPr>
              <a:t>Analyse par couches</a:t>
            </a:r>
            <a:endParaRPr lang="fr-CA" dirty="0"/>
          </a:p>
        </p:txBody>
      </p:sp>
      <p:sp>
        <p:nvSpPr>
          <p:cNvPr id="25" name="AnaB"/>
          <p:cNvSpPr/>
          <p:nvPr/>
        </p:nvSpPr>
        <p:spPr>
          <a:xfrm>
            <a:off x="4640000" y="1250000"/>
            <a:ext cx="4150000" cy="12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✅  Couche 1 — Compte : correct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✅  Couche 2 — SID : OK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✅  Couche 3 — Groupe Administrateurs : OK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✅  Couche 4 — Droits locaux : OK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✅  Couche 5 — Profil : OK</a:t>
            </a:r>
            <a:endParaRPr lang="fr-CA" dirty="0"/>
          </a:p>
          <a:p>
            <a:pPr marL="0" indent="0" algn="l">
              <a:buNone/>
            </a:pPr>
            <a:r>
              <a:rPr lang="fr-CA" sz="950" b="1" i="0" dirty="0">
                <a:solidFill>
                  <a:srgbClr val="D0021B"/>
                </a:solidFill>
              </a:rPr>
              <a:t>⚠️  Couche 6 — NTFS : SUSPECT</a:t>
            </a:r>
            <a:endParaRPr lang="fr-CA" dirty="0"/>
          </a:p>
          <a:p>
            <a:pPr marL="0" indent="0" algn="l">
              <a:buNone/>
            </a:pPr>
            <a:r>
              <a:rPr lang="fr-CA" sz="950" b="1" i="0" dirty="0">
                <a:solidFill>
                  <a:srgbClr val="D0021B"/>
                </a:solidFill>
              </a:rPr>
              <a:t>⚠️  Couche 7 — Propriétaire : SUSPECT</a:t>
            </a:r>
            <a:endParaRPr lang="fr-CA" dirty="0"/>
          </a:p>
        </p:txBody>
      </p:sp>
      <p:sp>
        <p:nvSpPr>
          <p:cNvPr id="30" name="Sol"/>
          <p:cNvSpPr/>
          <p:nvPr/>
        </p:nvSpPr>
        <p:spPr>
          <a:xfrm>
            <a:off x="347472" y="2599999"/>
            <a:ext cx="8449056" cy="604927"/>
          </a:xfrm>
          <a:prstGeom prst="roundRect">
            <a:avLst>
              <a:gd name="adj" fmla="val 4000"/>
            </a:avLst>
          </a:prstGeom>
          <a:solidFill>
            <a:srgbClr val="E8F5E0"/>
          </a:solidFill>
          <a:ln w="15240">
            <a:solidFill>
              <a:srgbClr val="6CC24A"/>
            </a:solidFill>
          </a:ln>
        </p:spPr>
      </p:sp>
      <p:sp>
        <p:nvSpPr>
          <p:cNvPr id="31" name="SolT"/>
          <p:cNvSpPr/>
          <p:nvPr/>
        </p:nvSpPr>
        <p:spPr>
          <a:xfrm>
            <a:off x="380000" y="2630000"/>
            <a:ext cx="8384000" cy="21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100" b="1" i="0" dirty="0">
                <a:solidFill>
                  <a:srgbClr val="6CC24A"/>
                </a:solidFill>
              </a:rPr>
              <a:t>Conclusion et solution</a:t>
            </a:r>
            <a:endParaRPr lang="fr-CA" dirty="0"/>
          </a:p>
        </p:txBody>
      </p:sp>
      <p:sp>
        <p:nvSpPr>
          <p:cNvPr id="32" name="SolB"/>
          <p:cNvSpPr/>
          <p:nvPr/>
        </p:nvSpPr>
        <p:spPr>
          <a:xfrm>
            <a:off x="380000" y="2850000"/>
            <a:ext cx="8384000" cy="2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fr-CA" sz="1000" b="0" i="0" dirty="0">
                <a:solidFill>
                  <a:srgbClr val="152B4E"/>
                </a:solidFill>
              </a:rPr>
              <a:t>Cause : ancien SID propriétaire des fichiers (disque migré) + permissions héritées incomplètes.</a:t>
            </a:r>
            <a:endParaRPr lang="fr-CA" dirty="0"/>
          </a:p>
          <a:p>
            <a:pPr marL="0" indent="0" algn="l">
              <a:buNone/>
            </a:pPr>
            <a:r>
              <a:rPr lang="fr-CA" sz="1000" b="0" i="0" dirty="0">
                <a:solidFill>
                  <a:srgbClr val="152B4E"/>
                </a:solidFill>
              </a:rPr>
              <a:t>Solution : 1) Prendre possession du dossier D:\Finance  2) Réappliquer les permissions pour le compte actuel  3) Vérifier héritage activé.</a:t>
            </a:r>
            <a:endParaRPr lang="fr-CA" dirty="0"/>
          </a:p>
        </p:txBody>
      </p:sp>
      <p:sp>
        <p:nvSpPr>
          <p:cNvPr id="40" name="TH400"/>
          <p:cNvSpPr/>
          <p:nvPr/>
        </p:nvSpPr>
        <p:spPr>
          <a:xfrm>
            <a:off x="347472" y="3240000"/>
            <a:ext cx="3379622" cy="260000"/>
          </a:xfrm>
          <a:prstGeom prst="rect">
            <a:avLst/>
          </a:prstGeom>
          <a:solidFill>
            <a:srgbClr val="1A3560"/>
          </a:solidFill>
          <a:ln w="0">
            <a:noFill/>
          </a:ln>
        </p:spPr>
      </p:sp>
      <p:sp>
        <p:nvSpPr>
          <p:cNvPr id="90" name="THT400"/>
          <p:cNvSpPr/>
          <p:nvPr/>
        </p:nvSpPr>
        <p:spPr>
          <a:xfrm>
            <a:off x="372472" y="3240000"/>
            <a:ext cx="3354622" cy="2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900" b="1" i="0" dirty="0">
                <a:solidFill>
                  <a:srgbClr val="FFFFFF"/>
                </a:solidFill>
              </a:rPr>
              <a:t>Erreur classique</a:t>
            </a:r>
            <a:endParaRPr lang="fr-CA" dirty="0"/>
          </a:p>
        </p:txBody>
      </p:sp>
      <p:sp>
        <p:nvSpPr>
          <p:cNvPr id="41" name="TH401"/>
          <p:cNvSpPr/>
          <p:nvPr/>
        </p:nvSpPr>
        <p:spPr>
          <a:xfrm>
            <a:off x="3727094" y="3240000"/>
            <a:ext cx="5069433" cy="260000"/>
          </a:xfrm>
          <a:prstGeom prst="rect">
            <a:avLst/>
          </a:prstGeom>
          <a:solidFill>
            <a:srgbClr val="1A3560"/>
          </a:solidFill>
          <a:ln w="0">
            <a:noFill/>
          </a:ln>
        </p:spPr>
      </p:sp>
      <p:sp>
        <p:nvSpPr>
          <p:cNvPr id="91" name="THT401"/>
          <p:cNvSpPr/>
          <p:nvPr/>
        </p:nvSpPr>
        <p:spPr>
          <a:xfrm>
            <a:off x="3752094" y="3240000"/>
            <a:ext cx="5044433" cy="2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900" b="1" i="0" dirty="0">
                <a:solidFill>
                  <a:srgbClr val="FFFFFF"/>
                </a:solidFill>
              </a:rPr>
              <a:t>Pourquoi c'est faux</a:t>
            </a:r>
            <a:endParaRPr lang="fr-CA" dirty="0"/>
          </a:p>
        </p:txBody>
      </p:sp>
      <p:sp>
        <p:nvSpPr>
          <p:cNvPr id="240" name="TD00"/>
          <p:cNvSpPr/>
          <p:nvPr/>
        </p:nvSpPr>
        <p:spPr>
          <a:xfrm>
            <a:off x="347472" y="3500000"/>
            <a:ext cx="3379622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340" name="TDT00"/>
          <p:cNvSpPr/>
          <p:nvPr/>
        </p:nvSpPr>
        <p:spPr>
          <a:xfrm>
            <a:off x="372472" y="3500000"/>
            <a:ext cx="3354622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1" i="0" dirty="0">
                <a:solidFill>
                  <a:srgbClr val="D0021B"/>
                </a:solidFill>
              </a:rPr>
              <a:t>❌  Réinstaller Windows</a:t>
            </a:r>
            <a:endParaRPr lang="fr-CA" dirty="0"/>
          </a:p>
        </p:txBody>
      </p:sp>
      <p:sp>
        <p:nvSpPr>
          <p:cNvPr id="241" name="TD01"/>
          <p:cNvSpPr/>
          <p:nvPr/>
        </p:nvSpPr>
        <p:spPr>
          <a:xfrm>
            <a:off x="3727094" y="3500000"/>
            <a:ext cx="5069433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341" name="TDT01"/>
          <p:cNvSpPr/>
          <p:nvPr/>
        </p:nvSpPr>
        <p:spPr>
          <a:xfrm>
            <a:off x="3752094" y="3500000"/>
            <a:ext cx="5044433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Le problème est dans l'ACL, pas dans l'OS</a:t>
            </a:r>
            <a:endParaRPr lang="fr-CA" dirty="0"/>
          </a:p>
        </p:txBody>
      </p:sp>
      <p:sp>
        <p:nvSpPr>
          <p:cNvPr id="250" name="TD10"/>
          <p:cNvSpPr/>
          <p:nvPr/>
        </p:nvSpPr>
        <p:spPr>
          <a:xfrm>
            <a:off x="347472" y="3720000"/>
            <a:ext cx="3379622" cy="220000"/>
          </a:xfrm>
          <a:prstGeom prst="rect">
            <a:avLst/>
          </a:prstGeom>
          <a:solidFill>
            <a:srgbClr val="F0F4FA"/>
          </a:solidFill>
          <a:ln w="15240">
            <a:solidFill>
              <a:srgbClr val="DDDDDD"/>
            </a:solidFill>
          </a:ln>
        </p:spPr>
      </p:sp>
      <p:sp>
        <p:nvSpPr>
          <p:cNvPr id="350" name="TDT10"/>
          <p:cNvSpPr/>
          <p:nvPr/>
        </p:nvSpPr>
        <p:spPr>
          <a:xfrm>
            <a:off x="372472" y="3720000"/>
            <a:ext cx="3354622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1" i="0" dirty="0">
                <a:solidFill>
                  <a:srgbClr val="D0021B"/>
                </a:solidFill>
              </a:rPr>
              <a:t>❌  Supprimer l'utilisateur</a:t>
            </a:r>
            <a:endParaRPr lang="fr-CA" dirty="0"/>
          </a:p>
        </p:txBody>
      </p:sp>
      <p:sp>
        <p:nvSpPr>
          <p:cNvPr id="251" name="TD11"/>
          <p:cNvSpPr/>
          <p:nvPr/>
        </p:nvSpPr>
        <p:spPr>
          <a:xfrm>
            <a:off x="3727094" y="3720000"/>
            <a:ext cx="5069433" cy="220000"/>
          </a:xfrm>
          <a:prstGeom prst="rect">
            <a:avLst/>
          </a:prstGeom>
          <a:solidFill>
            <a:srgbClr val="F0F4FA"/>
          </a:solidFill>
          <a:ln w="15240">
            <a:solidFill>
              <a:srgbClr val="DDDDDD"/>
            </a:solidFill>
          </a:ln>
        </p:spPr>
      </p:sp>
      <p:sp>
        <p:nvSpPr>
          <p:cNvPr id="351" name="TDT11"/>
          <p:cNvSpPr/>
          <p:nvPr/>
        </p:nvSpPr>
        <p:spPr>
          <a:xfrm>
            <a:off x="3752094" y="3720000"/>
            <a:ext cx="5044433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Changerait le SID — aggraverait le problème</a:t>
            </a:r>
            <a:endParaRPr lang="fr-CA" dirty="0"/>
          </a:p>
        </p:txBody>
      </p:sp>
      <p:sp>
        <p:nvSpPr>
          <p:cNvPr id="260" name="TD20"/>
          <p:cNvSpPr/>
          <p:nvPr/>
        </p:nvSpPr>
        <p:spPr>
          <a:xfrm>
            <a:off x="347472" y="3940000"/>
            <a:ext cx="3379622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360" name="TDT20"/>
          <p:cNvSpPr/>
          <p:nvPr/>
        </p:nvSpPr>
        <p:spPr>
          <a:xfrm>
            <a:off x="372472" y="3940000"/>
            <a:ext cx="3354622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1" i="0" dirty="0">
                <a:solidFill>
                  <a:srgbClr val="D0021B"/>
                </a:solidFill>
              </a:rPr>
              <a:t>❌  Désactiver UAC</a:t>
            </a:r>
            <a:endParaRPr lang="fr-CA" dirty="0"/>
          </a:p>
        </p:txBody>
      </p:sp>
      <p:sp>
        <p:nvSpPr>
          <p:cNvPr id="261" name="TD21"/>
          <p:cNvSpPr/>
          <p:nvPr/>
        </p:nvSpPr>
        <p:spPr>
          <a:xfrm>
            <a:off x="3727094" y="3940000"/>
            <a:ext cx="5069433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361" name="TDT21"/>
          <p:cNvSpPr/>
          <p:nvPr/>
        </p:nvSpPr>
        <p:spPr>
          <a:xfrm>
            <a:off x="3752094" y="3940000"/>
            <a:ext cx="5044433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Contourne la sécurité sans résoudre la cause</a:t>
            </a:r>
            <a:endParaRPr lang="fr-CA" dirty="0"/>
          </a:p>
        </p:txBody>
      </p:sp>
      <p:sp>
        <p:nvSpPr>
          <p:cNvPr id="270" name="TD30"/>
          <p:cNvSpPr/>
          <p:nvPr/>
        </p:nvSpPr>
        <p:spPr>
          <a:xfrm>
            <a:off x="347472" y="4160000"/>
            <a:ext cx="3379622" cy="220000"/>
          </a:xfrm>
          <a:prstGeom prst="rect">
            <a:avLst/>
          </a:prstGeom>
          <a:solidFill>
            <a:srgbClr val="F0F4FA"/>
          </a:solidFill>
          <a:ln w="15240">
            <a:solidFill>
              <a:srgbClr val="DDDDDD"/>
            </a:solidFill>
          </a:ln>
        </p:spPr>
      </p:sp>
      <p:sp>
        <p:nvSpPr>
          <p:cNvPr id="370" name="TDT30"/>
          <p:cNvSpPr/>
          <p:nvPr/>
        </p:nvSpPr>
        <p:spPr>
          <a:xfrm>
            <a:off x="372472" y="4160000"/>
            <a:ext cx="3354622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1" i="0" dirty="0">
                <a:solidFill>
                  <a:srgbClr val="D0021B"/>
                </a:solidFill>
              </a:rPr>
              <a:t>❌  Donner 'Contrôle total' partout</a:t>
            </a:r>
            <a:endParaRPr lang="fr-CA" dirty="0"/>
          </a:p>
        </p:txBody>
      </p:sp>
      <p:sp>
        <p:nvSpPr>
          <p:cNvPr id="271" name="TD31"/>
          <p:cNvSpPr/>
          <p:nvPr/>
        </p:nvSpPr>
        <p:spPr>
          <a:xfrm>
            <a:off x="3727094" y="4160000"/>
            <a:ext cx="5069433" cy="220000"/>
          </a:xfrm>
          <a:prstGeom prst="rect">
            <a:avLst/>
          </a:prstGeom>
          <a:solidFill>
            <a:srgbClr val="F0F4FA"/>
          </a:solidFill>
          <a:ln w="15240">
            <a:solidFill>
              <a:srgbClr val="DDDDDD"/>
            </a:solidFill>
          </a:ln>
        </p:spPr>
      </p:sp>
      <p:sp>
        <p:nvSpPr>
          <p:cNvPr id="371" name="TDT31"/>
          <p:cNvSpPr/>
          <p:nvPr/>
        </p:nvSpPr>
        <p:spPr>
          <a:xfrm>
            <a:off x="3752094" y="4160000"/>
            <a:ext cx="5044433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Mauvaise pratique — crée des failles de sécurité</a:t>
            </a:r>
            <a:endParaRPr lang="fr-CA" dirty="0"/>
          </a:p>
        </p:txBody>
      </p:sp>
      <p:sp>
        <p:nvSpPr>
          <p:cNvPr id="280" name="TD40"/>
          <p:cNvSpPr/>
          <p:nvPr/>
        </p:nvSpPr>
        <p:spPr>
          <a:xfrm>
            <a:off x="347472" y="4380000"/>
            <a:ext cx="3379622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380" name="TDT40"/>
          <p:cNvSpPr/>
          <p:nvPr/>
        </p:nvSpPr>
        <p:spPr>
          <a:xfrm>
            <a:off x="372472" y="4380000"/>
            <a:ext cx="3354622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1" i="0" dirty="0">
                <a:solidFill>
                  <a:srgbClr val="D0021B"/>
                </a:solidFill>
              </a:rPr>
              <a:t>❌  Ignorer le refus explicite</a:t>
            </a:r>
            <a:endParaRPr lang="fr-CA" dirty="0"/>
          </a:p>
        </p:txBody>
      </p:sp>
      <p:sp>
        <p:nvSpPr>
          <p:cNvPr id="281" name="TD41"/>
          <p:cNvSpPr/>
          <p:nvPr/>
        </p:nvSpPr>
        <p:spPr>
          <a:xfrm>
            <a:off x="3727094" y="4380000"/>
            <a:ext cx="5069433" cy="2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381" name="TDT41"/>
          <p:cNvSpPr/>
          <p:nvPr/>
        </p:nvSpPr>
        <p:spPr>
          <a:xfrm>
            <a:off x="3752094" y="4380000"/>
            <a:ext cx="5044433" cy="2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850" b="0" i="0" dirty="0">
                <a:solidFill>
                  <a:srgbClr val="333333"/>
                </a:solidFill>
              </a:rPr>
              <a:t>Il écrase toutes les autorisations — doit être traité</a:t>
            </a:r>
            <a:endParaRPr lang="fr-CA" dirty="0"/>
          </a:p>
        </p:txBody>
      </p:sp>
      <p:sp>
        <p:nvSpPr>
          <p:cNvPr id="50" name="Q"/>
          <p:cNvSpPr/>
          <p:nvPr/>
        </p:nvSpPr>
        <p:spPr>
          <a:xfrm>
            <a:off x="347472" y="4330000"/>
            <a:ext cx="8449056" cy="23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fr-CA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ercices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H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7 — Comptes, Profils, Permissions et Diagnostic avancé</a:t>
            </a:r>
          </a:p>
        </p:txBody>
      </p:sp>
      <p:sp>
        <p:nvSpPr>
          <p:cNvPr id="903" name="FooterVersion"/>
          <p:cNvSpPr/>
          <p:nvPr/>
        </p:nvSpPr>
        <p:spPr>
          <a:xfrm>
            <a:off x="0" y="4900000"/>
            <a:ext cx="9144000" cy="20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650" i="1" dirty="0">
                <a:solidFill>
                  <a:srgbClr val="AAAAAA"/>
                </a:solidFill>
              </a:rPr>
              <a:t>Version 1 — Juin 2026</a:t>
            </a:r>
          </a:p>
        </p:txBody>
      </p:sp>
      <p:sp>
        <p:nvSpPr>
          <p:cNvPr id="10" name="T"/>
          <p:cNvSpPr/>
          <p:nvPr/>
        </p:nvSpPr>
        <p:spPr>
          <a:xfrm>
            <a:off x="347472" y="530000"/>
            <a:ext cx="8449056" cy="3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800" b="1" i="0" dirty="0">
                <a:solidFill>
                  <a:srgbClr val="152B4E"/>
                </a:solidFill>
              </a:rPr>
              <a:t>🧪  CAS PRATIQUES — CE QUE VOUS VERREZ SUR TEAMS</a:t>
            </a:r>
            <a:endParaRPr lang="fr-CA" dirty="0"/>
          </a:p>
        </p:txBody>
      </p:sp>
      <p:sp>
        <p:nvSpPr>
          <p:cNvPr id="11" name="GB"/>
          <p:cNvSpPr/>
          <p:nvPr/>
        </p:nvSpPr>
        <p:spPr>
          <a:xfrm>
            <a:off x="347472" y="890000"/>
            <a:ext cx="800000" cy="32000"/>
          </a:xfrm>
          <a:prstGeom prst="rect">
            <a:avLst/>
          </a:prstGeom>
          <a:solidFill>
            <a:srgbClr val="6CC24A"/>
          </a:solidFill>
          <a:ln w="0">
            <a:noFill/>
          </a:ln>
        </p:spPr>
      </p:sp>
      <p:sp>
        <p:nvSpPr>
          <p:cNvPr id="20" name="E1"/>
          <p:cNvSpPr/>
          <p:nvPr/>
        </p:nvSpPr>
        <p:spPr>
          <a:xfrm>
            <a:off x="347472" y="1190000"/>
            <a:ext cx="2680000" cy="2000000"/>
          </a:xfrm>
          <a:prstGeom prst="roundRect">
            <a:avLst>
              <a:gd name="adj" fmla="val 4000"/>
            </a:avLst>
          </a:prstGeom>
          <a:solidFill>
            <a:srgbClr val="EAF4FF"/>
          </a:solidFill>
          <a:ln w="15240">
            <a:solidFill>
              <a:srgbClr val="2563A0"/>
            </a:solidFill>
          </a:ln>
        </p:spPr>
      </p:sp>
      <p:sp>
        <p:nvSpPr>
          <p:cNvPr id="4" name="E1T"/>
          <p:cNvSpPr/>
          <p:nvPr/>
        </p:nvSpPr>
        <p:spPr>
          <a:xfrm>
            <a:off x="380000" y="1225000"/>
            <a:ext cx="2610000" cy="2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100" b="1" i="0" dirty="0">
                <a:solidFill>
                  <a:srgbClr val="2563A0"/>
                </a:solidFill>
              </a:rPr>
              <a:t>🧪  Exercice 1 — Bureau vide</a:t>
            </a:r>
            <a:endParaRPr lang="fr-CA" dirty="0"/>
          </a:p>
        </p:txBody>
      </p:sp>
      <p:sp>
        <p:nvSpPr>
          <p:cNvPr id="22" name="E1B"/>
          <p:cNvSpPr/>
          <p:nvPr/>
        </p:nvSpPr>
        <p:spPr>
          <a:xfrm>
            <a:off x="380000" y="1480000"/>
            <a:ext cx="2610000" cy="16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fr-CA" sz="950" b="1" i="0" dirty="0">
                <a:solidFill>
                  <a:srgbClr val="152B4E"/>
                </a:solidFill>
              </a:rPr>
              <a:t>Mise en situation :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Utilisateur se connecte, bureau complètement vide, documents disparus.</a:t>
            </a:r>
            <a:endParaRPr lang="fr-CA" dirty="0"/>
          </a:p>
          <a:p>
            <a:pPr marL="0" indent="0" algn="l">
              <a:buNone/>
            </a:pPr>
            <a:endParaRPr lang="fr-CA" dirty="0"/>
          </a:p>
          <a:p>
            <a:pPr marL="0" indent="0" algn="l">
              <a:buNone/>
            </a:pPr>
            <a:r>
              <a:rPr lang="fr-CA" sz="950" b="1" i="0" dirty="0">
                <a:solidFill>
                  <a:srgbClr val="2563A0"/>
                </a:solidFill>
              </a:rPr>
              <a:t>Questions :</a:t>
            </a:r>
            <a:endParaRPr lang="fr-CA" dirty="0"/>
          </a:p>
          <a:p>
            <a:pPr marL="0" indent="0" algn="l">
              <a:buNone/>
            </a:pPr>
            <a:r>
              <a:rPr lang="fr-CA" sz="900" b="0" i="0" dirty="0">
                <a:solidFill>
                  <a:srgbClr val="152B4E"/>
                </a:solidFill>
              </a:rPr>
              <a:t>• Premier réflexe ?</a:t>
            </a:r>
            <a:endParaRPr lang="fr-CA" dirty="0"/>
          </a:p>
          <a:p>
            <a:pPr marL="0" indent="0" algn="l">
              <a:buNone/>
            </a:pPr>
            <a:r>
              <a:rPr lang="fr-CA" sz="900" b="0" i="0" dirty="0">
                <a:solidFill>
                  <a:srgbClr val="152B4E"/>
                </a:solidFill>
              </a:rPr>
              <a:t>• C:\Users\Nom existe encore ?</a:t>
            </a:r>
            <a:endParaRPr lang="fr-CA" dirty="0"/>
          </a:p>
          <a:p>
            <a:pPr marL="0" indent="0" algn="l">
              <a:buNone/>
            </a:pPr>
            <a:r>
              <a:rPr lang="fr-CA" sz="900" b="0" i="0" dirty="0">
                <a:solidFill>
                  <a:srgbClr val="152B4E"/>
                </a:solidFill>
              </a:rPr>
              <a:t>• Clé registre ProfileList ?</a:t>
            </a:r>
            <a:endParaRPr lang="fr-CA" dirty="0"/>
          </a:p>
          <a:p>
            <a:pPr marL="0" indent="0" algn="l">
              <a:buNone/>
            </a:pPr>
            <a:endParaRPr lang="fr-CA" dirty="0"/>
          </a:p>
          <a:p>
            <a:pPr marL="0" indent="0" algn="l">
              <a:buNone/>
            </a:pPr>
            <a:r>
              <a:rPr lang="fr-CA" sz="900" b="0" i="1" dirty="0">
                <a:solidFill>
                  <a:srgbClr val="2563A0"/>
                </a:solidFill>
              </a:rPr>
              <a:t>💡  Bureau vide = profil temporaire probable</a:t>
            </a:r>
            <a:endParaRPr lang="fr-CA" dirty="0"/>
          </a:p>
        </p:txBody>
      </p:sp>
      <p:sp>
        <p:nvSpPr>
          <p:cNvPr id="23" name="E2"/>
          <p:cNvSpPr/>
          <p:nvPr/>
        </p:nvSpPr>
        <p:spPr>
          <a:xfrm>
            <a:off x="3200000" y="1190000"/>
            <a:ext cx="2680000" cy="2000000"/>
          </a:xfrm>
          <a:prstGeom prst="roundRect">
            <a:avLst>
              <a:gd name="adj" fmla="val 4000"/>
            </a:avLst>
          </a:prstGeom>
          <a:solidFill>
            <a:srgbClr val="FFF3DC"/>
          </a:solidFill>
          <a:ln w="15240">
            <a:solidFill>
              <a:srgbClr val="E07B00"/>
            </a:solidFill>
          </a:ln>
        </p:spPr>
      </p:sp>
      <p:sp>
        <p:nvSpPr>
          <p:cNvPr id="24" name="E2T"/>
          <p:cNvSpPr/>
          <p:nvPr/>
        </p:nvSpPr>
        <p:spPr>
          <a:xfrm>
            <a:off x="3240000" y="1225000"/>
            <a:ext cx="2610000" cy="2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100" b="1" i="0" dirty="0">
                <a:solidFill>
                  <a:srgbClr val="E07B00"/>
                </a:solidFill>
              </a:rPr>
              <a:t>🧪  Exercice 2 — Admin refusé NTFS</a:t>
            </a:r>
            <a:endParaRPr lang="fr-CA" dirty="0"/>
          </a:p>
        </p:txBody>
      </p:sp>
      <p:sp>
        <p:nvSpPr>
          <p:cNvPr id="25" name="E2B"/>
          <p:cNvSpPr/>
          <p:nvPr/>
        </p:nvSpPr>
        <p:spPr>
          <a:xfrm>
            <a:off x="3240000" y="1480000"/>
            <a:ext cx="2610000" cy="16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fr-CA" sz="950" b="1" i="0" dirty="0">
                <a:solidFill>
                  <a:srgbClr val="152B4E"/>
                </a:solidFill>
              </a:rPr>
              <a:t>Mise en situation :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Admin dit : 'C:\Finance : Accès refusé même en tant qu'admin.'</a:t>
            </a:r>
            <a:endParaRPr lang="fr-CA" dirty="0"/>
          </a:p>
          <a:p>
            <a:pPr marL="0" indent="0" algn="l">
              <a:buNone/>
            </a:pPr>
            <a:endParaRPr lang="fr-CA" dirty="0"/>
          </a:p>
          <a:p>
            <a:pPr marL="0" indent="0" algn="l">
              <a:buNone/>
            </a:pPr>
            <a:r>
              <a:rPr lang="fr-CA" sz="950" b="1" i="0" dirty="0">
                <a:solidFill>
                  <a:srgbClr val="E07B00"/>
                </a:solidFill>
              </a:rPr>
              <a:t>Questions :</a:t>
            </a:r>
            <a:endParaRPr lang="fr-CA" dirty="0"/>
          </a:p>
          <a:p>
            <a:pPr marL="0" indent="0" algn="l">
              <a:buNone/>
            </a:pPr>
            <a:r>
              <a:rPr lang="fr-CA" sz="900" b="0" i="0" dirty="0">
                <a:solidFill>
                  <a:srgbClr val="152B4E"/>
                </a:solidFill>
              </a:rPr>
              <a:t>• Quelle couche vérifier ?</a:t>
            </a:r>
            <a:endParaRPr lang="fr-CA" dirty="0"/>
          </a:p>
          <a:p>
            <a:pPr marL="0" indent="0" algn="l">
              <a:buNone/>
            </a:pPr>
            <a:r>
              <a:rPr lang="fr-CA" sz="900" b="0" i="0" dirty="0">
                <a:solidFill>
                  <a:srgbClr val="152B4E"/>
                </a:solidFill>
              </a:rPr>
              <a:t>• Deny NTFS explicite ?</a:t>
            </a:r>
            <a:endParaRPr lang="fr-CA" dirty="0"/>
          </a:p>
          <a:p>
            <a:pPr marL="0" indent="0" algn="l">
              <a:buNone/>
            </a:pPr>
            <a:r>
              <a:rPr lang="fr-CA" sz="900" b="0" i="0" dirty="0">
                <a:solidFill>
                  <a:srgbClr val="152B4E"/>
                </a:solidFill>
              </a:rPr>
              <a:t>• Comment prendre possession ?</a:t>
            </a:r>
            <a:endParaRPr lang="fr-CA" dirty="0"/>
          </a:p>
          <a:p>
            <a:pPr marL="0" indent="0" algn="l">
              <a:buNone/>
            </a:pPr>
            <a:endParaRPr lang="fr-CA" dirty="0"/>
          </a:p>
          <a:p>
            <a:pPr marL="0" indent="0" algn="l">
              <a:buNone/>
            </a:pPr>
            <a:r>
              <a:rPr lang="fr-CA" sz="900" b="0" i="1" dirty="0">
                <a:solidFill>
                  <a:srgbClr val="E07B00"/>
                </a:solidFill>
              </a:rPr>
              <a:t>💡  Admin ≠ tout permis → vérifier ACL</a:t>
            </a:r>
            <a:endParaRPr lang="fr-CA" dirty="0"/>
          </a:p>
        </p:txBody>
      </p:sp>
      <p:sp>
        <p:nvSpPr>
          <p:cNvPr id="26" name="E3"/>
          <p:cNvSpPr/>
          <p:nvPr/>
        </p:nvSpPr>
        <p:spPr>
          <a:xfrm>
            <a:off x="6050000" y="1190000"/>
            <a:ext cx="2750000" cy="2000000"/>
          </a:xfrm>
          <a:prstGeom prst="roundRect">
            <a:avLst>
              <a:gd name="adj" fmla="val 4000"/>
            </a:avLst>
          </a:prstGeom>
          <a:solidFill>
            <a:srgbClr val="E8F5E0"/>
          </a:solidFill>
          <a:ln w="15240">
            <a:solidFill>
              <a:srgbClr val="6CC24A"/>
            </a:solidFill>
          </a:ln>
        </p:spPr>
      </p:sp>
      <p:sp>
        <p:nvSpPr>
          <p:cNvPr id="27" name="E3T"/>
          <p:cNvSpPr/>
          <p:nvPr/>
        </p:nvSpPr>
        <p:spPr>
          <a:xfrm>
            <a:off x="6090000" y="1225000"/>
            <a:ext cx="2680000" cy="2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100" b="1" i="0" dirty="0">
                <a:solidFill>
                  <a:srgbClr val="6CC24A"/>
                </a:solidFill>
              </a:rPr>
              <a:t>🧪  Exercice 3 — Pas de RDP</a:t>
            </a:r>
            <a:endParaRPr lang="fr-CA" dirty="0"/>
          </a:p>
        </p:txBody>
      </p:sp>
      <p:sp>
        <p:nvSpPr>
          <p:cNvPr id="28" name="E3B"/>
          <p:cNvSpPr/>
          <p:nvPr/>
        </p:nvSpPr>
        <p:spPr>
          <a:xfrm>
            <a:off x="6090000" y="1480000"/>
            <a:ext cx="2680000" cy="16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fr-CA" sz="950" b="1" i="0" dirty="0">
                <a:solidFill>
                  <a:srgbClr val="152B4E"/>
                </a:solidFill>
              </a:rPr>
              <a:t>Mise en situation :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152B4E"/>
                </a:solidFill>
              </a:rPr>
              <a:t>Utilisateur a Contrôle total NTFS mais ne peut pas se connecter en RDP.</a:t>
            </a:r>
            <a:endParaRPr lang="fr-CA" dirty="0"/>
          </a:p>
          <a:p>
            <a:pPr marL="0" indent="0" algn="l">
              <a:buNone/>
            </a:pPr>
            <a:endParaRPr lang="fr-CA" dirty="0"/>
          </a:p>
          <a:p>
            <a:pPr marL="0" indent="0" algn="l">
              <a:buNone/>
            </a:pPr>
            <a:r>
              <a:rPr lang="fr-CA" sz="950" b="1" i="0" dirty="0">
                <a:solidFill>
                  <a:srgbClr val="6CC24A"/>
                </a:solidFill>
              </a:rPr>
              <a:t>Questions :</a:t>
            </a:r>
            <a:endParaRPr lang="fr-CA" dirty="0"/>
          </a:p>
          <a:p>
            <a:pPr marL="0" indent="0" algn="l">
              <a:buNone/>
            </a:pPr>
            <a:r>
              <a:rPr lang="fr-CA" sz="900" b="0" i="0" dirty="0">
                <a:solidFill>
                  <a:srgbClr val="152B4E"/>
                </a:solidFill>
              </a:rPr>
              <a:t>• Quelle couche ?</a:t>
            </a:r>
            <a:endParaRPr lang="fr-CA" dirty="0"/>
          </a:p>
          <a:p>
            <a:pPr marL="0" indent="0" algn="l">
              <a:buNone/>
            </a:pPr>
            <a:r>
              <a:rPr lang="fr-CA" sz="900" b="0" i="0" dirty="0">
                <a:solidFill>
                  <a:srgbClr val="152B4E"/>
                </a:solidFill>
              </a:rPr>
              <a:t>• Droit local ou NTFS ?</a:t>
            </a:r>
            <a:endParaRPr lang="fr-CA" dirty="0"/>
          </a:p>
          <a:p>
            <a:pPr marL="0" indent="0" algn="l">
              <a:buNone/>
            </a:pPr>
            <a:r>
              <a:rPr lang="fr-CA" sz="900" b="0" i="0" dirty="0">
                <a:solidFill>
                  <a:srgbClr val="152B4E"/>
                </a:solidFill>
              </a:rPr>
              <a:t>• Quel groupe vérifier ?</a:t>
            </a:r>
            <a:endParaRPr lang="fr-CA" dirty="0"/>
          </a:p>
          <a:p>
            <a:pPr marL="0" indent="0" algn="l">
              <a:buNone/>
            </a:pPr>
            <a:endParaRPr lang="fr-CA" dirty="0"/>
          </a:p>
          <a:p>
            <a:pPr marL="0" indent="0" algn="l">
              <a:buNone/>
            </a:pPr>
            <a:r>
              <a:rPr lang="fr-CA" sz="900" b="0" i="1" dirty="0">
                <a:solidFill>
                  <a:srgbClr val="6CC24A"/>
                </a:solidFill>
              </a:rPr>
              <a:t>💡  RDP = droit local, pas NTFS</a:t>
            </a:r>
            <a:endParaRPr lang="fr-CA" dirty="0"/>
          </a:p>
        </p:txBody>
      </p:sp>
      <p:sp>
        <p:nvSpPr>
          <p:cNvPr id="30" name="Cor"/>
          <p:cNvSpPr/>
          <p:nvPr/>
        </p:nvSpPr>
        <p:spPr>
          <a:xfrm>
            <a:off x="347472" y="3290000"/>
            <a:ext cx="8449056" cy="780000"/>
          </a:xfrm>
          <a:prstGeom prst="roundRect">
            <a:avLst>
              <a:gd name="adj" fmla="val 3000"/>
            </a:avLst>
          </a:prstGeom>
          <a:solidFill>
            <a:srgbClr val="1A3560"/>
          </a:solidFill>
          <a:ln w="0">
            <a:noFill/>
          </a:ln>
        </p:spPr>
      </p:sp>
      <p:sp>
        <p:nvSpPr>
          <p:cNvPr id="31" name="CT"/>
          <p:cNvSpPr/>
          <p:nvPr/>
        </p:nvSpPr>
        <p:spPr>
          <a:xfrm>
            <a:off x="380000" y="3320000"/>
            <a:ext cx="8384000" cy="2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100" b="1" i="0" dirty="0">
                <a:solidFill>
                  <a:srgbClr val="6CC24A"/>
                </a:solidFill>
              </a:rPr>
              <a:t>✅  CORRIGÉS</a:t>
            </a:r>
            <a:endParaRPr lang="fr-CA" dirty="0"/>
          </a:p>
        </p:txBody>
      </p:sp>
      <p:sp>
        <p:nvSpPr>
          <p:cNvPr id="32" name="CB"/>
          <p:cNvSpPr/>
          <p:nvPr/>
        </p:nvSpPr>
        <p:spPr>
          <a:xfrm>
            <a:off x="380000" y="3530000"/>
            <a:ext cx="8384000" cy="5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fr-CA" sz="950" b="0" i="0" dirty="0">
                <a:solidFill>
                  <a:srgbClr val="FFFFFF"/>
                </a:solidFill>
              </a:rPr>
              <a:t>Bureau vide → vérifier profil temporaire → ProfileList registre → chercher SID.bak → renommer clé SID.bak → SID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FFFFFF"/>
                </a:solidFill>
              </a:rPr>
              <a:t>Admin refusé → vérifier ACL → chercher Deny explicite → prendre possession du dossier → réappliquer les droits</a:t>
            </a:r>
            <a:endParaRPr lang="fr-CA" dirty="0"/>
          </a:p>
          <a:p>
            <a:pPr marL="0" indent="0" algn="l">
              <a:buNone/>
            </a:pPr>
            <a:r>
              <a:rPr lang="fr-CA" sz="950" b="0" i="0" dirty="0">
                <a:solidFill>
                  <a:srgbClr val="FFFFFF"/>
                </a:solidFill>
              </a:rPr>
              <a:t>Pas RDP → vérifier droit local 'Autoriser la session via Bureau à distance' → ajouter au groupe 'Utilisateurs du Bureau à distance'</a:t>
            </a:r>
            <a:endParaRPr lang="fr-CA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ecklist">
    <p:bg>
      <p:bgPr>
        <a:solidFill>
          <a:srgbClr val="F5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000" y="73152"/>
            <a:ext cx="27432" cy="329184"/>
          </a:xfrm>
          <a:prstGeom prst="rect">
            <a:avLst/>
          </a:prstGeom>
          <a:solidFill>
            <a:srgbClr val="6CC24A"/>
          </a:solidFill>
          <a:ln w="12700">
            <a:solidFill>
              <a:srgbClr val="6CC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0000" y="130000"/>
            <a:ext cx="2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</a:rPr>
              <a:t>CHAFIK MOUSTAID — FORMATEUR</a:t>
            </a:r>
            <a:endParaRPr lang="en-US" sz="850" dirty="0"/>
          </a:p>
        </p:txBody>
      </p:sp>
      <p:pic>
        <p:nvPicPr>
          <p:cNvPr id="21" name="LogoSa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" y="45000"/>
            <a:ext cx="1450000" cy="420000"/>
          </a:xfrm>
          <a:prstGeom prst="rect">
            <a:avLst/>
          </a:prstGeom>
        </p:spPr>
      </p:pic>
      <p:sp>
        <p:nvSpPr>
          <p:cNvPr id="902" name="SH"/>
          <p:cNvSpPr/>
          <p:nvPr/>
        </p:nvSpPr>
        <p:spPr>
          <a:xfrm>
            <a:off x="1650000" y="9144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CA" sz="800" b="0" dirty="0">
                <a:solidFill>
                  <a:srgbClr val="C5D8F0"/>
                </a:solidFill>
              </a:rPr>
              <a:t>Séance 7 — Comptes, Profils, Permissions et Diagnostic avancé</a:t>
            </a:r>
          </a:p>
        </p:txBody>
      </p:sp>
      <p:sp>
        <p:nvSpPr>
          <p:cNvPr id="903" name="FooterVersion"/>
          <p:cNvSpPr/>
          <p:nvPr/>
        </p:nvSpPr>
        <p:spPr>
          <a:xfrm>
            <a:off x="0" y="4900000"/>
            <a:ext cx="9144000" cy="20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fr-CA" sz="650" i="1" dirty="0">
                <a:solidFill>
                  <a:srgbClr val="AAAAAA"/>
                </a:solidFill>
              </a:rPr>
              <a:t>Version 1 — Juin 2026</a:t>
            </a:r>
          </a:p>
        </p:txBody>
      </p:sp>
      <p:sp>
        <p:nvSpPr>
          <p:cNvPr id="10" name="T"/>
          <p:cNvSpPr/>
          <p:nvPr/>
        </p:nvSpPr>
        <p:spPr>
          <a:xfrm>
            <a:off x="347472" y="530000"/>
            <a:ext cx="8449056" cy="3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800" b="1" i="0" dirty="0">
                <a:solidFill>
                  <a:srgbClr val="152B4E"/>
                </a:solidFill>
              </a:rPr>
              <a:t>✅  CHECKLIST OBLIGATOIRE — FIN DE SÉANCE 7</a:t>
            </a:r>
            <a:endParaRPr lang="fr-CA" dirty="0"/>
          </a:p>
        </p:txBody>
      </p:sp>
      <p:sp>
        <p:nvSpPr>
          <p:cNvPr id="11" name="GB"/>
          <p:cNvSpPr/>
          <p:nvPr/>
        </p:nvSpPr>
        <p:spPr>
          <a:xfrm>
            <a:off x="347472" y="890000"/>
            <a:ext cx="800000" cy="32000"/>
          </a:xfrm>
          <a:prstGeom prst="rect">
            <a:avLst/>
          </a:prstGeom>
          <a:solidFill>
            <a:srgbClr val="6CC24A"/>
          </a:solidFill>
          <a:ln w="0">
            <a:noFill/>
          </a:ln>
        </p:spPr>
      </p:sp>
      <p:sp>
        <p:nvSpPr>
          <p:cNvPr id="12" name="Intro"/>
          <p:cNvSpPr/>
          <p:nvPr/>
        </p:nvSpPr>
        <p:spPr>
          <a:xfrm>
            <a:off x="347472" y="960000"/>
            <a:ext cx="8449056" cy="1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1000" b="0" i="1" dirty="0">
                <a:solidFill>
                  <a:srgbClr val="7A7A7A"/>
                </a:solidFill>
              </a:rPr>
              <a:t>Validez chaque point avec votre formateur avant de déclarer la séance terminée.</a:t>
            </a:r>
            <a:endParaRPr lang="fr-CA" dirty="0"/>
          </a:p>
        </p:txBody>
      </p:sp>
      <p:sp>
        <p:nvSpPr>
          <p:cNvPr id="20" name="CI0"/>
          <p:cNvSpPr/>
          <p:nvPr/>
        </p:nvSpPr>
        <p:spPr>
          <a:xfrm>
            <a:off x="347472" y="1180000"/>
            <a:ext cx="8449056" cy="290000"/>
          </a:xfrm>
          <a:prstGeom prst="roundRect">
            <a:avLst>
              <a:gd name="adj" fmla="val 2000"/>
            </a:avLst>
          </a:prstGeom>
          <a:solidFill>
            <a:srgbClr val="EAF4FF"/>
          </a:solidFill>
          <a:ln w="15240">
            <a:solidFill>
              <a:srgbClr val="2563A0"/>
            </a:solidFill>
          </a:ln>
        </p:spPr>
      </p:sp>
      <p:sp>
        <p:nvSpPr>
          <p:cNvPr id="4" name="CT0"/>
          <p:cNvSpPr/>
          <p:nvPr/>
        </p:nvSpPr>
        <p:spPr>
          <a:xfrm>
            <a:off x="380000" y="1190000"/>
            <a:ext cx="8384000" cy="27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900" b="0" i="0" dirty="0">
                <a:solidFill>
                  <a:srgbClr val="152B4E"/>
                </a:solidFill>
              </a:rPr>
              <a:t>Je comprends que le nom visible ≠ identité réelle — le SID est l'identité système Windows</a:t>
            </a:r>
            <a:endParaRPr lang="fr-CA" dirty="0"/>
          </a:p>
        </p:txBody>
      </p:sp>
      <p:sp>
        <p:nvSpPr>
          <p:cNvPr id="22" name="CI1"/>
          <p:cNvSpPr/>
          <p:nvPr/>
        </p:nvSpPr>
        <p:spPr>
          <a:xfrm>
            <a:off x="347472" y="1510000"/>
            <a:ext cx="8449056" cy="29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23" name="CT1"/>
          <p:cNvSpPr/>
          <p:nvPr/>
        </p:nvSpPr>
        <p:spPr>
          <a:xfrm>
            <a:off x="380000" y="1520000"/>
            <a:ext cx="8384000" cy="27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900" b="0" i="0" dirty="0">
                <a:solidFill>
                  <a:srgbClr val="152B4E"/>
                </a:solidFill>
              </a:rPr>
              <a:t>Je sais ce qu'est un SID et pourquoi recréer un compte avec le même nom crée un nouveau SID</a:t>
            </a:r>
            <a:endParaRPr lang="fr-CA" dirty="0"/>
          </a:p>
        </p:txBody>
      </p:sp>
      <p:sp>
        <p:nvSpPr>
          <p:cNvPr id="24" name="CI2"/>
          <p:cNvSpPr/>
          <p:nvPr/>
        </p:nvSpPr>
        <p:spPr>
          <a:xfrm>
            <a:off x="347472" y="1840000"/>
            <a:ext cx="8449056" cy="290000"/>
          </a:xfrm>
          <a:prstGeom prst="roundRect">
            <a:avLst>
              <a:gd name="adj" fmla="val 2000"/>
            </a:avLst>
          </a:prstGeom>
          <a:solidFill>
            <a:srgbClr val="EAF4FF"/>
          </a:solidFill>
          <a:ln w="15240">
            <a:solidFill>
              <a:srgbClr val="2563A0"/>
            </a:solidFill>
          </a:ln>
        </p:spPr>
      </p:sp>
      <p:sp>
        <p:nvSpPr>
          <p:cNvPr id="25" name="CT2"/>
          <p:cNvSpPr/>
          <p:nvPr/>
        </p:nvSpPr>
        <p:spPr>
          <a:xfrm>
            <a:off x="380000" y="1850000"/>
            <a:ext cx="8384000" cy="27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900" b="0" i="0" dirty="0">
                <a:solidFill>
                  <a:srgbClr val="152B4E"/>
                </a:solidFill>
              </a:rPr>
              <a:t>Je connais la structure d'un profil : C:\Users\Nom → NTUSER.DAT → HKEY_CURRENT_USER</a:t>
            </a:r>
            <a:endParaRPr lang="fr-CA" dirty="0"/>
          </a:p>
        </p:txBody>
      </p:sp>
      <p:sp>
        <p:nvSpPr>
          <p:cNvPr id="26" name="CI3"/>
          <p:cNvSpPr/>
          <p:nvPr/>
        </p:nvSpPr>
        <p:spPr>
          <a:xfrm>
            <a:off x="347472" y="2170000"/>
            <a:ext cx="8449056" cy="29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27" name="CT3"/>
          <p:cNvSpPr/>
          <p:nvPr/>
        </p:nvSpPr>
        <p:spPr>
          <a:xfrm>
            <a:off x="380000" y="2180000"/>
            <a:ext cx="8384000" cy="27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900" b="0" i="0" dirty="0">
                <a:solidFill>
                  <a:srgbClr val="152B4E"/>
                </a:solidFill>
              </a:rPr>
              <a:t>Je diagnostique un profil temporaire : C:\Users → ProfileList → SID.bak → correction registre</a:t>
            </a:r>
            <a:endParaRPr lang="fr-CA" dirty="0"/>
          </a:p>
        </p:txBody>
      </p:sp>
      <p:sp>
        <p:nvSpPr>
          <p:cNvPr id="28" name="CI4"/>
          <p:cNvSpPr/>
          <p:nvPr/>
        </p:nvSpPr>
        <p:spPr>
          <a:xfrm>
            <a:off x="347472" y="2500000"/>
            <a:ext cx="8449056" cy="290000"/>
          </a:xfrm>
          <a:prstGeom prst="roundRect">
            <a:avLst>
              <a:gd name="adj" fmla="val 2000"/>
            </a:avLst>
          </a:prstGeom>
          <a:solidFill>
            <a:srgbClr val="EAF4FF"/>
          </a:solidFill>
          <a:ln w="15240">
            <a:solidFill>
              <a:srgbClr val="2563A0"/>
            </a:solidFill>
          </a:ln>
        </p:spPr>
      </p:sp>
      <p:sp>
        <p:nvSpPr>
          <p:cNvPr id="29" name="CT4"/>
          <p:cNvSpPr/>
          <p:nvPr/>
        </p:nvSpPr>
        <p:spPr>
          <a:xfrm>
            <a:off x="380000" y="2510000"/>
            <a:ext cx="8384000" cy="27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900" b="0" i="0" dirty="0">
                <a:solidFill>
                  <a:srgbClr val="152B4E"/>
                </a:solidFill>
              </a:rPr>
              <a:t>Je distingue droits locaux (secpol.msc — actions système) et permissions NTFS (fichiers/dossiers)</a:t>
            </a:r>
            <a:endParaRPr lang="fr-CA" dirty="0"/>
          </a:p>
        </p:txBody>
      </p:sp>
      <p:sp>
        <p:nvSpPr>
          <p:cNvPr id="30" name="CI5"/>
          <p:cNvSpPr/>
          <p:nvPr/>
        </p:nvSpPr>
        <p:spPr>
          <a:xfrm>
            <a:off x="347472" y="2830000"/>
            <a:ext cx="8449056" cy="29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31" name="CT5"/>
          <p:cNvSpPr/>
          <p:nvPr/>
        </p:nvSpPr>
        <p:spPr>
          <a:xfrm>
            <a:off x="380000" y="2840000"/>
            <a:ext cx="8384000" cy="27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900" b="0" i="0" dirty="0">
                <a:solidFill>
                  <a:srgbClr val="152B4E"/>
                </a:solidFill>
              </a:rPr>
              <a:t>Je comprends l'Access Token : SID + groupes + droits — calculé une fois à la connexion</a:t>
            </a:r>
            <a:endParaRPr lang="fr-CA" dirty="0"/>
          </a:p>
        </p:txBody>
      </p:sp>
      <p:sp>
        <p:nvSpPr>
          <p:cNvPr id="32" name="CI6"/>
          <p:cNvSpPr/>
          <p:nvPr/>
        </p:nvSpPr>
        <p:spPr>
          <a:xfrm>
            <a:off x="347472" y="3160000"/>
            <a:ext cx="8449056" cy="290000"/>
          </a:xfrm>
          <a:prstGeom prst="roundRect">
            <a:avLst>
              <a:gd name="adj" fmla="val 2000"/>
            </a:avLst>
          </a:prstGeom>
          <a:solidFill>
            <a:srgbClr val="EAF4FF"/>
          </a:solidFill>
          <a:ln w="15240">
            <a:solidFill>
              <a:srgbClr val="2563A0"/>
            </a:solidFill>
          </a:ln>
        </p:spPr>
      </p:sp>
      <p:sp>
        <p:nvSpPr>
          <p:cNvPr id="33" name="CT6"/>
          <p:cNvSpPr/>
          <p:nvPr/>
        </p:nvSpPr>
        <p:spPr>
          <a:xfrm>
            <a:off x="380000" y="3170000"/>
            <a:ext cx="8384000" cy="27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900" b="0" i="0" dirty="0">
                <a:solidFill>
                  <a:srgbClr val="152B4E"/>
                </a:solidFill>
              </a:rPr>
              <a:t>Je connais la règle NTFS absolue : Deny &gt; Allow, même pour un administrateur</a:t>
            </a:r>
            <a:endParaRPr lang="fr-CA" dirty="0"/>
          </a:p>
        </p:txBody>
      </p:sp>
      <p:sp>
        <p:nvSpPr>
          <p:cNvPr id="34" name="CI7"/>
          <p:cNvSpPr/>
          <p:nvPr/>
        </p:nvSpPr>
        <p:spPr>
          <a:xfrm>
            <a:off x="347472" y="3490000"/>
            <a:ext cx="8449056" cy="29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35" name="CT7"/>
          <p:cNvSpPr/>
          <p:nvPr/>
        </p:nvSpPr>
        <p:spPr>
          <a:xfrm>
            <a:off x="380000" y="3500000"/>
            <a:ext cx="8384000" cy="27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900" b="0" i="0" dirty="0">
                <a:solidFill>
                  <a:srgbClr val="152B4E"/>
                </a:solidFill>
              </a:rPr>
              <a:t>Je connais ACL / ACE : chaque fichier a une liste d'entrées (SID + type Autoriser/Refuser + niveau)</a:t>
            </a:r>
            <a:endParaRPr lang="fr-CA" dirty="0"/>
          </a:p>
        </p:txBody>
      </p:sp>
      <p:sp>
        <p:nvSpPr>
          <p:cNvPr id="36" name="CI8"/>
          <p:cNvSpPr/>
          <p:nvPr/>
        </p:nvSpPr>
        <p:spPr>
          <a:xfrm>
            <a:off x="347472" y="3820000"/>
            <a:ext cx="8449056" cy="290000"/>
          </a:xfrm>
          <a:prstGeom prst="roundRect">
            <a:avLst>
              <a:gd name="adj" fmla="val 2000"/>
            </a:avLst>
          </a:prstGeom>
          <a:solidFill>
            <a:srgbClr val="EAF4FF"/>
          </a:solidFill>
          <a:ln w="15240">
            <a:solidFill>
              <a:srgbClr val="2563A0"/>
            </a:solidFill>
          </a:ln>
        </p:spPr>
      </p:sp>
      <p:sp>
        <p:nvSpPr>
          <p:cNvPr id="37" name="CT8"/>
          <p:cNvSpPr/>
          <p:nvPr/>
        </p:nvSpPr>
        <p:spPr>
          <a:xfrm>
            <a:off x="380000" y="3830000"/>
            <a:ext cx="8384000" cy="27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900" b="0" i="0" dirty="0">
                <a:solidFill>
                  <a:srgbClr val="152B4E"/>
                </a:solidFill>
              </a:rPr>
              <a:t>Je sais ce qu'est l'héritage NTFS et comment une permission explicite prime sur une permission héritée</a:t>
            </a:r>
            <a:endParaRPr lang="fr-CA" dirty="0"/>
          </a:p>
        </p:txBody>
      </p:sp>
      <p:sp>
        <p:nvSpPr>
          <p:cNvPr id="38" name="CI9"/>
          <p:cNvSpPr/>
          <p:nvPr/>
        </p:nvSpPr>
        <p:spPr>
          <a:xfrm>
            <a:off x="347472" y="4150000"/>
            <a:ext cx="8449056" cy="29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240">
            <a:solidFill>
              <a:srgbClr val="DDDDDD"/>
            </a:solidFill>
          </a:ln>
        </p:spPr>
      </p:sp>
      <p:sp>
        <p:nvSpPr>
          <p:cNvPr id="39" name="CT9"/>
          <p:cNvSpPr/>
          <p:nvPr/>
        </p:nvSpPr>
        <p:spPr>
          <a:xfrm>
            <a:off x="380000" y="4160000"/>
            <a:ext cx="8384000" cy="27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fr-CA" sz="900" b="0" i="0" dirty="0">
                <a:solidFill>
                  <a:srgbClr val="152B4E"/>
                </a:solidFill>
              </a:rPr>
              <a:t>J'applique la méthode à 6 couches : Compte → Groupes → Droits locaux → Profil → NTFS → Propriétaire</a:t>
            </a:r>
            <a:endParaRPr lang="fr-CA" dirty="0"/>
          </a:p>
        </p:txBody>
      </p:sp>
      <p:sp>
        <p:nvSpPr>
          <p:cNvPr id="90" name="End"/>
          <p:cNvSpPr/>
          <p:nvPr/>
        </p:nvSpPr>
        <p:spPr>
          <a:xfrm>
            <a:off x="347472" y="4510000"/>
            <a:ext cx="8449056" cy="320000"/>
          </a:xfrm>
          <a:prstGeom prst="rect">
            <a:avLst/>
          </a:prstGeom>
          <a:solidFill>
            <a:srgbClr val="1A3560"/>
          </a:solidFill>
          <a:ln w="0">
            <a:noFill/>
          </a:ln>
        </p:spPr>
      </p:sp>
      <p:sp>
        <p:nvSpPr>
          <p:cNvPr id="91" name="ET"/>
          <p:cNvSpPr/>
          <p:nvPr/>
        </p:nvSpPr>
        <p:spPr>
          <a:xfrm>
            <a:off x="380000" y="4530000"/>
            <a:ext cx="8384000" cy="2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CA" sz="1500" b="1" i="0" dirty="0">
                <a:solidFill>
                  <a:srgbClr val="6CC24A"/>
                </a:solidFill>
              </a:rPr>
              <a:t>FIN DE LA SÉANCE 7 — SUPPORT VALIDÉ</a:t>
            </a:r>
            <a:endParaRPr lang="fr-C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3308</Words>
  <Application>Microsoft Office PowerPoint</Application>
  <PresentationFormat>Affichage à l'écran (16:9)</PresentationFormat>
  <Paragraphs>468</Paragraphs>
  <Slides>26</Slides>
  <Notes>26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27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2 – Carte mère, CPU et RAM</dc:title>
  <dc:subject>PptxGenJS Presentation</dc:subject>
  <dc:creator>PptxGenJS</dc:creator>
  <cp:lastModifiedBy>Chafik Moustaid</cp:lastModifiedBy>
  <cp:revision>9</cp:revision>
  <dcterms:created xsi:type="dcterms:W3CDTF">2026-06-18T14:23:37Z</dcterms:created>
  <dcterms:modified xsi:type="dcterms:W3CDTF">2026-06-22T13:01:42Z</dcterms:modified>
</cp:coreProperties>
</file>