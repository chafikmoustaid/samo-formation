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1A3560"/>
          </a:solidFill>
          <a:ln/>
        </p:spPr>
      </p:sp>
      <p:pic>
        <p:nvPicPr>
          <p:cNvPr id="3" name="Image 0" descr="/home/claude/s4work/samo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" y="41148"/>
            <a:ext cx="756209" cy="22677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0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Séance 4 — Windows démarrage &amp; récupération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8138160" y="274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CHAFIK MOUSTAID — FORMATEUR</a:t>
            </a:r>
            <a:endParaRPr lang="en-US" sz="800" dirty="0"/>
          </a:p>
          <a:p>
            <a:pPr algn="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CFE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1 — Juin 2026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1005840" y="868680"/>
            <a:ext cx="868680" cy="868680"/>
          </a:xfrm>
          <a:prstGeom prst="ellipse">
            <a:avLst/>
          </a:prstGeom>
          <a:solidFill>
            <a:srgbClr val="1B3A5C"/>
          </a:solidFill>
          <a:ln w="19050">
            <a:solidFill>
              <a:srgbClr val="2E86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05840" y="8686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2E86FF"/>
                </a:solidFill>
              </a:rPr>
              <a:t>⚡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594360" y="1810512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3A9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Chaîne de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94360" y="202996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démarrage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108960" y="868680"/>
            <a:ext cx="868680" cy="868680"/>
          </a:xfrm>
          <a:prstGeom prst="ellipse">
            <a:avLst/>
          </a:prstGeom>
          <a:solidFill>
            <a:srgbClr val="1B3A5C"/>
          </a:solidFill>
          <a:ln w="19050">
            <a:solidFill>
              <a:srgbClr val="2E86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108960" y="8686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2E86FF"/>
                </a:solidFill>
              </a:rPr>
              <a:t>⚠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2697480" y="1810512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3A9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2697480" y="202996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d'erreur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212080" y="868680"/>
            <a:ext cx="868680" cy="868680"/>
          </a:xfrm>
          <a:prstGeom prst="ellipse">
            <a:avLst/>
          </a:prstGeom>
          <a:solidFill>
            <a:srgbClr val="1B3A5C"/>
          </a:solidFill>
          <a:ln w="19050">
            <a:solidFill>
              <a:srgbClr val="2E86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212080" y="8686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2E86FF"/>
                </a:solidFill>
              </a:rPr>
              <a:t>■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4800600" y="1810512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3A9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Écrans bleus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800600" y="202996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BSOD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7315200" y="868680"/>
            <a:ext cx="868680" cy="868680"/>
          </a:xfrm>
          <a:prstGeom prst="ellipse">
            <a:avLst/>
          </a:prstGeom>
          <a:solidFill>
            <a:srgbClr val="1B3A5C"/>
          </a:solidFill>
          <a:ln w="19050">
            <a:solidFill>
              <a:srgbClr val="2E86F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315200" y="8686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2E86FF"/>
                </a:solidFill>
              </a:rPr>
              <a:t>⟳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6903720" y="1810512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3A9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Récupération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6903720" y="202996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WinRE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9418320" y="868680"/>
            <a:ext cx="868680" cy="868680"/>
          </a:xfrm>
          <a:prstGeom prst="ellipse">
            <a:avLst/>
          </a:prstGeom>
          <a:solidFill>
            <a:srgbClr val="1B3A5C"/>
          </a:solidFill>
          <a:ln w="19050">
            <a:solidFill>
              <a:srgbClr val="2E86F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418320" y="8686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2E86FF"/>
                </a:solidFill>
              </a:rPr>
              <a:t>⟲</a:t>
            </a:r>
            <a:endParaRPr lang="en-US" sz="2600" dirty="0"/>
          </a:p>
        </p:txBody>
      </p:sp>
      <p:sp>
        <p:nvSpPr>
          <p:cNvPr id="24" name="Text 21"/>
          <p:cNvSpPr/>
          <p:nvPr/>
        </p:nvSpPr>
        <p:spPr>
          <a:xfrm>
            <a:off x="9006840" y="1810512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3A9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Réinstaller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9006840" y="202996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quand/comment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1005840" y="2971800"/>
            <a:ext cx="7315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2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</a:t>
            </a:r>
            <a:endParaRPr lang="en-US" sz="5400" dirty="0"/>
          </a:p>
        </p:txBody>
      </p:sp>
      <p:sp>
        <p:nvSpPr>
          <p:cNvPr id="27" name="Text 24"/>
          <p:cNvSpPr/>
          <p:nvPr/>
        </p:nvSpPr>
        <p:spPr>
          <a:xfrm>
            <a:off x="1005840" y="3703320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E8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Démarrage, erreurs, BSOD</a:t>
            </a:r>
            <a:endParaRPr lang="en-US" sz="4600" dirty="0"/>
          </a:p>
        </p:txBody>
      </p:sp>
      <p:sp>
        <p:nvSpPr>
          <p:cNvPr id="28" name="Text 25"/>
          <p:cNvSpPr/>
          <p:nvPr/>
        </p:nvSpPr>
        <p:spPr>
          <a:xfrm>
            <a:off x="1005840" y="45262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93A9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CHAÎNE DE DÉMARRAGE  ·  MESSAGES D'ERREUR  ·  BSOD  ·  WinRE  ·  RÉINSTALLATION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1005840" y="4983480"/>
            <a:ext cx="10149840" cy="0"/>
          </a:xfrm>
          <a:prstGeom prst="line">
            <a:avLst/>
          </a:prstGeom>
          <a:noFill/>
          <a:ln w="12700">
            <a:solidFill>
              <a:srgbClr val="1B3A5C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1005840" y="51663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F7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SÉANCE 4 / 15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365760" y="656539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3A9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Séance 4 — Windows : démarrage, erreurs, BSOD et récupération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6583680" y="65653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3A9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CHAFIK MOUSTAID — FORMATEUR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10241280" y="656539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3A9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1 — Juin 2026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1A3560"/>
          </a:solidFill>
          <a:ln/>
        </p:spPr>
      </p:sp>
      <p:pic>
        <p:nvPicPr>
          <p:cNvPr id="3" name="Image 0" descr="/home/claude/s4work/samo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" y="41148"/>
            <a:ext cx="756209" cy="22677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0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Séance 4 — Windows démarrage &amp; récupération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8138160" y="274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CHAFIK MOUSTAID — FORMATEUR</a:t>
            </a:r>
            <a:endParaRPr lang="en-US" sz="800" dirty="0"/>
          </a:p>
          <a:p>
            <a:pPr algn="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CFE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1 — Juin 2026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1005840" y="22860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2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Windows affiche quelque chose,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1005840" y="324612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7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matériel fonctionne déjà.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1005840" y="43434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3A9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Chercher une cause matérielle une fois que Windows s'affiche = perte de temps. Le diagnostic change de terrain : OS, pilotes, fichiers système, profil.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365760" y="656539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3A9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Séance 4 — Windows : démarrage, erreurs, BSOD et récupération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6583680" y="65653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3A9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CHAFIK MOUSTAID — FORMATEUR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0241280" y="656539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3A9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1 — Juin 2026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1A3560"/>
          </a:solidFill>
          <a:ln/>
        </p:spPr>
      </p:sp>
      <p:pic>
        <p:nvPicPr>
          <p:cNvPr id="3" name="Image 0" descr="/home/claude/s4work/samo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" y="41148"/>
            <a:ext cx="756209" cy="22677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0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Séance 4 — Windows démarrage &amp; récupération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8138160" y="274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CHAFIK MOUSTAID — FORMATEUR</a:t>
            </a:r>
            <a:endParaRPr lang="en-US" sz="800" dirty="0"/>
          </a:p>
          <a:p>
            <a:pPr algn="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CFE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1 — Juin 2026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656539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3A9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Séance 4 — Windows : démarrage, erreurs, BSOD et récupération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6583680" y="65653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3A9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CHAFIK MOUSTAID — FORMATEUR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0241280" y="656539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3A9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1 — Juin 2026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457200" y="47548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7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DE LA SÉANCE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749808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 programme — 4 heures, 6 blocs</a:t>
            </a:r>
            <a:endParaRPr lang="en-US" sz="2600" dirty="0"/>
          </a:p>
        </p:txBody>
      </p:sp>
      <p:sp>
        <p:nvSpPr>
          <p:cNvPr id="11" name="Shape 8"/>
          <p:cNvSpPr/>
          <p:nvPr/>
        </p:nvSpPr>
        <p:spPr>
          <a:xfrm>
            <a:off x="457200" y="1371600"/>
            <a:ext cx="11274552" cy="0"/>
          </a:xfrm>
          <a:prstGeom prst="line">
            <a:avLst/>
          </a:prstGeom>
          <a:noFill/>
          <a:ln w="12700">
            <a:solidFill>
              <a:srgbClr val="1B3A5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7200" y="160020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132A43"/>
          </a:solidFill>
          <a:ln/>
        </p:spPr>
      </p:sp>
      <p:sp>
        <p:nvSpPr>
          <p:cNvPr id="13" name="Text 10"/>
          <p:cNvSpPr/>
          <p:nvPr/>
        </p:nvSpPr>
        <p:spPr>
          <a:xfrm>
            <a:off x="685800" y="173736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— Où commence Windows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85800" y="2130552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A9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Chaîne de démarrage, avant/après OS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800600" y="1737360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7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min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172200" y="160020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132A43"/>
          </a:solidFill>
          <a:ln/>
        </p:spPr>
      </p:sp>
      <p:sp>
        <p:nvSpPr>
          <p:cNvPr id="17" name="Text 14"/>
          <p:cNvSpPr/>
          <p:nvPr/>
        </p:nvSpPr>
        <p:spPr>
          <a:xfrm>
            <a:off x="6400800" y="173736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— Phases &amp; messages d'erreur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6400800" y="2130552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A9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Bootloader, Kernel, Session, erreurs types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10515600" y="1737360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7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 min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57200" y="324612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132A43"/>
          </a:solidFill>
          <a:ln/>
        </p:spPr>
      </p:sp>
      <p:sp>
        <p:nvSpPr>
          <p:cNvPr id="21" name="Text 18"/>
          <p:cNvSpPr/>
          <p:nvPr/>
        </p:nvSpPr>
        <p:spPr>
          <a:xfrm>
            <a:off x="685800" y="338328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— Écrans bleus (BSOD)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685800" y="3776472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A9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codes, fichiers .sys, causes fréquentes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4800600" y="3383280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7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min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6172200" y="324612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132A43"/>
          </a:solidFill>
          <a:ln/>
        </p:spPr>
      </p:sp>
      <p:sp>
        <p:nvSpPr>
          <p:cNvPr id="25" name="Text 22"/>
          <p:cNvSpPr/>
          <p:nvPr/>
        </p:nvSpPr>
        <p:spPr>
          <a:xfrm>
            <a:off x="6400800" y="338328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— Vocabulaire diagnostic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6400800" y="3776472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A9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termes essentiels du dépannage Windows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10515600" y="3383280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7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min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457200" y="489204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132A43"/>
          </a:solidFill>
          <a:ln/>
        </p:spPr>
      </p:sp>
      <p:sp>
        <p:nvSpPr>
          <p:cNvPr id="29" name="Text 26"/>
          <p:cNvSpPr/>
          <p:nvPr/>
        </p:nvSpPr>
        <p:spPr>
          <a:xfrm>
            <a:off x="685800" y="502920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— WinRE &amp; réinstallation</a:t>
            </a:r>
            <a:endParaRPr lang="en-US" sz="1500" dirty="0"/>
          </a:p>
        </p:txBody>
      </p:sp>
      <p:sp>
        <p:nvSpPr>
          <p:cNvPr id="30" name="Text 27"/>
          <p:cNvSpPr/>
          <p:nvPr/>
        </p:nvSpPr>
        <p:spPr>
          <a:xfrm>
            <a:off x="685800" y="5422392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A9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outils de récupération, quand réinstaller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4800600" y="5029200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7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 min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6172200" y="489204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132A43"/>
          </a:solidFill>
          <a:ln/>
        </p:spPr>
      </p:sp>
      <p:sp>
        <p:nvSpPr>
          <p:cNvPr id="33" name="Text 30"/>
          <p:cNvSpPr/>
          <p:nvPr/>
        </p:nvSpPr>
        <p:spPr>
          <a:xfrm>
            <a:off x="6400800" y="502920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— Cas pratiques &amp; validation</a:t>
            </a:r>
            <a:endParaRPr lang="en-US" sz="1500" dirty="0"/>
          </a:p>
        </p:txBody>
      </p:sp>
      <p:sp>
        <p:nvSpPr>
          <p:cNvPr id="34" name="Text 31"/>
          <p:cNvSpPr/>
          <p:nvPr/>
        </p:nvSpPr>
        <p:spPr>
          <a:xfrm>
            <a:off x="6400800" y="5422392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A9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mises en situation + checklist finale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10515600" y="5029200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7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 min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1A3560"/>
          </a:solidFill>
          <a:ln/>
        </p:spPr>
      </p:sp>
      <p:pic>
        <p:nvPicPr>
          <p:cNvPr id="3" name="Image 0" descr="/home/claude/s4work/samo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" y="41148"/>
            <a:ext cx="756209" cy="22677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0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Séance 4 — Windows démarrage &amp; récupération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8138160" y="274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CHAFIK MOUSTAID — FORMATEUR</a:t>
            </a:r>
            <a:endParaRPr lang="en-US" sz="800" dirty="0"/>
          </a:p>
          <a:p>
            <a:pPr algn="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CFE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1 — Juin 2026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656539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3A9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Séance 4 — Windows : démarrage, erreurs, BSOD et récupération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6583680" y="65653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3A9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CHAFIK MOUSTAID — FORMATEUR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0241280" y="656539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3A9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1 — Juin 2026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457200" y="47548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7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749808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Pourquoi ce sujet change tout pour un technicien</a:t>
            </a:r>
            <a:endParaRPr lang="en-US" sz="2600" dirty="0"/>
          </a:p>
        </p:txBody>
      </p:sp>
      <p:sp>
        <p:nvSpPr>
          <p:cNvPr id="11" name="Shape 8"/>
          <p:cNvSpPr/>
          <p:nvPr/>
        </p:nvSpPr>
        <p:spPr>
          <a:xfrm>
            <a:off x="457200" y="1371600"/>
            <a:ext cx="11274552" cy="0"/>
          </a:xfrm>
          <a:prstGeom prst="line">
            <a:avLst/>
          </a:prstGeom>
          <a:noFill/>
          <a:ln w="12700">
            <a:solidFill>
              <a:srgbClr val="1B3A5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7200" y="1600200"/>
            <a:ext cx="3566160" cy="2011680"/>
          </a:xfrm>
          <a:prstGeom prst="roundRect">
            <a:avLst>
              <a:gd name="adj" fmla="val 3636"/>
            </a:avLst>
          </a:prstGeom>
          <a:solidFill>
            <a:srgbClr val="132A43"/>
          </a:solidFill>
          <a:ln/>
        </p:spPr>
      </p:sp>
      <p:sp>
        <p:nvSpPr>
          <p:cNvPr id="13" name="Text 10"/>
          <p:cNvSpPr/>
          <p:nvPr/>
        </p:nvSpPr>
        <p:spPr>
          <a:xfrm>
            <a:off x="685800" y="178308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E8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70 %+</a:t>
            </a:r>
            <a:endParaRPr lang="en-US" sz="4000" dirty="0"/>
          </a:p>
        </p:txBody>
      </p:sp>
      <p:sp>
        <p:nvSpPr>
          <p:cNvPr id="14" name="Text 11"/>
          <p:cNvSpPr/>
          <p:nvPr/>
        </p:nvSpPr>
        <p:spPr>
          <a:xfrm>
            <a:off x="685800" y="260604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A9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 pannes surviennent AVANT que Windows n'apparaisse à l'écran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251960" y="1600200"/>
            <a:ext cx="3566160" cy="2011680"/>
          </a:xfrm>
          <a:prstGeom prst="roundRect">
            <a:avLst>
              <a:gd name="adj" fmla="val 3636"/>
            </a:avLst>
          </a:prstGeom>
          <a:solidFill>
            <a:srgbClr val="132A43"/>
          </a:solidFill>
          <a:ln/>
        </p:spPr>
      </p:sp>
      <p:sp>
        <p:nvSpPr>
          <p:cNvPr id="16" name="Text 13"/>
          <p:cNvSpPr/>
          <p:nvPr/>
        </p:nvSpPr>
        <p:spPr>
          <a:xfrm>
            <a:off x="4480560" y="178308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E8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50 %</a:t>
            </a:r>
            <a:endParaRPr lang="en-US" sz="4000" dirty="0"/>
          </a:p>
        </p:txBody>
      </p:sp>
      <p:sp>
        <p:nvSpPr>
          <p:cNvPr id="17" name="Text 14"/>
          <p:cNvSpPr/>
          <p:nvPr/>
        </p:nvSpPr>
        <p:spPr>
          <a:xfrm>
            <a:off x="4480560" y="260604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A9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 diagnostic est déjà fait quand on lit le message d'erreur mot pour mot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8046720" y="1600200"/>
            <a:ext cx="3566160" cy="2011680"/>
          </a:xfrm>
          <a:prstGeom prst="roundRect">
            <a:avLst>
              <a:gd name="adj" fmla="val 3636"/>
            </a:avLst>
          </a:prstGeom>
          <a:solidFill>
            <a:srgbClr val="132A43"/>
          </a:solidFill>
          <a:ln/>
        </p:spPr>
      </p:sp>
      <p:sp>
        <p:nvSpPr>
          <p:cNvPr id="19" name="Text 16"/>
          <p:cNvSpPr/>
          <p:nvPr/>
        </p:nvSpPr>
        <p:spPr>
          <a:xfrm>
            <a:off x="8275320" y="178308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E8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000" dirty="0"/>
          </a:p>
        </p:txBody>
      </p:sp>
      <p:sp>
        <p:nvSpPr>
          <p:cNvPr id="20" name="Text 17"/>
          <p:cNvSpPr/>
          <p:nvPr/>
        </p:nvSpPr>
        <p:spPr>
          <a:xfrm>
            <a:off x="8275320" y="260604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A9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méthodes différentes pour accéder à WinRE selon l'état du PC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457200" y="388620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2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technicien qui sait SITUER une panne dans la chaîne de démarrage gagne un temps précieux : il ne cherche jamais un problème matériel une fois Windows chargé, et ne perd jamais de temps à réinstaller avant d'avoir lu et compris le message exact.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1A3560"/>
          </a:solidFill>
          <a:ln/>
        </p:spPr>
      </p:sp>
      <p:pic>
        <p:nvPicPr>
          <p:cNvPr id="3" name="Image 0" descr="/home/claude/s4work/samo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" y="41148"/>
            <a:ext cx="756209" cy="22677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0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Séance 4 — Windows démarrage &amp; récupération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8138160" y="274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CHAFIK MOUSTAID — FORMATEUR</a:t>
            </a:r>
            <a:endParaRPr lang="en-US" sz="800" dirty="0"/>
          </a:p>
          <a:p>
            <a:pPr algn="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CFE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1 — Juin 2026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656539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3A9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Séance 4 — Windows : démarrage, erreurs, BSOD et récupération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6583680" y="65653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3A9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CHAFIK MOUSTAID — FORMATEUR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0241280" y="656539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3A9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1 — Juin 2026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457200" y="47548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7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 1 — ≈ 20 MINUTES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749808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chaîne de démarrage complète</a:t>
            </a:r>
            <a:endParaRPr lang="en-US" sz="2600" dirty="0"/>
          </a:p>
        </p:txBody>
      </p:sp>
      <p:sp>
        <p:nvSpPr>
          <p:cNvPr id="11" name="Shape 8"/>
          <p:cNvSpPr/>
          <p:nvPr/>
        </p:nvSpPr>
        <p:spPr>
          <a:xfrm>
            <a:off x="457200" y="1371600"/>
            <a:ext cx="11274552" cy="0"/>
          </a:xfrm>
          <a:prstGeom prst="line">
            <a:avLst/>
          </a:prstGeom>
          <a:noFill/>
          <a:ln w="12700">
            <a:solidFill>
              <a:srgbClr val="1B3A5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7200" y="1554480"/>
            <a:ext cx="11247120" cy="594360"/>
          </a:xfrm>
          <a:prstGeom prst="roundRect">
            <a:avLst>
              <a:gd name="adj" fmla="val 9231"/>
            </a:avLst>
          </a:prstGeom>
          <a:solidFill>
            <a:srgbClr val="1B3A5C"/>
          </a:solidFill>
          <a:ln/>
        </p:spPr>
      </p:sp>
      <p:sp>
        <p:nvSpPr>
          <p:cNvPr id="13" name="Text 10"/>
          <p:cNvSpPr/>
          <p:nvPr/>
        </p:nvSpPr>
        <p:spPr>
          <a:xfrm>
            <a:off x="548640" y="1554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Alimentation  →  Carte mère  →  CPU  →  RAM  →  BIOS  →  Stockage  →  WINDOWS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548640" y="1938528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7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👉  Si Windows affiche quelque chose → le matériel de base fonctionne déjà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57200" y="2331720"/>
            <a:ext cx="5440680" cy="2331720"/>
          </a:xfrm>
          <a:prstGeom prst="roundRect">
            <a:avLst>
              <a:gd name="adj" fmla="val 3137"/>
            </a:avLst>
          </a:prstGeom>
          <a:solidFill>
            <a:srgbClr val="132A43"/>
          </a:solidFill>
          <a:ln/>
        </p:spPr>
      </p:sp>
      <p:sp>
        <p:nvSpPr>
          <p:cNvPr id="16" name="Text 13"/>
          <p:cNvSpPr/>
          <p:nvPr/>
        </p:nvSpPr>
        <p:spPr>
          <a:xfrm>
            <a:off x="685800" y="248716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5C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AVANT Windows → matériel / BIOS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685800" y="292608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2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 ne s'allume pas → PSU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2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Aucune image → carte mère / RAM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2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BIOS non accessible → matériel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685800" y="42519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85C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 Chercher Windows ici = perte de temps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6263640" y="2331720"/>
            <a:ext cx="5440680" cy="2331720"/>
          </a:xfrm>
          <a:prstGeom prst="roundRect">
            <a:avLst>
              <a:gd name="adj" fmla="val 3137"/>
            </a:avLst>
          </a:prstGeom>
          <a:solidFill>
            <a:srgbClr val="132A43"/>
          </a:solidFill>
          <a:ln/>
        </p:spPr>
      </p:sp>
      <p:sp>
        <p:nvSpPr>
          <p:cNvPr id="20" name="Text 17"/>
          <p:cNvSpPr/>
          <p:nvPr/>
        </p:nvSpPr>
        <p:spPr>
          <a:xfrm>
            <a:off x="6492240" y="248716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ECB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APRÈS Windows → OS / pilotes / disque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6492240" y="292608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2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Logo Windows visible → OS charge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2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Écran bleu → pilote ou corruption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2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Écran noir après login → profil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6492240" y="42519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ECB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WinRE et Safe Mode = vos outils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457200" y="48463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3A9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Symptômes selon l'étape bloquée : Bootloader → « No boot device »/« Bootmgr missing » (BCD/disque)  ·  Kernel → redémarrage avant logo (fichiers corrompus)  ·  Pilotes → BSOD (pilote défectueux)  ·  Session → écran noir après login (profil/Explorer)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1A3560"/>
          </a:solidFill>
          <a:ln/>
        </p:spPr>
      </p:sp>
      <p:pic>
        <p:nvPicPr>
          <p:cNvPr id="3" name="Image 0" descr="/home/claude/s4work/samo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" y="41148"/>
            <a:ext cx="756209" cy="22677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0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Séance 4 — Windows démarrage &amp; récupération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8138160" y="274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CHAFIK MOUSTAID — FORMATEUR</a:t>
            </a:r>
            <a:endParaRPr lang="en-US" sz="800" dirty="0"/>
          </a:p>
          <a:p>
            <a:pPr algn="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CFE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1 — Juin 2026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656539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3A9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Séance 4 — Windows : démarrage, erreurs, BSOD et récupération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6583680" y="65653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3A9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CHAFIK MOUSTAID — FORMATEUR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0241280" y="656539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3A9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1 — Juin 2026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457200" y="47548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7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 1 — APPROFONDISSEMENT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749808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Symptômes selon l'étape bloquée — table de référence</a:t>
            </a:r>
            <a:endParaRPr lang="en-US" sz="2600" dirty="0"/>
          </a:p>
        </p:txBody>
      </p:sp>
      <p:sp>
        <p:nvSpPr>
          <p:cNvPr id="11" name="Shape 8"/>
          <p:cNvSpPr/>
          <p:nvPr/>
        </p:nvSpPr>
        <p:spPr>
          <a:xfrm>
            <a:off x="457200" y="1371600"/>
            <a:ext cx="11274552" cy="0"/>
          </a:xfrm>
          <a:prstGeom prst="line">
            <a:avLst/>
          </a:prstGeom>
          <a:noFill/>
          <a:ln w="12700">
            <a:solidFill>
              <a:srgbClr val="1B3A5C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00200"/>
          <a:ext cx="11247120" cy="2743200"/>
        </p:xfrm>
        <a:graphic>
          <a:graphicData uri="http://schemas.openxmlformats.org/drawingml/2006/table">
            <a:tbl>
              <a:tblPr/>
              <a:tblGrid>
                <a:gridCol w="2560320"/>
                <a:gridCol w="5029200"/>
                <a:gridCol w="365760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Étape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Symptôme typique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Lecture technicien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2F6F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Bootloader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2F6F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« No boot device », « Bootmgr missing »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2F6F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BCD / disque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2F6F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Kernel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2F6F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Redémarrage immédiat, avant logo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2F6F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Fichiers système corrompus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2F6F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Pilotes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2F6F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Écran bleu (BSOD)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2F6F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Pilote défectueux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2F6F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Session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2F6F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Écran noir après login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2F6F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Profil utilisateur ou Explorer.exe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3"/>
                    </a:solidFill>
                  </a:tcPr>
                </a:tc>
              </a:tr>
            </a:tbl>
          </a:graphicData>
        </a:graphic>
      </p:graphicFrame>
      <p:sp>
        <p:nvSpPr>
          <p:cNvPr id="13" name="Shape 9"/>
          <p:cNvSpPr/>
          <p:nvPr/>
        </p:nvSpPr>
        <p:spPr>
          <a:xfrm>
            <a:off x="457200" y="4572000"/>
            <a:ext cx="11247120" cy="822960"/>
          </a:xfrm>
          <a:prstGeom prst="roundRect">
            <a:avLst>
              <a:gd name="adj" fmla="val 8889"/>
            </a:avLst>
          </a:prstGeom>
          <a:solidFill>
            <a:srgbClr val="132A43"/>
          </a:solidFill>
          <a:ln/>
        </p:spPr>
      </p:sp>
      <p:sp>
        <p:nvSpPr>
          <p:cNvPr id="14" name="Text 10"/>
          <p:cNvSpPr/>
          <p:nvPr/>
        </p:nvSpPr>
        <p:spPr>
          <a:xfrm>
            <a:off x="685800" y="470916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E8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 Méthode : identifier D'ABORD à quelle étape le PC est bloqué, ENSUITE seulement chercher la cause précise. Sauter cette étape mène à des hypothèses au hasard.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1A3560"/>
          </a:solidFill>
          <a:ln/>
        </p:spPr>
      </p:sp>
      <p:pic>
        <p:nvPicPr>
          <p:cNvPr id="3" name="Image 0" descr="/home/claude/s4work/samo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" y="41148"/>
            <a:ext cx="756209" cy="22677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0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Séance 4 — Windows démarrage &amp; récupération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8138160" y="274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CHAFIK MOUSTAID — FORMATEUR</a:t>
            </a:r>
            <a:endParaRPr lang="en-US" sz="800" dirty="0"/>
          </a:p>
          <a:p>
            <a:pPr algn="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CFE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1 — Juin 2026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656539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3A9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Séance 4 — Windows : démarrage, erreurs, BSOD et récupération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6583680" y="65653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3A9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CHAFIK MOUSTAID — FORMATEUR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0241280" y="656539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3A9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1 — Juin 2026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457200" y="47548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7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 2 — ≈ 60 MINUTES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749808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4 phases du démarrage Windows</a:t>
            </a:r>
            <a:endParaRPr lang="en-US" sz="2600" dirty="0"/>
          </a:p>
        </p:txBody>
      </p:sp>
      <p:sp>
        <p:nvSpPr>
          <p:cNvPr id="11" name="Shape 8"/>
          <p:cNvSpPr/>
          <p:nvPr/>
        </p:nvSpPr>
        <p:spPr>
          <a:xfrm>
            <a:off x="457200" y="1371600"/>
            <a:ext cx="11274552" cy="0"/>
          </a:xfrm>
          <a:prstGeom prst="line">
            <a:avLst/>
          </a:prstGeom>
          <a:noFill/>
          <a:ln w="12700">
            <a:solidFill>
              <a:srgbClr val="1B3A5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7200" y="1600200"/>
            <a:ext cx="2697480" cy="1920240"/>
          </a:xfrm>
          <a:prstGeom prst="roundRect">
            <a:avLst>
              <a:gd name="adj" fmla="val 3810"/>
            </a:avLst>
          </a:prstGeom>
          <a:solidFill>
            <a:srgbClr val="132A43"/>
          </a:solidFill>
          <a:ln/>
        </p:spPr>
      </p:sp>
      <p:sp>
        <p:nvSpPr>
          <p:cNvPr id="13" name="Shape 10"/>
          <p:cNvSpPr/>
          <p:nvPr/>
        </p:nvSpPr>
        <p:spPr>
          <a:xfrm>
            <a:off x="685800" y="1783080"/>
            <a:ext cx="457200" cy="457200"/>
          </a:xfrm>
          <a:prstGeom prst="ellipse">
            <a:avLst/>
          </a:prstGeom>
          <a:solidFill>
            <a:srgbClr val="2E86FF"/>
          </a:solidFill>
          <a:ln/>
        </p:spPr>
      </p:sp>
      <p:sp>
        <p:nvSpPr>
          <p:cNvPr id="14" name="Text 11"/>
          <p:cNvSpPr/>
          <p:nvPr/>
        </p:nvSpPr>
        <p:spPr>
          <a:xfrm>
            <a:off x="68580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640080" y="233172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/ BIOS-UEFI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40080" y="283464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3A9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Auto-test matériel, avant tout logiciel OS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3154680" y="2331720"/>
            <a:ext cx="137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3A9C2"/>
                </a:solidFill>
              </a:rPr>
              <a:t>→</a:t>
            </a:r>
            <a:endParaRPr lang="en-US" sz="2000" dirty="0"/>
          </a:p>
        </p:txBody>
      </p:sp>
      <p:sp>
        <p:nvSpPr>
          <p:cNvPr id="18" name="Shape 15"/>
          <p:cNvSpPr/>
          <p:nvPr/>
        </p:nvSpPr>
        <p:spPr>
          <a:xfrm>
            <a:off x="3291840" y="1600200"/>
            <a:ext cx="2697480" cy="1920240"/>
          </a:xfrm>
          <a:prstGeom prst="roundRect">
            <a:avLst>
              <a:gd name="adj" fmla="val 3810"/>
            </a:avLst>
          </a:prstGeom>
          <a:solidFill>
            <a:srgbClr val="132A43"/>
          </a:solidFill>
          <a:ln/>
        </p:spPr>
      </p:sp>
      <p:sp>
        <p:nvSpPr>
          <p:cNvPr id="19" name="Shape 16"/>
          <p:cNvSpPr/>
          <p:nvPr/>
        </p:nvSpPr>
        <p:spPr>
          <a:xfrm>
            <a:off x="3520440" y="1783080"/>
            <a:ext cx="457200" cy="457200"/>
          </a:xfrm>
          <a:prstGeom prst="ellipse">
            <a:avLst/>
          </a:prstGeom>
          <a:solidFill>
            <a:srgbClr val="2E86FF"/>
          </a:solidFill>
          <a:ln/>
        </p:spPr>
      </p:sp>
      <p:sp>
        <p:nvSpPr>
          <p:cNvPr id="20" name="Text 17"/>
          <p:cNvSpPr/>
          <p:nvPr/>
        </p:nvSpPr>
        <p:spPr>
          <a:xfrm>
            <a:off x="352044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3474720" y="233172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Bootloader (BCD)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3474720" y="283464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3A9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Localise et charge le système d'exploitation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5989320" y="2331720"/>
            <a:ext cx="137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3A9C2"/>
                </a:solidFill>
              </a:rPr>
              <a:t>→</a:t>
            </a:r>
            <a:endParaRPr lang="en-US" sz="2000" dirty="0"/>
          </a:p>
        </p:txBody>
      </p:sp>
      <p:sp>
        <p:nvSpPr>
          <p:cNvPr id="24" name="Shape 21"/>
          <p:cNvSpPr/>
          <p:nvPr/>
        </p:nvSpPr>
        <p:spPr>
          <a:xfrm>
            <a:off x="6126480" y="1600200"/>
            <a:ext cx="2697480" cy="1920240"/>
          </a:xfrm>
          <a:prstGeom prst="roundRect">
            <a:avLst>
              <a:gd name="adj" fmla="val 3810"/>
            </a:avLst>
          </a:prstGeom>
          <a:solidFill>
            <a:srgbClr val="132A43"/>
          </a:solidFill>
          <a:ln/>
        </p:spPr>
      </p:sp>
      <p:sp>
        <p:nvSpPr>
          <p:cNvPr id="25" name="Shape 22"/>
          <p:cNvSpPr/>
          <p:nvPr/>
        </p:nvSpPr>
        <p:spPr>
          <a:xfrm>
            <a:off x="6355080" y="1783080"/>
            <a:ext cx="457200" cy="457200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26" name="Text 23"/>
          <p:cNvSpPr/>
          <p:nvPr/>
        </p:nvSpPr>
        <p:spPr>
          <a:xfrm>
            <a:off x="635508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6309360" y="233172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Kernel Windows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6309360" y="283464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3A9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Charge le noyau et les pilotes essentiels</a:t>
            </a:r>
            <a:endParaRPr lang="en-US" sz="1150" dirty="0"/>
          </a:p>
        </p:txBody>
      </p:sp>
      <p:sp>
        <p:nvSpPr>
          <p:cNvPr id="29" name="Text 26"/>
          <p:cNvSpPr/>
          <p:nvPr/>
        </p:nvSpPr>
        <p:spPr>
          <a:xfrm>
            <a:off x="8823960" y="2331720"/>
            <a:ext cx="137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3A9C2"/>
                </a:solidFill>
              </a:rPr>
              <a:t>→</a:t>
            </a:r>
            <a:endParaRPr lang="en-US" sz="2000" dirty="0"/>
          </a:p>
        </p:txBody>
      </p:sp>
      <p:sp>
        <p:nvSpPr>
          <p:cNvPr id="30" name="Shape 27"/>
          <p:cNvSpPr/>
          <p:nvPr/>
        </p:nvSpPr>
        <p:spPr>
          <a:xfrm>
            <a:off x="8961120" y="1600200"/>
            <a:ext cx="2697480" cy="1920240"/>
          </a:xfrm>
          <a:prstGeom prst="roundRect">
            <a:avLst>
              <a:gd name="adj" fmla="val 3810"/>
            </a:avLst>
          </a:prstGeom>
          <a:solidFill>
            <a:srgbClr val="132A43"/>
          </a:solidFill>
          <a:ln/>
        </p:spPr>
      </p:sp>
      <p:sp>
        <p:nvSpPr>
          <p:cNvPr id="31" name="Shape 28"/>
          <p:cNvSpPr/>
          <p:nvPr/>
        </p:nvSpPr>
        <p:spPr>
          <a:xfrm>
            <a:off x="9189720" y="1783080"/>
            <a:ext cx="457200" cy="457200"/>
          </a:xfrm>
          <a:prstGeom prst="ellipse">
            <a:avLst/>
          </a:prstGeom>
          <a:solidFill>
            <a:srgbClr val="4ECB71"/>
          </a:solidFill>
          <a:ln/>
        </p:spPr>
      </p:sp>
      <p:sp>
        <p:nvSpPr>
          <p:cNvPr id="32" name="Text 29"/>
          <p:cNvSpPr/>
          <p:nvPr/>
        </p:nvSpPr>
        <p:spPr>
          <a:xfrm>
            <a:off x="918972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33" name="Text 30"/>
          <p:cNvSpPr/>
          <p:nvPr/>
        </p:nvSpPr>
        <p:spPr>
          <a:xfrm>
            <a:off x="9144000" y="233172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utilisateur</a:t>
            </a:r>
            <a:endParaRPr lang="en-US" sz="1400" dirty="0"/>
          </a:p>
        </p:txBody>
      </p:sp>
      <p:sp>
        <p:nvSpPr>
          <p:cNvPr id="34" name="Text 31"/>
          <p:cNvSpPr/>
          <p:nvPr/>
        </p:nvSpPr>
        <p:spPr>
          <a:xfrm>
            <a:off x="9144000" y="283464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3A9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Charge le profil, le bureau, Explorer.exe</a:t>
            </a:r>
            <a:endParaRPr lang="en-US" sz="1150" dirty="0"/>
          </a:p>
        </p:txBody>
      </p:sp>
      <p:sp>
        <p:nvSpPr>
          <p:cNvPr id="35" name="Shape 32"/>
          <p:cNvSpPr/>
          <p:nvPr/>
        </p:nvSpPr>
        <p:spPr>
          <a:xfrm>
            <a:off x="457200" y="3749040"/>
            <a:ext cx="11247120" cy="1600200"/>
          </a:xfrm>
          <a:prstGeom prst="roundRect">
            <a:avLst>
              <a:gd name="adj" fmla="val 4571"/>
            </a:avLst>
          </a:prstGeom>
          <a:solidFill>
            <a:srgbClr val="1B3A5C"/>
          </a:solidFill>
          <a:ln/>
        </p:spPr>
      </p:sp>
      <p:sp>
        <p:nvSpPr>
          <p:cNvPr id="36" name="Text 33"/>
          <p:cNvSpPr/>
          <p:nvPr/>
        </p:nvSpPr>
        <p:spPr>
          <a:xfrm>
            <a:off x="685800" y="388620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7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Pourquoi connaître ces 4 phases ?</a:t>
            </a:r>
            <a:endParaRPr lang="en-US" sz="1400" dirty="0"/>
          </a:p>
        </p:txBody>
      </p:sp>
      <p:sp>
        <p:nvSpPr>
          <p:cNvPr id="37" name="Text 34"/>
          <p:cNvSpPr/>
          <p:nvPr/>
        </p:nvSpPr>
        <p:spPr>
          <a:xfrm>
            <a:off x="685800" y="4251960"/>
            <a:ext cx="10789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Chaque message d'erreur ou symptôme appartient à UNE seule phase — cela élimine 75 % des hypothèses fausses avant même de commencer à tester quoi que ce soit.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2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blocage en phase 1-2 (avant le logo) = jamais un problème de profil ou de pilote logiciel.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1A3560"/>
          </a:solidFill>
          <a:ln/>
        </p:spPr>
      </p:sp>
      <p:pic>
        <p:nvPicPr>
          <p:cNvPr id="3" name="Image 0" descr="/home/claude/s4work/samo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" y="41148"/>
            <a:ext cx="756209" cy="22677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0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Séance 4 — Windows démarrage &amp; récupération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8138160" y="274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CHAFIK MOUSTAID — FORMATEUR</a:t>
            </a:r>
            <a:endParaRPr lang="en-US" sz="800" dirty="0"/>
          </a:p>
          <a:p>
            <a:pPr algn="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CFE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1 — Juin 2026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656539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3A9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Séance 4 — Windows : démarrage, erreurs, BSOD et récupération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6583680" y="65653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3A9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CHAFIK MOUSTAID — FORMATEUR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0241280" y="656539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3A9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1 — Juin 2026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457200" y="47548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7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 2 — RÉFÉRENCE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749808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Messages d'erreur Windows fréquents — lecture rapide</a:t>
            </a:r>
            <a:endParaRPr lang="en-US" sz="2600" dirty="0"/>
          </a:p>
        </p:txBody>
      </p:sp>
      <p:sp>
        <p:nvSpPr>
          <p:cNvPr id="11" name="Shape 8"/>
          <p:cNvSpPr/>
          <p:nvPr/>
        </p:nvSpPr>
        <p:spPr>
          <a:xfrm>
            <a:off x="457200" y="1371600"/>
            <a:ext cx="11274552" cy="0"/>
          </a:xfrm>
          <a:prstGeom prst="line">
            <a:avLst/>
          </a:prstGeom>
          <a:noFill/>
          <a:ln w="12700">
            <a:solidFill>
              <a:srgbClr val="1B3A5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48132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7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Lire le message = déjà 50 % du diagnostic.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28800"/>
          <a:ext cx="11247120" cy="2834640"/>
        </p:xfrm>
        <a:graphic>
          <a:graphicData uri="http://schemas.openxmlformats.org/drawingml/2006/table">
            <a:tbl>
              <a:tblPr/>
              <a:tblGrid>
                <a:gridCol w="2926080"/>
                <a:gridCol w="4389120"/>
                <a:gridCol w="3931920"/>
              </a:tblGrid>
              <a:tr h="4724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Message affiché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Signification technique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Action immédiate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2F6F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Bootmgr is missing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9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2F6F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Bootloader absent ou corrompu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9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2F6F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Réparer BCD via WinRE + Startup Repair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929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2F6F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Inaccessible boot device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2F6F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Pilote disque non chargé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2F6F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Vérifier câble SATA / mode AHCI / MBR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3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2F6F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Preparing automatic repair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9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2F6F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Windows a détecté un échec précédent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9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2F6F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Laisser tourner ou utiliser WinRE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929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2F6F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Diagnosing your PC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2F6F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Windows en mode diagnostic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2F6F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Attendre, puis WinRE si boucle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3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2F6F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Your PC ran into a problem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9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2F6F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Erreur critique (BSOD)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9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2F6F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Lire le stop code pour identifier la cause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929"/>
                    </a:solidFill>
                  </a:tcPr>
                </a:tc>
              </a:tr>
            </a:tbl>
          </a:graphicData>
        </a:graphic>
      </p:graphicFrame>
      <p:sp>
        <p:nvSpPr>
          <p:cNvPr id="14" name="Text 10"/>
          <p:cNvSpPr/>
          <p:nvPr/>
        </p:nvSpPr>
        <p:spPr>
          <a:xfrm>
            <a:off x="457200" y="48463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5C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 Erreurs classiques : réinstaller au premier message  ·  ignorer le message exact  ·  confondre erreur disque et erreur Windows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57200" y="51663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ECB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👉  Toujours noter le message mot pour mot avant d'agir.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1A3560"/>
          </a:solidFill>
          <a:ln/>
        </p:spPr>
      </p:sp>
      <p:pic>
        <p:nvPicPr>
          <p:cNvPr id="3" name="Image 0" descr="/home/claude/s4work/samo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" y="41148"/>
            <a:ext cx="756209" cy="22677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0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Séance 4 — Windows démarrage &amp; récupération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8138160" y="274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CHAFIK MOUSTAID — FORMATEUR</a:t>
            </a:r>
            <a:endParaRPr lang="en-US" sz="800" dirty="0"/>
          </a:p>
          <a:p>
            <a:pPr algn="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CFE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1 — Juin 2026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656539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3A9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Séance 4 — Windows : démarrage, erreurs, BSOD et récupération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6583680" y="65653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3A9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CHAFIK MOUSTAID — FORMATEUR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0241280" y="656539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3A9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1 — Juin 2026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457200" y="47548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7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 2 — BONNES PRATIQUES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749808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Erreurs classiques à éviter face à un message</a:t>
            </a:r>
            <a:endParaRPr lang="en-US" sz="2600" dirty="0"/>
          </a:p>
        </p:txBody>
      </p:sp>
      <p:sp>
        <p:nvSpPr>
          <p:cNvPr id="11" name="Shape 8"/>
          <p:cNvSpPr/>
          <p:nvPr/>
        </p:nvSpPr>
        <p:spPr>
          <a:xfrm>
            <a:off x="457200" y="1371600"/>
            <a:ext cx="11274552" cy="0"/>
          </a:xfrm>
          <a:prstGeom prst="line">
            <a:avLst/>
          </a:prstGeom>
          <a:noFill/>
          <a:ln w="12700">
            <a:solidFill>
              <a:srgbClr val="1B3A5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7200" y="1600200"/>
            <a:ext cx="11247120" cy="822960"/>
          </a:xfrm>
          <a:prstGeom prst="roundRect">
            <a:avLst>
              <a:gd name="adj" fmla="val 8889"/>
            </a:avLst>
          </a:prstGeom>
          <a:solidFill>
            <a:srgbClr val="132A43"/>
          </a:solidFill>
          <a:ln/>
        </p:spPr>
      </p:sp>
      <p:sp>
        <p:nvSpPr>
          <p:cNvPr id="13" name="Text 10"/>
          <p:cNvSpPr/>
          <p:nvPr/>
        </p:nvSpPr>
        <p:spPr>
          <a:xfrm>
            <a:off x="640080" y="1709928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E85C4A"/>
                </a:solidFill>
              </a:rPr>
              <a:t>❌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1325880" y="169164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Réinstaller au premier message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5440680" y="1691640"/>
            <a:ext cx="6126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A9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message n'est pas toujours ce qu'il semble être — 50 % se résolvent avec WinRE seul.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57200" y="2560320"/>
            <a:ext cx="11247120" cy="822960"/>
          </a:xfrm>
          <a:prstGeom prst="roundRect">
            <a:avLst>
              <a:gd name="adj" fmla="val 8889"/>
            </a:avLst>
          </a:prstGeom>
          <a:solidFill>
            <a:srgbClr val="132A43"/>
          </a:solidFill>
          <a:ln/>
        </p:spPr>
      </p:sp>
      <p:sp>
        <p:nvSpPr>
          <p:cNvPr id="17" name="Text 14"/>
          <p:cNvSpPr/>
          <p:nvPr/>
        </p:nvSpPr>
        <p:spPr>
          <a:xfrm>
            <a:off x="640080" y="2670048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E85C4A"/>
                </a:solidFill>
              </a:rPr>
              <a:t>❌</a:t>
            </a:r>
            <a:endParaRPr lang="en-US" sz="2600" dirty="0"/>
          </a:p>
        </p:txBody>
      </p:sp>
      <p:sp>
        <p:nvSpPr>
          <p:cNvPr id="18" name="Text 15"/>
          <p:cNvSpPr/>
          <p:nvPr/>
        </p:nvSpPr>
        <p:spPr>
          <a:xfrm>
            <a:off x="1325880" y="265176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Ignorer le message exact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5440680" y="2651760"/>
            <a:ext cx="6126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A9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stop codes et messages orientent précisément la cause — les paraphraser fait perdre l'information clé.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57200" y="3520440"/>
            <a:ext cx="11247120" cy="822960"/>
          </a:xfrm>
          <a:prstGeom prst="roundRect">
            <a:avLst>
              <a:gd name="adj" fmla="val 8889"/>
            </a:avLst>
          </a:prstGeom>
          <a:solidFill>
            <a:srgbClr val="132A43"/>
          </a:solidFill>
          <a:ln/>
        </p:spPr>
      </p:sp>
      <p:sp>
        <p:nvSpPr>
          <p:cNvPr id="21" name="Text 18"/>
          <p:cNvSpPr/>
          <p:nvPr/>
        </p:nvSpPr>
        <p:spPr>
          <a:xfrm>
            <a:off x="640080" y="3630168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E85C4A"/>
                </a:solidFill>
              </a:rPr>
              <a:t>❌</a:t>
            </a:r>
            <a:endParaRPr lang="en-US" sz="2600" dirty="0"/>
          </a:p>
        </p:txBody>
      </p:sp>
      <p:sp>
        <p:nvSpPr>
          <p:cNvPr id="22" name="Text 19"/>
          <p:cNvSpPr/>
          <p:nvPr/>
        </p:nvSpPr>
        <p:spPr>
          <a:xfrm>
            <a:off x="1325880" y="361188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Confondre erreur disque et erreur Windows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5440680" y="3611880"/>
            <a:ext cx="6126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A9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'Inaccessible boot device' peut venir d'un réglage BIOS, pas forcément d'un disque mort.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457200" y="4480560"/>
            <a:ext cx="11247120" cy="822960"/>
          </a:xfrm>
          <a:prstGeom prst="roundRect">
            <a:avLst>
              <a:gd name="adj" fmla="val 8889"/>
            </a:avLst>
          </a:prstGeom>
          <a:solidFill>
            <a:srgbClr val="132A43"/>
          </a:solidFill>
          <a:ln/>
        </p:spPr>
      </p:sp>
      <p:sp>
        <p:nvSpPr>
          <p:cNvPr id="25" name="Text 22"/>
          <p:cNvSpPr/>
          <p:nvPr/>
        </p:nvSpPr>
        <p:spPr>
          <a:xfrm>
            <a:off x="640080" y="4590288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4ECB71"/>
                </a:solidFill>
              </a:rPr>
              <a:t>✅</a:t>
            </a:r>
            <a:endParaRPr lang="en-US" sz="2600" dirty="0"/>
          </a:p>
        </p:txBody>
      </p:sp>
      <p:sp>
        <p:nvSpPr>
          <p:cNvPr id="26" name="Text 23"/>
          <p:cNvSpPr/>
          <p:nvPr/>
        </p:nvSpPr>
        <p:spPr>
          <a:xfrm>
            <a:off x="1325880" y="457200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Noter le message mot pour mot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5440680" y="4572000"/>
            <a:ext cx="6126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A9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 ou capture d'écran avant toute action — la formulation exacte guide tout le diagnostic.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1A3560"/>
          </a:solidFill>
          <a:ln/>
        </p:spPr>
      </p:sp>
      <p:pic>
        <p:nvPicPr>
          <p:cNvPr id="3" name="Image 0" descr="/home/claude/s4work/samo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" y="41148"/>
            <a:ext cx="756209" cy="22677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0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Séance 4 — Windows démarrage &amp; récupération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8138160" y="274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CHAFIK MOUSTAID — FORMATEUR</a:t>
            </a:r>
            <a:endParaRPr lang="en-US" sz="800" dirty="0"/>
          </a:p>
          <a:p>
            <a:pPr algn="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CFE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1 — Juin 2026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656539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3A9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Séance 4 — Windows : démarrage, erreurs, BSOD et récupération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6583680" y="65653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3A9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CHAFIK MOUSTAID — FORMATEUR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0241280" y="656539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3A9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1 — Juin 2026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457200" y="47548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7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 3 — ≈ 50 MINUTES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749808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Écrans bleus (BSOD) : comprendre sans paniquer</a:t>
            </a:r>
            <a:endParaRPr lang="en-US" sz="2600" dirty="0"/>
          </a:p>
        </p:txBody>
      </p:sp>
      <p:sp>
        <p:nvSpPr>
          <p:cNvPr id="11" name="Shape 8"/>
          <p:cNvSpPr/>
          <p:nvPr/>
        </p:nvSpPr>
        <p:spPr>
          <a:xfrm>
            <a:off x="457200" y="1371600"/>
            <a:ext cx="11274552" cy="0"/>
          </a:xfrm>
          <a:prstGeom prst="line">
            <a:avLst/>
          </a:prstGeom>
          <a:noFill/>
          <a:ln w="12700">
            <a:solidFill>
              <a:srgbClr val="1B3A5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7200" y="1645920"/>
            <a:ext cx="11247120" cy="1188720"/>
          </a:xfrm>
          <a:prstGeom prst="roundRect">
            <a:avLst>
              <a:gd name="adj" fmla="val 6154"/>
            </a:avLst>
          </a:prstGeom>
          <a:solidFill>
            <a:srgbClr val="1B3A5C"/>
          </a:solidFill>
          <a:ln/>
        </p:spPr>
      </p:sp>
      <p:sp>
        <p:nvSpPr>
          <p:cNvPr id="13" name="Text 10"/>
          <p:cNvSpPr/>
          <p:nvPr/>
        </p:nvSpPr>
        <p:spPr>
          <a:xfrm>
            <a:off x="685800" y="1783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qu'est un BSOD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85800" y="210312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 a détecté une erreur critique et s'arrête volontairement pour PROTÉGER le système avant qu'un dommage plus grave ne survienne.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457200" y="30175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ECB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Un BSOD n'est pas « la mort du PC ». C'est un mécanisme de sécurité.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457200" y="352044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132A43"/>
          </a:solidFill>
          <a:ln/>
        </p:spPr>
      </p:sp>
      <p:sp>
        <p:nvSpPr>
          <p:cNvPr id="17" name="Text 14"/>
          <p:cNvSpPr/>
          <p:nvPr/>
        </p:nvSpPr>
        <p:spPr>
          <a:xfrm>
            <a:off x="685800" y="36576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7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code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685800" y="40690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9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d'erreur — ex : MEMORY_MANAGEMENT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4251960" y="352044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132A43"/>
          </a:solidFill>
          <a:ln/>
        </p:spPr>
      </p:sp>
      <p:sp>
        <p:nvSpPr>
          <p:cNvPr id="20" name="Text 17"/>
          <p:cNvSpPr/>
          <p:nvPr/>
        </p:nvSpPr>
        <p:spPr>
          <a:xfrm>
            <a:off x="4480560" y="36576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7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Fichier .sys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4480560" y="40690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9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Pilote concerné — ex : nvlddmkm.sys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8046720" y="352044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132A43"/>
          </a:solidFill>
          <a:ln/>
        </p:spPr>
      </p:sp>
      <p:sp>
        <p:nvSpPr>
          <p:cNvPr id="23" name="Text 20"/>
          <p:cNvSpPr/>
          <p:nvPr/>
        </p:nvSpPr>
        <p:spPr>
          <a:xfrm>
            <a:off x="8275320" y="36576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7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Moment d'apparition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8275320" y="40690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9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Démarrage / usage intensif / aléatoire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457200" y="50749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2E8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 On cherche la CAUSE, pas le code seul — le stop code oriente, ne conclut pas.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1A3560"/>
          </a:solidFill>
          <a:ln/>
        </p:spPr>
      </p:sp>
      <p:pic>
        <p:nvPicPr>
          <p:cNvPr id="3" name="Image 0" descr="/home/claude/s4work/samo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" y="41148"/>
            <a:ext cx="756209" cy="22677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0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Séance 4 — Windows démarrage &amp; récupération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8138160" y="274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CHAFIK MOUSTAID — FORMATEUR</a:t>
            </a:r>
            <a:endParaRPr lang="en-US" sz="800" dirty="0"/>
          </a:p>
          <a:p>
            <a:pPr algn="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CFE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1 — Juin 2026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656539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3A9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Séance 4 — Windows : démarrage, erreurs, BSOD et récupération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6583680" y="65653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3A9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CHAFIK MOUSTAID — FORMATEUR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0241280" y="656539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3A9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1 — Juin 2026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457200" y="47548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7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 3 — RÉFÉRENCE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749808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Causes fréquentes de BSOD — table de diagnostic</a:t>
            </a:r>
            <a:endParaRPr lang="en-US" sz="2600" dirty="0"/>
          </a:p>
        </p:txBody>
      </p:sp>
      <p:sp>
        <p:nvSpPr>
          <p:cNvPr id="11" name="Shape 8"/>
          <p:cNvSpPr/>
          <p:nvPr/>
        </p:nvSpPr>
        <p:spPr>
          <a:xfrm>
            <a:off x="457200" y="1371600"/>
            <a:ext cx="11274552" cy="0"/>
          </a:xfrm>
          <a:prstGeom prst="line">
            <a:avLst/>
          </a:prstGeom>
          <a:noFill/>
          <a:ln w="12700">
            <a:solidFill>
              <a:srgbClr val="1B3A5C"/>
            </a:solidFill>
            <a:prstDash val="solid"/>
          </a:ln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45920"/>
          <a:ext cx="11247120" cy="2743200"/>
        </p:xfrm>
        <a:graphic>
          <a:graphicData uri="http://schemas.openxmlformats.org/drawingml/2006/table">
            <a:tbl>
              <a:tblPr/>
              <a:tblGrid>
                <a:gridCol w="4114800"/>
                <a:gridCol w="3200400"/>
                <a:gridCol w="39319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Cause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Fréquence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Stop code typique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F2F6F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Pilote défectueux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9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F2F6F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Très fréquent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9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F2F6F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PAGE_FAULT_IN_NONPAGED_AREA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92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F2F6F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RAM instable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F2F6F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Fréquent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F2F6F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MEMORY_MANAGEMENT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F2F6F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Mise à jour Windows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9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F2F6F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Fréquent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9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F2F6F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CRITICAL_PROCESS_DIED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92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F2F6F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Disque dégradé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F2F6F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Moyen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F2F6F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INACCESSIBLE_BOOT_DEVICE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F2F6F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Virus / malware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9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F2F6F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Rare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9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F2F6F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SYSTEM_SERVICE_EXCEPTION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929"/>
                    </a:solidFill>
                  </a:tcPr>
                </a:tc>
              </a:tr>
            </a:tbl>
          </a:graphicData>
        </a:graphic>
      </p:graphicFrame>
      <p:sp>
        <p:nvSpPr>
          <p:cNvPr id="13" name="Shape 9"/>
          <p:cNvSpPr/>
          <p:nvPr/>
        </p:nvSpPr>
        <p:spPr>
          <a:xfrm>
            <a:off x="457200" y="4617720"/>
            <a:ext cx="11247120" cy="822960"/>
          </a:xfrm>
          <a:prstGeom prst="roundRect">
            <a:avLst>
              <a:gd name="adj" fmla="val 8889"/>
            </a:avLst>
          </a:prstGeom>
          <a:solidFill>
            <a:srgbClr val="132A43"/>
          </a:solidFill>
          <a:ln/>
        </p:spPr>
      </p:sp>
      <p:sp>
        <p:nvSpPr>
          <p:cNvPr id="14" name="Text 10"/>
          <p:cNvSpPr/>
          <p:nvPr/>
        </p:nvSpPr>
        <p:spPr>
          <a:xfrm>
            <a:off x="685800" y="475488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7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Rappel méthode : MEMORY dans le stop code → suspecter la RAM (MemTest86) en premier, pas Windows lui-même.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1A3560"/>
          </a:solidFill>
          <a:ln/>
        </p:spPr>
      </p:sp>
      <p:pic>
        <p:nvPicPr>
          <p:cNvPr id="3" name="Image 0" descr="/home/claude/s4work/samo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" y="41148"/>
            <a:ext cx="756209" cy="22677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0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Séance 4 — Windows démarrage &amp; récupération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8138160" y="274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CHAFIK MOUSTAID — FORMATEUR</a:t>
            </a:r>
            <a:endParaRPr lang="en-US" sz="800" dirty="0"/>
          </a:p>
          <a:p>
            <a:pPr algn="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CFE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1 — Juin 2026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656539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3A9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Séance 4 — Windows : démarrage, erreurs, BSOD et récupération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6583680" y="65653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3A9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CHAFIK MOUSTAID — FORMATEUR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0241280" y="656539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3A9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1 — Juin 2026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457200" y="47548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7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VOCABULAIRE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749808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Vocabulaire — Diagnostic Windows (18 termes essentiels)</a:t>
            </a:r>
            <a:endParaRPr lang="en-US" sz="2600" dirty="0"/>
          </a:p>
        </p:txBody>
      </p:sp>
      <p:sp>
        <p:nvSpPr>
          <p:cNvPr id="11" name="Shape 8"/>
          <p:cNvSpPr/>
          <p:nvPr/>
        </p:nvSpPr>
        <p:spPr>
          <a:xfrm>
            <a:off x="457200" y="1371600"/>
            <a:ext cx="11274552" cy="0"/>
          </a:xfrm>
          <a:prstGeom prst="line">
            <a:avLst/>
          </a:prstGeom>
          <a:noFill/>
          <a:ln w="12700">
            <a:solidFill>
              <a:srgbClr val="1B3A5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7200" y="1554480"/>
            <a:ext cx="3639312" cy="713232"/>
          </a:xfrm>
          <a:prstGeom prst="roundRect">
            <a:avLst>
              <a:gd name="adj" fmla="val 7692"/>
            </a:avLst>
          </a:prstGeom>
          <a:solidFill>
            <a:srgbClr val="132A43"/>
          </a:solidFill>
          <a:ln/>
        </p:spPr>
      </p:sp>
      <p:sp>
        <p:nvSpPr>
          <p:cNvPr id="13" name="Text 10"/>
          <p:cNvSpPr/>
          <p:nvPr/>
        </p:nvSpPr>
        <p:spPr>
          <a:xfrm>
            <a:off x="594360" y="1609344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BSOD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94360" y="1883664"/>
            <a:ext cx="3364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A9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Écran bleu signalant une erreur critique Windows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215384" y="1554480"/>
            <a:ext cx="3639312" cy="713232"/>
          </a:xfrm>
          <a:prstGeom prst="roundRect">
            <a:avLst>
              <a:gd name="adj" fmla="val 7692"/>
            </a:avLst>
          </a:prstGeom>
          <a:solidFill>
            <a:srgbClr val="132A43"/>
          </a:solidFill>
          <a:ln/>
        </p:spPr>
      </p:sp>
      <p:sp>
        <p:nvSpPr>
          <p:cNvPr id="16" name="Text 13"/>
          <p:cNvSpPr/>
          <p:nvPr/>
        </p:nvSpPr>
        <p:spPr>
          <a:xfrm>
            <a:off x="4352544" y="1609344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code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4352544" y="1883664"/>
            <a:ext cx="3364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A9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Identifiant du type d'erreur affiché sur un BSOD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7973568" y="1554480"/>
            <a:ext cx="3639312" cy="713232"/>
          </a:xfrm>
          <a:prstGeom prst="roundRect">
            <a:avLst>
              <a:gd name="adj" fmla="val 7692"/>
            </a:avLst>
          </a:prstGeom>
          <a:solidFill>
            <a:srgbClr val="132A43"/>
          </a:solidFill>
          <a:ln/>
        </p:spPr>
      </p:sp>
      <p:sp>
        <p:nvSpPr>
          <p:cNvPr id="19" name="Text 16"/>
          <p:cNvSpPr/>
          <p:nvPr/>
        </p:nvSpPr>
        <p:spPr>
          <a:xfrm>
            <a:off x="8110728" y="1609344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BCD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8110728" y="1883664"/>
            <a:ext cx="3364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A9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Boot Configuration Data — données de démarrage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457200" y="2359152"/>
            <a:ext cx="3639312" cy="713232"/>
          </a:xfrm>
          <a:prstGeom prst="roundRect">
            <a:avLst>
              <a:gd name="adj" fmla="val 7692"/>
            </a:avLst>
          </a:prstGeom>
          <a:solidFill>
            <a:srgbClr val="132A43"/>
          </a:solidFill>
          <a:ln/>
        </p:spPr>
      </p:sp>
      <p:sp>
        <p:nvSpPr>
          <p:cNvPr id="22" name="Text 19"/>
          <p:cNvSpPr/>
          <p:nvPr/>
        </p:nvSpPr>
        <p:spPr>
          <a:xfrm>
            <a:off x="594360" y="2414016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Bootloader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594360" y="2688336"/>
            <a:ext cx="3364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A9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Programme qui localise et charge l'OS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4215384" y="2359152"/>
            <a:ext cx="3639312" cy="713232"/>
          </a:xfrm>
          <a:prstGeom prst="roundRect">
            <a:avLst>
              <a:gd name="adj" fmla="val 7692"/>
            </a:avLst>
          </a:prstGeom>
          <a:solidFill>
            <a:srgbClr val="132A43"/>
          </a:solidFill>
          <a:ln/>
        </p:spPr>
      </p:sp>
      <p:sp>
        <p:nvSpPr>
          <p:cNvPr id="25" name="Text 22"/>
          <p:cNvSpPr/>
          <p:nvPr/>
        </p:nvSpPr>
        <p:spPr>
          <a:xfrm>
            <a:off x="4352544" y="2414016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Kernel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4352544" y="2688336"/>
            <a:ext cx="3364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A9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Noyau du système, cœur de Windows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7973568" y="2359152"/>
            <a:ext cx="3639312" cy="713232"/>
          </a:xfrm>
          <a:prstGeom prst="roundRect">
            <a:avLst>
              <a:gd name="adj" fmla="val 7692"/>
            </a:avLst>
          </a:prstGeom>
          <a:solidFill>
            <a:srgbClr val="132A43"/>
          </a:solidFill>
          <a:ln/>
        </p:spPr>
      </p:sp>
      <p:sp>
        <p:nvSpPr>
          <p:cNvPr id="28" name="Text 25"/>
          <p:cNvSpPr/>
          <p:nvPr/>
        </p:nvSpPr>
        <p:spPr>
          <a:xfrm>
            <a:off x="8110728" y="2414016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WinRE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8110728" y="2688336"/>
            <a:ext cx="3364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A9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 Recovery Environment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457200" y="3163824"/>
            <a:ext cx="3639312" cy="713232"/>
          </a:xfrm>
          <a:prstGeom prst="roundRect">
            <a:avLst>
              <a:gd name="adj" fmla="val 7692"/>
            </a:avLst>
          </a:prstGeom>
          <a:solidFill>
            <a:srgbClr val="132A43"/>
          </a:solidFill>
          <a:ln/>
        </p:spPr>
      </p:sp>
      <p:sp>
        <p:nvSpPr>
          <p:cNvPr id="31" name="Text 28"/>
          <p:cNvSpPr/>
          <p:nvPr/>
        </p:nvSpPr>
        <p:spPr>
          <a:xfrm>
            <a:off x="594360" y="3218688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 Mode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594360" y="3493008"/>
            <a:ext cx="3364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A9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Démarrage avec pilotes Microsoft essentiels uniquement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4215384" y="3163824"/>
            <a:ext cx="3639312" cy="713232"/>
          </a:xfrm>
          <a:prstGeom prst="roundRect">
            <a:avLst>
              <a:gd name="adj" fmla="val 7692"/>
            </a:avLst>
          </a:prstGeom>
          <a:solidFill>
            <a:srgbClr val="132A43"/>
          </a:solidFill>
          <a:ln/>
        </p:spPr>
      </p:sp>
      <p:sp>
        <p:nvSpPr>
          <p:cNvPr id="34" name="Text 31"/>
          <p:cNvSpPr/>
          <p:nvPr/>
        </p:nvSpPr>
        <p:spPr>
          <a:xfrm>
            <a:off x="4352544" y="3218688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SFC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4352544" y="3493008"/>
            <a:ext cx="3364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A9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File Checker — vérifie les fichiers système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7973568" y="3163824"/>
            <a:ext cx="3639312" cy="713232"/>
          </a:xfrm>
          <a:prstGeom prst="roundRect">
            <a:avLst>
              <a:gd name="adj" fmla="val 7692"/>
            </a:avLst>
          </a:prstGeom>
          <a:solidFill>
            <a:srgbClr val="132A43"/>
          </a:solidFill>
          <a:ln/>
        </p:spPr>
      </p:sp>
      <p:sp>
        <p:nvSpPr>
          <p:cNvPr id="37" name="Text 34"/>
          <p:cNvSpPr/>
          <p:nvPr/>
        </p:nvSpPr>
        <p:spPr>
          <a:xfrm>
            <a:off x="8110728" y="3218688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DISM</a:t>
            </a:r>
            <a:endParaRPr lang="en-US" sz="1300" dirty="0"/>
          </a:p>
        </p:txBody>
      </p:sp>
      <p:sp>
        <p:nvSpPr>
          <p:cNvPr id="38" name="Text 35"/>
          <p:cNvSpPr/>
          <p:nvPr/>
        </p:nvSpPr>
        <p:spPr>
          <a:xfrm>
            <a:off x="8110728" y="3493008"/>
            <a:ext cx="3364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A9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Outil de réparation de l'image Windows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457200" y="3968496"/>
            <a:ext cx="3639312" cy="713232"/>
          </a:xfrm>
          <a:prstGeom prst="roundRect">
            <a:avLst>
              <a:gd name="adj" fmla="val 7692"/>
            </a:avLst>
          </a:prstGeom>
          <a:solidFill>
            <a:srgbClr val="132A43"/>
          </a:solidFill>
          <a:ln/>
        </p:spPr>
      </p:sp>
      <p:sp>
        <p:nvSpPr>
          <p:cNvPr id="40" name="Text 37"/>
          <p:cNvSpPr/>
          <p:nvPr/>
        </p:nvSpPr>
        <p:spPr>
          <a:xfrm>
            <a:off x="594360" y="4023360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CHKDSK</a:t>
            </a:r>
            <a:endParaRPr lang="en-US" sz="1300" dirty="0"/>
          </a:p>
        </p:txBody>
      </p:sp>
      <p:sp>
        <p:nvSpPr>
          <p:cNvPr id="41" name="Text 38"/>
          <p:cNvSpPr/>
          <p:nvPr/>
        </p:nvSpPr>
        <p:spPr>
          <a:xfrm>
            <a:off x="594360" y="4297680"/>
            <a:ext cx="3364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A9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Vérifie et répare les erreurs disque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4215384" y="3968496"/>
            <a:ext cx="3639312" cy="713232"/>
          </a:xfrm>
          <a:prstGeom prst="roundRect">
            <a:avLst>
              <a:gd name="adj" fmla="val 7692"/>
            </a:avLst>
          </a:prstGeom>
          <a:solidFill>
            <a:srgbClr val="132A43"/>
          </a:solidFill>
          <a:ln/>
        </p:spPr>
      </p:sp>
      <p:sp>
        <p:nvSpPr>
          <p:cNvPr id="43" name="Text 40"/>
          <p:cNvSpPr/>
          <p:nvPr/>
        </p:nvSpPr>
        <p:spPr>
          <a:xfrm>
            <a:off x="4352544" y="4023360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Bootrec</a:t>
            </a:r>
            <a:endParaRPr lang="en-US" sz="1300" dirty="0"/>
          </a:p>
        </p:txBody>
      </p:sp>
      <p:sp>
        <p:nvSpPr>
          <p:cNvPr id="44" name="Text 41"/>
          <p:cNvSpPr/>
          <p:nvPr/>
        </p:nvSpPr>
        <p:spPr>
          <a:xfrm>
            <a:off x="4352544" y="4297680"/>
            <a:ext cx="3364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A9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Outil de réparation du secteur de démarrage</a:t>
            </a:r>
            <a:endParaRPr lang="en-US" sz="1000" dirty="0"/>
          </a:p>
        </p:txBody>
      </p:sp>
      <p:sp>
        <p:nvSpPr>
          <p:cNvPr id="45" name="Shape 42"/>
          <p:cNvSpPr/>
          <p:nvPr/>
        </p:nvSpPr>
        <p:spPr>
          <a:xfrm>
            <a:off x="7973568" y="3968496"/>
            <a:ext cx="3639312" cy="713232"/>
          </a:xfrm>
          <a:prstGeom prst="roundRect">
            <a:avLst>
              <a:gd name="adj" fmla="val 7692"/>
            </a:avLst>
          </a:prstGeom>
          <a:solidFill>
            <a:srgbClr val="132A43"/>
          </a:solidFill>
          <a:ln/>
        </p:spPr>
      </p:sp>
      <p:sp>
        <p:nvSpPr>
          <p:cNvPr id="46" name="Text 43"/>
          <p:cNvSpPr/>
          <p:nvPr/>
        </p:nvSpPr>
        <p:spPr>
          <a:xfrm>
            <a:off x="8110728" y="4023360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Fichier .sys</a:t>
            </a:r>
            <a:endParaRPr lang="en-US" sz="1300" dirty="0"/>
          </a:p>
        </p:txBody>
      </p:sp>
      <p:sp>
        <p:nvSpPr>
          <p:cNvPr id="47" name="Text 44"/>
          <p:cNvSpPr/>
          <p:nvPr/>
        </p:nvSpPr>
        <p:spPr>
          <a:xfrm>
            <a:off x="8110728" y="4297680"/>
            <a:ext cx="3364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A9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Fichier pilote (driver) Windows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457200" y="4773168"/>
            <a:ext cx="3639312" cy="713232"/>
          </a:xfrm>
          <a:prstGeom prst="roundRect">
            <a:avLst>
              <a:gd name="adj" fmla="val 7692"/>
            </a:avLst>
          </a:prstGeom>
          <a:solidFill>
            <a:srgbClr val="132A43"/>
          </a:solidFill>
          <a:ln/>
        </p:spPr>
      </p:sp>
      <p:sp>
        <p:nvSpPr>
          <p:cNvPr id="49" name="Text 46"/>
          <p:cNvSpPr/>
          <p:nvPr/>
        </p:nvSpPr>
        <p:spPr>
          <a:xfrm>
            <a:off x="594360" y="4828032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Kernel panic</a:t>
            </a:r>
            <a:endParaRPr lang="en-US" sz="1300" dirty="0"/>
          </a:p>
        </p:txBody>
      </p:sp>
      <p:sp>
        <p:nvSpPr>
          <p:cNvPr id="50" name="Text 47"/>
          <p:cNvSpPr/>
          <p:nvPr/>
        </p:nvSpPr>
        <p:spPr>
          <a:xfrm>
            <a:off x="594360" y="5102352"/>
            <a:ext cx="3364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A9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Arrêt d'urgence du noyau (équivalent BSOD)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4215384" y="4773168"/>
            <a:ext cx="3639312" cy="713232"/>
          </a:xfrm>
          <a:prstGeom prst="roundRect">
            <a:avLst>
              <a:gd name="adj" fmla="val 7692"/>
            </a:avLst>
          </a:prstGeom>
          <a:solidFill>
            <a:srgbClr val="132A43"/>
          </a:solidFill>
          <a:ln/>
        </p:spPr>
      </p:sp>
      <p:sp>
        <p:nvSpPr>
          <p:cNvPr id="52" name="Text 49"/>
          <p:cNvSpPr/>
          <p:nvPr/>
        </p:nvSpPr>
        <p:spPr>
          <a:xfrm>
            <a:off x="4352544" y="4828032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de restauration</a:t>
            </a:r>
            <a:endParaRPr lang="en-US" sz="1300" dirty="0"/>
          </a:p>
        </p:txBody>
      </p:sp>
      <p:sp>
        <p:nvSpPr>
          <p:cNvPr id="53" name="Text 50"/>
          <p:cNvSpPr/>
          <p:nvPr/>
        </p:nvSpPr>
        <p:spPr>
          <a:xfrm>
            <a:off x="4352544" y="5102352"/>
            <a:ext cx="3364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A9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Sauvegarde de l'état système à un instant T</a:t>
            </a:r>
            <a:endParaRPr lang="en-US" sz="1000" dirty="0"/>
          </a:p>
        </p:txBody>
      </p:sp>
      <p:sp>
        <p:nvSpPr>
          <p:cNvPr id="54" name="Shape 51"/>
          <p:cNvSpPr/>
          <p:nvPr/>
        </p:nvSpPr>
        <p:spPr>
          <a:xfrm>
            <a:off x="7973568" y="4773168"/>
            <a:ext cx="3639312" cy="713232"/>
          </a:xfrm>
          <a:prstGeom prst="roundRect">
            <a:avLst>
              <a:gd name="adj" fmla="val 7692"/>
            </a:avLst>
          </a:prstGeom>
          <a:solidFill>
            <a:srgbClr val="132A43"/>
          </a:solidFill>
          <a:ln/>
        </p:spPr>
      </p:sp>
      <p:sp>
        <p:nvSpPr>
          <p:cNvPr id="55" name="Text 52"/>
          <p:cNvSpPr/>
          <p:nvPr/>
        </p:nvSpPr>
        <p:spPr>
          <a:xfrm>
            <a:off x="8110728" y="4828032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 utilisateur</a:t>
            </a:r>
            <a:endParaRPr lang="en-US" sz="1300" dirty="0"/>
          </a:p>
        </p:txBody>
      </p:sp>
      <p:sp>
        <p:nvSpPr>
          <p:cNvPr id="56" name="Text 53"/>
          <p:cNvSpPr/>
          <p:nvPr/>
        </p:nvSpPr>
        <p:spPr>
          <a:xfrm>
            <a:off x="8110728" y="5102352"/>
            <a:ext cx="3364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A9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Paramètres et données propres à un compte</a:t>
            </a:r>
            <a:endParaRPr lang="en-US" sz="1000" dirty="0"/>
          </a:p>
        </p:txBody>
      </p:sp>
      <p:sp>
        <p:nvSpPr>
          <p:cNvPr id="57" name="Shape 54"/>
          <p:cNvSpPr/>
          <p:nvPr/>
        </p:nvSpPr>
        <p:spPr>
          <a:xfrm>
            <a:off x="457200" y="5577840"/>
            <a:ext cx="3639312" cy="713232"/>
          </a:xfrm>
          <a:prstGeom prst="roundRect">
            <a:avLst>
              <a:gd name="adj" fmla="val 7692"/>
            </a:avLst>
          </a:prstGeom>
          <a:solidFill>
            <a:srgbClr val="132A43"/>
          </a:solidFill>
          <a:ln/>
        </p:spPr>
      </p:sp>
      <p:sp>
        <p:nvSpPr>
          <p:cNvPr id="58" name="Text 55"/>
          <p:cNvSpPr/>
          <p:nvPr/>
        </p:nvSpPr>
        <p:spPr>
          <a:xfrm>
            <a:off x="594360" y="5632704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MBR / GPT</a:t>
            </a:r>
            <a:endParaRPr lang="en-US" sz="1300" dirty="0"/>
          </a:p>
        </p:txBody>
      </p:sp>
      <p:sp>
        <p:nvSpPr>
          <p:cNvPr id="59" name="Text 56"/>
          <p:cNvSpPr/>
          <p:nvPr/>
        </p:nvSpPr>
        <p:spPr>
          <a:xfrm>
            <a:off x="594360" y="5907024"/>
            <a:ext cx="3364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A9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Schémas de partitionnement du disque</a:t>
            </a:r>
            <a:endParaRPr lang="en-US" sz="1000" dirty="0"/>
          </a:p>
        </p:txBody>
      </p:sp>
      <p:sp>
        <p:nvSpPr>
          <p:cNvPr id="60" name="Shape 57"/>
          <p:cNvSpPr/>
          <p:nvPr/>
        </p:nvSpPr>
        <p:spPr>
          <a:xfrm>
            <a:off x="4215384" y="5577840"/>
            <a:ext cx="3639312" cy="713232"/>
          </a:xfrm>
          <a:prstGeom prst="roundRect">
            <a:avLst>
              <a:gd name="adj" fmla="val 7692"/>
            </a:avLst>
          </a:prstGeom>
          <a:solidFill>
            <a:srgbClr val="132A43"/>
          </a:solidFill>
          <a:ln/>
        </p:spPr>
      </p:sp>
      <p:sp>
        <p:nvSpPr>
          <p:cNvPr id="61" name="Text 58"/>
          <p:cNvSpPr/>
          <p:nvPr/>
        </p:nvSpPr>
        <p:spPr>
          <a:xfrm>
            <a:off x="4352544" y="5632704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AHCI</a:t>
            </a:r>
            <a:endParaRPr lang="en-US" sz="1300" dirty="0"/>
          </a:p>
        </p:txBody>
      </p:sp>
      <p:sp>
        <p:nvSpPr>
          <p:cNvPr id="62" name="Text 59"/>
          <p:cNvSpPr/>
          <p:nvPr/>
        </p:nvSpPr>
        <p:spPr>
          <a:xfrm>
            <a:off x="4352544" y="5907024"/>
            <a:ext cx="3364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A9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 de fonctionnement du contrôleur disque</a:t>
            </a:r>
            <a:endParaRPr lang="en-US" sz="1000" dirty="0"/>
          </a:p>
        </p:txBody>
      </p:sp>
      <p:sp>
        <p:nvSpPr>
          <p:cNvPr id="63" name="Shape 60"/>
          <p:cNvSpPr/>
          <p:nvPr/>
        </p:nvSpPr>
        <p:spPr>
          <a:xfrm>
            <a:off x="7973568" y="5577840"/>
            <a:ext cx="3639312" cy="713232"/>
          </a:xfrm>
          <a:prstGeom prst="roundRect">
            <a:avLst>
              <a:gd name="adj" fmla="val 7692"/>
            </a:avLst>
          </a:prstGeom>
          <a:solidFill>
            <a:srgbClr val="132A43"/>
          </a:solidFill>
          <a:ln/>
        </p:spPr>
      </p:sp>
      <p:sp>
        <p:nvSpPr>
          <p:cNvPr id="64" name="Text 61"/>
          <p:cNvSpPr/>
          <p:nvPr/>
        </p:nvSpPr>
        <p:spPr>
          <a:xfrm>
            <a:off x="8110728" y="5632704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Reset this PC</a:t>
            </a:r>
            <a:endParaRPr lang="en-US" sz="1300" dirty="0"/>
          </a:p>
        </p:txBody>
      </p:sp>
      <p:sp>
        <p:nvSpPr>
          <p:cNvPr id="65" name="Text 62"/>
          <p:cNvSpPr/>
          <p:nvPr/>
        </p:nvSpPr>
        <p:spPr>
          <a:xfrm>
            <a:off x="8110728" y="5907024"/>
            <a:ext cx="3364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A9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Réinstallation Windows avec ou sans fichiers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1A3560"/>
          </a:solidFill>
          <a:ln/>
        </p:spPr>
      </p:sp>
      <p:pic>
        <p:nvPicPr>
          <p:cNvPr id="3" name="Image 0" descr="/home/claude/s4work/samo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" y="41148"/>
            <a:ext cx="756209" cy="22677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0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Séance 4 — Windows démarrage &amp; récupération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8138160" y="274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CHAFIK MOUSTAID — FORMATEUR</a:t>
            </a:r>
            <a:endParaRPr lang="en-US" sz="800" dirty="0"/>
          </a:p>
          <a:p>
            <a:pPr algn="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CFE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1 — Juin 2026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656539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3A9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Séance 4 — Windows : démarrage, erreurs, BSOD et récupération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6583680" y="65653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3A9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CHAFIK MOUSTAID — FORMATEUR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0241280" y="656539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3A9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1 — Juin 2026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457200" y="47548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7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 4 — ≈ 45 MINUTES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749808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WinRE — Accéder aux outils de récupération</a:t>
            </a:r>
            <a:endParaRPr lang="en-US" sz="2600" dirty="0"/>
          </a:p>
        </p:txBody>
      </p:sp>
      <p:sp>
        <p:nvSpPr>
          <p:cNvPr id="11" name="Shape 8"/>
          <p:cNvSpPr/>
          <p:nvPr/>
        </p:nvSpPr>
        <p:spPr>
          <a:xfrm>
            <a:off x="457200" y="1371600"/>
            <a:ext cx="11274552" cy="0"/>
          </a:xfrm>
          <a:prstGeom prst="line">
            <a:avLst/>
          </a:prstGeom>
          <a:noFill/>
          <a:ln w="12700">
            <a:solidFill>
              <a:srgbClr val="1B3A5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7200" y="1645920"/>
            <a:ext cx="11247120" cy="1097280"/>
          </a:xfrm>
          <a:prstGeom prst="roundRect">
            <a:avLst>
              <a:gd name="adj" fmla="val 6667"/>
            </a:avLst>
          </a:prstGeom>
          <a:solidFill>
            <a:srgbClr val="132A43"/>
          </a:solidFill>
          <a:ln/>
        </p:spPr>
      </p:sp>
      <p:sp>
        <p:nvSpPr>
          <p:cNvPr id="13" name="Shape 10"/>
          <p:cNvSpPr/>
          <p:nvPr/>
        </p:nvSpPr>
        <p:spPr>
          <a:xfrm>
            <a:off x="685800" y="1874520"/>
            <a:ext cx="640080" cy="640080"/>
          </a:xfrm>
          <a:prstGeom prst="ellipse">
            <a:avLst/>
          </a:prstGeom>
          <a:solidFill>
            <a:srgbClr val="2E86FF"/>
          </a:solidFill>
          <a:ln/>
        </p:spPr>
      </p:sp>
      <p:sp>
        <p:nvSpPr>
          <p:cNvPr id="14" name="Text 11"/>
          <p:cNvSpPr/>
          <p:nvPr/>
        </p:nvSpPr>
        <p:spPr>
          <a:xfrm>
            <a:off x="685800" y="1874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1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1554480" y="178308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redémarrages forcés consécutifs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6400800" y="178308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3A9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Coupez l'alimentation 3 fois pendant le chargement Windows — méthode d'urgence quand rien d'autre ne répond.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457200" y="2880360"/>
            <a:ext cx="11247120" cy="1097280"/>
          </a:xfrm>
          <a:prstGeom prst="roundRect">
            <a:avLst>
              <a:gd name="adj" fmla="val 6667"/>
            </a:avLst>
          </a:prstGeom>
          <a:solidFill>
            <a:srgbClr val="132A43"/>
          </a:solidFill>
          <a:ln/>
        </p:spPr>
      </p:sp>
      <p:sp>
        <p:nvSpPr>
          <p:cNvPr id="18" name="Shape 15"/>
          <p:cNvSpPr/>
          <p:nvPr/>
        </p:nvSpPr>
        <p:spPr>
          <a:xfrm>
            <a:off x="685800" y="3108960"/>
            <a:ext cx="640080" cy="640080"/>
          </a:xfrm>
          <a:prstGeom prst="ellipse">
            <a:avLst/>
          </a:prstGeom>
          <a:solidFill>
            <a:srgbClr val="2E86FF"/>
          </a:solidFill>
          <a:ln/>
        </p:spPr>
      </p:sp>
      <p:sp>
        <p:nvSpPr>
          <p:cNvPr id="19" name="Text 16"/>
          <p:cNvSpPr/>
          <p:nvPr/>
        </p:nvSpPr>
        <p:spPr>
          <a:xfrm>
            <a:off x="685800" y="3108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2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1554480" y="301752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Shift + Redémarrer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6400800" y="301752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3A9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Depuis Windows démarré normalement : Menu Démarrer → maintenir Shift → cliquer Redémarrer.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457200" y="4114800"/>
            <a:ext cx="11247120" cy="1097280"/>
          </a:xfrm>
          <a:prstGeom prst="roundRect">
            <a:avLst>
              <a:gd name="adj" fmla="val 6667"/>
            </a:avLst>
          </a:prstGeom>
          <a:solidFill>
            <a:srgbClr val="132A43"/>
          </a:solidFill>
          <a:ln/>
        </p:spPr>
      </p:sp>
      <p:sp>
        <p:nvSpPr>
          <p:cNvPr id="23" name="Shape 20"/>
          <p:cNvSpPr/>
          <p:nvPr/>
        </p:nvSpPr>
        <p:spPr>
          <a:xfrm>
            <a:off x="685800" y="4343400"/>
            <a:ext cx="640080" cy="640080"/>
          </a:xfrm>
          <a:prstGeom prst="ellipse">
            <a:avLst/>
          </a:prstGeom>
          <a:solidFill>
            <a:srgbClr val="2E86FF"/>
          </a:solidFill>
          <a:ln/>
        </p:spPr>
      </p:sp>
      <p:sp>
        <p:nvSpPr>
          <p:cNvPr id="24" name="Text 21"/>
          <p:cNvSpPr/>
          <p:nvPr/>
        </p:nvSpPr>
        <p:spPr>
          <a:xfrm>
            <a:off x="685800" y="4343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3</a:t>
            </a:r>
            <a:endParaRPr lang="en-US" sz="2400" dirty="0"/>
          </a:p>
        </p:txBody>
      </p:sp>
      <p:sp>
        <p:nvSpPr>
          <p:cNvPr id="25" name="Text 22"/>
          <p:cNvSpPr/>
          <p:nvPr/>
        </p:nvSpPr>
        <p:spPr>
          <a:xfrm>
            <a:off x="1554480" y="425196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Clé USB Windows bootable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6400800" y="425196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3A9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Créée avec Rufus ou Media Creation Tool — nécessaire si le disque système est totalement inaccessible.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1A3560"/>
          </a:solidFill>
          <a:ln/>
        </p:spPr>
      </p:sp>
      <p:pic>
        <p:nvPicPr>
          <p:cNvPr id="3" name="Image 0" descr="/home/claude/s4work/samo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" y="41148"/>
            <a:ext cx="756209" cy="22677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0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Séance 4 — Windows démarrage &amp; récupération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8138160" y="274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CHAFIK MOUSTAID — FORMATEUR</a:t>
            </a:r>
            <a:endParaRPr lang="en-US" sz="800" dirty="0"/>
          </a:p>
          <a:p>
            <a:pPr algn="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CFE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1 — Juin 2026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656539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3A9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Séance 4 — Windows : démarrage, erreurs, BSOD et récupération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6583680" y="65653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3A9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CHAFIK MOUSTAID — FORMATEUR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0241280" y="656539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3A9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1 — Juin 2026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457200" y="47548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7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 4 — BOÎTE À OUTILS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749808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5 outils de récupération WinRE</a:t>
            </a:r>
            <a:endParaRPr lang="en-US" sz="2600" dirty="0"/>
          </a:p>
        </p:txBody>
      </p:sp>
      <p:sp>
        <p:nvSpPr>
          <p:cNvPr id="11" name="Shape 8"/>
          <p:cNvSpPr/>
          <p:nvPr/>
        </p:nvSpPr>
        <p:spPr>
          <a:xfrm>
            <a:off x="457200" y="1371600"/>
            <a:ext cx="11274552" cy="0"/>
          </a:xfrm>
          <a:prstGeom prst="line">
            <a:avLst/>
          </a:prstGeom>
          <a:noFill/>
          <a:ln w="12700">
            <a:solidFill>
              <a:srgbClr val="1B3A5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7200" y="1645920"/>
            <a:ext cx="2148840" cy="2286000"/>
          </a:xfrm>
          <a:prstGeom prst="roundRect">
            <a:avLst>
              <a:gd name="adj" fmla="val 3404"/>
            </a:avLst>
          </a:prstGeom>
          <a:solidFill>
            <a:srgbClr val="132A43"/>
          </a:solidFill>
          <a:ln/>
        </p:spPr>
      </p:sp>
      <p:sp>
        <p:nvSpPr>
          <p:cNvPr id="13" name="Shape 10"/>
          <p:cNvSpPr/>
          <p:nvPr/>
        </p:nvSpPr>
        <p:spPr>
          <a:xfrm>
            <a:off x="1257300" y="1828800"/>
            <a:ext cx="548640" cy="548640"/>
          </a:xfrm>
          <a:prstGeom prst="ellipse">
            <a:avLst/>
          </a:prstGeom>
          <a:solidFill>
            <a:srgbClr val="1B3A5C"/>
          </a:solidFill>
          <a:ln w="12700">
            <a:solidFill>
              <a:srgbClr val="2E86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257300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86FF"/>
                </a:solidFill>
              </a:rPr>
              <a:t>1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594360" y="251460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Startup Repair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94360" y="3017520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3A9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Corrige automatiquement les problèmes de démarrage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2715768" y="1645920"/>
            <a:ext cx="2148840" cy="2286000"/>
          </a:xfrm>
          <a:prstGeom prst="roundRect">
            <a:avLst>
              <a:gd name="adj" fmla="val 3404"/>
            </a:avLst>
          </a:prstGeom>
          <a:solidFill>
            <a:srgbClr val="132A43"/>
          </a:solidFill>
          <a:ln/>
        </p:spPr>
      </p:sp>
      <p:sp>
        <p:nvSpPr>
          <p:cNvPr id="18" name="Shape 15"/>
          <p:cNvSpPr/>
          <p:nvPr/>
        </p:nvSpPr>
        <p:spPr>
          <a:xfrm>
            <a:off x="3515868" y="1828800"/>
            <a:ext cx="548640" cy="548640"/>
          </a:xfrm>
          <a:prstGeom prst="ellipse">
            <a:avLst/>
          </a:prstGeom>
          <a:solidFill>
            <a:srgbClr val="1B3A5C"/>
          </a:solidFill>
          <a:ln w="12700">
            <a:solidFill>
              <a:srgbClr val="2E86F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515868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86FF"/>
                </a:solidFill>
              </a:rPr>
              <a:t>2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2852928" y="251460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Restore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2852928" y="3017520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3A9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Revenir à un état système antérieur stable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4974336" y="1645920"/>
            <a:ext cx="2148840" cy="2286000"/>
          </a:xfrm>
          <a:prstGeom prst="roundRect">
            <a:avLst>
              <a:gd name="adj" fmla="val 3404"/>
            </a:avLst>
          </a:prstGeom>
          <a:solidFill>
            <a:srgbClr val="132A43"/>
          </a:solidFill>
          <a:ln/>
        </p:spPr>
      </p:sp>
      <p:sp>
        <p:nvSpPr>
          <p:cNvPr id="23" name="Shape 20"/>
          <p:cNvSpPr/>
          <p:nvPr/>
        </p:nvSpPr>
        <p:spPr>
          <a:xfrm>
            <a:off x="5774436" y="1828800"/>
            <a:ext cx="548640" cy="548640"/>
          </a:xfrm>
          <a:prstGeom prst="ellipse">
            <a:avLst/>
          </a:prstGeom>
          <a:solidFill>
            <a:srgbClr val="1B3A5C"/>
          </a:solidFill>
          <a:ln w="12700">
            <a:solidFill>
              <a:srgbClr val="2E86F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774436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86FF"/>
                </a:solidFill>
              </a:rPr>
              <a:t>3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5111496" y="251460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 Mode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5111496" y="3017520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3A9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Démarrer sans pilotes tiers pour isoler la cause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7232904" y="1645920"/>
            <a:ext cx="2148840" cy="2286000"/>
          </a:xfrm>
          <a:prstGeom prst="roundRect">
            <a:avLst>
              <a:gd name="adj" fmla="val 3404"/>
            </a:avLst>
          </a:prstGeom>
          <a:solidFill>
            <a:srgbClr val="132A43"/>
          </a:solidFill>
          <a:ln/>
        </p:spPr>
      </p:sp>
      <p:sp>
        <p:nvSpPr>
          <p:cNvPr id="28" name="Shape 25"/>
          <p:cNvSpPr/>
          <p:nvPr/>
        </p:nvSpPr>
        <p:spPr>
          <a:xfrm>
            <a:off x="8033004" y="1828800"/>
            <a:ext cx="548640" cy="548640"/>
          </a:xfrm>
          <a:prstGeom prst="ellipse">
            <a:avLst/>
          </a:prstGeom>
          <a:solidFill>
            <a:srgbClr val="1B3A5C"/>
          </a:solidFill>
          <a:ln w="12700">
            <a:solidFill>
              <a:srgbClr val="2E86F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033004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86FF"/>
                </a:solidFill>
              </a:rPr>
              <a:t>4</a:t>
            </a:r>
            <a:endParaRPr lang="en-US" sz="1800" dirty="0"/>
          </a:p>
        </p:txBody>
      </p:sp>
      <p:sp>
        <p:nvSpPr>
          <p:cNvPr id="30" name="Text 27"/>
          <p:cNvSpPr/>
          <p:nvPr/>
        </p:nvSpPr>
        <p:spPr>
          <a:xfrm>
            <a:off x="7370064" y="251460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Command Prompt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7370064" y="3017520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3A9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Réparer manuellement (bcdedit, sfc, chkdsk)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9491472" y="1645920"/>
            <a:ext cx="2148840" cy="2286000"/>
          </a:xfrm>
          <a:prstGeom prst="roundRect">
            <a:avLst>
              <a:gd name="adj" fmla="val 3404"/>
            </a:avLst>
          </a:prstGeom>
          <a:solidFill>
            <a:srgbClr val="132A43"/>
          </a:solidFill>
          <a:ln/>
        </p:spPr>
      </p:sp>
      <p:sp>
        <p:nvSpPr>
          <p:cNvPr id="33" name="Shape 30"/>
          <p:cNvSpPr/>
          <p:nvPr/>
        </p:nvSpPr>
        <p:spPr>
          <a:xfrm>
            <a:off x="10291572" y="1828800"/>
            <a:ext cx="548640" cy="548640"/>
          </a:xfrm>
          <a:prstGeom prst="ellipse">
            <a:avLst/>
          </a:prstGeom>
          <a:solidFill>
            <a:srgbClr val="1B3A5C"/>
          </a:solidFill>
          <a:ln w="12700">
            <a:solidFill>
              <a:srgbClr val="2E86FF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10291572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86FF"/>
                </a:solidFill>
              </a:rPr>
              <a:t>5</a:t>
            </a:r>
            <a:endParaRPr lang="en-US" sz="1800" dirty="0"/>
          </a:p>
        </p:txBody>
      </p:sp>
      <p:sp>
        <p:nvSpPr>
          <p:cNvPr id="35" name="Text 32"/>
          <p:cNvSpPr/>
          <p:nvPr/>
        </p:nvSpPr>
        <p:spPr>
          <a:xfrm>
            <a:off x="9628632" y="251460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Reset this PC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9628632" y="3017520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3A9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Réinstallation propre, avec ou sans conservation des fichiers</a:t>
            </a:r>
            <a:endParaRPr lang="en-US" sz="1050" dirty="0"/>
          </a:p>
        </p:txBody>
      </p:sp>
      <p:sp>
        <p:nvSpPr>
          <p:cNvPr id="37" name="Shape 34"/>
          <p:cNvSpPr/>
          <p:nvPr/>
        </p:nvSpPr>
        <p:spPr>
          <a:xfrm>
            <a:off x="457200" y="4160520"/>
            <a:ext cx="11247120" cy="1280160"/>
          </a:xfrm>
          <a:prstGeom prst="roundRect">
            <a:avLst>
              <a:gd name="adj" fmla="val 5714"/>
            </a:avLst>
          </a:prstGeom>
          <a:solidFill>
            <a:srgbClr val="1B3A5C"/>
          </a:solidFill>
          <a:ln/>
        </p:spPr>
      </p:sp>
      <p:sp>
        <p:nvSpPr>
          <p:cNvPr id="38" name="Text 35"/>
          <p:cNvSpPr/>
          <p:nvPr/>
        </p:nvSpPr>
        <p:spPr>
          <a:xfrm>
            <a:off x="685800" y="427939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ECB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 Safe Mode — votre meilleur allié</a:t>
            </a:r>
            <a:endParaRPr lang="en-US" sz="1400" dirty="0"/>
          </a:p>
        </p:txBody>
      </p:sp>
      <p:sp>
        <p:nvSpPr>
          <p:cNvPr id="39" name="Text 36"/>
          <p:cNvSpPr/>
          <p:nvPr/>
        </p:nvSpPr>
        <p:spPr>
          <a:xfrm>
            <a:off x="685800" y="461772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2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Démarre Windows avec uniquement les pilotes Microsoft essentiels → désinstaller le pilote fautif → tester la stabilité → vérifier si la cause est matérielle ou logicielle.  ✅ Si le PC est stable en Safe Mode, le matériel est OK : le problème est logiciel ou pilote.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1A3560"/>
          </a:solidFill>
          <a:ln/>
        </p:spPr>
      </p:sp>
      <p:pic>
        <p:nvPicPr>
          <p:cNvPr id="3" name="Image 0" descr="/home/claude/s4work/samo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" y="41148"/>
            <a:ext cx="756209" cy="22677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0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Séance 4 — Windows démarrage &amp; récupération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8138160" y="274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CHAFIK MOUSTAID — FORMATEUR</a:t>
            </a:r>
            <a:endParaRPr lang="en-US" sz="800" dirty="0"/>
          </a:p>
          <a:p>
            <a:pPr algn="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CFE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1 — Juin 2026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656539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3A9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Séance 4 — Windows : démarrage, erreurs, BSOD et récupération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6583680" y="65653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3A9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CHAFIK MOUSTAID — FORMATEUR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0241280" y="656539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3A9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1 — Juin 2026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457200" y="47548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7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 4 — PRATIQUE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749808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Commandes clés via l'invite de commandes WinRE</a:t>
            </a:r>
            <a:endParaRPr lang="en-US" sz="2600" dirty="0"/>
          </a:p>
        </p:txBody>
      </p:sp>
      <p:sp>
        <p:nvSpPr>
          <p:cNvPr id="11" name="Shape 8"/>
          <p:cNvSpPr/>
          <p:nvPr/>
        </p:nvSpPr>
        <p:spPr>
          <a:xfrm>
            <a:off x="457200" y="1371600"/>
            <a:ext cx="11274552" cy="0"/>
          </a:xfrm>
          <a:prstGeom prst="line">
            <a:avLst/>
          </a:prstGeom>
          <a:noFill/>
          <a:ln w="12700">
            <a:solidFill>
              <a:srgbClr val="1B3A5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7200" y="1600200"/>
            <a:ext cx="11247120" cy="713232"/>
          </a:xfrm>
          <a:prstGeom prst="roundRect">
            <a:avLst>
              <a:gd name="adj" fmla="val 7692"/>
            </a:avLst>
          </a:prstGeom>
          <a:solidFill>
            <a:srgbClr val="0A1420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85800" y="1673352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EC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sfc /scannow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4480560" y="1673352"/>
            <a:ext cx="7040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2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 et réparation des fichiers système Windows corrompus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457200" y="2441448"/>
            <a:ext cx="11247120" cy="713232"/>
          </a:xfrm>
          <a:prstGeom prst="roundRect">
            <a:avLst>
              <a:gd name="adj" fmla="val 7692"/>
            </a:avLst>
          </a:prstGeom>
          <a:solidFill>
            <a:srgbClr val="0A1420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85800" y="251460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EC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bootrec /fixmbr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4480560" y="2514600"/>
            <a:ext cx="7040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2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Répare le secteur de démarrage principal (MBR)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457200" y="3282696"/>
            <a:ext cx="11247120" cy="713232"/>
          </a:xfrm>
          <a:prstGeom prst="roundRect">
            <a:avLst>
              <a:gd name="adj" fmla="val 7692"/>
            </a:avLst>
          </a:prstGeom>
          <a:solidFill>
            <a:srgbClr val="0A1420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85800" y="3355848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EC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bootrec /fixboot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4480560" y="3355848"/>
            <a:ext cx="7040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2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Répare le secteur de boot de la partition système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457200" y="4123944"/>
            <a:ext cx="11247120" cy="713232"/>
          </a:xfrm>
          <a:prstGeom prst="roundRect">
            <a:avLst>
              <a:gd name="adj" fmla="val 7692"/>
            </a:avLst>
          </a:prstGeom>
          <a:solidFill>
            <a:srgbClr val="0A1420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85800" y="4197096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EC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bootrec /rebuildbcd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4480560" y="4197096"/>
            <a:ext cx="7040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2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Reconstruit entièrement le BCD (données de démarrage)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457200" y="4965192"/>
            <a:ext cx="11247120" cy="713232"/>
          </a:xfrm>
          <a:prstGeom prst="roundRect">
            <a:avLst>
              <a:gd name="adj" fmla="val 7692"/>
            </a:avLst>
          </a:prstGeom>
          <a:solidFill>
            <a:srgbClr val="0A1420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85800" y="5038344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EC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chkdsk C: /f /r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4480560" y="5038344"/>
            <a:ext cx="7040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2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Vérifie et répare le disque (secteurs défectueux)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1A3560"/>
          </a:solidFill>
          <a:ln/>
        </p:spPr>
      </p:sp>
      <p:pic>
        <p:nvPicPr>
          <p:cNvPr id="3" name="Image 0" descr="/home/claude/s4work/samo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" y="41148"/>
            <a:ext cx="756209" cy="22677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0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Séance 4 — Windows démarrage &amp; récupération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8138160" y="274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CHAFIK MOUSTAID — FORMATEUR</a:t>
            </a:r>
            <a:endParaRPr lang="en-US" sz="800" dirty="0"/>
          </a:p>
          <a:p>
            <a:pPr algn="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CFE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1 — Juin 2026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656539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3A9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Séance 4 — Windows : démarrage, erreurs, BSOD et récupération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6583680" y="65653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3A9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CHAFIK MOUSTAID — FORMATEUR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0241280" y="656539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3A9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1 — Juin 2026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457200" y="47548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7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 5 — DÉCISION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749808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Réinstaller Windows — quand et comment</a:t>
            </a:r>
            <a:endParaRPr lang="en-US" sz="2600" dirty="0"/>
          </a:p>
        </p:txBody>
      </p:sp>
      <p:sp>
        <p:nvSpPr>
          <p:cNvPr id="11" name="Shape 8"/>
          <p:cNvSpPr/>
          <p:nvPr/>
        </p:nvSpPr>
        <p:spPr>
          <a:xfrm>
            <a:off x="457200" y="1371600"/>
            <a:ext cx="11274552" cy="0"/>
          </a:xfrm>
          <a:prstGeom prst="line">
            <a:avLst/>
          </a:prstGeom>
          <a:noFill/>
          <a:ln w="12700">
            <a:solidFill>
              <a:srgbClr val="1B3A5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46304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7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réinstallation est une solution de dernier recours, pas un outil de diagnostic.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57200" y="1920240"/>
            <a:ext cx="5440680" cy="2834640"/>
          </a:xfrm>
          <a:prstGeom prst="roundRect">
            <a:avLst>
              <a:gd name="adj" fmla="val 2581"/>
            </a:avLst>
          </a:prstGeom>
          <a:solidFill>
            <a:srgbClr val="132A43"/>
          </a:solidFill>
          <a:ln/>
        </p:spPr>
      </p:sp>
      <p:sp>
        <p:nvSpPr>
          <p:cNvPr id="14" name="Text 11"/>
          <p:cNvSpPr/>
          <p:nvPr/>
        </p:nvSpPr>
        <p:spPr>
          <a:xfrm>
            <a:off x="685800" y="21031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ECB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Quand réinstaller ?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85800" y="2560320"/>
            <a:ext cx="5029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2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Corruption grave et irréparable du système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2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Système instable après toutes les tentatives de réparation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2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Malware sérieux impossible à éradiquer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2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Demande explicite de l'utilisateur après sauvegarde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263640" y="1920240"/>
            <a:ext cx="5440680" cy="2834640"/>
          </a:xfrm>
          <a:prstGeom prst="roundRect">
            <a:avLst>
              <a:gd name="adj" fmla="val 2581"/>
            </a:avLst>
          </a:prstGeom>
          <a:solidFill>
            <a:srgbClr val="132A43"/>
          </a:solidFill>
          <a:ln/>
        </p:spPr>
      </p:sp>
      <p:sp>
        <p:nvSpPr>
          <p:cNvPr id="17" name="Text 14"/>
          <p:cNvSpPr/>
          <p:nvPr/>
        </p:nvSpPr>
        <p:spPr>
          <a:xfrm>
            <a:off x="6492240" y="21031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5C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 Quand NE PAS réinstaller ?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492240" y="2560320"/>
            <a:ext cx="5029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2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Panne matérielle non résolue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2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Problème BIOS ou stockage non diagnostiqué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2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Disque défectueux non confirmé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2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message d'erreur sans test préalable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1A3560"/>
          </a:solidFill>
          <a:ln/>
        </p:spPr>
      </p:sp>
      <p:pic>
        <p:nvPicPr>
          <p:cNvPr id="3" name="Image 0" descr="/home/claude/s4work/samo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" y="41148"/>
            <a:ext cx="756209" cy="22677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0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Séance 4 — Windows démarrage &amp; récupération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8138160" y="274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CHAFIK MOUSTAID — FORMATEUR</a:t>
            </a:r>
            <a:endParaRPr lang="en-US" sz="800" dirty="0"/>
          </a:p>
          <a:p>
            <a:pPr algn="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CFE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1 — Juin 2026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656539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3A9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Séance 4 — Windows : démarrage, erreurs, BSOD et récupération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6583680" y="65653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3A9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CHAFIK MOUSTAID — FORMATEUR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0241280" y="656539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3A9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1 — Juin 2026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457200" y="47548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7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 5 — PROCÉDURE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749808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Procédure minimale avant toute réinstallation</a:t>
            </a:r>
            <a:endParaRPr lang="en-US" sz="2600" dirty="0"/>
          </a:p>
        </p:txBody>
      </p:sp>
      <p:sp>
        <p:nvSpPr>
          <p:cNvPr id="11" name="Shape 8"/>
          <p:cNvSpPr/>
          <p:nvPr/>
        </p:nvSpPr>
        <p:spPr>
          <a:xfrm>
            <a:off x="457200" y="1371600"/>
            <a:ext cx="11274552" cy="0"/>
          </a:xfrm>
          <a:prstGeom prst="line">
            <a:avLst/>
          </a:prstGeom>
          <a:noFill/>
          <a:ln w="12700">
            <a:solidFill>
              <a:srgbClr val="1B3A5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7200" y="1645920"/>
            <a:ext cx="594360" cy="594360"/>
          </a:xfrm>
          <a:prstGeom prst="ellipse">
            <a:avLst/>
          </a:prstGeom>
          <a:solidFill>
            <a:srgbClr val="2E86FF"/>
          </a:solidFill>
          <a:ln/>
        </p:spPr>
      </p:sp>
      <p:sp>
        <p:nvSpPr>
          <p:cNvPr id="13" name="Text 10"/>
          <p:cNvSpPr/>
          <p:nvPr/>
        </p:nvSpPr>
        <p:spPr>
          <a:xfrm>
            <a:off x="457200" y="16459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1234440" y="1600200"/>
            <a:ext cx="10469880" cy="868680"/>
          </a:xfrm>
          <a:prstGeom prst="roundRect">
            <a:avLst>
              <a:gd name="adj" fmla="val 6316"/>
            </a:avLst>
          </a:prstGeom>
          <a:solidFill>
            <a:srgbClr val="132A43"/>
          </a:solidFill>
          <a:ln/>
        </p:spPr>
      </p:sp>
      <p:sp>
        <p:nvSpPr>
          <p:cNvPr id="15" name="Text 12"/>
          <p:cNvSpPr/>
          <p:nvPr/>
        </p:nvSpPr>
        <p:spPr>
          <a:xfrm>
            <a:off x="1463040" y="166420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Sauvegarder TOUTES les données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463040" y="1993392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3A9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Documents, Bureau, images, licences — vérifier l'intégrité de la sauvegarde avant de continuer.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457200" y="2697480"/>
            <a:ext cx="594360" cy="594360"/>
          </a:xfrm>
          <a:prstGeom prst="ellipse">
            <a:avLst/>
          </a:prstGeom>
          <a:solidFill>
            <a:srgbClr val="2E86FF"/>
          </a:solidFill>
          <a:ln/>
        </p:spPr>
      </p:sp>
      <p:sp>
        <p:nvSpPr>
          <p:cNvPr id="18" name="Text 15"/>
          <p:cNvSpPr/>
          <p:nvPr/>
        </p:nvSpPr>
        <p:spPr>
          <a:xfrm>
            <a:off x="457200" y="26974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9" name="Shape 16"/>
          <p:cNvSpPr/>
          <p:nvPr/>
        </p:nvSpPr>
        <p:spPr>
          <a:xfrm>
            <a:off x="1234440" y="2651760"/>
            <a:ext cx="10469880" cy="868680"/>
          </a:xfrm>
          <a:prstGeom prst="roundRect">
            <a:avLst>
              <a:gd name="adj" fmla="val 6316"/>
            </a:avLst>
          </a:prstGeom>
          <a:solidFill>
            <a:srgbClr val="132A43"/>
          </a:solidFill>
          <a:ln/>
        </p:spPr>
      </p:sp>
      <p:sp>
        <p:nvSpPr>
          <p:cNvPr id="20" name="Text 17"/>
          <p:cNvSpPr/>
          <p:nvPr/>
        </p:nvSpPr>
        <p:spPr>
          <a:xfrm>
            <a:off x="1463040" y="271576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Lister logiciels et clés de licence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1463040" y="3044952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3A9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Noter tous les logiciels installés et leurs clés pour pouvoir tout réinstaller ensuite.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457200" y="3749040"/>
            <a:ext cx="594360" cy="594360"/>
          </a:xfrm>
          <a:prstGeom prst="ellipse">
            <a:avLst/>
          </a:prstGeom>
          <a:solidFill>
            <a:srgbClr val="2E86FF"/>
          </a:solidFill>
          <a:ln/>
        </p:spPr>
      </p:sp>
      <p:sp>
        <p:nvSpPr>
          <p:cNvPr id="23" name="Text 20"/>
          <p:cNvSpPr/>
          <p:nvPr/>
        </p:nvSpPr>
        <p:spPr>
          <a:xfrm>
            <a:off x="457200" y="37490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24" name="Shape 21"/>
          <p:cNvSpPr/>
          <p:nvPr/>
        </p:nvSpPr>
        <p:spPr>
          <a:xfrm>
            <a:off x="1234440" y="3703320"/>
            <a:ext cx="10469880" cy="868680"/>
          </a:xfrm>
          <a:prstGeom prst="roundRect">
            <a:avLst>
              <a:gd name="adj" fmla="val 6316"/>
            </a:avLst>
          </a:prstGeom>
          <a:solidFill>
            <a:srgbClr val="132A43"/>
          </a:solidFill>
          <a:ln/>
        </p:spPr>
      </p:sp>
      <p:sp>
        <p:nvSpPr>
          <p:cNvPr id="25" name="Text 22"/>
          <p:cNvSpPr/>
          <p:nvPr/>
        </p:nvSpPr>
        <p:spPr>
          <a:xfrm>
            <a:off x="1463040" y="376732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Confirmer la réactivation de la licence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1463040" y="4096512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3A9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 10/11 est généralement lié au compte Microsoft — vérifier avant de formater.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457200" y="4800600"/>
            <a:ext cx="594360" cy="594360"/>
          </a:xfrm>
          <a:prstGeom prst="ellipse">
            <a:avLst/>
          </a:prstGeom>
          <a:solidFill>
            <a:srgbClr val="2E86FF"/>
          </a:solidFill>
          <a:ln/>
        </p:spPr>
      </p:sp>
      <p:sp>
        <p:nvSpPr>
          <p:cNvPr id="28" name="Text 25"/>
          <p:cNvSpPr/>
          <p:nvPr/>
        </p:nvSpPr>
        <p:spPr>
          <a:xfrm>
            <a:off x="457200" y="48006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29" name="Shape 26"/>
          <p:cNvSpPr/>
          <p:nvPr/>
        </p:nvSpPr>
        <p:spPr>
          <a:xfrm>
            <a:off x="1234440" y="4754880"/>
            <a:ext cx="10469880" cy="868680"/>
          </a:xfrm>
          <a:prstGeom prst="roundRect">
            <a:avLst>
              <a:gd name="adj" fmla="val 6316"/>
            </a:avLst>
          </a:prstGeom>
          <a:solidFill>
            <a:srgbClr val="132A43"/>
          </a:solidFill>
          <a:ln/>
        </p:spPr>
      </p:sp>
      <p:sp>
        <p:nvSpPr>
          <p:cNvPr id="30" name="Text 27"/>
          <p:cNvSpPr/>
          <p:nvPr/>
        </p:nvSpPr>
        <p:spPr>
          <a:xfrm>
            <a:off x="1463040" y="481888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Vérifier que le matériel est sain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1463040" y="5148072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3A9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AVANT de réinstaller : RAM, disque, alimentation testés et confirmés fonctionnels.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1A3560"/>
          </a:solidFill>
          <a:ln/>
        </p:spPr>
      </p:sp>
      <p:pic>
        <p:nvPicPr>
          <p:cNvPr id="3" name="Image 0" descr="/home/claude/s4work/samo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" y="41148"/>
            <a:ext cx="756209" cy="22677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0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Séance 4 — Windows démarrage &amp; récupération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8138160" y="274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CHAFIK MOUSTAID — FORMATEUR</a:t>
            </a:r>
            <a:endParaRPr lang="en-US" sz="800" dirty="0"/>
          </a:p>
          <a:p>
            <a:pPr algn="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CFE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1 — Juin 2026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656539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3A9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Séance 4 — Windows : démarrage, erreurs, BSOD et récupération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6583680" y="65653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3A9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CHAFIK MOUSTAID — FORMATEUR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0241280" y="656539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3A9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1 — Juin 2026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457200" y="47548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7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MISE EN PRATIQUE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749808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 pratiques — ce que vous verrez sur Teams</a:t>
            </a:r>
            <a:endParaRPr lang="en-US" sz="2600" dirty="0"/>
          </a:p>
        </p:txBody>
      </p:sp>
      <p:sp>
        <p:nvSpPr>
          <p:cNvPr id="11" name="Shape 8"/>
          <p:cNvSpPr/>
          <p:nvPr/>
        </p:nvSpPr>
        <p:spPr>
          <a:xfrm>
            <a:off x="457200" y="1371600"/>
            <a:ext cx="11274552" cy="0"/>
          </a:xfrm>
          <a:prstGeom prst="line">
            <a:avLst/>
          </a:prstGeom>
          <a:noFill/>
          <a:ln w="12700">
            <a:solidFill>
              <a:srgbClr val="1B3A5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46304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3A9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formateur joue le rôle de l'usager. Vous posez les questions et guidez le diagnostic.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57200" y="1920240"/>
            <a:ext cx="3639312" cy="2880360"/>
          </a:xfrm>
          <a:prstGeom prst="roundRect">
            <a:avLst>
              <a:gd name="adj" fmla="val 2540"/>
            </a:avLst>
          </a:prstGeom>
          <a:solidFill>
            <a:srgbClr val="132A43"/>
          </a:solidFill>
          <a:ln/>
        </p:spPr>
      </p:sp>
      <p:sp>
        <p:nvSpPr>
          <p:cNvPr id="14" name="Text 11"/>
          <p:cNvSpPr/>
          <p:nvPr/>
        </p:nvSpPr>
        <p:spPr>
          <a:xfrm>
            <a:off x="640080" y="2057400"/>
            <a:ext cx="3273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8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Exercice 1 — BSOD au démarrage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640080" y="2606040"/>
            <a:ext cx="3273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7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Mise en situation :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640080" y="2834640"/>
            <a:ext cx="3273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2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code MEMORY_MANAGEMENT affiché au démarrage.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40080" y="3474720"/>
            <a:ext cx="3273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7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: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640080" y="3703320"/>
            <a:ext cx="3273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3A9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Cause probable ? Test prioritaire ? Safe Mode ou MemTest86 ?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4215384" y="1920240"/>
            <a:ext cx="3639312" cy="2880360"/>
          </a:xfrm>
          <a:prstGeom prst="roundRect">
            <a:avLst>
              <a:gd name="adj" fmla="val 2540"/>
            </a:avLst>
          </a:prstGeom>
          <a:solidFill>
            <a:srgbClr val="132A43"/>
          </a:solidFill>
          <a:ln/>
        </p:spPr>
      </p:sp>
      <p:sp>
        <p:nvSpPr>
          <p:cNvPr id="20" name="Text 17"/>
          <p:cNvSpPr/>
          <p:nvPr/>
        </p:nvSpPr>
        <p:spPr>
          <a:xfrm>
            <a:off x="4398264" y="2057400"/>
            <a:ext cx="3273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8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Exercice 2 — Boucle réparation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4398264" y="2606040"/>
            <a:ext cx="3273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7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Mise en situation :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4398264" y="2834640"/>
            <a:ext cx="3273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2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 Preparing automatic repair » en boucle infinie.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4398264" y="3474720"/>
            <a:ext cx="3273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7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: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4398264" y="3703320"/>
            <a:ext cx="3273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3A9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Disque ou Windows ? Première action WinRE ? Commandes utiles ?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7973568" y="1920240"/>
            <a:ext cx="3639312" cy="2880360"/>
          </a:xfrm>
          <a:prstGeom prst="roundRect">
            <a:avLst>
              <a:gd name="adj" fmla="val 2540"/>
            </a:avLst>
          </a:prstGeom>
          <a:solidFill>
            <a:srgbClr val="132A43"/>
          </a:solidFill>
          <a:ln/>
        </p:spPr>
      </p:sp>
      <p:sp>
        <p:nvSpPr>
          <p:cNvPr id="26" name="Text 23"/>
          <p:cNvSpPr/>
          <p:nvPr/>
        </p:nvSpPr>
        <p:spPr>
          <a:xfrm>
            <a:off x="8156448" y="2057400"/>
            <a:ext cx="3273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8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Exercice 3 — Écran noir après login</a:t>
            </a:r>
            <a:endParaRPr lang="en-US" sz="1350" dirty="0"/>
          </a:p>
        </p:txBody>
      </p:sp>
      <p:sp>
        <p:nvSpPr>
          <p:cNvPr id="27" name="Text 24"/>
          <p:cNvSpPr/>
          <p:nvPr/>
        </p:nvSpPr>
        <p:spPr>
          <a:xfrm>
            <a:off x="8156448" y="2606040"/>
            <a:ext cx="3273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7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Mise en situation :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8156448" y="2834640"/>
            <a:ext cx="3273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2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 charge, l'utilisateur se connecte, puis écran noir.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8156448" y="3474720"/>
            <a:ext cx="3273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7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: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8156448" y="3703320"/>
            <a:ext cx="3273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3A9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Étape concernée ? Safe Mode ici ? Hypothèses ?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1A3560"/>
          </a:solidFill>
          <a:ln/>
        </p:spPr>
      </p:sp>
      <p:pic>
        <p:nvPicPr>
          <p:cNvPr id="3" name="Image 0" descr="/home/claude/s4work/samo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" y="41148"/>
            <a:ext cx="756209" cy="22677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0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Séance 4 — Windows démarrage &amp; récupération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8138160" y="274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CHAFIK MOUSTAID — FORMATEUR</a:t>
            </a:r>
            <a:endParaRPr lang="en-US" sz="800" dirty="0"/>
          </a:p>
          <a:p>
            <a:pPr algn="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CFE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1 — Juin 2026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656539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3A9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Séance 4 — Windows : démarrage, erreurs, BSOD et récupération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6583680" y="65653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3A9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CHAFIK MOUSTAID — FORMATEUR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0241280" y="656539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3A9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1 — Juin 2026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457200" y="47548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7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MISE EN PRATIQUE — SUITE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749808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Corrigés — synthèse des 3 exercices</a:t>
            </a:r>
            <a:endParaRPr lang="en-US" sz="2600" dirty="0"/>
          </a:p>
        </p:txBody>
      </p:sp>
      <p:sp>
        <p:nvSpPr>
          <p:cNvPr id="11" name="Shape 8"/>
          <p:cNvSpPr/>
          <p:nvPr/>
        </p:nvSpPr>
        <p:spPr>
          <a:xfrm>
            <a:off x="457200" y="1371600"/>
            <a:ext cx="11274552" cy="0"/>
          </a:xfrm>
          <a:prstGeom prst="line">
            <a:avLst/>
          </a:prstGeom>
          <a:noFill/>
          <a:ln w="12700">
            <a:solidFill>
              <a:srgbClr val="1B3A5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7200" y="1691640"/>
            <a:ext cx="11247120" cy="1051560"/>
          </a:xfrm>
          <a:prstGeom prst="roundRect">
            <a:avLst>
              <a:gd name="adj" fmla="val 6957"/>
            </a:avLst>
          </a:prstGeom>
          <a:solidFill>
            <a:srgbClr val="132A43"/>
          </a:solidFill>
          <a:ln/>
        </p:spPr>
      </p:sp>
      <p:sp>
        <p:nvSpPr>
          <p:cNvPr id="13" name="Text 10"/>
          <p:cNvSpPr/>
          <p:nvPr/>
        </p:nvSpPr>
        <p:spPr>
          <a:xfrm>
            <a:off x="685800" y="180136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ECB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BSOD MEMORY_MANAGEMENT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85800" y="219456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Tester la RAM avec MemTest86 (2 passes min.) ou barrette par barrette dans le slot A2.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57200" y="2926080"/>
            <a:ext cx="11247120" cy="1051560"/>
          </a:xfrm>
          <a:prstGeom prst="roundRect">
            <a:avLst>
              <a:gd name="adj" fmla="val 6957"/>
            </a:avLst>
          </a:prstGeom>
          <a:solidFill>
            <a:srgbClr val="132A43"/>
          </a:solidFill>
          <a:ln/>
        </p:spPr>
      </p:sp>
      <p:sp>
        <p:nvSpPr>
          <p:cNvPr id="16" name="Text 13"/>
          <p:cNvSpPr/>
          <p:nvPr/>
        </p:nvSpPr>
        <p:spPr>
          <a:xfrm>
            <a:off x="685800" y="303580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ECB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Boucle « automatic repair »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685800" y="342900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WinRE + sfc /scannow + chkdsk. Si toujours en échec : envisager Reset this PC après sauvegarde.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457200" y="4160520"/>
            <a:ext cx="11247120" cy="1051560"/>
          </a:xfrm>
          <a:prstGeom prst="roundRect">
            <a:avLst>
              <a:gd name="adj" fmla="val 6957"/>
            </a:avLst>
          </a:prstGeom>
          <a:solidFill>
            <a:srgbClr val="132A43"/>
          </a:solidFill>
          <a:ln/>
        </p:spPr>
      </p:sp>
      <p:sp>
        <p:nvSpPr>
          <p:cNvPr id="19" name="Text 16"/>
          <p:cNvSpPr/>
          <p:nvPr/>
        </p:nvSpPr>
        <p:spPr>
          <a:xfrm>
            <a:off x="685800" y="427024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ECB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Écran noir après login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685800" y="466344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Safe Mode, désactiver le pilote vidéo suspect, ou réparer le profil utilisateur (NTUSER.DAT).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1A3560"/>
          </a:solidFill>
          <a:ln/>
        </p:spPr>
      </p:sp>
      <p:pic>
        <p:nvPicPr>
          <p:cNvPr id="3" name="Image 0" descr="/home/claude/s4work/samo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" y="41148"/>
            <a:ext cx="756209" cy="22677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0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Séance 4 — Windows démarrage &amp; récupération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8138160" y="274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CHAFIK MOUSTAID — FORMATEUR</a:t>
            </a:r>
            <a:endParaRPr lang="en-US" sz="800" dirty="0"/>
          </a:p>
          <a:p>
            <a:pPr algn="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CFE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1 — Juin 2026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656539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3A9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Séance 4 — Windows : démarrage, erreurs, BSOD et récupération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6583680" y="65653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3A9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CHAFIK MOUSTAID — FORMATEUR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0241280" y="656539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3A9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1 — Juin 2026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457200" y="47548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7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BOÎTE À OUTILS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749808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Commandes et outils — Diagnostic Windows</a:t>
            </a:r>
            <a:endParaRPr lang="en-US" sz="2600" dirty="0"/>
          </a:p>
        </p:txBody>
      </p:sp>
      <p:sp>
        <p:nvSpPr>
          <p:cNvPr id="11" name="Shape 8"/>
          <p:cNvSpPr/>
          <p:nvPr/>
        </p:nvSpPr>
        <p:spPr>
          <a:xfrm>
            <a:off x="457200" y="1371600"/>
            <a:ext cx="11274552" cy="0"/>
          </a:xfrm>
          <a:prstGeom prst="line">
            <a:avLst/>
          </a:prstGeom>
          <a:noFill/>
          <a:ln w="12700">
            <a:solidFill>
              <a:srgbClr val="1B3A5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7200" y="1645920"/>
            <a:ext cx="5440680" cy="914400"/>
          </a:xfrm>
          <a:prstGeom prst="roundRect">
            <a:avLst>
              <a:gd name="adj" fmla="val 6000"/>
            </a:avLst>
          </a:prstGeom>
          <a:solidFill>
            <a:srgbClr val="0A1420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0080" y="1719072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EC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tpm.msc / msinfo32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640080" y="2084832"/>
            <a:ext cx="5074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A9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Vérifier prérequis matériels (TPM, Secure Boot)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080760" y="1645920"/>
            <a:ext cx="5440680" cy="914400"/>
          </a:xfrm>
          <a:prstGeom prst="roundRect">
            <a:avLst>
              <a:gd name="adj" fmla="val 6000"/>
            </a:avLst>
          </a:prstGeom>
          <a:solidFill>
            <a:srgbClr val="0A1420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63640" y="1719072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EC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sfc /scannow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6263640" y="2084832"/>
            <a:ext cx="5074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A9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Vérifier et réparer les fichiers système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57200" y="2697480"/>
            <a:ext cx="5440680" cy="914400"/>
          </a:xfrm>
          <a:prstGeom prst="roundRect">
            <a:avLst>
              <a:gd name="adj" fmla="val 6000"/>
            </a:avLst>
          </a:prstGeom>
          <a:solidFill>
            <a:srgbClr val="0A1420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40080" y="2770632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EC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DISM /Online /Cleanup-Image /RestoreHealth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640080" y="3136392"/>
            <a:ext cx="5074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A9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Réparer l'image système quand SFC échoue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080760" y="2697480"/>
            <a:ext cx="5440680" cy="914400"/>
          </a:xfrm>
          <a:prstGeom prst="roundRect">
            <a:avLst>
              <a:gd name="adj" fmla="val 6000"/>
            </a:avLst>
          </a:prstGeom>
          <a:solidFill>
            <a:srgbClr val="0A1420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263640" y="2770632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EC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bootrec /fixmbr /fixboot /rebuildbcd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6263640" y="3136392"/>
            <a:ext cx="5074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A9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Réparer le secteur et les données de démarrage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749040"/>
            <a:ext cx="5440680" cy="914400"/>
          </a:xfrm>
          <a:prstGeom prst="roundRect">
            <a:avLst>
              <a:gd name="adj" fmla="val 6000"/>
            </a:avLst>
          </a:prstGeom>
          <a:solidFill>
            <a:srgbClr val="0A1420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40080" y="3822192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EC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chkdsk C: /f /r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640080" y="4187952"/>
            <a:ext cx="5074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A9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Vérifier et réparer les erreurs disque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6080760" y="3749040"/>
            <a:ext cx="5440680" cy="914400"/>
          </a:xfrm>
          <a:prstGeom prst="roundRect">
            <a:avLst>
              <a:gd name="adj" fmla="val 6000"/>
            </a:avLst>
          </a:prstGeom>
          <a:solidFill>
            <a:srgbClr val="0A1420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263640" y="3822192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EC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MemTest86 (bootable)</a:t>
            </a:r>
            <a:endParaRPr lang="en-US" sz="1250" dirty="0"/>
          </a:p>
        </p:txBody>
      </p:sp>
      <p:sp>
        <p:nvSpPr>
          <p:cNvPr id="29" name="Text 26"/>
          <p:cNvSpPr/>
          <p:nvPr/>
        </p:nvSpPr>
        <p:spPr>
          <a:xfrm>
            <a:off x="6263640" y="4187952"/>
            <a:ext cx="5074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A9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Tester la RAM en profondeur, hors Windows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1A3560"/>
          </a:solidFill>
          <a:ln/>
        </p:spPr>
      </p:sp>
      <p:pic>
        <p:nvPicPr>
          <p:cNvPr id="3" name="Image 0" descr="/home/claude/s4work/samo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" y="41148"/>
            <a:ext cx="756209" cy="22677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0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Séance 4 — Windows démarrage &amp; récupération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8138160" y="274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CHAFIK MOUSTAID — FORMATEUR</a:t>
            </a:r>
            <a:endParaRPr lang="en-US" sz="800" dirty="0"/>
          </a:p>
          <a:p>
            <a:pPr algn="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CFE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1 — Juin 2026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656539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3A9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Séance 4 — Windows : démarrage, erreurs, BSOD et récupération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6583680" y="65653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3A9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CHAFIK MOUSTAID — FORMATEUR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0241280" y="656539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3A9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1 — Juin 2026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457200" y="47548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7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 DE SÉANCE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749808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Checklist obligatoire — fin de Séance 4</a:t>
            </a:r>
            <a:endParaRPr lang="en-US" sz="2600" dirty="0"/>
          </a:p>
        </p:txBody>
      </p:sp>
      <p:sp>
        <p:nvSpPr>
          <p:cNvPr id="11" name="Shape 8"/>
          <p:cNvSpPr/>
          <p:nvPr/>
        </p:nvSpPr>
        <p:spPr>
          <a:xfrm>
            <a:off x="457200" y="1371600"/>
            <a:ext cx="11274552" cy="0"/>
          </a:xfrm>
          <a:prstGeom prst="line">
            <a:avLst/>
          </a:prstGeom>
          <a:noFill/>
          <a:ln w="12700">
            <a:solidFill>
              <a:srgbClr val="1B3A5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4630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3A9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Validez mentalement chaque point avec votre formateur sur Teams avant de déclarer la séance terminée :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48640" y="2020824"/>
            <a:ext cx="292608" cy="292608"/>
          </a:xfrm>
          <a:prstGeom prst="rect">
            <a:avLst/>
          </a:prstGeom>
          <a:solidFill>
            <a:srgbClr val="132A43"/>
          </a:solidFill>
          <a:ln w="19050">
            <a:solidFill>
              <a:srgbClr val="2E86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51560" y="196596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2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 sais situer Windows dans la chaîne : alimentation → carte mère → CPU → RAM → BIOS → stockage → Windows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548640" y="2679192"/>
            <a:ext cx="292608" cy="292608"/>
          </a:xfrm>
          <a:prstGeom prst="rect">
            <a:avLst/>
          </a:prstGeom>
          <a:solidFill>
            <a:srgbClr val="132A43"/>
          </a:solidFill>
          <a:ln w="19050">
            <a:solidFill>
              <a:srgbClr val="2E86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051560" y="2624328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2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 lis un message d'erreur correctement : noter le message exact avant toute action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548640" y="3337560"/>
            <a:ext cx="292608" cy="292608"/>
          </a:xfrm>
          <a:prstGeom prst="rect">
            <a:avLst/>
          </a:prstGeom>
          <a:solidFill>
            <a:srgbClr val="132A43"/>
          </a:solidFill>
          <a:ln w="19050">
            <a:solidFill>
              <a:srgbClr val="2E86F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051560" y="3282696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2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 connais les stop codes BSOD principaux : MEMORY_MANAGEMENT, INACCESSIBLE_BOOT_DEVICE, CRITICAL_PROCESS_DIED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548640" y="3995928"/>
            <a:ext cx="292608" cy="292608"/>
          </a:xfrm>
          <a:prstGeom prst="rect">
            <a:avLst/>
          </a:prstGeom>
          <a:solidFill>
            <a:srgbClr val="132A43"/>
          </a:solidFill>
          <a:ln w="19050">
            <a:solidFill>
              <a:srgbClr val="2E86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051560" y="3941064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2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J'accède à WinRE par 3 méthodes : redémarrages forcés, Shift+Redémarrer, clé USB</a:t>
            </a:r>
            <a:endParaRPr lang="en-US" sz="1350" dirty="0"/>
          </a:p>
        </p:txBody>
      </p:sp>
      <p:sp>
        <p:nvSpPr>
          <p:cNvPr id="21" name="Shape 18"/>
          <p:cNvSpPr/>
          <p:nvPr/>
        </p:nvSpPr>
        <p:spPr>
          <a:xfrm>
            <a:off x="548640" y="4654296"/>
            <a:ext cx="292608" cy="292608"/>
          </a:xfrm>
          <a:prstGeom prst="rect">
            <a:avLst/>
          </a:prstGeom>
          <a:solidFill>
            <a:srgbClr val="132A43"/>
          </a:solidFill>
          <a:ln w="19050">
            <a:solidFill>
              <a:srgbClr val="2E86F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051560" y="4599432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2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 connais les 5 outils WinRE : Startup Repair, System Restore, Safe Mode, CMD, Reset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548640" y="5312664"/>
            <a:ext cx="292608" cy="292608"/>
          </a:xfrm>
          <a:prstGeom prst="rect">
            <a:avLst/>
          </a:prstGeom>
          <a:solidFill>
            <a:srgbClr val="132A43"/>
          </a:solidFill>
          <a:ln w="19050">
            <a:solidFill>
              <a:srgbClr val="2E86F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051560" y="525780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2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 sais quand réinstaller et quand NE PAS réinstaller Windows</a:t>
            </a:r>
            <a:endParaRPr lang="en-US" sz="13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1A3560"/>
          </a:solidFill>
          <a:ln/>
        </p:spPr>
      </p:sp>
      <p:pic>
        <p:nvPicPr>
          <p:cNvPr id="3" name="Image 0" descr="/home/claude/s4work/samo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" y="41148"/>
            <a:ext cx="756209" cy="22677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0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Séance 4 — Windows démarrage &amp; récupération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8138160" y="274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CHAFIK MOUSTAID — FORMATEUR</a:t>
            </a:r>
            <a:endParaRPr lang="en-US" sz="800" dirty="0"/>
          </a:p>
          <a:p>
            <a:pPr algn="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CFE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1 — Juin 2026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656539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3A9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Séance 4 — Windows : démarrage, erreurs, BSOD et récupération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6583680" y="65653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3A9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CHAFIK MOUSTAID — FORMATEUR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0241280" y="656539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3A9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1 — Juin 2026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457200" y="47548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7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FORMATEUR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749808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Compétences Séance 4 — à valider avec votre formateur</a:t>
            </a:r>
            <a:endParaRPr lang="en-US" sz="2600" dirty="0"/>
          </a:p>
        </p:txBody>
      </p:sp>
      <p:sp>
        <p:nvSpPr>
          <p:cNvPr id="11" name="Shape 8"/>
          <p:cNvSpPr/>
          <p:nvPr/>
        </p:nvSpPr>
        <p:spPr>
          <a:xfrm>
            <a:off x="457200" y="1371600"/>
            <a:ext cx="11274552" cy="0"/>
          </a:xfrm>
          <a:prstGeom prst="line">
            <a:avLst/>
          </a:prstGeom>
          <a:noFill/>
          <a:ln w="12700">
            <a:solidFill>
              <a:srgbClr val="1B3A5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48640" y="1700784"/>
            <a:ext cx="292608" cy="292608"/>
          </a:xfrm>
          <a:prstGeom prst="rect">
            <a:avLst/>
          </a:prstGeom>
          <a:solidFill>
            <a:srgbClr val="132A43"/>
          </a:solidFill>
          <a:ln w="19050">
            <a:solidFill>
              <a:srgbClr val="FF7A4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51560" y="16459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2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 situe correctement où le PC est bloqué dans la chaîne de démarrage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548640" y="2359152"/>
            <a:ext cx="292608" cy="292608"/>
          </a:xfrm>
          <a:prstGeom prst="rect">
            <a:avLst/>
          </a:prstGeom>
          <a:solidFill>
            <a:srgbClr val="132A43"/>
          </a:solidFill>
          <a:ln w="19050">
            <a:solidFill>
              <a:srgbClr val="FF7A4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51560" y="2304288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2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 lis et interprète un message d'erreur avant d'agir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548640" y="3017520"/>
            <a:ext cx="292608" cy="292608"/>
          </a:xfrm>
          <a:prstGeom prst="rect">
            <a:avLst/>
          </a:prstGeom>
          <a:solidFill>
            <a:srgbClr val="132A43"/>
          </a:solidFill>
          <a:ln w="19050">
            <a:solidFill>
              <a:srgbClr val="FF7A4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51560" y="2962656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2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 distingue un BSOD matériel (RAM) d'un BSOD logiciel (pilote/fichiers)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548640" y="3675888"/>
            <a:ext cx="292608" cy="292608"/>
          </a:xfrm>
          <a:prstGeom prst="rect">
            <a:avLst/>
          </a:prstGeom>
          <a:solidFill>
            <a:srgbClr val="132A43"/>
          </a:solidFill>
          <a:ln w="19050">
            <a:solidFill>
              <a:srgbClr val="FF7A4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051560" y="3621024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2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J'utilise WinRE et ses 5 outils avec assurance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548640" y="4334256"/>
            <a:ext cx="292608" cy="292608"/>
          </a:xfrm>
          <a:prstGeom prst="rect">
            <a:avLst/>
          </a:prstGeom>
          <a:solidFill>
            <a:srgbClr val="132A43"/>
          </a:solidFill>
          <a:ln w="19050">
            <a:solidFill>
              <a:srgbClr val="FF7A4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051560" y="4279392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2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J'exécute sfc, chkdsk et bootrec correctement</a:t>
            </a:r>
            <a:endParaRPr lang="en-US" sz="1350" dirty="0"/>
          </a:p>
        </p:txBody>
      </p:sp>
      <p:sp>
        <p:nvSpPr>
          <p:cNvPr id="22" name="Shape 19"/>
          <p:cNvSpPr/>
          <p:nvPr/>
        </p:nvSpPr>
        <p:spPr>
          <a:xfrm>
            <a:off x="548640" y="4992624"/>
            <a:ext cx="292608" cy="292608"/>
          </a:xfrm>
          <a:prstGeom prst="rect">
            <a:avLst/>
          </a:prstGeom>
          <a:solidFill>
            <a:srgbClr val="132A43"/>
          </a:solidFill>
          <a:ln w="19050">
            <a:solidFill>
              <a:srgbClr val="FF7A45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051560" y="493776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2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 décide correctement quand réinstaller Windows — et quand ne pas le faire</a:t>
            </a:r>
            <a:endParaRPr lang="en-US" sz="13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1A3560"/>
          </a:solidFill>
          <a:ln/>
        </p:spPr>
      </p:sp>
      <p:pic>
        <p:nvPicPr>
          <p:cNvPr id="3" name="Image 0" descr="/home/claude/s4work/samo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" y="41148"/>
            <a:ext cx="756209" cy="22677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0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Séance 4 — Windows démarrage &amp; récupération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8138160" y="274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CHAFIK MOUSTAID — FORMATEUR</a:t>
            </a:r>
            <a:endParaRPr lang="en-US" sz="800" dirty="0"/>
          </a:p>
          <a:p>
            <a:pPr algn="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CFE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1 — Juin 2026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1005840" y="256032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2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 de la Séance 4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1005840" y="35204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E8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Prochaine séance : Séance 5 — Installation et configuration Windows 11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005840" y="41605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3A9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Validez la checklist et les compétences avec votre formateur avant de clore la session Teams.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65760" y="656539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3A9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Séance 4 — Windows : démarrage, erreurs, BSOD et récupération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6583680" y="65653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3A9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CHAFIK MOUSTAID — FORMATEUR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0241280" y="656539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3A9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1 — Juin 2026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Séance 4 — Windows démarrage, erreurs, BSOD et récupération</dc:title>
  <dc:subject>PptxGenJS Presentation</dc:subject>
  <dc:creator>Chafik Moustaid</dc:creator>
  <cp:lastModifiedBy>Chafik Moustaid</cp:lastModifiedBy>
  <cp:revision>1</cp:revision>
  <dcterms:created xsi:type="dcterms:W3CDTF">2026-07-07T03:18:40Z</dcterms:created>
  <dcterms:modified xsi:type="dcterms:W3CDTF">2026-07-07T03:18:40Z</dcterms:modified>
</cp:coreProperties>
</file>