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45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5240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SÉANCE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Mise en forme des caractères
et des styles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6559" y="2377440"/>
            <a:ext cx="6155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TECHNIQUE SUPPORT INFORMATIQUE —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6559" y="2834640"/>
            <a:ext cx="6155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Police, surbrillance, effets de texte et galerie de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6559" y="3977639"/>
            <a:ext cx="118872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Formation SAMO — Chafik Moustaid, formateur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La mise en forme n'est pas décorative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563A0"/>
                </a:solidFill>
              </a:rPr>
              <a:t>elle guide l'œil du lecteur.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Séance 4 sur 12 — Formation Word, Formation SAMO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que nous allons couvrir aujourd'hui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3788664" cy="914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A0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Attributs de police et surbrillance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37304" y="178308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1896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Empattement et espacement des caractères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3128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63128" y="1783080"/>
            <a:ext cx="3788664" cy="914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27720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A0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720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Effets de texte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La galerie de styles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7304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37304" y="3931920"/>
            <a:ext cx="3788664" cy="914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01896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A0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1896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Reproduire la mise en forme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3128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63128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27720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720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Rechercher une mise en forme similaire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Attributs de police de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Le groupe Police de l'onglet Accueil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Attribut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Raccourci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Effet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Gras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Ctrl+G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Épaissit le trait des caractères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Italique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Ctrl+I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Incline légèrement les caractères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Souligné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Ctrl+U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Trace un trait sous le texte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Barré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Bouton dans le ruban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Trace un trait au milieu du texte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Indice / Exposant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Ctrl+= / Ctrl+Maj+=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Réduit et abaisse ou élève le texte (H2O, m2)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Surbrillance (surligneur)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Mettre un passage en évidence, comme au feutre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Utilisation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Sélectionner le texte, puis choisir une couleur de surbrillance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Le curseur se transforme en surligneur, cliquer-glisser pour continuer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Échap ou reclic sur l'icône pour désactiver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Bonnes pratiques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Réserver le jaune aux éléments vraiment prioritaires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Ne pas surligner un document entier — perd son effet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Retirer la surbrillance : choisir Aucune couleur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Empattement — polices avec et sans serif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Le petit trait au bout des lettres change la lisibilité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Exemples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Usage recommandé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Avec empattement (serif)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Times New Roman, Cambria, Georgia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Textes longs imprimés, rapports formels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Sans empattement (sans-serif)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Calibri, Arial, Segoe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Écrans, titres, présentations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Espacement des caractères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Ajuster la distance entre les lettres pour un rendu soigné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Réglage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Où le trouver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Effet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Espacement étendu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Police &gt; Avancé &gt; Espacement &gt; Étendu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Aère le texte, utile pour les titres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Espacement condensé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Police &gt; Avancé &gt; Espacement &gt; Condensé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Resserre le texte, utile pour caser une ligne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Crénage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Police &gt; Avancé &gt; cocher Crénage pour les polices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Effets de texte et typographie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Des effets visuels intégrés, sans passer par un logiciel externe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2738628" cy="5029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Ajoute une bordure colorée autour de chaque lettre.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7268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7268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4428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860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Projette une ombre discrète derrière le texte.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3056" y="1783080"/>
            <a:ext cx="2738628" cy="5029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216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Reflet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Ajoute un effet de miroir sous le texte.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8844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38844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6004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Lueur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3436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Entoure le texte d'un halo de couleur.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 err="1">
                <a:solidFill>
                  <a:srgbClr val="1A3560"/>
                </a:solidFill>
              </a:rPr>
              <a:t>Mise</a:t>
            </a:r>
            <a:r>
              <a:rPr sz="2700" b="1" i="0" dirty="0">
                <a:solidFill>
                  <a:srgbClr val="1A3560"/>
                </a:solidFill>
              </a:rPr>
              <a:t> </a:t>
            </a:r>
            <a:r>
              <a:rPr sz="2700" b="1" i="0" dirty="0" err="1">
                <a:solidFill>
                  <a:srgbClr val="1A3560"/>
                </a:solidFill>
              </a:rPr>
              <a:t>en</a:t>
            </a:r>
            <a:r>
              <a:rPr sz="2700" b="1" i="0" dirty="0">
                <a:solidFill>
                  <a:srgbClr val="1A3560"/>
                </a:solidFill>
              </a:rPr>
              <a:t> </a:t>
            </a:r>
            <a:r>
              <a:rPr sz="2700" b="1" i="0" dirty="0" err="1">
                <a:solidFill>
                  <a:srgbClr val="1A3560"/>
                </a:solidFill>
              </a:rPr>
              <a:t>forme</a:t>
            </a:r>
            <a:r>
              <a:rPr sz="2700" b="1" i="0" dirty="0">
                <a:solidFill>
                  <a:srgbClr val="1A3560"/>
                </a:solidFill>
              </a:rPr>
              <a:t> des </a:t>
            </a:r>
            <a:r>
              <a:rPr sz="2700" b="1" i="0" dirty="0" err="1" smtClean="0">
                <a:solidFill>
                  <a:srgbClr val="1A3560"/>
                </a:solidFill>
              </a:rPr>
              <a:t>caractères</a:t>
            </a:r>
            <a:r>
              <a:rPr lang="fr-CA" sz="2700" b="1" i="0" dirty="0" smtClean="0">
                <a:solidFill>
                  <a:srgbClr val="1A3560"/>
                </a:solidFill>
              </a:rPr>
              <a:t> </a:t>
            </a:r>
            <a:r>
              <a:rPr sz="2700" b="1" i="0" dirty="0" smtClean="0">
                <a:solidFill>
                  <a:srgbClr val="1A3560"/>
                </a:solidFill>
              </a:rPr>
              <a:t>et </a:t>
            </a:r>
            <a:r>
              <a:rPr sz="2700" b="1" i="0" dirty="0">
                <a:solidFill>
                  <a:srgbClr val="1A3560"/>
                </a:solidFill>
              </a:rPr>
              <a:t>des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Police, surbrillance, effets de texte et galerie de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12" y="1758270"/>
            <a:ext cx="10614570" cy="4649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La galerie de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Appliquer une mise en forme cohérente en un clic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457200" cy="61417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8899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83080"/>
            <a:ext cx="10725912" cy="61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Ouvrir la galerie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122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Onglet Accueil, groupe Styles — miniatures visibles directement dans le ruban.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06980"/>
            <a:ext cx="457200" cy="61417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61289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506980"/>
            <a:ext cx="10725912" cy="614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256184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Survoler un style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361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L'aperçu s'affiche en direct sur le texte sélectionné avant de cliquer.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30880"/>
            <a:ext cx="457200" cy="61417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33679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230880"/>
            <a:ext cx="10725912" cy="61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328574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Appliquer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5600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Cliquer sur le style voulu (Titre 1, Titre 2, Normal, Accentuation).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54780"/>
            <a:ext cx="457200" cy="61417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06069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3954780"/>
            <a:ext cx="10725912" cy="614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400964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Modifier un style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2839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Clic droit sur le style dans la galerie &gt; Modifier.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78680"/>
            <a:ext cx="457200" cy="61417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78459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4678680"/>
            <a:ext cx="10725912" cy="61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47335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Créer un style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0078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Sélectionner un texte mis en forme, puis Créer un style à partir de la sélection.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02580"/>
            <a:ext cx="457200" cy="61417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50849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5402580"/>
            <a:ext cx="10725912" cy="614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43000" y="545744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Réutiliser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731764"/>
            <a:ext cx="10451592" cy="266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Le style créé apparaît ensuite dans la galerie pour tout le document.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Reproduire la mise en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L'outil pinceau — le raccourci le plus sous-utilisé de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Usage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Cliquer dans le texte déjà mis en forme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Cliquer sur le pinceau (Accueil &gt; Presse-papiers)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Sélectionner le texte de destination pour appliquer le style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Usage répété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Double-cliquer sur le pinceau pour l'appliquer plusieurs fois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Appuyer sur Échap pour désactiver l'outil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Fonctionne aussi entre plusieurs documents ouverts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Rechercher une mise en forme similaire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Retrouver tout le texte partageant une même caractéristique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Étape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Sélectionner un texte représentant la mise en forme recherchée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Accueil &gt; Éditing &gt; Sélectionner &gt; Sélectionner le texte avec une mise en forme similaire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Word met en surbrillance tous les passages correspondants dans le document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Appliquer une nouvelle mise en forme à toute la sélection en une seule fois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Trois situations vécues en atelier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3694176" cy="45720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Sophie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A0"/>
                </a:solidFill>
              </a:rPr>
              <a:t>A mis en gras un mot important mais veut maintenant appliquer le même style à cinq autres mots.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Existe-t-il un outil pour copier une mise en forme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l'appliquer plusieurs fois de suite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89320"/>
            <a:ext cx="3429000" cy="36576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Reproduire la mise en forme (pinceau), double-clic pour l'appliquer plusieurs fois.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61104" y="1737360"/>
            <a:ext cx="3694176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Martin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560"/>
                </a:solidFill>
              </a:rPr>
              <a:t>Son rapport utilise trois polices différentes sans le vouloir.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retrouver tout le texte avec une police précise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uniformiser rapidement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5989320"/>
            <a:ext cx="3429000" cy="3657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9704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Rechercher une mise en forme similaire, puis appliquer un style unique.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56448" y="1737360"/>
            <a:ext cx="3694176" cy="45720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84464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Simon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A0"/>
                </a:solidFill>
              </a:rPr>
              <a:t>Veut qu'un titre ressorte visuellement sans utiliser de couleur vive.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Quels effets de texte sobres existent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Où les trouver dans le ruban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5989320"/>
            <a:ext cx="3429000" cy="36576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85048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Accueil &gt; groupe Police &gt; icône Effets de texte et typographie (ombre légère, contour).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Combinaisons de polices recommandées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Des associations professionnelles éprouvées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Titre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Corps de texte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Ambiance</a:t>
                      </a:r>
                    </a:p>
                  </a:txBody>
                  <a:tcPr>
                    <a:solidFill>
                      <a:srgbClr val="2563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Cambria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Calibri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Classique, professionnel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Georgia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Verdana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Lisible à l'écran, chaleureux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Segoe UI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Segoe UI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Moderne, épuré, cohérent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Times New Roman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Formel, institutionnel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Bonnes pratiques typographiques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Quatre règles simples pour un document soigné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2738628" cy="5029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Deux polices maximum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Une pour les titres, une pour le corps de texte — jamais plus de deux.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7268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7268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4428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Taille cohérente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860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Garder la même taille de police pour tous les paragraphes de même niveau.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3056" y="1783080"/>
            <a:ext cx="2738628" cy="5029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216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Couleurs sobres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Réserver la couleur aux éléments qui doivent vraiment ressortir.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8844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38844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6004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Styles plutôt que manuel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3436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Toujours préférer un style prédéfini à une mise en forme manuelle répétée.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Vocabulaire clé de la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508760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Empattement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Petit trait terminal des lettres dans certaines polices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Sans-serif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Police sans empattement, style épuré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191256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Crénage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Ajustement fin de l'espace entre deux lettres précises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032504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Espacement étendu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Augmente la distance entre les caractères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873752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Surbrillance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Couleur de fond appliquée derrière le texte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715000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Pinceau (reproduire la mise en forme)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Outil copiant une mise en forme d'un texte à un autre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1508760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Style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Ensemble de mises en forme enregistré sous un nom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97680" y="2350008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056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Style Titre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Style prédéfini pour les titres principaux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97680" y="3191256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056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Galerie de styles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Zone du ruban affichant les styles disponibles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97680" y="4032504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8056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Effet de texte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Ombre, contour, reflet ou lueur appliqués aux caractères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297680" y="4873752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6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Indice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Texte réduit et abaissé (ex. H2O)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297680" y="5715000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6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Exposant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Texte réduit et élevé (ex. m2)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38160" y="1508760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2104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Mise en forme similaire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Ensemble de textes partageant les mêmes attributs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138160" y="2350008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2104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Attribut de police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Caractéristique visuelle du texte (gras, italique, etc.)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138160" y="3191256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2104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Police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Modèle graphique des caractères utilisé dans un texte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138160" y="4032504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2104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Corps de texte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Partie principale d'un document, hors titres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138160" y="4873752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2104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Aperçu en direct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Prévisualisation d'un style avant de cliquer dessus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138160" y="5715000"/>
            <a:ext cx="73152" cy="7315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2104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563A0"/>
                </a:solidFill>
              </a:rPr>
              <a:t>Style personnalisé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Style créé par l'utilisateur à partir d'une sélection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Mémo raccourcis clavier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55733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157562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Gras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6311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1116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6311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212998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Italique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1747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6660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61747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4640" y="268433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Souligné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7182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22040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Ctrl+=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17182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34640" y="323869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Indice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26179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77475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Ctrl+Maj+=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726179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0" y="379304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Exposant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8053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329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Ctrl+Maj+C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8053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34640" y="434740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Copier la mise en forme (clavier)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3489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8834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Ctrl+Maj+V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83489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34640" y="490175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Coller la mise en forme (clavier)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8924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43782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Double-clic pinceau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538924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34640" y="545611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Appliquer la mise en forme plusieurs fois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 err="1">
                <a:solidFill>
                  <a:srgbClr val="1A3560"/>
                </a:solidFill>
              </a:rPr>
              <a:t>Mise</a:t>
            </a:r>
            <a:r>
              <a:rPr sz="2700" b="1" i="0" dirty="0">
                <a:solidFill>
                  <a:srgbClr val="1A3560"/>
                </a:solidFill>
              </a:rPr>
              <a:t> </a:t>
            </a:r>
            <a:r>
              <a:rPr sz="2700" b="1" i="0" dirty="0" err="1">
                <a:solidFill>
                  <a:srgbClr val="1A3560"/>
                </a:solidFill>
              </a:rPr>
              <a:t>en</a:t>
            </a:r>
            <a:r>
              <a:rPr sz="2700" b="1" i="0" dirty="0">
                <a:solidFill>
                  <a:srgbClr val="1A3560"/>
                </a:solidFill>
              </a:rPr>
              <a:t> </a:t>
            </a:r>
            <a:r>
              <a:rPr sz="2700" b="1" i="0" dirty="0" err="1">
                <a:solidFill>
                  <a:srgbClr val="1A3560"/>
                </a:solidFill>
              </a:rPr>
              <a:t>forme</a:t>
            </a:r>
            <a:r>
              <a:rPr sz="2700" b="1" i="0" dirty="0">
                <a:solidFill>
                  <a:srgbClr val="1A3560"/>
                </a:solidFill>
              </a:rPr>
              <a:t> des </a:t>
            </a:r>
            <a:r>
              <a:rPr sz="2700" b="1" i="0" dirty="0" err="1" smtClean="0">
                <a:solidFill>
                  <a:srgbClr val="1A3560"/>
                </a:solidFill>
              </a:rPr>
              <a:t>caractères</a:t>
            </a:r>
            <a:r>
              <a:rPr lang="fr-CA" sz="2700" b="1" i="0" dirty="0" smtClean="0">
                <a:solidFill>
                  <a:srgbClr val="1A3560"/>
                </a:solidFill>
              </a:rPr>
              <a:t> </a:t>
            </a:r>
            <a:r>
              <a:rPr sz="2700" b="1" i="0" dirty="0" smtClean="0">
                <a:solidFill>
                  <a:srgbClr val="1A3560"/>
                </a:solidFill>
              </a:rPr>
              <a:t>et </a:t>
            </a:r>
            <a:r>
              <a:rPr sz="2700" b="1" i="0" dirty="0">
                <a:solidFill>
                  <a:srgbClr val="1A3560"/>
                </a:solidFill>
              </a:rPr>
              <a:t>des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Police, surbrillance, effets de texte et galerie de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844" y="1579749"/>
            <a:ext cx="3949700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4 exercices pratiques à réaliser dans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02920" cy="1005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74519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14 — Attributs de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85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Appliquez gras, italique, souligné et indice/exposant sur un texte fourni.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02920" cy="1005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15 — Surbrillance ciblée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28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Surlignez uniquement les cinq mots-clés d'un paragraphe, sans excès.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502920" cy="1005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16 — Reproduire la mise en forme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71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Utilisez le pinceau pour appliquer un même style à trois titres différents.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502920" cy="1005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513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18 — Styles personnalisés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14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Créez un style personnalisé à partir d'un texte mis en forme, puis appliquez-le ailleurs.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Récapitulatif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qu'il faut retenir de cette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74980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856231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attributs de base (gras, italique, souligné) ont chacun un raccourci clavier dédié.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42616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91440" cy="74980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L'empattement influence la lisibilité selon le support (papier ou écran).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502152"/>
            <a:ext cx="91440" cy="74980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 pinceau (reproduire la mise en forme) évite de refaire une mise en forme manuellement.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91440" cy="74980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La galerie de styles applique une mise en forme cohérente en un seul clic.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4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221224"/>
            <a:ext cx="91440" cy="74980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294376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Rechercher une mise en forme similaire permet de corriger tout un document d'un coup.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Astuce de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0908792" cy="1463040"/>
          </a:xfrm>
          <a:prstGeom prst="rect">
            <a:avLst/>
          </a:prstGeom>
          <a:solidFill>
            <a:srgbClr val="FFF0E0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02920" cy="14630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245059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93392"/>
            <a:ext cx="10222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350"/>
                </a:solidFill>
              </a:rPr>
              <a:t>Doublez-cliquez sur le pinceau pour l'utiliser en boucle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86000"/>
            <a:ext cx="10222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Par défaut, le pinceau (reproduire la mise en forme) se désactive après une seule application. Un double-clic dessus le garde actif : vous pouvez alors appliquer la même mise en forme à plusieurs endroits d'affilée, puis appuyer sur Échap pour terminer.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Pièges fréquents à éviter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Multiplier les polices différentes dans un même document.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Surligner un document entier au lieu des passages vraiment importants.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Mettre en forme chaque titre manuellement au lieu d'utiliser un style.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4 — Mise en forme des caractères et styles | Formation SAMO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4 — Mise en forme des caractères et des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acquises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74650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563A0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19072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77393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appliquer gras, italique et souligné avec les raccourcis clavier.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2257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563A0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295144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utiliser la surbrillance de façon pertinente.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98648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563A0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871216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292608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connais la différence entre police avec et sans empattement.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74720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447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563A0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447288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502152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ajuster l'espacement des caractères.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050791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563A0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023360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078224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appliquer un effet de texte (ombre, contour).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563A0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599432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65429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utiliser la galerie de styles pour uniformiser un document.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20293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51755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563A0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175504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utiliser le pinceau pour reproduire une mise en forme.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5779007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5751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563A0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751576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rechercher une mise en forme similaire dans tout un document.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19088"/>
            <a:ext cx="11420856" cy="256032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" y="6409944"/>
            <a:ext cx="11237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FIN SÉANCE 4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2224</Words>
  <Application>Microsoft Office PowerPoint</Application>
  <PresentationFormat>Personnalisé</PresentationFormat>
  <Paragraphs>354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Chafik Moustaid</cp:lastModifiedBy>
  <cp:revision>2</cp:revision>
  <dcterms:created xsi:type="dcterms:W3CDTF">2013-01-27T09:14:16Z</dcterms:created>
  <dcterms:modified xsi:type="dcterms:W3CDTF">2026-07-31T20:33:55Z</dcterms:modified>
  <cp:category/>
</cp:coreProperties>
</file>