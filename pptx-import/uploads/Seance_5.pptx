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-2244" y="-11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E8FC5-DC4C-4A2E-8415-B3987D106729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F7B48-AEB6-4FFF-8FCF-FB4F401EED7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775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743712" y="1054750"/>
            <a:ext cx="6868633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Séance 5 : Installation et Configuration Windows 11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137144" y="2298760"/>
            <a:ext cx="591170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Déploiement pas à pas, contournement des restrictions matérielles et gestion avancée de la configuration système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465440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Type : Manuel de Formation Maître   |   Durée : 4 Heures   |   Niveau : 1–2   |   Format : Individuel Teams</a:t>
            </a:r>
            <a:endParaRPr lang="en-US" sz="1300" dirty="0"/>
          </a:p>
        </p:txBody>
      </p:sp>
      <p:pic>
        <p:nvPicPr>
          <p:cNvPr id="10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4428"/>
            <a:ext cx="9144000" cy="677932"/>
          </a:xfrm>
          <a:prstGeom prst="rect">
            <a:avLst/>
          </a:prstGeom>
          <a:solidFill>
            <a:srgbClr val="112C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7887"/>
            <a:ext cx="9144000" cy="45720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37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4818" y="793189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665172" y="79318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📋 SOMMAIRE DE LA SÉANCE 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 flipV="1">
            <a:off x="365760" y="4892247"/>
            <a:ext cx="8501795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89224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66270" y="4892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2354" y="1350334"/>
            <a:ext cx="3806988" cy="276446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678" y="139498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1. Phase Pré-Installation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6199" y="1732027"/>
            <a:ext cx="3466071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557678" y="1418355"/>
            <a:ext cx="399146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Prérequis officiels et exigences Microsoft (TPM 2.0, Secure Boot).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Création de médias bootables avancés avec Rufus et Ventoy.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Sélection de la méthode : Clean Install vs Mise à niveau.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Maîtrise des schémas de démarrage et table de partitions (UEFI, GPT).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49140" y="1394982"/>
            <a:ext cx="4096724" cy="271981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8016" y="13843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2. Phase Déploiement &amp; Configuration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58016" y="1739471"/>
            <a:ext cx="3584236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173" y="1577862"/>
            <a:ext cx="390374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Processus pas à pas de l'installation et partitionnement GPT.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Configuration de l'expérience initiale (OOBE) sans compte Microsoft.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Post-installation : Pilotes, sécurité BitLocker et diagnostics.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• Ateliers de cas réels et résolution des écrans bleus (BSOD).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1023" y="4321061"/>
            <a:ext cx="8486910" cy="306217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7" name="Shape 25"/>
          <p:cNvSpPr/>
          <p:nvPr/>
        </p:nvSpPr>
        <p:spPr>
          <a:xfrm flipH="1">
            <a:off x="411481" y="4343911"/>
            <a:ext cx="45719" cy="22860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5295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Objectif : Maîtriser le déploiement de Windows 11 et résoudre 95% des blocages d'installation.</a:t>
            </a:r>
            <a:endParaRPr lang="en-US" sz="1200" dirty="0"/>
          </a:p>
        </p:txBody>
      </p:sp>
      <p:pic>
        <p:nvPicPr>
          <p:cNvPr id="30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31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3716" y="662515"/>
            <a:ext cx="9157716" cy="45719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0510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💻 LES PRÉREQUIS OFFICIELS WINDOWS 11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0059" y="4736802"/>
            <a:ext cx="8526777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78252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37" y="480059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1" y="1311524"/>
            <a:ext cx="4315224" cy="260125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34501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Spécifications Minimales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3106" y="1710774"/>
            <a:ext cx="4085029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598613" y="1439648"/>
            <a:ext cx="434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Processeur : 1 GHz ou plus, 2 cœurs ou plus, compatible 64 bits (Intel Gen 8+ / AMD Zen 2+).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Mémoire Vive (RAM) : 4 Go minimum (8 Go fortement recommandés).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Stockage : 64 Go ou plus (SSD obligatoire pour une bonne expérience).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Firmware : UEFI, compatible Secure Boot.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01502" y="1282286"/>
            <a:ext cx="3712889" cy="263049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6737" y="1390733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Le Point Critique : La Sécurité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 flipV="1">
            <a:off x="5280128" y="1719810"/>
            <a:ext cx="3355636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5309900" y="1494404"/>
            <a:ext cx="36512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TPM (Trusted Platform Module) : Version 2.0 obligatoire. Puce physique ou firmware fTPM/Intel PTT.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Carte Graphique : Compatible DirectX 12 avec pilote WDDM 2.0.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Écran : Haute définition (720p) supérieure à 9" diagonale.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3324" y="4054724"/>
            <a:ext cx="8503919" cy="33705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Shape 25"/>
          <p:cNvSpPr/>
          <p:nvPr/>
        </p:nvSpPr>
        <p:spPr>
          <a:xfrm flipH="1">
            <a:off x="543325" y="4054724"/>
            <a:ext cx="45719" cy="3370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8" name="Text 26"/>
          <p:cNvSpPr/>
          <p:nvPr/>
        </p:nvSpPr>
        <p:spPr>
          <a:xfrm>
            <a:off x="566184" y="405472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Diagnostic Pro : Le processeur et le TPM 2.0 constituent 90% des causes d'incompatibilité signalées par l'assistant Microsoft.</a:t>
            </a:r>
            <a:endParaRPr lang="en-US" sz="1200" dirty="0"/>
          </a:p>
        </p:txBody>
      </p:sp>
      <p:sp>
        <p:nvSpPr>
          <p:cNvPr id="31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32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33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4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5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72950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30565" y="77830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🔒 DÉCODER TPM 2.0 ET SECURE BOOT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09193" y="4795282"/>
            <a:ext cx="8760697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01593" y="4793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482983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045" y="1280159"/>
            <a:ext cx="2831345" cy="246888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401371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TPM 2.0 : </a:t>
            </a:r>
            <a:r>
              <a:rPr lang="en-US" sz="1600" b="1" dirty="0" err="1" smtClean="0">
                <a:solidFill>
                  <a:srgbClr val="0F172A"/>
                </a:solidFill>
              </a:rPr>
              <a:t>Qu'est-ce</a:t>
            </a:r>
            <a:r>
              <a:rPr lang="en-US" sz="1600" b="1" dirty="0" smtClean="0">
                <a:solidFill>
                  <a:srgbClr val="0F172A"/>
                </a:solidFill>
              </a:rPr>
              <a:t> que </a:t>
            </a:r>
            <a:r>
              <a:rPr lang="en-US" sz="1600" b="1" dirty="0" err="1" smtClean="0">
                <a:solidFill>
                  <a:srgbClr val="0F172A"/>
                </a:solidFill>
              </a:rPr>
              <a:t>c’est</a:t>
            </a:r>
            <a:r>
              <a:rPr lang="en-US" sz="1600" b="1" dirty="0" smtClean="0">
                <a:solidFill>
                  <a:srgbClr val="0F172A"/>
                </a:solidFill>
              </a:rPr>
              <a:t> </a:t>
            </a:r>
            <a:r>
              <a:rPr lang="en-US" sz="1600" b="1" dirty="0">
                <a:solidFill>
                  <a:srgbClr val="0F172A"/>
                </a:solidFill>
              </a:rPr>
              <a:t>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859" y="1412003"/>
            <a:ext cx="2681531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Composant cryptographique sécurisé. Il génère et stocke les clés de chiffrement (ex: BitLocker, Windows Hello) à l'abri des attaques logicielles directes.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91894" y="1280159"/>
            <a:ext cx="2880360" cy="246888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2419" y="1394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Secure Boot : Rôle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41812" y="1429014"/>
            <a:ext cx="2495461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Protocole UEFI qui empêche l'exécution de chargeurs de démarrage ou de pilotes non signés (rootkits) lors de la mise sous tension du PC.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81344" y="1280159"/>
            <a:ext cx="2866538" cy="246888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465" y="1401371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Pourquoi l'imposer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43013" y="1325879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Établir une barrière de sécurité matérielle (Zero Trust). Réduit drastiquement l'efficacité des malwares au démarrage du système.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74320" y="3938300"/>
            <a:ext cx="8773562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7185" y="3938300"/>
            <a:ext cx="45720" cy="45720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9" name="Text 27"/>
          <p:cNvSpPr/>
          <p:nvPr/>
        </p:nvSpPr>
        <p:spPr>
          <a:xfrm>
            <a:off x="396593" y="40297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Conseil Tech : Si absent, vérifiez si l'option Intel PTT ou AMD fTPM est activée dans le BIOS/UEFI.</a:t>
            </a:r>
            <a:endParaRPr lang="en-US" sz="1200" dirty="0"/>
          </a:p>
        </p:txBody>
      </p:sp>
      <p:sp>
        <p:nvSpPr>
          <p:cNvPr id="30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31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32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3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4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5" name="Shape 1"/>
          <p:cNvSpPr/>
          <p:nvPr/>
        </p:nvSpPr>
        <p:spPr>
          <a:xfrm>
            <a:off x="-13716" y="662515"/>
            <a:ext cx="9157716" cy="45719"/>
          </a:xfrm>
          <a:prstGeom prst="rect">
            <a:avLst/>
          </a:prstGeom>
          <a:solidFill>
            <a:srgbClr val="5C3D1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755975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" y="755975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🛠️ RUFUS VS VENTOY : QUEL OUTIL CHOISIR 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87557" y="4823461"/>
            <a:ext cx="8743365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222220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1556" y="490277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2220" y="1336508"/>
            <a:ext cx="4205389" cy="270598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60" y="1500253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Rufus : Le Standard Robuste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95018" y="1866013"/>
            <a:ext cx="3706510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222220" y="1359903"/>
            <a:ext cx="412500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Le concept : Formate une clé USB spécifique pour un seul fichier ISO.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Option Windows To Go : Permet de créer un système Windows exécutable directement depuis la clé USB.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Contournement intégré : Possibilité de cocher des cases pour supprimer l'exigence de TPM, de Secure Boot et de compte Microsoft en un clic.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18836" y="1359903"/>
            <a:ext cx="4389120" cy="268897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9133" y="154489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Ventoy : Le Multi-Boot Moderne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759133" y="1876110"/>
            <a:ext cx="3906402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4593265" y="1335445"/>
            <a:ext cx="4389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Le concept : Installe Ventoy sur la clé une seule fois, puis glissez-déposez simplement les fichiers ISO.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Avantage majeur : Stocke plusieurs OS sur la même clé (Windows 10, 11, Linux, utilitaires de dépannage).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Contournement : Nécessite l'injection d'un fichier de configuration XML (Ventoy.json) pour contourner le TPM.</a:t>
            </a:r>
            <a:endParaRPr lang="en-US" sz="1250" dirty="0"/>
          </a:p>
        </p:txBody>
      </p:sp>
      <p:sp>
        <p:nvSpPr>
          <p:cNvPr id="26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7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8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9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1" name="Shape 1"/>
          <p:cNvSpPr/>
          <p:nvPr/>
        </p:nvSpPr>
        <p:spPr>
          <a:xfrm>
            <a:off x="-13716" y="662515"/>
            <a:ext cx="9157716" cy="45719"/>
          </a:xfrm>
          <a:prstGeom prst="rect">
            <a:avLst/>
          </a:prstGeom>
          <a:solidFill>
            <a:srgbClr val="5C3D1B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flipV="1">
            <a:off x="0" y="700792"/>
            <a:ext cx="9144000" cy="58160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0471" y="793189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356191" y="799569"/>
            <a:ext cx="87878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💿 </a:t>
            </a:r>
            <a:r>
              <a:rPr lang="en-US" sz="2000" b="1" dirty="0" smtClean="0">
                <a:solidFill>
                  <a:srgbClr val="0F172A"/>
                </a:solidFill>
              </a:rPr>
              <a:t>Nouvelle Installation Vs </a:t>
            </a:r>
            <a:r>
              <a:rPr lang="en-US" sz="2000" b="1" dirty="0" err="1" smtClean="0">
                <a:solidFill>
                  <a:srgbClr val="0F172A"/>
                </a:solidFill>
              </a:rPr>
              <a:t>Mise</a:t>
            </a:r>
            <a:r>
              <a:rPr lang="en-US" sz="2000" b="1" dirty="0" smtClean="0">
                <a:solidFill>
                  <a:srgbClr val="0F172A"/>
                </a:solidFill>
              </a:rPr>
              <a:t> à </a:t>
            </a:r>
            <a:r>
              <a:rPr lang="en-US" sz="2000" b="1" dirty="0" err="1" smtClean="0">
                <a:solidFill>
                  <a:srgbClr val="0F172A"/>
                </a:solidFill>
              </a:rPr>
              <a:t>Niveau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88674" y="4776144"/>
            <a:ext cx="8672446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73098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486492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355378"/>
              </p:ext>
            </p:extLst>
          </p:nvPr>
        </p:nvGraphicFramePr>
        <p:xfrm>
          <a:off x="288674" y="1307806"/>
          <a:ext cx="8521995" cy="2945219"/>
        </p:xfrm>
        <a:graphic>
          <a:graphicData uri="http://schemas.openxmlformats.org/drawingml/2006/table">
            <a:tbl>
              <a:tblPr/>
              <a:tblGrid>
                <a:gridCol w="2840665"/>
                <a:gridCol w="2840665"/>
                <a:gridCol w="2840665"/>
              </a:tblGrid>
              <a:tr h="5375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Critère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Clean Install (Installation Propre)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Mise à niveau (Upgrade)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019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Principe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Formatage complet du disque système. Remise à zéro totale.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Migration depuis Windows 10 vers Windows 11.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9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Fichiers &amp; Applis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Tout est effacé (sauvegarde préalable obligatoire).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Fichiers, paramètres et applications compatibles préservés.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9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Stabilité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Maximale. Élimine les résidus et fichiers corrompus d'anciens OS.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Risque de transfert de bugs, pilotes obsolètes ou lenteurs.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9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Recommandé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Nouveau PC sans OS, disque neuf, ou système très ralenti.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Transition rapide d'un poste utilisateur opérationnel.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0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1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2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23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flipV="1">
            <a:off x="0" y="700792"/>
            <a:ext cx="9144000" cy="58160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9609" y="77724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329609" y="79212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⚙️ UEFI VS LEGACY BIOS : POURQUOI C'EST VITAL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4591" y="4869180"/>
            <a:ext cx="8883715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1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1907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1" y="1191909"/>
            <a:ext cx="3026664" cy="306111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55767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Legacy BIOS (Hérité)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3682" y="1374790"/>
            <a:ext cx="2996893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Ancien système de démarrage (années 80). Ne gère que les disques partitionnés en MBR (limité à 2 To). Non compatible avec les sécurités Windows 11.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70575" y="1142362"/>
            <a:ext cx="3104707" cy="311065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5587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UEFI (Moderne)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70575" y="1326942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Interface moderne, rapide et graphique. Obligatoire pour Windows 11. Gère le partitionnement GPT, le démarrage sécurisé et les clés cryptographiques.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5457" y="1142362"/>
            <a:ext cx="2602849" cy="311002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2644" y="155979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Le Piège au Démarrage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2644" y="1375852"/>
            <a:ext cx="261135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Si la clé d'installation est démarrée en mode Legacy alors que le disque est configuré en UEFI (ou vice-versa), l'installation refuse de continuer.</a:t>
            </a:r>
            <a:endParaRPr lang="en-US" sz="1300" dirty="0"/>
          </a:p>
        </p:txBody>
      </p:sp>
      <p:sp>
        <p:nvSpPr>
          <p:cNvPr id="27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8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9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0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1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00792"/>
            <a:ext cx="9144000" cy="45719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11480" y="77724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35403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💾 PARTITIONNEMENT : MBR VS GPT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7941" y="4845789"/>
            <a:ext cx="8493287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" y="485642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74828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" y="1509822"/>
            <a:ext cx="3474720" cy="1422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74C043"/>
                </a:solidFill>
              </a:rPr>
              <a:t>128</a:t>
            </a:r>
            <a:endParaRPr lang="en-US" sz="11000" dirty="0"/>
          </a:p>
        </p:txBody>
      </p:sp>
      <p:sp>
        <p:nvSpPr>
          <p:cNvPr id="19" name="Text 17"/>
          <p:cNvSpPr/>
          <p:nvPr/>
        </p:nvSpPr>
        <p:spPr>
          <a:xfrm>
            <a:off x="0" y="282613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PARTITIONS MAX EN GPT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25972" y="1263679"/>
            <a:ext cx="5635256" cy="201965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9512" y="132694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Les limitations physiques du disque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54680" y="1509822"/>
            <a:ext cx="56065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MBR (Master Boot Record) : Limité à 4 partitions principales et un maximum de 2 To par disque. Obsolète.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GPT (GUID Partition Table) : Supporte des disques de plus de 9 Zettaoctets (9 milliards de To) et permet jusqu'à 128 partitions sans recourir aux partitions étendues.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154679" y="3347129"/>
            <a:ext cx="5606549" cy="37426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3355635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</a:rPr>
              <a:t>Rappel de cours : Windows 11 exige obligatoirement GPT pour son disque système afin de pouvoir amorcer en mode UEFI.</a:t>
            </a:r>
            <a:endParaRPr lang="en-US" sz="1150" dirty="0"/>
          </a:p>
        </p:txBody>
      </p:sp>
      <p:sp>
        <p:nvSpPr>
          <p:cNvPr id="25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6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7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8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29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67512"/>
            <a:ext cx="9144000" cy="91440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069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732" y="795315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79318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🚀 PROCESSUS D'INSTALLATION STANDARD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 flipV="1">
            <a:off x="152895" y="4844192"/>
            <a:ext cx="8916677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52896" y="48670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485004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2896" y="2681531"/>
            <a:ext cx="8991104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5019" y="2590091"/>
            <a:ext cx="182880" cy="1828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4C0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416" y="1280159"/>
            <a:ext cx="1855594" cy="104943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193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043"/>
                </a:solidFill>
              </a:rPr>
              <a:t>1. Boot USB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499" y="1417320"/>
            <a:ext cx="169142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Accéder au Boot Menu (F12, F11, Esc) et démarrer sur le média d'installation.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2564786"/>
            <a:ext cx="182880" cy="1828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4C0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9137" y="2867813"/>
            <a:ext cx="1692703" cy="125038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99137" y="286037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043"/>
                </a:solidFill>
              </a:rPr>
              <a:t>2. Clé Produit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83133" y="3035808"/>
            <a:ext cx="142582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Saisir la clé de licence ou cliquer sur 'Je n'ai pas </a:t>
            </a:r>
            <a:r>
              <a:rPr lang="en-US" sz="1000" dirty="0" smtClean="0">
                <a:solidFill>
                  <a:srgbClr val="475569"/>
                </a:solidFill>
              </a:rPr>
              <a:t> de </a:t>
            </a:r>
            <a:r>
              <a:rPr lang="en-US" sz="1000" dirty="0">
                <a:solidFill>
                  <a:srgbClr val="475569"/>
                </a:solidFill>
              </a:rPr>
              <a:t>clé produit'.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38769" y="2606040"/>
            <a:ext cx="182880" cy="1828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4C0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3078" y="1280160"/>
            <a:ext cx="1849002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3078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043"/>
                </a:solidFill>
              </a:rPr>
              <a:t>3. Personnalisé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63078" y="1417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Choisir l'option 'Personnalisé : installer uniquement Windows (avancé)'.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38969" y="2589240"/>
            <a:ext cx="182880" cy="1828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4C0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30209" y="2867813"/>
            <a:ext cx="1600200" cy="125038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867813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043"/>
                </a:solidFill>
              </a:rPr>
              <a:t>4. Partitions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997530"/>
            <a:ext cx="156404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Supprimer les anciennes partitions pour obtenir un 'Espace non alloué'.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709128" y="2586051"/>
            <a:ext cx="182880" cy="1828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4C0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1280160"/>
            <a:ext cx="1775637" cy="10494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4C043"/>
                </a:solidFill>
              </a:rPr>
              <a:t>5. Copie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59" y="1415192"/>
            <a:ext cx="163847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Copie des fichiers sur le SSD suivie d'un redémarrage automatique du système.</a:t>
            </a:r>
            <a:endParaRPr lang="en-US" sz="1000" dirty="0"/>
          </a:p>
        </p:txBody>
      </p:sp>
      <p:sp>
        <p:nvSpPr>
          <p:cNvPr id="39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40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41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42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43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00792"/>
            <a:ext cx="9144000" cy="45719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11426" y="773624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34286" y="7825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🌐 LA PHASE DE CONFIGURATION OOBE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4390" y="4764023"/>
            <a:ext cx="8912423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4390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70413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9986" y="1438585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19" name="Text 17"/>
          <p:cNvSpPr/>
          <p:nvPr/>
        </p:nvSpPr>
        <p:spPr>
          <a:xfrm>
            <a:off x="587449" y="1253047"/>
            <a:ext cx="855655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Choix de la région et du clavier : Sélectionner la disposition linguistique principale (ex: Français AZERTY) et ignorer la seconde disposition si non requise.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0289" y="2171700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587449" y="1828800"/>
            <a:ext cx="82163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Connexion Réseau Obligatoire : Par défaut, Windows 11 Home/Pro exige une connexion Internet active pour poursuivre la configuration.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0289" y="2848462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3" name="Text 21"/>
          <p:cNvSpPr/>
          <p:nvPr/>
        </p:nvSpPr>
        <p:spPr>
          <a:xfrm>
            <a:off x="560867" y="2505562"/>
            <a:ext cx="824289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Création de Compte : Microsoft impose l'usage d'un compte en ligne (Outlook, Hotmail) pour finaliser l'initialisation du poste.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7301" y="3594336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603398" y="3328522"/>
            <a:ext cx="820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Paramètres de Confidentialité : Désactivez les options de localisation, données de diagnostic complets, identifiant publicitaire pour optimiser les performances.</a:t>
            </a:r>
            <a:endParaRPr lang="en-US" sz="1350" dirty="0"/>
          </a:p>
        </p:txBody>
      </p:sp>
      <p:sp>
        <p:nvSpPr>
          <p:cNvPr id="26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7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8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9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00792"/>
            <a:ext cx="9144000" cy="74800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21635" y="96012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321635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💡 ASTUCE : CRÉER UN COMPTE LOCAL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4592" y="4861205"/>
            <a:ext cx="8796528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" y="490161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91786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1509821"/>
            <a:ext cx="3200400" cy="1119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74C043"/>
                </a:solidFill>
              </a:rPr>
              <a:t>Bypass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-182880" y="261826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OOBE \ BYPASSNRO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31920" y="1509820"/>
            <a:ext cx="4946266" cy="270067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0318" y="161614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Contourner l'obligation de compte en ligne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16555" y="1520450"/>
            <a:ext cx="4861631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Lors de l'étape de connexion réseau obligatoire, si vous préférez installer le système avec un compte local hors-ligne :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1. Appuyez simultanément sur Shift + F10 pour ouvrir l'invite de commandes.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2. Saisissez la commande : OOBE\BYPASSNRO et validez par Entrée.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</a:rPr>
              <a:t>3. Le système redémarre. Cliquez sur 'Je n'ai pas d'Internet' pour créer votre compte local d'administrateur.</a:t>
            </a:r>
            <a:endParaRPr lang="en-US" sz="1350" dirty="0"/>
          </a:p>
        </p:txBody>
      </p:sp>
      <p:sp>
        <p:nvSpPr>
          <p:cNvPr id="23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7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8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29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flipV="1">
            <a:off x="0" y="654112"/>
            <a:ext cx="9144000" cy="108878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6870" y="96012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965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🗄️ GESTION DES PARTITIONS POST-INSTALL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5181" y="4860035"/>
            <a:ext cx="8705939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6870" y="1681007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19" name="Text 17"/>
          <p:cNvSpPr/>
          <p:nvPr/>
        </p:nvSpPr>
        <p:spPr>
          <a:xfrm>
            <a:off x="618814" y="1406687"/>
            <a:ext cx="834230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Initialisation de disques secondaires : Clic droit sur démarrer &gt; Gestion des disques. Initialiser les nouveaux disques physiques détectés en mode GPT.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6540" y="2332784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673678" y="2058464"/>
            <a:ext cx="8108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Réduction de volume (Shrink) : Libérer de l'espace sur la partition C: pour créer une partition distincte dédiée aux données de l'utilisateur.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6540" y="3024963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3" name="Text 21"/>
          <p:cNvSpPr/>
          <p:nvPr/>
        </p:nvSpPr>
        <p:spPr>
          <a:xfrm>
            <a:off x="636890" y="2682063"/>
            <a:ext cx="822003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Extension de volume : Possible uniquement si de l'espace non alloué est situé *immédiatement à droite* de la partition à étendre.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6109" y="3627829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643269" y="3353509"/>
            <a:ext cx="817962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Le Piège des disques Dynamiques : Ne convertissez pas un disque de base en disque dynamique sous peine de compliquer la récupération de données.</a:t>
            </a:r>
            <a:endParaRPr lang="en-US" sz="1350" dirty="0"/>
          </a:p>
        </p:txBody>
      </p:sp>
      <p:sp>
        <p:nvSpPr>
          <p:cNvPr id="26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7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8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9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0060" y="848478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84847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🔌 GESTION DES PILOTES ET PÉRIPHÉRIQUES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64592" y="1322690"/>
            <a:ext cx="3054096" cy="226048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Identifier l'inconnu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3660" y="9144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Dans le Gestionnaire de périphériques, repérez les icônes jaunes. Clic droit &gt; Propriétés &gt; Détails &gt; Hardware ID pour identifier le composant exact sur le web.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3078" y="1322690"/>
            <a:ext cx="2854842" cy="226048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7277" y="1535341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Mise à jour Windows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97102" y="869743"/>
            <a:ext cx="278424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90% des pilotes génériques et stables s'installent via Windows Update &gt; Options avancées &gt; Mises à jour facultatives.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46574" y="1322688"/>
            <a:ext cx="2691100" cy="226048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526835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Constructeur (OEM)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1" y="927159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Privilégiez les utilitaires d'origine constructeur (Dell Command Update, Lenovo Vantage, HP Support Assistant) pour les composants critiques.</a:t>
            </a:r>
            <a:endParaRPr lang="en-US" sz="1300" dirty="0"/>
          </a:p>
        </p:txBody>
      </p:sp>
      <p:sp>
        <p:nvSpPr>
          <p:cNvPr id="27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8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9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0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1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2" name="Shape 13"/>
          <p:cNvSpPr/>
          <p:nvPr/>
        </p:nvSpPr>
        <p:spPr>
          <a:xfrm>
            <a:off x="255181" y="4860035"/>
            <a:ext cx="8705939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14"/>
          <p:cNvSpPr/>
          <p:nvPr/>
        </p:nvSpPr>
        <p:spPr>
          <a:xfrm>
            <a:off x="164592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3474720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827213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35137" y="82721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🔄 STRATÉGIES WINDOWS UPDATE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" y="1576808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19" name="Text 17"/>
          <p:cNvSpPr/>
          <p:nvPr/>
        </p:nvSpPr>
        <p:spPr>
          <a:xfrm>
            <a:off x="622891" y="1246136"/>
            <a:ext cx="833822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Heures d'activité : Configurez l'intervalle horaire d'usage pour interdire au PC de redémarrer automatiquement pendant que l'utilisateur travaille.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0060" y="2203067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593793" y="1928747"/>
            <a:ext cx="83442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Interruption temporaire : Possibilité de suspendre les mises à jour jusqu'à 5 semaines en cas de déploiement critique en entreprise ou réseau limité.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79670" y="2822945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34" y="2549688"/>
            <a:ext cx="838394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Optimisation de livraison : Permet au PC de récupérer les packages de mises à jour directement auprès d'autres PC du réseau local (Peer-to-Peer).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3462493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593793" y="3220603"/>
            <a:ext cx="840719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Mises à jour de qualité vs de fonctionnalités : Les correctifs de sécurité (Qualité) sont mensuels. Les montées de version (Fonctionnalités) sont annuelles.</a:t>
            </a:r>
            <a:endParaRPr lang="en-US" sz="1350" dirty="0"/>
          </a:p>
        </p:txBody>
      </p:sp>
      <p:sp>
        <p:nvSpPr>
          <p:cNvPr id="26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7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8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9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0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1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32" name="Shape 13"/>
          <p:cNvSpPr/>
          <p:nvPr/>
        </p:nvSpPr>
        <p:spPr>
          <a:xfrm>
            <a:off x="255181" y="4860035"/>
            <a:ext cx="8705939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14"/>
          <p:cNvSpPr/>
          <p:nvPr/>
        </p:nvSpPr>
        <p:spPr>
          <a:xfrm>
            <a:off x="164592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3474720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77724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7772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F172A"/>
                </a:solidFill>
              </a:rPr>
              <a:t>OPTIMISATION </a:t>
            </a:r>
            <a:r>
              <a:rPr lang="en-US" sz="2000" b="1" dirty="0">
                <a:solidFill>
                  <a:srgbClr val="0F172A"/>
                </a:solidFill>
              </a:rPr>
              <a:t>ET BLOATWARE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41252" y="4819740"/>
            <a:ext cx="8661495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83731" y="486545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9625" y="1161076"/>
            <a:ext cx="3881309" cy="28697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35671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Éliminer le Superflu (Bloatware)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1704185"/>
            <a:ext cx="3508744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321635" y="1348208"/>
            <a:ext cx="3859299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Le problème : Windows 11 pré-installe des applications promotionnelles qui encombrent inutilement l'espace disque.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Méthode manuelle : Désinstaller via Paramètres &gt; Applications installées.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Scripting (Avancé) : Utilisation d'outils éprouvés (ex: SophiApp, Win11Debloat) pour purger proprement la télémétrie et les packages inutiles.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63656" y="1143000"/>
            <a:ext cx="4697464" cy="288780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7626" y="134639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Alléger le Démarrage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76361" y="1711840"/>
            <a:ext cx="4321072" cy="45719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4372108" y="127197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Gestionnaire des tâches : Onglet 'Applications de démarrage'. Désactivez les processus secondaires (ex: Teams, Spotify, OneDrive, etc.).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Effet : Réduit radicalement le temps d'allumage du PC et l'allocation de la RAM par défaut au repos.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Rappel de sécurité : Ne désactivez jamais l'antivirus ni les services et pilotes système vitaux.</a:t>
            </a:r>
            <a:endParaRPr lang="en-US" sz="1250" dirty="0"/>
          </a:p>
        </p:txBody>
      </p:sp>
      <p:sp>
        <p:nvSpPr>
          <p:cNvPr id="27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28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9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0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1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2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5605" y="866553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01325" y="86655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🛡️ SÉCURITÉ : BITLOCKER &amp; DEFENDER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8762" y="4809108"/>
            <a:ext cx="8559209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55605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1274" y="48569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3037" y="1371600"/>
            <a:ext cx="2987749" cy="290056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567" y="1535341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Chiffrement BitLocker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918" y="1164265"/>
            <a:ext cx="2961593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Protège le contenu du disque en cas de vol du PC. Nécessite une puce TPM fonctionnelle. Sauvegardez la clé de récupération (48 chiffres) hors du PC (Cloud ou USB).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1907" y="1414131"/>
            <a:ext cx="2773503" cy="28580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55660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Windows Defender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1" y="1066445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Antivirus natif puissant, léger et transparent. Se désactive automatiquement si un antivirus tiers certifié est installé.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22064" y="1414131"/>
            <a:ext cx="2615609" cy="285803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186" y="1535341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Isolation du Noyau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2065" y="1082393"/>
            <a:ext cx="2615609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Vérifiez que l'intégrité de la mémoire est activée (Paramètres &gt; Sécurité des appareils). Empêche l'injection de code malveillant dans les processus système critiques.</a:t>
            </a:r>
            <a:endParaRPr lang="en-US" sz="1300" dirty="0"/>
          </a:p>
        </p:txBody>
      </p:sp>
      <p:sp>
        <p:nvSpPr>
          <p:cNvPr id="27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sp>
        <p:nvSpPr>
          <p:cNvPr id="28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  <p:pic>
        <p:nvPicPr>
          <p:cNvPr id="29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30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1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2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960120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" y="944171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📦 SAUVEGARDE ET RESTAURATION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1760220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" y="1485900"/>
            <a:ext cx="83439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Point de restauration : Sauvegarde l'état du registre et des fichiers système critiques avant l'installation d'un pilote ou d'une mise à jour logicielle.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0060" y="2497056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" y="2222736"/>
            <a:ext cx="85267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Création manuelle : Saisir sysdm.cpl &gt; Protection du système &gt; Activer la protection pour le lecteur C: et cliquer sur Créer.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" y="3246120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" y="2834640"/>
            <a:ext cx="85267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Image Système : Outil historique de sauvegarde dans le Panneau de configuration. Permet de cloner l'intégralité du disque système sur support externe.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0060" y="3840480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" y="34975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Restauration d'usine (Reset) : Réinstallation de Windows intégrée à l'OS. Offre le choix entre conserver les fichiers personnels ou tout effacer.</a:t>
            </a:r>
            <a:endParaRPr lang="en-US" sz="1350" dirty="0"/>
          </a:p>
        </p:txBody>
      </p:sp>
      <p:sp>
        <p:nvSpPr>
          <p:cNvPr id="26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sp>
        <p:nvSpPr>
          <p:cNvPr id="27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  <p:pic>
        <p:nvPicPr>
          <p:cNvPr id="28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9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0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1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2" name="Shape 13"/>
          <p:cNvSpPr/>
          <p:nvPr/>
        </p:nvSpPr>
        <p:spPr>
          <a:xfrm>
            <a:off x="518762" y="4809108"/>
            <a:ext cx="8559209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14"/>
          <p:cNvSpPr/>
          <p:nvPr/>
        </p:nvSpPr>
        <p:spPr>
          <a:xfrm>
            <a:off x="455605" y="48691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3551274" y="48569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795315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795315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🔍 DIAGNOSTIC DES PANNES D'INSTALLATION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039055"/>
              </p:ext>
            </p:extLst>
          </p:nvPr>
        </p:nvGraphicFramePr>
        <p:xfrm>
          <a:off x="365760" y="1286539"/>
          <a:ext cx="8604504" cy="3223790"/>
        </p:xfrm>
        <a:graphic>
          <a:graphicData uri="http://schemas.openxmlformats.org/drawingml/2006/table">
            <a:tbl>
              <a:tblPr/>
              <a:tblGrid>
                <a:gridCol w="2868168"/>
                <a:gridCol w="2868168"/>
                <a:gridCol w="2868168"/>
              </a:tblGrid>
              <a:tr h="852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Symptôme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Origine Probable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Résolution Technique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2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Ce PC ne peut pas exécuter Win 11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TPM 2.0 ou Secure Boot désactivé.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Activer fTPM/PTT dans l'UEFI, ou reconstruire la clé avec Rufus bypass.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Aucun disque dur détecté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Pilote Intel RST (SATA/NVMe RAID) manquant.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Télécharger le pilote d'extraction SATA/NVMe OEM et le charger.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OOBE bloquée sur connexion Internet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Absence de pilote Wi-Fi/Ethernet natif.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Appuyer sur Shift+F10, exécuter OOBE\BYPASSNRO pour installer hors ligne.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Écran bleu (BSOD) au premier boot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Conflit de pilote ou RAM instable (XMP).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Désactiver XMP temporairement ou mettre à jour le firmware BIOS.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sp>
        <p:nvSpPr>
          <p:cNvPr id="22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  <p:pic>
        <p:nvPicPr>
          <p:cNvPr id="23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24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25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26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27" name="Shape 13"/>
          <p:cNvSpPr/>
          <p:nvPr/>
        </p:nvSpPr>
        <p:spPr>
          <a:xfrm>
            <a:off x="365761" y="4809108"/>
            <a:ext cx="8595360" cy="600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14"/>
          <p:cNvSpPr/>
          <p:nvPr/>
        </p:nvSpPr>
        <p:spPr>
          <a:xfrm>
            <a:off x="387982" y="487768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29" name="Text 15"/>
          <p:cNvSpPr/>
          <p:nvPr/>
        </p:nvSpPr>
        <p:spPr>
          <a:xfrm>
            <a:off x="3551274" y="48569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4340" y="891008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864427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F172A"/>
                </a:solidFill>
              </a:rPr>
              <a:t> </a:t>
            </a:r>
            <a:r>
              <a:rPr lang="en-US" sz="2000" b="1" dirty="0">
                <a:solidFill>
                  <a:srgbClr val="0F172A"/>
                </a:solidFill>
              </a:rPr>
              <a:t>CAS PRATIQUES : EXERCICES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60391" y="1421041"/>
            <a:ext cx="2862497" cy="227855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455065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4C043"/>
                </a:solidFill>
              </a:rPr>
              <a:t>Cas 1 : PC sans TPM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" y="1047307"/>
            <a:ext cx="280284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Situation : L'usager veut upgrader son vieux PC i7 de 6e génération vers Win 11.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Action : Comment configurez-vous Rufus pour lui permettre d'installer l'OS sans jeter son matériel toujours fonctionnel 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1408015"/>
            <a:ext cx="2880360" cy="229158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457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4C043"/>
                </a:solidFill>
              </a:rPr>
              <a:t>Cas 2 : Pas de réseau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1047307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Situation : L'installateur arrive à l'étape du réseau en phase OOBE, mais la carte réseau Wi-Fi n'est pas reconnue par Windows.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Action : Quelle commande d'invite exécutez-vous pour bypass cette restriction 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81344" y="1408015"/>
            <a:ext cx="2779776" cy="229158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6426" y="1457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4C043"/>
                </a:solidFill>
              </a:rPr>
              <a:t>Cas 3 : Chiffrement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097279"/>
            <a:ext cx="277977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Situation : L'utilisateur a formaté son système mais a oublié de désactiver BitLocker avant. Son lecteur de données D: est inaccessible.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Action : Où recherchez-vous la clé de secours ?</a:t>
            </a:r>
            <a:endParaRPr lang="en-US" sz="1200" dirty="0"/>
          </a:p>
        </p:txBody>
      </p:sp>
      <p:sp>
        <p:nvSpPr>
          <p:cNvPr id="27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sp>
        <p:nvSpPr>
          <p:cNvPr id="28" name="Shape 1"/>
          <p:cNvSpPr/>
          <p:nvPr/>
        </p:nvSpPr>
        <p:spPr>
          <a:xfrm>
            <a:off x="0" y="700792"/>
            <a:ext cx="9144000" cy="69909"/>
          </a:xfrm>
          <a:prstGeom prst="rect">
            <a:avLst/>
          </a:prstGeom>
          <a:solidFill>
            <a:srgbClr val="5C3D1B"/>
          </a:solidFill>
          <a:ln/>
        </p:spPr>
      </p:sp>
      <p:sp>
        <p:nvSpPr>
          <p:cNvPr id="29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pic>
        <p:nvPicPr>
          <p:cNvPr id="30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31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2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3" name="Shape 13"/>
          <p:cNvSpPr/>
          <p:nvPr/>
        </p:nvSpPr>
        <p:spPr>
          <a:xfrm>
            <a:off x="365761" y="4809108"/>
            <a:ext cx="8595360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14"/>
          <p:cNvSpPr/>
          <p:nvPr/>
        </p:nvSpPr>
        <p:spPr>
          <a:xfrm>
            <a:off x="387982" y="487768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35" name="Text 15"/>
          <p:cNvSpPr/>
          <p:nvPr/>
        </p:nvSpPr>
        <p:spPr>
          <a:xfrm>
            <a:off x="3551274" y="48569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64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4C043"/>
                </a:solidFill>
              </a:rPr>
              <a:t>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FORMATION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585216"/>
            <a:ext cx="146304" cy="2743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2560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1989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"/>
            <a:ext cx="9144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37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Séance 5 — Installation et Configuration Windows 11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827213"/>
            <a:ext cx="45720" cy="36576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14" name="Text 12"/>
          <p:cNvSpPr/>
          <p:nvPr/>
        </p:nvSpPr>
        <p:spPr>
          <a:xfrm>
            <a:off x="539709" y="827213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✅ CHECKLIST DE VALIDATION SÉANCE 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 flipV="1">
            <a:off x="164590" y="4865989"/>
            <a:ext cx="8888503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95693" y="488885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TECHNIQUE SUPPORT INFORMATIQUE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693" y="486599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75569"/>
                </a:solidFill>
              </a:rPr>
              <a:t>Séance 5 : Installation et Configuration Windows 11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2549" y="1452407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19" name="Text 17"/>
          <p:cNvSpPr/>
          <p:nvPr/>
        </p:nvSpPr>
        <p:spPr>
          <a:xfrm>
            <a:off x="560336" y="1269527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Validation Matérielle : Je sais lister et vérifier les composants obligatoires nécessaires à Windows 11.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1480" y="1988820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1737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Préparation Média : Je maîtrise Rufus et Ventoy pour outrepasser les blocages si requis par la politique client.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1480" y="2570421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18961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Partitionnement : Je maîtrise la conversion de disques MBR en GPT et le processus d'installation propre.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11480" y="3177540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  <p:sp>
        <p:nvSpPr>
          <p:cNvPr id="25" name="Text 23"/>
          <p:cNvSpPr/>
          <p:nvPr/>
        </p:nvSpPr>
        <p:spPr>
          <a:xfrm>
            <a:off x="539709" y="2881423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Bypass Compte : Je sais configurer un compte local hors ligne à l'étape réseau de l'OOBE.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9709" y="3471885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Gestion Système : Je sais déployer les pilotes, nettoyer les bloatwares et configurer la sécurité BitLocker.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20040" y="4153431"/>
            <a:ext cx="8721887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" y="4153431"/>
            <a:ext cx="45720" cy="457200"/>
          </a:xfrm>
          <a:prstGeom prst="rect">
            <a:avLst/>
          </a:prstGeom>
          <a:solidFill>
            <a:srgbClr val="74C043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" y="423601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FÉLICITATIONS ! VOUS AVEZ ACQUIS LES COMPÉTENCES TECHNIQUES DE DÉPLOIEMENT WINDOWS 11.</a:t>
            </a:r>
            <a:endParaRPr lang="en-US" sz="1200" dirty="0"/>
          </a:p>
        </p:txBody>
      </p:sp>
      <p:sp>
        <p:nvSpPr>
          <p:cNvPr id="31" name="Shape 0"/>
          <p:cNvSpPr/>
          <p:nvPr/>
        </p:nvSpPr>
        <p:spPr>
          <a:xfrm>
            <a:off x="0" y="-51568"/>
            <a:ext cx="9144000" cy="752360"/>
          </a:xfrm>
          <a:prstGeom prst="rect">
            <a:avLst/>
          </a:prstGeom>
          <a:solidFill>
            <a:srgbClr val="112C55"/>
          </a:solidFill>
          <a:ln/>
        </p:spPr>
      </p:sp>
      <p:pic>
        <p:nvPicPr>
          <p:cNvPr id="32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34" name="TextBox 4"/>
          <p:cNvSpPr txBox="1"/>
          <p:nvPr/>
        </p:nvSpPr>
        <p:spPr>
          <a:xfrm>
            <a:off x="1426464" y="73152"/>
            <a:ext cx="47548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FFFFFF"/>
                </a:solidFill>
              </a:rPr>
              <a:t>Séance </a:t>
            </a:r>
            <a:r>
              <a:rPr lang="fr-CA" sz="1250" b="0" i="0" dirty="0" smtClean="0">
                <a:solidFill>
                  <a:srgbClr val="FFFFFF"/>
                </a:solidFill>
              </a:rPr>
              <a:t>5</a:t>
            </a:r>
            <a:r>
              <a:rPr sz="1250" b="0" i="0" dirty="0" smtClean="0">
                <a:solidFill>
                  <a:srgbClr val="FFFFFF"/>
                </a:solidFill>
              </a:rPr>
              <a:t> </a:t>
            </a:r>
            <a:r>
              <a:rPr sz="1250" b="0" i="0" dirty="0">
                <a:solidFill>
                  <a:srgbClr val="FFFFFF"/>
                </a:solidFill>
              </a:rPr>
              <a:t>— </a:t>
            </a:r>
            <a:r>
              <a:rPr sz="1250" b="0" i="0" dirty="0" smtClean="0">
                <a:solidFill>
                  <a:srgbClr val="FFFFFF"/>
                </a:solidFill>
              </a:rPr>
              <a:t>I</a:t>
            </a:r>
            <a:r>
              <a:rPr lang="fr-CA" sz="1250" dirty="0" err="1" smtClean="0">
                <a:solidFill>
                  <a:srgbClr val="FFFFFF"/>
                </a:solidFill>
              </a:rPr>
              <a:t>ns</a:t>
            </a:r>
            <a:r>
              <a:rPr lang="fr-CA" sz="1250" b="0" i="0" dirty="0" err="1" smtClean="0">
                <a:solidFill>
                  <a:srgbClr val="FFFFFF"/>
                </a:solidFill>
              </a:rPr>
              <a:t>tallation</a:t>
            </a:r>
            <a:r>
              <a:rPr lang="fr-CA" sz="1250" b="0" i="0" dirty="0" smtClean="0">
                <a:solidFill>
                  <a:srgbClr val="FFFFFF"/>
                </a:solidFill>
              </a:rPr>
              <a:t> et configuration Windows 11</a:t>
            </a:r>
            <a:endParaRPr sz="1250" b="0" i="0" dirty="0">
              <a:solidFill>
                <a:srgbClr val="FFFFFF"/>
              </a:solidFill>
            </a:endParaRPr>
          </a:p>
        </p:txBody>
      </p:sp>
      <p:sp>
        <p:nvSpPr>
          <p:cNvPr id="35" name="Text 9"/>
          <p:cNvSpPr/>
          <p:nvPr/>
        </p:nvSpPr>
        <p:spPr>
          <a:xfrm>
            <a:off x="5212080" y="109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CHAFIK MOUSTAID — FORMATEUR</a:t>
            </a:r>
            <a:endParaRPr lang="en-US" sz="1000" dirty="0"/>
          </a:p>
        </p:txBody>
      </p:sp>
      <p:sp>
        <p:nvSpPr>
          <p:cNvPr id="36" name="Text 10"/>
          <p:cNvSpPr/>
          <p:nvPr/>
        </p:nvSpPr>
        <p:spPr>
          <a:xfrm>
            <a:off x="5212080" y="292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4C043"/>
                </a:solidFill>
              </a:rPr>
              <a:t>Version 1 — Juin 2026</a:t>
            </a:r>
            <a:endParaRPr lang="en-US" sz="850" dirty="0"/>
          </a:p>
        </p:txBody>
      </p:sp>
      <p:sp>
        <p:nvSpPr>
          <p:cNvPr id="37" name="Shape 22"/>
          <p:cNvSpPr/>
          <p:nvPr/>
        </p:nvSpPr>
        <p:spPr>
          <a:xfrm>
            <a:off x="402549" y="3723345"/>
            <a:ext cx="137160" cy="137160"/>
          </a:xfrm>
          <a:prstGeom prst="ellipse">
            <a:avLst/>
          </a:prstGeom>
          <a:solidFill>
            <a:srgbClr val="74C0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2844</Words>
  <Application>Microsoft Office PowerPoint</Application>
  <PresentationFormat>Affichage à l'écran (16:9)</PresentationFormat>
  <Paragraphs>370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Chafik Moustaid</cp:lastModifiedBy>
  <cp:revision>15</cp:revision>
  <dcterms:created xsi:type="dcterms:W3CDTF">2026-07-06T19:48:55Z</dcterms:created>
  <dcterms:modified xsi:type="dcterms:W3CDTF">2026-07-07T02:20:16Z</dcterms:modified>
</cp:coreProperties>
</file>