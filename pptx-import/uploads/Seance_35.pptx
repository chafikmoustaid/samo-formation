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456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45720" cy="685800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65079" y="0"/>
            <a:ext cx="702387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128016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1417320"/>
            <a:ext cx="4631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A" sz="1500" b="1" i="0" dirty="0" smtClean="0">
                <a:solidFill>
                  <a:schemeClr val="bg2">
                    <a:lumMod val="90000"/>
                  </a:schemeClr>
                </a:solidFill>
              </a:rPr>
              <a:t>Soutien Réseautique</a:t>
            </a:r>
            <a:endParaRPr lang="fr-CA" sz="1400" b="1" i="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438802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FFFFFF"/>
                </a:solidFill>
              </a:rPr>
              <a:t>Administration
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852160"/>
            <a:ext cx="43880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Chafik Moustaid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144768"/>
            <a:ext cx="43880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BBEE"/>
                </a:solidFill>
              </a:rPr>
              <a:t>Formateur — SAMO 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2279" y="960120"/>
            <a:ext cx="610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955DD"/>
                </a:solidFill>
              </a:rPr>
              <a:t>SÉANCE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2279" y="1298448"/>
            <a:ext cx="6109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50" b="1" i="0">
                <a:solidFill>
                  <a:srgbClr val="1A3560"/>
                </a:solidFill>
              </a:rPr>
              <a:t>Hyper-V avancé : intégration,
mémoire dynamique, BPA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2279" y="2395728"/>
            <a:ext cx="610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1">
                <a:solidFill>
                  <a:srgbClr val="595959"/>
                </a:solidFill>
              </a:rPr>
              <a:t>Affiner et fiabiliser les VMs de la maquette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2279" y="2724912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2279" y="306324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6327" y="3063240"/>
            <a:ext cx="574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560"/>
                </a:solidFill>
              </a:rPr>
              <a:t>4 heures — à distance (Teams)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2279" y="3483864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6327" y="3483864"/>
            <a:ext cx="574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560"/>
                </a:solidFill>
              </a:rPr>
              <a:t>Bloc Fondations — 5ᵉ séance sur 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2279" y="3904488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6327" y="3904488"/>
            <a:ext cx="574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560"/>
                </a:solidFill>
              </a:rPr>
              <a:t>Prérequis : les 5 VMs de la maquette créées (Séance 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822960"/>
            <a:ext cx="11274552" cy="10515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Une VM mal réglée gaspille de la RAM ou tourne sans les pilotes optimisés.
Aujourd'hui, on fiabilise chaque VM de la maquette avant d'aller plus loin.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75" b="1" i="0">
                <a:solidFill>
                  <a:srgbClr val="1A3560"/>
                </a:solidFill>
              </a:rPr>
              <a:t>Pourquoi affiner les VMs maintenant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3575304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64008" cy="182880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71216"/>
            <a:ext cx="3209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821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Intégration Hyper-V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11296"/>
            <a:ext cx="320954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Sans les services d'intégration, les VMs restent lentes et mal synchronisées avec l'hôte.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4" y="2743200"/>
            <a:ext cx="3575304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06824" y="2743200"/>
            <a:ext cx="64008" cy="182880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9704" y="2871216"/>
            <a:ext cx="3209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⚖️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1821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Mémoire dynamique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3511296"/>
            <a:ext cx="320954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Éviter de figer 2 Go sur une VM qui n'en utilise que 400 Mo au repos.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2743200"/>
            <a:ext cx="3575304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56448" y="2743200"/>
            <a:ext cx="64008" cy="182880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7" y="2871216"/>
            <a:ext cx="3209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1821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BPA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511296"/>
            <a:ext cx="320954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Le Best Practices Analyzer détecte les erreurs de configuration avant qu'elles ne posent problème.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Plan de la séance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6 blocs pour fiabiliser les VMs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66928" cy="123444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26563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975104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Services d'intégration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340864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Composants et rôle de chacun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1828800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7356" y="1828800"/>
            <a:ext cx="566928" cy="123444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77356" y="2226563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0588" y="1975104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Mémoire dynamique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0588" y="2340864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Min, démarrage, max, buffer, priorité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27832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227832"/>
            <a:ext cx="566928" cy="123444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625596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374136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Configurer la mémoire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3739896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PowerShell et interface graphique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7356" y="3227832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77356" y="3227832"/>
            <a:ext cx="566928" cy="123444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77356" y="3625596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0588" y="3374136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Gestion de l'état des VMs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0588" y="3739896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Arrêter, enregistrer, mettre en pause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26864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626864"/>
            <a:ext cx="566928" cy="123444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02462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4773168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Best Practices Analyzer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5138928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Détecter les erreurs de configuration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7356" y="4626864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77356" y="4626864"/>
            <a:ext cx="566928" cy="123444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77356" y="502462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0588" y="4773168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Export et sauvegarde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0588" y="5138928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Notions de base pour protéger une VM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Plan de la séance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Les services d'intégration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Le pont entre l'hôte et la 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Les services d'intégration (Integration Services) sont un ensemble de pilotes et services installés dans le système invité, permettant une communication optimisée avec l'hyperviseur.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112745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502920" cy="86868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72034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60320"/>
            <a:ext cx="10451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Pulsation (Heartbeat)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52928"/>
            <a:ext cx="10451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Signale à l'hôte que la VM répond toujours, utile pour la supervision.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112745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502920" cy="86868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680459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20440"/>
            <a:ext cx="10451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Synchronisation de l'heure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813048"/>
            <a:ext cx="10451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Aligne l'horloge de la VM sur celle de l'hôte.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112745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502920" cy="86868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640579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480559"/>
            <a:ext cx="10451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Sauvegarde (VSS)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73168"/>
            <a:ext cx="10451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Permet des sauvegardes cohérentes de la VM depuis l'hôte, sans l'arrêter.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12745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5349240"/>
            <a:ext cx="502920" cy="86868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0911" y="5600699"/>
            <a:ext cx="41549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 dirty="0" smtClean="0">
                <a:solidFill>
                  <a:srgbClr val="FFFFFF"/>
                </a:solidFill>
              </a:rPr>
              <a:t>🖱</a:t>
            </a:r>
            <a:endParaRPr sz="1700" b="1" i="0" dirty="0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7280" y="5440679"/>
            <a:ext cx="10451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Échange de données / Session invité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733288"/>
            <a:ext cx="10451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Copier-coller entre hôte et VM, exécution de commandes à distance légères.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Bloc 1 : services d'intégration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Vérifier les services d'intégration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S'assurer qu'ils sont actifs et à jour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2745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48640" cy="100584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30551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947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Depuis le Gestionnaire Hyper-V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286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Onglet Intégration des services dans les Paramètres de la VM : coche verte si le service est actif.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71800"/>
            <a:ext cx="112745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548640" cy="100584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7283" y="3273551"/>
            <a:ext cx="50847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 dirty="0" smtClean="0">
                <a:solidFill>
                  <a:srgbClr val="FFFFFF"/>
                </a:solidFill>
              </a:rPr>
              <a:t>⌨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3000" y="3090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Depuis PowerShell (sur l'hôte)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29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Get-VMIntegrationService -VMName "SV1" liste l’état de chaque service pour la VM.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112745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548640" cy="100584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41655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233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Mise à jour automatique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72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Depuis Windows Server 2016/VM Génération 2, les services d'intégration se mettent à jour via Windows Update, sans ISO séparé.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94960"/>
            <a:ext cx="11274552" cy="777240"/>
          </a:xfrm>
          <a:prstGeom prst="rect">
            <a:avLst/>
          </a:prstGeom>
          <a:solidFill>
            <a:srgbClr val="F2ECFA"/>
          </a:solidFill>
          <a:ln w="25400">
            <a:solidFill>
              <a:srgbClr val="995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394960"/>
            <a:ext cx="502920" cy="77724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5582412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46811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9058D"/>
                </a:solidFill>
              </a:rPr>
              <a:t>À vérifier en priorité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760720"/>
            <a:ext cx="1058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Sur SRVCore comme sur SV1, confirmer que le service « Échange de données » et « Heartbeat » sont actifs : ce sont les plus utiles au quotidien.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Bloc 1 : services d'intégration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Comprendre la mémoire dynamique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4 paramètres à connaître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384048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856231"/>
            <a:ext cx="3424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Paramètre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4784" y="1856231"/>
            <a:ext cx="7483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Rôle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67128"/>
            <a:ext cx="1127455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2240280"/>
            <a:ext cx="3424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Mémoire de démarrage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4784" y="2240280"/>
            <a:ext cx="7483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RAM allouée au démarrage de la VM, avant ajustement dynamique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42616"/>
            <a:ext cx="11274552" cy="475488"/>
          </a:xfrm>
          <a:prstGeom prst="rect">
            <a:avLst/>
          </a:prstGeom>
          <a:solidFill>
            <a:srgbClr val="F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2715768"/>
            <a:ext cx="3424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Minimum de 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4784" y="2715768"/>
            <a:ext cx="7483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Plancher : la VM ne descendra jamais en dessous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18104"/>
            <a:ext cx="1127455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191256"/>
            <a:ext cx="3424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Maximum de 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4784" y="3191256"/>
            <a:ext cx="7483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Plafond : la VM ne dépassera jamais cette limite, même sous forte charge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93592"/>
            <a:ext cx="11274552" cy="475488"/>
          </a:xfrm>
          <a:prstGeom prst="rect">
            <a:avLst/>
          </a:prstGeom>
          <a:solidFill>
            <a:srgbClr val="F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3666744"/>
            <a:ext cx="3424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Mémoire tampon (%)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4784" y="3666744"/>
            <a:ext cx="7483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Marge de RAM supplémentaire allouée au-delà du besoin réel observé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11274552" cy="777240"/>
          </a:xfrm>
          <a:prstGeom prst="rect">
            <a:avLst/>
          </a:prstGeom>
          <a:solidFill>
            <a:srgbClr val="F2ECFA"/>
          </a:solidFill>
          <a:ln w="25400">
            <a:solidFill>
              <a:srgbClr val="995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502920" cy="77724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4485132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37083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9058D"/>
                </a:solidFill>
              </a:rPr>
              <a:t>Priorité mémoire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663440"/>
            <a:ext cx="1058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En cas de ressources limitées sur l'hôte, un poids (priorité) plus élevé donne à une VM la priorité pour obtenir de la RAM supplémentaire face aux autres VMs.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Bloc 2 : mémoire dynamique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Mémoire dynamique recommandée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Ajuster les 5 VMs de la maquette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384048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856231"/>
            <a:ext cx="229752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7329" y="1856231"/>
            <a:ext cx="2748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Démarrage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8712" y="1856231"/>
            <a:ext cx="2748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Minimum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0096" y="1856231"/>
            <a:ext cx="2748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Maximum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67128"/>
            <a:ext cx="11274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221992"/>
            <a:ext cx="22975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AD1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7329" y="222199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2048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8712" y="222199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1024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0096" y="222199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4096 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32888"/>
            <a:ext cx="11274552" cy="365760"/>
          </a:xfrm>
          <a:prstGeom prst="rect">
            <a:avLst/>
          </a:prstGeom>
          <a:solidFill>
            <a:srgbClr val="F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2587752"/>
            <a:ext cx="22975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AD2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7329" y="258775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2048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8712" y="258775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1024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0096" y="258775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4096 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898648"/>
            <a:ext cx="11274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2953512"/>
            <a:ext cx="22975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SV1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7329" y="295351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2048 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78712" y="295351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512 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0096" y="295351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4096 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64408"/>
            <a:ext cx="11274552" cy="365760"/>
          </a:xfrm>
          <a:prstGeom prst="rect">
            <a:avLst/>
          </a:prstGeom>
          <a:solidFill>
            <a:srgbClr val="F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3319272"/>
            <a:ext cx="22975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SRVCore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47329" y="331927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1024 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8712" y="331927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512 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0096" y="3319272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2048 Mo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30168"/>
            <a:ext cx="11274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3685031"/>
            <a:ext cx="22975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CL10-01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7329" y="3685031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4096 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78712" y="3685031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2048 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0096" y="3685031"/>
            <a:ext cx="2748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6144 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224528"/>
            <a:ext cx="11274552" cy="594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4224528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4251960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PowerShell — activer la mémoire dynamique sur AD1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4526280"/>
            <a:ext cx="1081735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1" i="0">
                <a:solidFill>
                  <a:srgbClr val="88DDAA"/>
                </a:solidFill>
              </a:rPr>
              <a:t>Set-VMMemory -VMName "AD1" -DynamicMemoryEnabled $true -MinimumBytes 1GB -StartupBytes 2GB -MaximumBytes 4GB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Bloc 2 : mémoire dynamique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Configurer la mémoire dynamique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Par l'interface graphique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3636264" cy="36576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837943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219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Paramètres de la 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328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Sélectionner la VM dans le Gestionnaire Hyper-V, puis Paramètres.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6344" y="17830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6344" y="1783080"/>
            <a:ext cx="3636264" cy="36576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3504" y="1837943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3504" y="22219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Section Mémoire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3504" y="25328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Cocher « Activer la mémoire dynamique 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5488" y="17830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5488" y="1783080"/>
            <a:ext cx="3636264" cy="36576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32648" y="1837943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2648" y="22219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Minimum et maximum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2648" y="25328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Renseigner les valeurs minimale et maximale de RAM.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32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383280"/>
            <a:ext cx="3636264" cy="36576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343814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8221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Mémoire tampon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1330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Ajuster le pourcentage de marge (20 % par défaut, souvent suffisant en labo.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6344" y="33832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76344" y="3383280"/>
            <a:ext cx="3636264" cy="36576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13504" y="343814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3504" y="38221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Priorité mémoire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3504" y="41330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Ajuster le poids relatif si plusieurs VMs sont en concurrence pour la RAM.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5488" y="33832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95488" y="3383280"/>
            <a:ext cx="3636264" cy="36576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32648" y="343814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2648" y="38221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Appliquer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2648" y="41330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Valider : certains changements demandent l'arrêt préalable de la VM.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Bloc 3 : configurer la mémoire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Gérer l'état des VMs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Arrêter n'est pas toujours la bonne option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54396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64008" cy="169164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Arrêter (Shut down)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51175"/>
            <a:ext cx="5088636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Arrêt propre du système d'exploitation invité, comme un vrai serveur. À privilégier avant maintenance.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1783080"/>
            <a:ext cx="5454396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7356" y="1783080"/>
            <a:ext cx="64008" cy="169164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0236" y="1911095"/>
            <a:ext cx="4635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 dirty="0" smtClean="0">
                <a:solidFill>
                  <a:srgbClr val="595959"/>
                </a:solidFill>
              </a:rPr>
              <a:t>⏸</a:t>
            </a:r>
            <a:endParaRPr sz="1800" b="0" i="0" dirty="0">
              <a:solidFill>
                <a:srgbClr val="595959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60236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Enregistrer l'état (Save)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551175"/>
            <a:ext cx="5088636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Fige l'état en mémoire sur disque et libère les ressources : reprise rapide, comme une mise en veille prolongée.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5454396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64008" cy="169164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785615"/>
            <a:ext cx="4635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 dirty="0" smtClean="0">
                <a:solidFill>
                  <a:srgbClr val="595959"/>
                </a:solidFill>
              </a:rPr>
              <a:t>⏯</a:t>
            </a:r>
            <a:endParaRPr sz="1800" b="0" i="0" dirty="0">
              <a:solidFill>
                <a:srgbClr val="595959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409651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Mettre en pause (Pause)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25696"/>
            <a:ext cx="5088636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Fige la VM en mémoire sans libérer le CPU : reprise quasi instantanée mais consomme toujours la RAM.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7356" y="3657600"/>
            <a:ext cx="5454396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77356" y="3657600"/>
            <a:ext cx="64008" cy="169164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0236" y="378561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409651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Éteindre (Turn off)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4425696"/>
            <a:ext cx="5088636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Équivalent à débrancher : à éviter, risque de corruption de données non enregistrées.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Bloc 4 : gestion de l'état des VMs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Best Practices Analyzer (BPA)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Un audit intégré à Windows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Le BPA analyse la configuration d'un rôle installé (comme Hyper-V) et compare les paramètres actuels aux recommandations de Microsoft, en signalant les écarts par niveau de gravité.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112745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502920" cy="86868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7660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06040"/>
            <a:ext cx="10451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Erreur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98648"/>
            <a:ext cx="10451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Configuration risquant de provoquer un dysfonctionnement du rôle.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112745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474720"/>
            <a:ext cx="502920" cy="86868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6179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66160"/>
            <a:ext cx="10451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Avertissement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858768"/>
            <a:ext cx="10451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Configuration qui s'écarte des bonnes pratiques, sans être bloquante.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34840"/>
            <a:ext cx="112745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502920" cy="86868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686299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526279"/>
            <a:ext cx="10451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Information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818888"/>
            <a:ext cx="10451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Suggestion ou rappel, sans impact direct sur le fonctionnement.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Bloc 5 : Best Practices Analyzer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Exécuter le BPA sur Hyper-V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Via le Gestionnaire de serveur ou PowerShell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2745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48640" cy="100584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32" y="2130551"/>
            <a:ext cx="4571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 dirty="0" smtClean="0">
                <a:solidFill>
                  <a:srgbClr val="FFFFFF"/>
                </a:solidFill>
              </a:rPr>
              <a:t>🖱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1947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Interface graphique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286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Gestionnaire de serveur → Hyper-V → section Analyseur de meilleures pratiques → Lancer une analyse BPA.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71800"/>
            <a:ext cx="112745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548640" cy="100584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7283" y="3273551"/>
            <a:ext cx="50847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 dirty="0" smtClean="0">
                <a:solidFill>
                  <a:srgbClr val="FFFFFF"/>
                </a:solidFill>
              </a:rPr>
              <a:t>⌨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3000" y="3090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PowerShell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29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Invoke-BpaModel -ModelId Microsoft/Windows/Hyper-V lance l’analyse ; Get-BpaResult en affiche les résultats.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112745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548640" cy="100584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41655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233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Traitement des résultats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72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Chaque écart signalé inclut une explication et un lien vers la correction recommandée par Microsoft.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257800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285232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PowerShell — lancer l'analyse BPA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559552"/>
            <a:ext cx="10817352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Invoke-BpaModel -ModelId Microsoft/Windows/Hyper-V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Bloc 5 : Best Practices Analyzer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Export et sauvegarde d'une 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Protéger le travail effectué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54396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64008" cy="173736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Exporter une 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51175"/>
            <a:ext cx="508863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Copie complète de la configuration et des disques virtuels vers un dossier, pour sauvegarde ou migration vers un autre hôte.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1783080"/>
            <a:ext cx="5454396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7356" y="1783080"/>
            <a:ext cx="64008" cy="173736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0236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Importer une 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551175"/>
            <a:ext cx="508863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Recrée la VM à partir d'un export, avec options pour copier ou réutiliser les fichiers, et régénérer les identifiants si besoin.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11274552" cy="548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730752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PowerShell — exporter AD1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005072"/>
            <a:ext cx="10817352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Export-VM -Name "AD1" -Path "E:\Sauvegardes\"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11274552" cy="777240"/>
          </a:xfrm>
          <a:prstGeom prst="rect">
            <a:avLst/>
          </a:prstGeom>
          <a:solidFill>
            <a:srgbClr val="F2ECFA"/>
          </a:solidFill>
          <a:ln w="25400">
            <a:solidFill>
              <a:srgbClr val="995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502920" cy="77724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" y="4668012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55371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9058D"/>
                </a:solidFill>
              </a:rPr>
              <a:t>Bon réflexe avant toute manipulation majeure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846320"/>
            <a:ext cx="1058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Exporter (ou au minimum créer un checkpoint) avant une opération risquée sur AD1/AD2 : la promotion en DC (Séance 7) en est un excellent exemple.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Bloc 6 : export et sauvegarde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Suivre l'utilisation des ressources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Resource Metering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2745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48640" cy="105156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5341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947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Activer le suivi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286000"/>
            <a:ext cx="103601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Enable-VMResourceMetering -VMName "SV1" active la collecte de métriques (CPU, RAM, réseau, disque) pour la VM.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112745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548640" cy="105156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34213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36391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Consulter les données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74720"/>
            <a:ext cx="103601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Measure-VM -VMName "SV1" affiche la consommation moyenne depuis l’activation du suivi.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112745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548640" cy="105156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53085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32511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Utilité en entreprise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663440"/>
            <a:ext cx="103601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Facturation interne, planification de capacité, ou identification d'une VM anormalement gourmande en ressources.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Bloc 6 : export et sauvegarde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Bonnes pratiques Hyper-V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Ce qu'il faut retenir de cette séance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48640" cy="109728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7627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947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Toujours activer les services d'intégration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286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Sur chaque VM, vérifier l'état des 4 services essentiels après chaque installation.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6324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548640" cy="109728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41071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8211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Préférer la mémoire dynamique en labo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Sauf cas particulier, elle optimise l'usage de la RAM de l'hôte partagée entre 5 VMs.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548640" cy="109728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64515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1655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Exécuter le BPA après tout changement majeur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7548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Un rôle nouvellement configuré doit être validé par une analyse BPA avant mise en service.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Bloc 6 : export et sauvegarde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Aperçu pratique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Onglet Intégration des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Aperçu pratique</a:t>
            </a:r>
          </a:p>
        </p:txBody>
      </p:sp>
      <p:pic>
        <p:nvPicPr>
          <p:cNvPr id="1026" name="Picture 2" descr="Utilisation de points de contrôle | Microsoft 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464" y="1928438"/>
            <a:ext cx="10230010" cy="439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Aperçu pratique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 dirty="0">
                <a:solidFill>
                  <a:srgbClr val="595959"/>
                </a:solidFill>
              </a:rPr>
              <a:t>Configuration de la </a:t>
            </a:r>
            <a:r>
              <a:rPr sz="1450" b="0" i="0" dirty="0" err="1">
                <a:solidFill>
                  <a:srgbClr val="595959"/>
                </a:solidFill>
              </a:rPr>
              <a:t>mémoire</a:t>
            </a:r>
            <a:r>
              <a:rPr sz="1450" b="0" i="0" dirty="0">
                <a:solidFill>
                  <a:srgbClr val="595959"/>
                </a:solidFill>
              </a:rPr>
              <a:t> </a:t>
            </a:r>
            <a:r>
              <a:rPr sz="1450" b="0" i="0" dirty="0" err="1">
                <a:solidFill>
                  <a:srgbClr val="595959"/>
                </a:solidFill>
              </a:rPr>
              <a:t>dynamique</a:t>
            </a:r>
            <a:endParaRPr sz="1350" b="0" i="0" dirty="0">
              <a:solidFill>
                <a:srgbClr val="595959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Aperçu pratique</a:t>
            </a:r>
          </a:p>
        </p:txBody>
      </p:sp>
      <p:pic>
        <p:nvPicPr>
          <p:cNvPr id="2050" name="Picture 2" descr="Beginner's Guide for Microsoft Hyper-V: Hyper-V Dynamic Memory - Part 17 -  BDRShiel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344" y="1463040"/>
            <a:ext cx="7233173" cy="521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Aperçu pratique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Résultats de l'analyse BPA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Aperçu pratique</a:t>
            </a:r>
          </a:p>
        </p:txBody>
      </p:sp>
      <p:pic>
        <p:nvPicPr>
          <p:cNvPr id="3074" name="Picture 2" descr="Best Practices Analyzer for Hyper-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715" y="1548921"/>
            <a:ext cx="8889403" cy="512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75" b="1" i="0">
                <a:solidFill>
                  <a:srgbClr val="FFFFFF"/>
                </a:solidFill>
              </a:rPr>
              <a:t>Vocabulaire clé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07008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99EE"/>
                </a:solidFill>
              </a:rPr>
              <a:t>18 termes à maîtriser avant la Séance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Services d'intégration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938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Pilotes et services optimisant la communication VM ↔ hôte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69164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Heartbeat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92938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Signal indiquant que la VM répond toujours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69164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Mémoire dynamique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92938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Ajustement automatique de la RAM allouée à une 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386584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Mémoire de démarrage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24328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RAM allouée au lancement, avant ajustement dynamique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2386584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Mémoire tampon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2624328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Marge de RAM allouée au-delà du besoin réel observé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386584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Priorité mémoire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624328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Poids relatif d'une VM dans la répartition de RAM disponible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81528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BPA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319272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Best Practices Analyzer, outil d'audit de configuration Windows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3081528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Invoke-BpaModel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319272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Cmdlet PowerShell pour lancer une analyse BPA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081528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Enregistrer (Save)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319272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Figer l'état d'une VM sur disque et libérer les ressources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76472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Mettre en pause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14216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Figer une VM en mémoire sans libérer le CPU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6824" y="3776472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Export-VM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6824" y="4014216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Cmdlet PowerShell pour exporter une VM complète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3776472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Import-VM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014216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Cmdlet PowerShell pour recréer une VM depuis un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71416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Resource Metering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09160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Suivi de la consommation de ressources d'une VM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6824" y="4471416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Measure-VM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6824" y="4709160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Cmdlet PowerShell affichant les métriques collectées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8" y="4471416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VSS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4709160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Volume Shadow Copy Service, service de cliché instantané Windows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16636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Set-VMMemory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40410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Cmdlet PowerShell pour configurer la mémoire d'une VM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6824" y="516636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Get-VMIntegrationService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6824" y="540410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Cmdlet PowerShell listant l'état des services d'intégration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516636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Checkpoint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540410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Instantané réversible de l'état d'une VM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Vocabulaire clé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Mémo commandes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PowerShell — Hyper-V avancé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810512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Voir les services d'intégration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1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Get-VMIntegrationService -VMName "SV1"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59736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459736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487168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Activer la mémoire dynamique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761488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1" i="0">
                <a:solidFill>
                  <a:srgbClr val="88DDAA"/>
                </a:solidFill>
              </a:rPr>
              <a:t>Set-VMMemory -VMName "AD1" -DynamicMemoryEnabled $true -MinimumBytes 1GB -StartupBytes 2GB -MaximumBytes 4GB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36391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136391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163823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Lancer une analyse BPA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438144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Invoke-BpaModel -ModelId Microsoft/Windows/Hyper-V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13048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813048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0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Voir les résultats du BPA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114800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Get-BpaResult -ModelId Microsoft/Windows/Hyper-V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9704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489704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4517136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Exporter une VM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791456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Export-VM -Name "AD1" -Path "E:\Sauvegardes\"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66360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5166360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193792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Activer le suivi des ressources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468112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Enable-VMResourceMetering -VMName "SV1"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Mémo commandes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Cas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3 mises en situation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4864" cy="123444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911095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Julien — Admin réseau junior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402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Julien remarque que CL10-01 est très lente au démarrage. Quel élément vérifier en premier concernant les services d'intégration 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54680"/>
            <a:ext cx="112745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54864" cy="123444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282696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Sophie — Technicienne support N2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118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Sophie doit réduire la RAM figée sur SRVCore, qui n'utilise en réalité que 600 Mo. Quelle solution lui proposez-vous 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26280"/>
            <a:ext cx="112745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526280"/>
            <a:ext cx="54864" cy="123444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654296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Isabelle — Analyste sécurité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834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Isabelle veut s'assurer que la configuration Hyper-V ne présente aucune erreur critique avant la mise en production. Quel outil utilise-t-elle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Cas pratiques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À vous de jouer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4 exercices avant la Séance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500116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500116" cy="45720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20240"/>
            <a:ext cx="51343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Exercice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95728"/>
            <a:ext cx="51343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Vérifiez les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24912"/>
            <a:ext cx="513435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Contrôlez l'état des services d'intégration sur les 5 VMs de la maquette.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828800"/>
            <a:ext cx="5500116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1636" y="1828800"/>
            <a:ext cx="5500116" cy="45720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4516" y="1920240"/>
            <a:ext cx="51343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Exercice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516" y="2395728"/>
            <a:ext cx="51343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Activez la mémoire dynamique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724912"/>
            <a:ext cx="513435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Configurez min/démarrage/max sur chacune des 5 VMs selon les recommandations.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5500116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5500116" cy="45720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39"/>
            <a:ext cx="51343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Exercice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24528"/>
            <a:ext cx="51343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Lancez une analyse BPA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53712"/>
            <a:ext cx="513435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Exécutez le BPA sur le rôle Hyper-V et notez les écarts signalés.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3657600"/>
            <a:ext cx="5500116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31636" y="3657600"/>
            <a:ext cx="5500116" cy="45720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4516" y="3749039"/>
            <a:ext cx="51343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Exercice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4516" y="4224528"/>
            <a:ext cx="51343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Exportez une VM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4516" y="4553712"/>
            <a:ext cx="513435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Exportez AD1 vers un dossier de sauvegarde, puis vérifiez le contenu généré.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À vous de jouer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5 — Hyper-V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Récapitulatif et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Avant de passer à la Séance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1862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Ce que nous avons vu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48840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Services d'intégration Hyper-V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3347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33472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Mémoire dynamique (min/démarrage/max/tampon)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1810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118104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Gestion de l'état des VMs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0273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602736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Best Practices Analyzer (BPA)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8736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087368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Export et import d'une 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72000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Resource Metering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6" y="1783080"/>
            <a:ext cx="5637276" cy="42062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77356" y="1920240"/>
            <a:ext cx="52715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2ECFA"/>
                </a:solidFill>
              </a:rPr>
              <a:t>☑  CHECKLIST AVANT LA SÉANCE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7356" y="23317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97396" y="22951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Services d'intégration vérifiés sur les 5 VMs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7356" y="27889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97396" y="27523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Mémoire dynamique activée et configurée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7356" y="32461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97396" y="32095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Analyse BPA exécutée sur Hyper-V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7356" y="37033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97396" y="36667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Écarts BPA corrigés ou documentés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7356" y="41605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97396" y="41239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Export de test réalisé sur AD1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7356" y="46177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97396" y="45811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Resource Metering activé sur au moins 1 VM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7356" y="50749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97396" y="50383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Espace disque suffisant pour les exports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7356" y="55321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97396" y="54955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Notes de configuration à jour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5 — Récapitulatif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2240</Words>
  <Application>Microsoft Office PowerPoint</Application>
  <PresentationFormat>Personnalisé</PresentationFormat>
  <Paragraphs>398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Chafik Moustaid</cp:lastModifiedBy>
  <cp:revision>3</cp:revision>
  <dcterms:created xsi:type="dcterms:W3CDTF">2013-01-27T09:14:16Z</dcterms:created>
  <dcterms:modified xsi:type="dcterms:W3CDTF">2026-07-29T19:19:11Z</dcterms:modified>
  <cp:category/>
</cp:coreProperties>
</file>