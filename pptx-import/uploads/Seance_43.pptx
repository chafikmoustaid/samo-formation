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1A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A1A"/>
                </a:solidFill>
              </a:rPr>
              <a:t>SÉANCE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A1A"/>
                </a:solidFill>
              </a:rPr>
              <a:t>Numérotation, listes à puces
et mise en forme des paragraphes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Listes personnalisées, retraits, interlignes et contrôle des paragraphes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A1A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Une liste bien construite se 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7000"/>
                </a:solidFill>
              </a:rPr>
              <a:t>d'un seul coup d'œil, sans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8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7000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Créer des listes simples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Puces automatiques et personnalisation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7000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Déplacer les puces et texte avant numérotation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retraits de paragraphe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7000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interlignes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Veuves, orphelines et paragraphes solidaires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Création de listes simples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Deux types de listes de base dans le groupe Paragraphe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liste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Bouton du ruban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Liste à puces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Icône puces (points)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Éléments sans ordre d'importance particulier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Liste numérotée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Icône 1,2,3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Étapes ou éléments dans un ordre précis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Liste à plusieurs niveaux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Icône hiérarchique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Structure avec sous-listes imbriquées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Puces automatiques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Word détecte parfois vos listes avant même que vous cliquiez sur le bouton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Déclenchement automatique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Taper * ou - suivi d'un espace démarre une liste à puces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Taper 1. suivi d'un espace démarre une liste numérotée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Appuyer deux fois sur Entrée pour arrêter la liste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Désactiver si non désiré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Icône Options de correction automatique après la détection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Fichier &gt; Options &gt; Vérification &gt; Correction automatique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Décocher Listes automatiques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Personnalisation d'une liste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Changer le style de puce ou de numérotation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Sélectionner la liste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dans la liste ou sélectionner plusieurs éléments.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Ouvrir le menu déroulant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la flèche à côté de l'icône Puces ou Numérotation.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Choisir une bibliothèque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Sélectionner un style existant dans la galerie proposée.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Définir une puce personnalisée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Nouvelle puce &gt; choisir un symbole, une image ou une police spéciale.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Définir un format numéroté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Nouveau format de numérotation &gt; choisir le style de nombre (1, a, i, etc.).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Déplacer les puces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Ajuster la position horizontale des puces et du texte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À la règle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Deux petits triangles apparaissent sur la règle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Glisser le triangle du haut pour la puce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Glisser le triangle du bas pour le texte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 le clavier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Tab en début de ligne : augmente le retrait (niveau suivant)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Maj+Tab en début de ligne : diminue le retrait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Utile pour créer des sous-listes rapidement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Texte avant numérotation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Ajouter un mot ou une abréviation avant chaque numéro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Élément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Exemple de résultat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Numérotation simple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1. 2. 3.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Avec texte avant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Étape 1. Étape 2. Étape 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Avec texte avant et après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Article 1 — Article 2 — Article 3 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Réglage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Définir un nouveau format de numérotation &gt; modifier le champ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Numérotation, listes à puces
et mise en forme des paragraphes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Listes personnalisées, retraits, interlignes et contrôle des paragraphes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Galerie de puces et numérotation personnalisées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la galerie de styles de liste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options Nouvelle puce et Nouveau format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retraits de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Décaler un paragraphe par rapport à la marge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retrait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Retrait gauche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Décale tout le paragraphe vers la droite depuis la marge gauche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Retrait droite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Décale tout le paragraphe depuis la marge droite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Première ligne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Décale uniquement la première ligne, comme un alinéa classique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Retrait négatif (suspendu)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Toutes les lignes sauf la première sont décalées — utile pour les listes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interlignes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L'espace vertical entre les lignes d'un même paragraphe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 d'interligne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 typique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Simple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Lecture compacte, documents courts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1,5 ligne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Bon compromis lisibilité / longueur, standard académique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Documents à corriger ou annoter, brouillons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Exactement / Au moins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Contrôle précis en points, pour un rendu très structuré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Contrôle des paragraphes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options pour éviter les coupures disgracieuses entre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05784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Éviter veuves et orphelines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Empêche une seule ligne isolée en haut ou en bas de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Coché par défaut dans 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1584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1584" y="1783080"/>
            <a:ext cx="3605784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744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Paragraphes solidaires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6176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Garde un titre attaché au paragraphe suivant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Évite un titre seul en bas de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5968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5968" y="1783080"/>
            <a:ext cx="3605784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Lignes solidaires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560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Empêche un saut de page au milieu d'un même paragraphe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Utile pour les citations ou tableaux courts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Martin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7000"/>
                </a:solidFill>
              </a:rPr>
              <a:t>Sa liste à puces recommence à 1 alors qu'elle devrait continuer la numérotation précédente.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continuer une numérotation interrompue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se trouve cette option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Clic droit sur le numéro &gt; Continuer la numérotation.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Chantal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Un titre se retrouve seul en bas d'une page, séparé du paragraphe qui le suit.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empêcher un titre d'être séparé de son texte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 réglage utiliser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Paragraphe &gt; Enchaînements &gt; cocher Paragraphes solidaires.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François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7000"/>
                </a:solidFill>
              </a:rPr>
              <a:t>Ses paragraphes sont collés les uns aux autres, sans aucun espace visuel entre eux.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ajouter de l'espace entre les paragraphes sans appuyer sur Entrée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régler cela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Paragraphe &gt; Espacement &gt; Avant / Après, plutôt que des lignes vides manuelles.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listes et paragraphes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qui distingue un document structuré d'un document brouillon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Pratique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C07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Utiliser l'espacement de paragraphe plutôt que des lignes vides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Garde un espacement cohérent et modifiable en un clic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Rester cohérent dans le style de puces d'un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Un document avec cinq styles de puces différents paraît désorganisé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Activer les options de contrôle de paragraphe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Évite les coupures disgracieuses lors de modifications futures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Limiter les listes à trois niveaux d'imbrication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Au-delà, la lecture devient confuse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 visuel — listes et paragraphes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Quatre réflexes à automatiser dès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Listes cohérentes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Un seul style de puce ou de numérotation par document.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Retraits, pas espaces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Toujours utiliser les retraits plutôt que la barre d'espacement.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Espacement de paragraphe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Préférer l'espacement Avant/Après aux lignes vides manuelles.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Contrôle activé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Garder les options anti-veuves et orphelines actives par défaut.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Liste à puces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sans ordre, marquée par des symboles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Liste numérotée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ordonnée, marquée par des chiffres ou lettres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Liste à plusieurs niveaux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hiérarchique avec sous-listes imbriquées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Retrait suspendu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Retrait négatif appliqué à toutes les lignes sauf la première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Retrait de première ligne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Décalage appliqué uniquement au début du paragraphe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Interligne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Espace vertical entre les lignes d'un paragraphe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Espacement avant/après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Espace ajouté avant ou après un paragraphe entier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Veuve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Dernière ligne d'un paragraphe isolée en haut d'une page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Orpheline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Première ligne d'un paragraphe isolée en bas d'une page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Paragraphes solidaires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gardant deux paragraphes toujours sur la même page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Lignes solidaires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empêchant la coupure d'un paragraphe entre deux pages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Continuer la numérotation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reprenant la numérotation d'une liste précédente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Recommencer à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redémarrant une numérotation de liste à zéro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Texte avant numérotation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Mot ajouté avant le chiffre dans une liste (ex. Étape 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Niveau de liste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Profondeur d'imbrication d'un élément dans une liste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Puce personnalisée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Symbole ou image choisi pour remplacer la puce par défaut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Correction automatique de liste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Détection automatique du début d'une liste en tapant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000"/>
                </a:solidFill>
              </a:rPr>
              <a:t>Groupe Paragraphe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Zone du ruban Accueil contenant les commandes de liste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Tab (début de ligne, liste)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Augmenter le niveau de retrait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Maj+Tab (début de ligne, liste)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Diminuer le niveau de retrait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Interligne simple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Interligne double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Interligne 1,5 ligne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Ajouter/retirer un espace avant le paragraphe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* + espace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Démarrer une liste à puces automatique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1. + espace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Démarrer une liste numérotée automatique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Numérotation, listes à puces
et mise en forme des paragraphes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Listes personnalisées, retraits, interlignes et contrôle des paragraphes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Onglet Enchaînements de la boîte Paragraphe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l'onglet Enchaînements avec les cases cochées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Éviter veuves et orphelines coché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30 — Listes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une liste à puces et une liste numérotée à partir d'un même texte fourni.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31 — Personnaliser une liste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Changez le style de puce pour un symbole personnalisé et ajoutez du texte avant la numérotation.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32 — Retraits et interlignes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Appliquez un retrait suspendu et un interligne 1,5 à un paragraphe de références.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34 — Contrôle des paragraphes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Activez Paragraphes solidaires sur trois titres pour qu'ils restent liés à leur texte suivant.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listes à puces et numérotées se personnalisent entièrement, symboles et formats inclus.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Tab et Maj+Tab changent rapidement le niveau d'une liste à plusieurs niveaux.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retraits de première ligne et suspendu structurent un paragraphe sans espaces manuels.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L'interligne et l'espacement avant/après remplacent avantageusement les lignes vides.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options de contrôle des paragraphes évitent les coupures disgracieuses entre les pages.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2000"/>
                </a:solidFill>
              </a:rPr>
              <a:t>N'utilisez jamais Entrée pour espacer vos paragraphes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Ajouter une ligne vide entre chaque paragraphe crée un espacement irrégulier dès qu'un paragraphe change de taille. Utilisez plutôt Paragraphe &gt; Espacement &gt; Après, une valeur fixe qui reste cohérente partout dans le document.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Mélanger plusieurs styles de puces dans un même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Utiliser des lignes vides au lieu de l'espacement de paragraphe.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d'activer Paragraphes solidaires pour les titres suivis de texte court.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Listes et mise en forme des paragraphes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Numérotation, listes à puces et paragraphes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créer une liste à puces et une liste numérotée.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personnaliser le symbole ou le format d'une liste.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déplacer une puce à l'aide de la règle ou du clavier.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ajouter du texte avant une numérotation.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appliquer un retrait de première ligne et un retrait suspendu.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régler l'interligne et l'espacement d'un paragraphe.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activer les options anti-veuves et orphelines.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07000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garder un titre solidaire du paragraphe qui le suit.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8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