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-55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92624" y="0"/>
            <a:ext cx="73152" cy="68580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8016"/>
            <a:ext cx="1097280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54864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</a:rPr>
              <a:t>Séance 9 — </a:t>
            </a:r>
            <a:r>
              <a:rPr sz="1200" b="0" i="0" dirty="0" err="1">
                <a:solidFill>
                  <a:schemeClr val="bg1"/>
                </a:solidFill>
              </a:rPr>
              <a:t>Partage</a:t>
            </a:r>
            <a:r>
              <a:rPr sz="1200" b="0" i="0" dirty="0">
                <a:solidFill>
                  <a:schemeClr val="bg1"/>
                </a:solidFill>
              </a:rPr>
              <a:t> et </a:t>
            </a:r>
            <a:r>
              <a:rPr sz="1200" b="0" i="0" dirty="0" err="1">
                <a:solidFill>
                  <a:schemeClr val="bg1"/>
                </a:solidFill>
              </a:rPr>
              <a:t>Stockage</a:t>
            </a:r>
            <a:r>
              <a:rPr sz="1200" b="0" i="0" dirty="0">
                <a:solidFill>
                  <a:schemeClr val="bg1"/>
                </a:solidFill>
              </a:rPr>
              <a:t> </a:t>
            </a:r>
            <a:r>
              <a:rPr sz="1200" b="0" i="0" dirty="0" err="1">
                <a:solidFill>
                  <a:schemeClr val="bg1"/>
                </a:solidFill>
              </a:rPr>
              <a:t>Réseau</a:t>
            </a:r>
            <a:endParaRPr sz="1200" b="0" i="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Partage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56816"/>
            <a:ext cx="43891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>
                <a:solidFill>
                  <a:schemeClr val="bg1"/>
                </a:solidFill>
              </a:rPr>
              <a:t>et </a:t>
            </a:r>
            <a:r>
              <a:rPr sz="5000" b="1" i="0" dirty="0" err="1">
                <a:solidFill>
                  <a:schemeClr val="bg1"/>
                </a:solidFill>
              </a:rPr>
              <a:t>Stockage</a:t>
            </a:r>
            <a:endParaRPr sz="5000" b="1" i="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285999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CAAFF"/>
                </a:solidFill>
              </a:rPr>
              <a:t>SMB · OneDrive · NAS · </a:t>
            </a:r>
            <a:r>
              <a:rPr sz="1300" b="0" i="0" dirty="0" err="1">
                <a:solidFill>
                  <a:srgbClr val="CCAAFF"/>
                </a:solidFill>
              </a:rPr>
              <a:t>Imprimante</a:t>
            </a:r>
            <a:r>
              <a:rPr sz="1300" b="0" i="0" dirty="0">
                <a:solidFill>
                  <a:srgbClr val="CCAAFF"/>
                </a:solidFill>
              </a:rPr>
              <a:t> </a:t>
            </a:r>
            <a:r>
              <a:rPr sz="1300" b="0" i="0" dirty="0" err="1">
                <a:solidFill>
                  <a:srgbClr val="CCAAFF"/>
                </a:solidFill>
              </a:rPr>
              <a:t>réseau</a:t>
            </a:r>
            <a:r>
              <a:rPr sz="1300" b="0" i="0" dirty="0">
                <a:solidFill>
                  <a:srgbClr val="CCAAFF"/>
                </a:solidFill>
              </a:rPr>
              <a:t> · 3-2-1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03081"/>
            <a:ext cx="2286000" cy="47548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71436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SÉANCE 9 /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1645920"/>
            <a:ext cx="6217920" cy="1234440"/>
          </a:xfrm>
          <a:prstGeom prst="rect">
            <a:avLst/>
          </a:prstGeom>
          <a:solidFill>
            <a:srgbClr val="22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94960" y="1645920"/>
            <a:ext cx="1097280" cy="1234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1645920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PC → 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181051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Partage SMB réseau local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063240"/>
            <a:ext cx="6217920" cy="1234440"/>
          </a:xfrm>
          <a:prstGeom prst="rect">
            <a:avLst/>
          </a:prstGeom>
          <a:solidFill>
            <a:srgbClr val="22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94960" y="3063240"/>
            <a:ext cx="1097280" cy="12344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60" y="3063240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PC → NAS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22783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Stockage dédié réseau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4480560"/>
            <a:ext cx="6217920" cy="1234440"/>
          </a:xfrm>
          <a:prstGeom prst="rect">
            <a:avLst/>
          </a:prstGeom>
          <a:solidFill>
            <a:srgbClr val="22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94960" y="4480560"/>
            <a:ext cx="1097280" cy="1234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4480560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PC →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6451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OneDrive / SharePoint</a:t>
            </a:r>
          </a:p>
        </p:txBody>
      </p:sp>
      <p:sp>
        <p:nvSpPr>
          <p:cNvPr id="29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30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9BB99"/>
                </a:solidFill>
              </a:rPr>
              <a:t>Version 1 — </a:t>
            </a:r>
            <a:r>
              <a:rPr sz="900" b="0" i="0" dirty="0" err="1">
                <a:solidFill>
                  <a:srgbClr val="99BB99"/>
                </a:solidFill>
              </a:rPr>
              <a:t>Juin</a:t>
            </a:r>
            <a:r>
              <a:rPr sz="900" b="0" i="0" dirty="0">
                <a:solidFill>
                  <a:srgbClr val="99BB99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"/>
            <a:ext cx="1036320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83014" y="109728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</a:rPr>
              <a:t>Séance 9 — </a:t>
            </a:r>
            <a:r>
              <a:rPr sz="1200" b="0" i="0" dirty="0" err="1">
                <a:solidFill>
                  <a:schemeClr val="bg1"/>
                </a:solidFill>
              </a:rPr>
              <a:t>Partage</a:t>
            </a:r>
            <a:r>
              <a:rPr sz="1200" b="0" i="0" dirty="0">
                <a:solidFill>
                  <a:schemeClr val="bg1"/>
                </a:solidFill>
              </a:rPr>
              <a:t> et </a:t>
            </a:r>
            <a:r>
              <a:rPr sz="1200" b="0" i="0" dirty="0" err="1">
                <a:solidFill>
                  <a:schemeClr val="bg1"/>
                </a:solidFill>
              </a:rPr>
              <a:t>Stockage</a:t>
            </a:r>
            <a:r>
              <a:rPr sz="1200" b="0" i="0" dirty="0">
                <a:solidFill>
                  <a:schemeClr val="bg1"/>
                </a:solidFill>
              </a:rPr>
              <a:t> </a:t>
            </a:r>
            <a:r>
              <a:rPr sz="1200" b="0" i="0" dirty="0" err="1">
                <a:solidFill>
                  <a:schemeClr val="bg1"/>
                </a:solidFill>
              </a:rPr>
              <a:t>Réseau</a:t>
            </a:r>
            <a:endParaRPr sz="1200" b="0" i="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2266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4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Partager = travailler ensemble.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999439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chemeClr val="bg2"/>
                </a:solidFill>
              </a:rPr>
              <a:t>Mal </a:t>
            </a:r>
            <a:r>
              <a:rPr sz="5200" b="1" i="0" dirty="0" err="1">
                <a:solidFill>
                  <a:schemeClr val="bg2"/>
                </a:solidFill>
              </a:rPr>
              <a:t>configuré</a:t>
            </a:r>
            <a:r>
              <a:rPr sz="5200" b="1" i="0" dirty="0">
                <a:solidFill>
                  <a:schemeClr val="bg2"/>
                </a:solidFill>
              </a:rPr>
              <a:t> = </a:t>
            </a:r>
            <a:r>
              <a:rPr sz="5200" b="1" i="0" dirty="0" err="1">
                <a:solidFill>
                  <a:schemeClr val="bg2"/>
                </a:solidFill>
              </a:rPr>
              <a:t>travailler</a:t>
            </a:r>
            <a:r>
              <a:rPr sz="5200" b="1" i="0" dirty="0">
                <a:solidFill>
                  <a:schemeClr val="bg2"/>
                </a:solidFill>
              </a:rPr>
              <a:t> </a:t>
            </a:r>
            <a:r>
              <a:rPr sz="5200" b="1" i="0" dirty="0" err="1">
                <a:solidFill>
                  <a:schemeClr val="bg2"/>
                </a:solidFill>
              </a:rPr>
              <a:t>seul</a:t>
            </a:r>
            <a:r>
              <a:rPr sz="5200" b="1" i="0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337560"/>
            <a:ext cx="9994392" cy="36576"/>
          </a:xfrm>
          <a:prstGeom prst="rect">
            <a:avLst/>
          </a:prstGeom>
          <a:solidFill>
            <a:srgbClr val="33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520440"/>
            <a:ext cx="9994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chemeClr val="bg2"/>
                </a:solidFill>
              </a:rPr>
              <a:t>Un dossier </a:t>
            </a:r>
            <a:r>
              <a:rPr sz="1500" b="0" i="0" dirty="0" err="1">
                <a:solidFill>
                  <a:schemeClr val="bg2"/>
                </a:solidFill>
              </a:rPr>
              <a:t>partagé</a:t>
            </a:r>
            <a:r>
              <a:rPr sz="1500" b="0" i="0" dirty="0">
                <a:solidFill>
                  <a:schemeClr val="bg2"/>
                </a:solidFill>
              </a:rPr>
              <a:t> mal </a:t>
            </a:r>
            <a:r>
              <a:rPr sz="1500" b="0" i="0" dirty="0" err="1">
                <a:solidFill>
                  <a:schemeClr val="bg2"/>
                </a:solidFill>
              </a:rPr>
              <a:t>configuré</a:t>
            </a:r>
            <a:r>
              <a:rPr sz="1500" b="0" i="0" dirty="0">
                <a:solidFill>
                  <a:schemeClr val="bg2"/>
                </a:solidFill>
              </a:rPr>
              <a:t> </a:t>
            </a:r>
            <a:r>
              <a:rPr sz="1500" b="0" i="0" dirty="0" err="1">
                <a:solidFill>
                  <a:schemeClr val="bg2"/>
                </a:solidFill>
              </a:rPr>
              <a:t>bloque</a:t>
            </a:r>
            <a:r>
              <a:rPr sz="1500" b="0" i="0" dirty="0">
                <a:solidFill>
                  <a:schemeClr val="bg2"/>
                </a:solidFill>
              </a:rPr>
              <a:t> </a:t>
            </a:r>
            <a:r>
              <a:rPr sz="1500" b="0" i="0" dirty="0" err="1">
                <a:solidFill>
                  <a:schemeClr val="bg2"/>
                </a:solidFill>
              </a:rPr>
              <a:t>toute</a:t>
            </a:r>
            <a:r>
              <a:rPr sz="1500" b="0" i="0" dirty="0">
                <a:solidFill>
                  <a:schemeClr val="bg2"/>
                </a:solidFill>
              </a:rPr>
              <a:t> </a:t>
            </a:r>
            <a:r>
              <a:rPr sz="1500" b="0" i="0" dirty="0" err="1">
                <a:solidFill>
                  <a:schemeClr val="bg2"/>
                </a:solidFill>
              </a:rPr>
              <a:t>une</a:t>
            </a:r>
            <a:r>
              <a:rPr sz="1500" b="0" i="0" dirty="0">
                <a:solidFill>
                  <a:schemeClr val="bg2"/>
                </a:solidFill>
              </a:rPr>
              <a:t> </a:t>
            </a:r>
            <a:r>
              <a:rPr sz="1500" b="0" i="0" dirty="0" err="1">
                <a:solidFill>
                  <a:schemeClr val="bg2"/>
                </a:solidFill>
              </a:rPr>
              <a:t>équipe</a:t>
            </a:r>
            <a:r>
              <a:rPr sz="1500" b="0" i="0" dirty="0">
                <a:solidFill>
                  <a:schemeClr val="bg2"/>
                </a:solidFill>
              </a:rPr>
              <a:t>.
</a:t>
            </a:r>
            <a:r>
              <a:rPr sz="1500" b="0" i="0" dirty="0" err="1">
                <a:solidFill>
                  <a:schemeClr val="bg2"/>
                </a:solidFill>
              </a:rPr>
              <a:t>Cette</a:t>
            </a:r>
            <a:r>
              <a:rPr sz="1500" b="0" i="0" dirty="0">
                <a:solidFill>
                  <a:schemeClr val="bg2"/>
                </a:solidFill>
              </a:rPr>
              <a:t> séance </a:t>
            </a:r>
            <a:r>
              <a:rPr sz="1500" b="0" i="0" dirty="0" err="1">
                <a:solidFill>
                  <a:schemeClr val="bg2"/>
                </a:solidFill>
              </a:rPr>
              <a:t>vous</a:t>
            </a:r>
            <a:r>
              <a:rPr sz="1500" b="0" i="0" dirty="0">
                <a:solidFill>
                  <a:schemeClr val="bg2"/>
                </a:solidFill>
              </a:rPr>
              <a:t> </a:t>
            </a:r>
            <a:r>
              <a:rPr sz="1500" b="0" i="0" dirty="0" err="1">
                <a:solidFill>
                  <a:schemeClr val="bg2"/>
                </a:solidFill>
              </a:rPr>
              <a:t>donne</a:t>
            </a:r>
            <a:r>
              <a:rPr sz="1500" b="0" i="0" dirty="0">
                <a:solidFill>
                  <a:schemeClr val="bg2"/>
                </a:solidFill>
              </a:rPr>
              <a:t> les </a:t>
            </a:r>
            <a:r>
              <a:rPr sz="1500" b="0" i="0" dirty="0" err="1">
                <a:solidFill>
                  <a:schemeClr val="bg2"/>
                </a:solidFill>
              </a:rPr>
              <a:t>clés</a:t>
            </a:r>
            <a:r>
              <a:rPr sz="1500" b="0" i="0" dirty="0">
                <a:solidFill>
                  <a:schemeClr val="bg2"/>
                </a:solidFill>
              </a:rPr>
              <a:t> pour que le </a:t>
            </a:r>
            <a:r>
              <a:rPr sz="1500" b="0" i="0" dirty="0" err="1">
                <a:solidFill>
                  <a:schemeClr val="bg2"/>
                </a:solidFill>
              </a:rPr>
              <a:t>partage</a:t>
            </a:r>
            <a:r>
              <a:rPr sz="1500" b="0" i="0" dirty="0">
                <a:solidFill>
                  <a:schemeClr val="bg2"/>
                </a:solidFill>
              </a:rPr>
              <a:t> </a:t>
            </a:r>
            <a:r>
              <a:rPr sz="1500" b="0" i="0" dirty="0" err="1">
                <a:solidFill>
                  <a:schemeClr val="bg2"/>
                </a:solidFill>
              </a:rPr>
              <a:t>fonctionne</a:t>
            </a:r>
            <a:r>
              <a:rPr sz="1500" b="0" i="0" dirty="0">
                <a:solidFill>
                  <a:schemeClr val="bg2"/>
                </a:solidFill>
              </a:rPr>
              <a:t> du premier coup.</a:t>
            </a:r>
          </a:p>
        </p:txBody>
      </p:sp>
      <p:sp>
        <p:nvSpPr>
          <p:cNvPr id="13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14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9BB99"/>
                </a:solidFill>
              </a:rPr>
              <a:t>Version 1 — </a:t>
            </a:r>
            <a:r>
              <a:rPr sz="900" b="0" i="0" dirty="0" err="1">
                <a:solidFill>
                  <a:srgbClr val="99BB99"/>
                </a:solidFill>
              </a:rPr>
              <a:t>Juin</a:t>
            </a:r>
            <a:r>
              <a:rPr sz="900" b="0" i="0" dirty="0">
                <a:solidFill>
                  <a:srgbClr val="99BB99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9BB99"/>
                </a:solidFill>
              </a:rPr>
              <a:t>Version 1 — </a:t>
            </a:r>
            <a:r>
              <a:rPr sz="900" b="0" i="0" dirty="0" err="1">
                <a:solidFill>
                  <a:srgbClr val="99BB99"/>
                </a:solidFill>
              </a:rPr>
              <a:t>Juin</a:t>
            </a:r>
            <a:r>
              <a:rPr sz="900" b="0" i="0" dirty="0">
                <a:solidFill>
                  <a:srgbClr val="99BB99"/>
                </a:solidFill>
              </a:rPr>
              <a:t>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719072"/>
            <a:ext cx="3657600" cy="42062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01 — SMB et partage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Protocole · Créer un partage · Découverte réseau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2816" y="1719072"/>
            <a:ext cx="3657600" cy="42062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6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02 — Permissions NTFS vs Partage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Différence · Comment les combiner · Bonnes pratiques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719072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3" y="1719072"/>
            <a:ext cx="3657600" cy="42062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03 — Lecteur réseau monté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286000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Mapper \\PC\Dossier comme disque Z: permanent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" y="3895344"/>
            <a:ext cx="3657600" cy="420624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04 — OneDrive complet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Sync · Partage · Fichiers à la demande · Corbeille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42816" y="3895344"/>
            <a:ext cx="3657600" cy="420624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9976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05 — NAS et imprimante réseau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Synology · Qnap · Imprimante IP directe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3" y="3895344"/>
            <a:ext cx="3657600" cy="1993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01583" y="3895344"/>
            <a:ext cx="3657600" cy="420624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8744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06 — Règle 3-2-1 et dépannage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462272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Sauvegarde · Accès refusé · Diagnostic partage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Partage et Stockage Réseau · SAMO 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SMB — Protocole de partage Windows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SMB = Server Message Block. Protocole natif Windows pour partager fichiers, imprimantes et ressources réseau.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0DAD"/>
                </a:solidFill>
              </a:rPr>
              <a:t>Partager un dossier — Procédure complète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145743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530352" cy="65836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286000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359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Clic droit sur le dossier à partager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670048"/>
            <a:ext cx="10725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Propriétés → onglet Partage → Partager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35808"/>
            <a:ext cx="114574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035808"/>
            <a:ext cx="530352" cy="65836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035808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1089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Ajouter les utilisateurs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419856"/>
            <a:ext cx="10725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Taper le nom d'utilisateur → Ajouter · 'Tout le monde' pour accès libre sur réseau de confiance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85615"/>
            <a:ext cx="1145743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85615"/>
            <a:ext cx="530352" cy="65836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785615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858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Définir les droits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169663"/>
            <a:ext cx="10725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Lecture = peut voir · Lecture/Écriture = peut modifier · Propriétaire = contrôle 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35424"/>
            <a:ext cx="114574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535424"/>
            <a:ext cx="530352" cy="658368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535424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608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Valider le partage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919472"/>
            <a:ext cx="10725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Cliquer Partager → noter le chemin UNC : \\NomPC\NomDossier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85231"/>
            <a:ext cx="1145743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5285231"/>
            <a:ext cx="530352" cy="658368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285231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35838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Activer la découverte réseau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669279"/>
            <a:ext cx="10725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Paramètres → Réseau → Options de partage avancé → Découverte réseau : Activé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035040"/>
            <a:ext cx="114574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6035040"/>
            <a:ext cx="530352" cy="65836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035040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61081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Tester depuis l'autre 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6419088"/>
            <a:ext cx="10725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Explorateur → \\NomPC → vérifier l'accès → saisir credentials si demandé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714802"/>
            <a:ext cx="11457432" cy="201168"/>
          </a:xfrm>
          <a:prstGeom prst="rect">
            <a:avLst/>
          </a:prstGeom>
          <a:solidFill>
            <a:srgbClr val="FFF0E0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79476" y="6736541"/>
            <a:ext cx="502920" cy="201168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9609" y="6614218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6645101"/>
            <a:ext cx="10771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841000"/>
                </a:solidFill>
              </a:rPr>
              <a:t>Découverte</a:t>
            </a:r>
            <a:r>
              <a:rPr sz="1400" b="1" i="0" dirty="0">
                <a:solidFill>
                  <a:srgbClr val="841000"/>
                </a:solidFill>
              </a:rPr>
              <a:t> </a:t>
            </a:r>
            <a:r>
              <a:rPr sz="1400" b="1" i="0" dirty="0" err="1">
                <a:solidFill>
                  <a:srgbClr val="841000"/>
                </a:solidFill>
              </a:rPr>
              <a:t>réseau</a:t>
            </a:r>
            <a:r>
              <a:rPr sz="1400" b="1" i="0" dirty="0">
                <a:solidFill>
                  <a:srgbClr val="841000"/>
                </a:solidFill>
              </a:rPr>
              <a:t> </a:t>
            </a:r>
            <a:r>
              <a:rPr sz="1400" b="1" i="0" dirty="0" err="1">
                <a:solidFill>
                  <a:srgbClr val="841000"/>
                </a:solidFill>
              </a:rPr>
              <a:t>désactivée</a:t>
            </a:r>
            <a:r>
              <a:rPr sz="1400" b="1" i="0" dirty="0">
                <a:solidFill>
                  <a:srgbClr val="841000"/>
                </a:solidFill>
              </a:rPr>
              <a:t> = </a:t>
            </a:r>
            <a:r>
              <a:rPr sz="1400" b="1" i="0" dirty="0" err="1">
                <a:solidFill>
                  <a:srgbClr val="841000"/>
                </a:solidFill>
              </a:rPr>
              <a:t>partage</a:t>
            </a:r>
            <a:r>
              <a:rPr sz="1400" b="1" i="0" dirty="0">
                <a:solidFill>
                  <a:srgbClr val="841000"/>
                </a:solidFill>
              </a:rPr>
              <a:t> </a:t>
            </a:r>
            <a:r>
              <a:rPr sz="1400" b="1" i="0" dirty="0" err="1">
                <a:solidFill>
                  <a:srgbClr val="841000"/>
                </a:solidFill>
              </a:rPr>
              <a:t>existe</a:t>
            </a:r>
            <a:r>
              <a:rPr sz="1400" b="1" i="0" dirty="0">
                <a:solidFill>
                  <a:srgbClr val="841000"/>
                </a:solidFill>
              </a:rPr>
              <a:t> </a:t>
            </a:r>
            <a:r>
              <a:rPr sz="1400" b="1" i="0" dirty="0" err="1">
                <a:solidFill>
                  <a:srgbClr val="841000"/>
                </a:solidFill>
              </a:rPr>
              <a:t>mais</a:t>
            </a:r>
            <a:r>
              <a:rPr sz="1400" b="1" i="0" dirty="0">
                <a:solidFill>
                  <a:srgbClr val="841000"/>
                </a:solidFill>
              </a:rPr>
              <a:t> invisible — cause n°1 des 'impossible de </a:t>
            </a:r>
            <a:r>
              <a:rPr sz="1400" b="1" i="0" dirty="0" err="1">
                <a:solidFill>
                  <a:srgbClr val="841000"/>
                </a:solidFill>
              </a:rPr>
              <a:t>trouver</a:t>
            </a:r>
            <a:r>
              <a:rPr sz="1400" b="1" i="0" dirty="0">
                <a:solidFill>
                  <a:srgbClr val="841000"/>
                </a:solidFill>
              </a:rPr>
              <a:t> le PC'.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7150608"/>
            <a:ext cx="107716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NTFS vs Permissions de partage — La règle du plus restrictif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Un utilisateur a 2 couches de permissions en accès réseau : partage ET NTFS. C'est la plus restrictive qui s'applique.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11457432" cy="1353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1005840" cy="135331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81328" y="20848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Configurées dans Propriétés → Partage → Partager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468880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Contrôlent qui peut accéder via le réseau.
3 niveaux : Lecture · Lecture/Écriture · Propriétaire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066544"/>
            <a:ext cx="6035040" cy="768096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87568" y="2066544"/>
            <a:ext cx="6035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0DAD"/>
                </a:solidFill>
              </a:rPr>
              <a:t>Exemple : Jean = Lecture/Écriture dans le partage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1145743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1005840" cy="135331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81328" y="35661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Configurées dans Propriétés → Sécurité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950208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Contrôlent les droits sur les fichiers et dossiers réels.
Plus granulaires : Lecture · Écriture · Exécuter · Contrôle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7568" y="3547872"/>
            <a:ext cx="6035040" cy="768096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87568" y="3547872"/>
            <a:ext cx="6035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0DAD"/>
                </a:solidFill>
              </a:rPr>
              <a:t>Exemple : Jean = Lecture seulement dans la sécurité NTFS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56048"/>
            <a:ext cx="11457432" cy="1353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956048"/>
            <a:ext cx="1005840" cy="135331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81328" y="50474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La plus restrictive des 2 s'applique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431536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Si partage = Lecture/Écriture mais NTFS = Lecture
→ Résultat = Lecture seulement (NTFS gagne)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87568" y="5029200"/>
            <a:ext cx="6035040" cy="768096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87568" y="5029200"/>
            <a:ext cx="6035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0DAD"/>
                </a:solidFill>
              </a:rPr>
              <a:t>Exemple : Jean voit les fichiers mais ne peut pas modifier (NTFS gagne)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11365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0DAD"/>
                </a:solidFill>
              </a:rPr>
              <a:t>Bonne pratique : mettre le partage sur Tout le monde = Lecture/Écriture et gérer finement avec les permissions NTFS.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Lecteur réseau monté — Accéder au partage comme un disque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6491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95959"/>
                </a:solidFill>
              </a:rPr>
              <a:t>Mapper un </a:t>
            </a:r>
            <a:r>
              <a:rPr sz="1300" b="0" i="1" dirty="0" err="1">
                <a:solidFill>
                  <a:srgbClr val="595959"/>
                </a:solidFill>
              </a:rPr>
              <a:t>partage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réseau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comme</a:t>
            </a:r>
            <a:r>
              <a:rPr sz="1300" b="0" i="1" dirty="0">
                <a:solidFill>
                  <a:srgbClr val="595959"/>
                </a:solidFill>
              </a:rPr>
              <a:t> un </a:t>
            </a:r>
            <a:r>
              <a:rPr sz="1300" b="0" i="1" dirty="0" err="1">
                <a:solidFill>
                  <a:srgbClr val="595959"/>
                </a:solidFill>
              </a:rPr>
              <a:t>disque</a:t>
            </a:r>
            <a:r>
              <a:rPr sz="1300" b="0" i="1" dirty="0">
                <a:solidFill>
                  <a:srgbClr val="595959"/>
                </a:solidFill>
              </a:rPr>
              <a:t> Z: = </a:t>
            </a:r>
            <a:r>
              <a:rPr sz="1300" b="0" i="1" dirty="0" err="1">
                <a:solidFill>
                  <a:srgbClr val="595959"/>
                </a:solidFill>
              </a:rPr>
              <a:t>accès</a:t>
            </a:r>
            <a:r>
              <a:rPr sz="1300" b="0" i="1" dirty="0">
                <a:solidFill>
                  <a:srgbClr val="595959"/>
                </a:solidFill>
              </a:rPr>
              <a:t> direct </a:t>
            </a:r>
            <a:r>
              <a:rPr sz="1300" b="0" i="1" dirty="0" err="1">
                <a:solidFill>
                  <a:srgbClr val="595959"/>
                </a:solidFill>
              </a:rPr>
              <a:t>depuis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l'Explorateur</a:t>
            </a:r>
            <a:r>
              <a:rPr sz="1300" b="0" i="1" dirty="0">
                <a:solidFill>
                  <a:srgbClr val="595959"/>
                </a:solidFill>
              </a:rPr>
              <a:t>, </a:t>
            </a:r>
            <a:r>
              <a:rPr sz="1300" b="0" i="1" dirty="0" err="1">
                <a:solidFill>
                  <a:srgbClr val="595959"/>
                </a:solidFill>
              </a:rPr>
              <a:t>comme</a:t>
            </a:r>
            <a:r>
              <a:rPr sz="1300" b="0" i="1" dirty="0">
                <a:solidFill>
                  <a:srgbClr val="595959"/>
                </a:solidFill>
              </a:rPr>
              <a:t> un </a:t>
            </a:r>
            <a:r>
              <a:rPr sz="1300" b="0" i="1" dirty="0" err="1">
                <a:solidFill>
                  <a:srgbClr val="595959"/>
                </a:solidFill>
              </a:rPr>
              <a:t>disque</a:t>
            </a:r>
            <a:r>
              <a:rPr sz="1300" b="0" i="1" dirty="0">
                <a:solidFill>
                  <a:srgbClr val="595959"/>
                </a:solidFill>
              </a:rPr>
              <a:t> local.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719072"/>
            <a:ext cx="3694176" cy="43891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Via l'Explorateur Windows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2249424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249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49424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Ce PC (Ordinateur) → Connecter un lecteur réseau (dans le menu Ordinateur)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3054096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30540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54096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Choisir la lettre : Z: (ou autre disponible)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" y="3858768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" y="38587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58768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Dossier : \\NomPC\NomDossier (chemin UNC du partage)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4663440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46634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Cocher 'Se reconnecter à l'ouverture de session' = permanent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" y="5468112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" y="54681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68112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Cocher 'Se connecter avec d'autres informations d'identification' si compte différent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61104" y="1719072"/>
            <a:ext cx="3694176" cy="43891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Via CMD ou PowerShell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249424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2249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2249424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net use Z: \\NomPC\NomDossier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3054096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30540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3054096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Avec credentials : net use Z: \\NomPC\Dossier /user:NomUser MotDePasse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3858768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0" y="38587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9744" y="3858768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Persistant : ajouter /persistent:yes à la fin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4663440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0" y="46634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4663440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Lister les lecteurs montés : net 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468112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0" y="54681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9744" y="5468112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Supprimer : net use Z: /delete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56448" y="1719072"/>
            <a:ext cx="3694176" cy="43891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84464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Dépannage lecteur réseau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84464" y="2249424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84464" y="2249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5088" y="2249424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Lecteur rouge X au démarrage : PC cible éteint ou nom changé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3054096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84464" y="30540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5088" y="3054096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Réinitialiser : net use * /delete → puis remapper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4464" y="3858768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84464" y="38587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5088" y="3858768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Si erreur 'Accès refusé' : vérifier permissions NTFS et partage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84464" y="4663440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84464" y="46634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05088" y="4663440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Si erreur 'Introuvable' : vérifier découverte réseau · ping NomPC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84464" y="5468112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84464" y="54681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05088" y="5468112"/>
            <a:ext cx="3035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Alternative URL : \\IP_du_PC\NomDossier (si le nom ne résout pas)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OneDrive — Configuration de la synchronisation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OneDrive = stockage cloud Microsoft 365. Intégré à Windows 11. 5 GB gratuits. 1 TB avec Microsoft 365.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11457432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685800" cy="107899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1A3560"/>
                </a:solidFill>
              </a:rPr>
              <a:t>Configurer</a:t>
            </a:r>
            <a:r>
              <a:rPr sz="1250" b="1" i="0" dirty="0">
                <a:solidFill>
                  <a:srgbClr val="1A3560"/>
                </a:solidFill>
              </a:rPr>
              <a:t> la </a:t>
            </a:r>
            <a:r>
              <a:rPr sz="1250" b="1" i="0" dirty="0" err="1">
                <a:solidFill>
                  <a:srgbClr val="1A3560"/>
                </a:solidFill>
              </a:rPr>
              <a:t>sauvegarde</a:t>
            </a:r>
            <a:r>
              <a:rPr sz="1250" b="1" i="0" dirty="0">
                <a:solidFill>
                  <a:srgbClr val="1A3560"/>
                </a:solidFill>
              </a:rPr>
              <a:t> </a:t>
            </a:r>
            <a:r>
              <a:rPr sz="1250" b="1" i="0" dirty="0" err="1">
                <a:solidFill>
                  <a:srgbClr val="1A3560"/>
                </a:solidFill>
              </a:rPr>
              <a:t>automatique</a:t>
            </a:r>
            <a:endParaRPr sz="1250" b="1" i="0" dirty="0">
              <a:solidFill>
                <a:srgbClr val="1A35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0432" y="2267712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95959"/>
                </a:solidFill>
              </a:rPr>
              <a:t>Clic</a:t>
            </a:r>
            <a:r>
              <a:rPr sz="1200" b="0" i="0" dirty="0">
                <a:solidFill>
                  <a:srgbClr val="595959"/>
                </a:solidFill>
              </a:rPr>
              <a:t> droit </a:t>
            </a:r>
            <a:r>
              <a:rPr sz="1200" b="0" i="0" dirty="0" err="1">
                <a:solidFill>
                  <a:srgbClr val="595959"/>
                </a:solidFill>
              </a:rPr>
              <a:t>icône</a:t>
            </a:r>
            <a:r>
              <a:rPr sz="1200" b="0" i="0" dirty="0">
                <a:solidFill>
                  <a:srgbClr val="595959"/>
                </a:solidFill>
              </a:rPr>
              <a:t> OneDrive → </a:t>
            </a:r>
            <a:r>
              <a:rPr sz="1200" b="0" i="0" dirty="0" err="1">
                <a:solidFill>
                  <a:srgbClr val="595959"/>
                </a:solidFill>
              </a:rPr>
              <a:t>Paramètres</a:t>
            </a:r>
            <a:r>
              <a:rPr sz="1200" b="0" i="0" dirty="0">
                <a:solidFill>
                  <a:srgbClr val="595959"/>
                </a:solidFill>
              </a:rPr>
              <a:t> → </a:t>
            </a:r>
            <a:r>
              <a:rPr sz="1200" b="0" i="0" dirty="0" err="1">
                <a:solidFill>
                  <a:srgbClr val="595959"/>
                </a:solidFill>
              </a:rPr>
              <a:t>Sauvegarde</a:t>
            </a:r>
            <a:r>
              <a:rPr sz="1200" b="0" i="0" dirty="0">
                <a:solidFill>
                  <a:srgbClr val="595959"/>
                </a:solidFill>
              </a:rPr>
              <a:t> → </a:t>
            </a:r>
            <a:r>
              <a:rPr sz="1200" b="0" i="0" dirty="0" err="1">
                <a:solidFill>
                  <a:srgbClr val="595959"/>
                </a:solidFill>
              </a:rPr>
              <a:t>Gérer</a:t>
            </a:r>
            <a:r>
              <a:rPr sz="1200" b="0" i="0" dirty="0">
                <a:solidFill>
                  <a:srgbClr val="595959"/>
                </a:solidFill>
              </a:rPr>
              <a:t> la </a:t>
            </a:r>
            <a:r>
              <a:rPr sz="1200" b="0" i="0" dirty="0" err="1">
                <a:solidFill>
                  <a:srgbClr val="595959"/>
                </a:solidFill>
              </a:rPr>
              <a:t>sauvegarde</a:t>
            </a:r>
            <a:r>
              <a:rPr sz="1200" b="0" i="0" dirty="0">
                <a:solidFill>
                  <a:srgbClr val="595959"/>
                </a:solidFill>
              </a:rPr>
              <a:t>
</a:t>
            </a:r>
            <a:r>
              <a:rPr sz="1200" b="0" i="0" dirty="0" err="1">
                <a:solidFill>
                  <a:srgbClr val="595959"/>
                </a:solidFill>
              </a:rPr>
              <a:t>Cocher</a:t>
            </a:r>
            <a:r>
              <a:rPr sz="1200" b="0" i="0" dirty="0">
                <a:solidFill>
                  <a:srgbClr val="595959"/>
                </a:solidFill>
              </a:rPr>
              <a:t> : Bureau · Documents · Images
</a:t>
            </a:r>
            <a:r>
              <a:rPr sz="1200" b="0" i="0" dirty="0" err="1">
                <a:solidFill>
                  <a:srgbClr val="595959"/>
                </a:solidFill>
              </a:rPr>
              <a:t>Ces</a:t>
            </a:r>
            <a:r>
              <a:rPr sz="1200" b="0" i="0" dirty="0">
                <a:solidFill>
                  <a:srgbClr val="595959"/>
                </a:solidFill>
              </a:rPr>
              <a:t> 3 dossiers </a:t>
            </a:r>
            <a:r>
              <a:rPr sz="1200" b="0" i="0" dirty="0" err="1">
                <a:solidFill>
                  <a:srgbClr val="595959"/>
                </a:solidFill>
              </a:rPr>
              <a:t>sont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synchronisés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en</a:t>
            </a:r>
            <a:r>
              <a:rPr sz="1200" b="0" i="0" dirty="0">
                <a:solidFill>
                  <a:srgbClr val="595959"/>
                </a:solidFill>
              </a:rPr>
              <a:t> permanence sur le cloud.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8441" y="2834640"/>
            <a:ext cx="10543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A0DAD"/>
                </a:solidFill>
              </a:rPr>
              <a:t>💡 Si PC </a:t>
            </a:r>
            <a:r>
              <a:rPr sz="1100" b="0" i="1" dirty="0" err="1">
                <a:solidFill>
                  <a:srgbClr val="6A0DAD"/>
                </a:solidFill>
              </a:rPr>
              <a:t>volé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ou</a:t>
            </a:r>
            <a:r>
              <a:rPr sz="1100" b="0" i="1" dirty="0">
                <a:solidFill>
                  <a:srgbClr val="6A0DAD"/>
                </a:solidFill>
              </a:rPr>
              <a:t> HS → </a:t>
            </a:r>
            <a:r>
              <a:rPr sz="1100" b="0" i="1" dirty="0" err="1">
                <a:solidFill>
                  <a:srgbClr val="6A0DAD"/>
                </a:solidFill>
              </a:rPr>
              <a:t>retrouver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tous</a:t>
            </a:r>
            <a:r>
              <a:rPr sz="1100" b="0" i="1" dirty="0">
                <a:solidFill>
                  <a:srgbClr val="6A0DAD"/>
                </a:solidFill>
              </a:rPr>
              <a:t> les </a:t>
            </a:r>
            <a:r>
              <a:rPr sz="1100" b="0" i="1" dirty="0" err="1">
                <a:solidFill>
                  <a:srgbClr val="6A0DAD"/>
                </a:solidFill>
              </a:rPr>
              <a:t>fichiers</a:t>
            </a:r>
            <a:r>
              <a:rPr sz="1100" b="0" i="1" dirty="0">
                <a:solidFill>
                  <a:srgbClr val="6A0DAD"/>
                </a:solidFill>
              </a:rPr>
              <a:t> sur onedrive.com </a:t>
            </a:r>
            <a:r>
              <a:rPr sz="1100" b="0" i="1" dirty="0" err="1">
                <a:solidFill>
                  <a:srgbClr val="6A0DAD"/>
                </a:solidFill>
              </a:rPr>
              <a:t>depuis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n'importe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où</a:t>
            </a:r>
            <a:endParaRPr sz="1100" b="0" i="1" dirty="0">
              <a:solidFill>
                <a:srgbClr val="6A0DAD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3236976"/>
            <a:ext cx="11457432" cy="9509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163824"/>
            <a:ext cx="685800" cy="107899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8441" y="313052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1A3560"/>
                </a:solidFill>
              </a:rPr>
              <a:t>Fichiers</a:t>
            </a:r>
            <a:r>
              <a:rPr sz="1250" b="1" i="0" dirty="0">
                <a:solidFill>
                  <a:srgbClr val="1A3560"/>
                </a:solidFill>
              </a:rPr>
              <a:t> à la </a:t>
            </a:r>
            <a:r>
              <a:rPr sz="1250" b="1" i="0" dirty="0" err="1">
                <a:solidFill>
                  <a:srgbClr val="1A3560"/>
                </a:solidFill>
              </a:rPr>
              <a:t>demande</a:t>
            </a:r>
            <a:endParaRPr sz="1250" b="1" i="0" dirty="0">
              <a:solidFill>
                <a:srgbClr val="1A356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0432" y="3355848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95959"/>
                </a:solidFill>
              </a:rPr>
              <a:t>Paramètres</a:t>
            </a:r>
            <a:r>
              <a:rPr sz="1200" b="0" i="0" dirty="0">
                <a:solidFill>
                  <a:srgbClr val="595959"/>
                </a:solidFill>
              </a:rPr>
              <a:t> OneDrive → </a:t>
            </a:r>
            <a:r>
              <a:rPr sz="1200" b="0" i="0" dirty="0" err="1">
                <a:solidFill>
                  <a:srgbClr val="595959"/>
                </a:solidFill>
              </a:rPr>
              <a:t>Paramètres</a:t>
            </a:r>
            <a:r>
              <a:rPr sz="1200" b="0" i="0" dirty="0">
                <a:solidFill>
                  <a:srgbClr val="595959"/>
                </a:solidFill>
              </a:rPr>
              <a:t> → </a:t>
            </a:r>
            <a:r>
              <a:rPr sz="1200" b="0" i="0" dirty="0" err="1">
                <a:solidFill>
                  <a:srgbClr val="595959"/>
                </a:solidFill>
              </a:rPr>
              <a:t>Fichiers</a:t>
            </a:r>
            <a:r>
              <a:rPr sz="1200" b="0" i="0" dirty="0">
                <a:solidFill>
                  <a:srgbClr val="595959"/>
                </a:solidFill>
              </a:rPr>
              <a:t> à la </a:t>
            </a:r>
            <a:r>
              <a:rPr sz="1200" b="0" i="0" dirty="0" err="1">
                <a:solidFill>
                  <a:srgbClr val="595959"/>
                </a:solidFill>
              </a:rPr>
              <a:t>demande</a:t>
            </a:r>
            <a:r>
              <a:rPr sz="1200" b="0" i="0" dirty="0">
                <a:solidFill>
                  <a:srgbClr val="595959"/>
                </a:solidFill>
              </a:rPr>
              <a:t>
</a:t>
            </a:r>
            <a:r>
              <a:rPr sz="1200" b="0" i="0" dirty="0" err="1">
                <a:solidFill>
                  <a:srgbClr val="595959"/>
                </a:solidFill>
              </a:rPr>
              <a:t>Fichiers</a:t>
            </a:r>
            <a:r>
              <a:rPr sz="1200" b="0" i="0" dirty="0">
                <a:solidFill>
                  <a:srgbClr val="595959"/>
                </a:solidFill>
              </a:rPr>
              <a:t> 'online only' = visible </a:t>
            </a:r>
            <a:r>
              <a:rPr sz="1200" b="0" i="0" dirty="0" err="1">
                <a:solidFill>
                  <a:srgbClr val="595959"/>
                </a:solidFill>
              </a:rPr>
              <a:t>dans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l'Explorateur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mais</a:t>
            </a:r>
            <a:r>
              <a:rPr sz="1200" b="0" i="0" dirty="0">
                <a:solidFill>
                  <a:srgbClr val="595959"/>
                </a:solidFill>
              </a:rPr>
              <a:t> non </a:t>
            </a:r>
            <a:r>
              <a:rPr sz="1200" b="0" i="0" dirty="0" err="1">
                <a:solidFill>
                  <a:srgbClr val="595959"/>
                </a:solidFill>
              </a:rPr>
              <a:t>téléchargé</a:t>
            </a:r>
            <a:r>
              <a:rPr sz="1200" b="0" i="0" dirty="0">
                <a:solidFill>
                  <a:srgbClr val="595959"/>
                </a:solidFill>
              </a:rPr>
              <a:t> (0 </a:t>
            </a:r>
            <a:r>
              <a:rPr sz="1200" b="0" i="0" dirty="0" err="1">
                <a:solidFill>
                  <a:srgbClr val="595959"/>
                </a:solidFill>
              </a:rPr>
              <a:t>espace</a:t>
            </a:r>
            <a:r>
              <a:rPr sz="1200" b="0" i="0" dirty="0">
                <a:solidFill>
                  <a:srgbClr val="595959"/>
                </a:solidFill>
              </a:rPr>
              <a:t>)
</a:t>
            </a:r>
            <a:r>
              <a:rPr sz="1200" b="0" i="0" dirty="0" err="1">
                <a:solidFill>
                  <a:srgbClr val="595959"/>
                </a:solidFill>
              </a:rPr>
              <a:t>Téléchargé</a:t>
            </a:r>
            <a:r>
              <a:rPr sz="1200" b="0" i="0" dirty="0">
                <a:solidFill>
                  <a:srgbClr val="595959"/>
                </a:solidFill>
              </a:rPr>
              <a:t> à </a:t>
            </a:r>
            <a:r>
              <a:rPr sz="1200" b="0" i="0" dirty="0" err="1">
                <a:solidFill>
                  <a:srgbClr val="595959"/>
                </a:solidFill>
              </a:rPr>
              <a:t>l'ouverture</a:t>
            </a:r>
            <a:r>
              <a:rPr sz="1200" b="0" i="0" dirty="0">
                <a:solidFill>
                  <a:srgbClr val="595959"/>
                </a:solidFill>
              </a:rPr>
              <a:t> — </a:t>
            </a:r>
            <a:r>
              <a:rPr sz="1200" b="0" i="0" dirty="0" err="1">
                <a:solidFill>
                  <a:srgbClr val="595959"/>
                </a:solidFill>
              </a:rPr>
              <a:t>Disponible</a:t>
            </a:r>
            <a:r>
              <a:rPr sz="1200" b="0" i="0" dirty="0">
                <a:solidFill>
                  <a:srgbClr val="595959"/>
                </a:solidFill>
              </a:rPr>
              <a:t> hors </a:t>
            </a:r>
            <a:r>
              <a:rPr sz="1200" b="0" i="0" dirty="0" err="1">
                <a:solidFill>
                  <a:srgbClr val="595959"/>
                </a:solidFill>
              </a:rPr>
              <a:t>ligne</a:t>
            </a:r>
            <a:r>
              <a:rPr sz="1200" b="0" i="0" dirty="0">
                <a:solidFill>
                  <a:srgbClr val="595959"/>
                </a:solidFill>
              </a:rPr>
              <a:t> = </a:t>
            </a:r>
            <a:r>
              <a:rPr sz="1200" b="0" i="0" dirty="0" err="1">
                <a:solidFill>
                  <a:srgbClr val="595959"/>
                </a:solidFill>
              </a:rPr>
              <a:t>copie</a:t>
            </a:r>
            <a:r>
              <a:rPr sz="1200" b="0" i="0" dirty="0">
                <a:solidFill>
                  <a:srgbClr val="595959"/>
                </a:solidFill>
              </a:rPr>
              <a:t> locale </a:t>
            </a:r>
            <a:r>
              <a:rPr sz="1200" b="0" i="0" dirty="0" err="1">
                <a:solidFill>
                  <a:srgbClr val="595959"/>
                </a:solidFill>
              </a:rPr>
              <a:t>conservée</a:t>
            </a:r>
            <a:r>
              <a:rPr sz="1200" b="0" i="0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931920"/>
            <a:ext cx="10543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A0DAD"/>
                </a:solidFill>
              </a:rPr>
              <a:t>💡 </a:t>
            </a:r>
            <a:r>
              <a:rPr sz="1100" b="0" i="1" dirty="0" err="1">
                <a:solidFill>
                  <a:srgbClr val="6A0DAD"/>
                </a:solidFill>
              </a:rPr>
              <a:t>Économiser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l'espace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disque</a:t>
            </a:r>
            <a:r>
              <a:rPr sz="1100" b="0" i="1" dirty="0">
                <a:solidFill>
                  <a:srgbClr val="6A0DAD"/>
                </a:solidFill>
              </a:rPr>
              <a:t> sur laptop : 100 GB de </a:t>
            </a:r>
            <a:r>
              <a:rPr sz="1100" b="0" i="1" dirty="0" err="1">
                <a:solidFill>
                  <a:srgbClr val="6A0DAD"/>
                </a:solidFill>
              </a:rPr>
              <a:t>fichiers</a:t>
            </a:r>
            <a:r>
              <a:rPr sz="1100" b="0" i="1" dirty="0">
                <a:solidFill>
                  <a:srgbClr val="6A0DAD"/>
                </a:solidFill>
              </a:rPr>
              <a:t> = 0 MB </a:t>
            </a:r>
            <a:r>
              <a:rPr sz="1100" b="0" i="1" dirty="0" err="1">
                <a:solidFill>
                  <a:srgbClr val="6A0DAD"/>
                </a:solidFill>
              </a:rPr>
              <a:t>utilisé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si</a:t>
            </a:r>
            <a:r>
              <a:rPr sz="1100" b="0" i="1" dirty="0">
                <a:solidFill>
                  <a:srgbClr val="6A0DAD"/>
                </a:solidFill>
              </a:rPr>
              <a:t> non </a:t>
            </a:r>
            <a:r>
              <a:rPr sz="1100" b="0" i="1" dirty="0" err="1">
                <a:solidFill>
                  <a:srgbClr val="6A0DAD"/>
                </a:solidFill>
              </a:rPr>
              <a:t>ouverts</a:t>
            </a:r>
            <a:endParaRPr sz="1100" b="0" i="1" dirty="0">
              <a:solidFill>
                <a:srgbClr val="6A0DAD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4334256"/>
            <a:ext cx="11457432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334256"/>
            <a:ext cx="685800" cy="107899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28508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1A3560"/>
                </a:solidFill>
              </a:rPr>
              <a:t>Synchronisation</a:t>
            </a:r>
            <a:r>
              <a:rPr sz="1250" b="1" i="0" dirty="0">
                <a:solidFill>
                  <a:srgbClr val="1A3560"/>
                </a:solidFill>
              </a:rPr>
              <a:t> </a:t>
            </a:r>
            <a:r>
              <a:rPr sz="1250" b="1" i="0" dirty="0" err="1">
                <a:solidFill>
                  <a:srgbClr val="1A3560"/>
                </a:solidFill>
              </a:rPr>
              <a:t>sélective</a:t>
            </a:r>
            <a:endParaRPr sz="1250" b="1" i="0" dirty="0">
              <a:solidFill>
                <a:srgbClr val="1A356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58441" y="4559405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95959"/>
                </a:solidFill>
              </a:rPr>
              <a:t>Clic</a:t>
            </a:r>
            <a:r>
              <a:rPr sz="1200" b="0" i="0" dirty="0">
                <a:solidFill>
                  <a:srgbClr val="595959"/>
                </a:solidFill>
              </a:rPr>
              <a:t> droit </a:t>
            </a:r>
            <a:r>
              <a:rPr sz="1200" b="0" i="0" dirty="0" err="1">
                <a:solidFill>
                  <a:srgbClr val="595959"/>
                </a:solidFill>
              </a:rPr>
              <a:t>icône</a:t>
            </a:r>
            <a:r>
              <a:rPr sz="1200" b="0" i="0" dirty="0">
                <a:solidFill>
                  <a:srgbClr val="595959"/>
                </a:solidFill>
              </a:rPr>
              <a:t> OneDrive → </a:t>
            </a:r>
            <a:r>
              <a:rPr sz="1200" b="0" i="0" dirty="0" err="1">
                <a:solidFill>
                  <a:srgbClr val="595959"/>
                </a:solidFill>
              </a:rPr>
              <a:t>Paramètres</a:t>
            </a:r>
            <a:r>
              <a:rPr sz="1200" b="0" i="0" dirty="0">
                <a:solidFill>
                  <a:srgbClr val="595959"/>
                </a:solidFill>
              </a:rPr>
              <a:t> → </a:t>
            </a:r>
            <a:r>
              <a:rPr sz="1200" b="0" i="0" dirty="0" err="1">
                <a:solidFill>
                  <a:srgbClr val="595959"/>
                </a:solidFill>
              </a:rPr>
              <a:t>Compte</a:t>
            </a:r>
            <a:r>
              <a:rPr sz="1200" b="0" i="0" dirty="0">
                <a:solidFill>
                  <a:srgbClr val="595959"/>
                </a:solidFill>
              </a:rPr>
              <a:t> → </a:t>
            </a:r>
            <a:r>
              <a:rPr sz="1200" b="0" i="0" dirty="0" err="1">
                <a:solidFill>
                  <a:srgbClr val="595959"/>
                </a:solidFill>
              </a:rPr>
              <a:t>Choisir</a:t>
            </a:r>
            <a:r>
              <a:rPr sz="1200" b="0" i="0" dirty="0">
                <a:solidFill>
                  <a:srgbClr val="595959"/>
                </a:solidFill>
              </a:rPr>
              <a:t> des dossiers
</a:t>
            </a:r>
            <a:r>
              <a:rPr sz="1200" b="0" i="0" dirty="0" err="1">
                <a:solidFill>
                  <a:srgbClr val="595959"/>
                </a:solidFill>
              </a:rPr>
              <a:t>Cocher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uniquement</a:t>
            </a:r>
            <a:r>
              <a:rPr sz="1200" b="0" i="0" dirty="0">
                <a:solidFill>
                  <a:srgbClr val="595959"/>
                </a:solidFill>
              </a:rPr>
              <a:t> les dossiers à </a:t>
            </a:r>
            <a:r>
              <a:rPr sz="1200" b="0" i="0" dirty="0" err="1">
                <a:solidFill>
                  <a:srgbClr val="595959"/>
                </a:solidFill>
              </a:rPr>
              <a:t>synchroniser</a:t>
            </a:r>
            <a:r>
              <a:rPr sz="1200" b="0" i="0" dirty="0">
                <a:solidFill>
                  <a:srgbClr val="595959"/>
                </a:solidFill>
              </a:rPr>
              <a:t> sur CE PC
</a:t>
            </a:r>
            <a:r>
              <a:rPr sz="1200" b="0" i="0" dirty="0" err="1">
                <a:solidFill>
                  <a:srgbClr val="595959"/>
                </a:solidFill>
              </a:rPr>
              <a:t>Idéal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si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peu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d'espace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disque</a:t>
            </a:r>
            <a:r>
              <a:rPr sz="1200" b="0" i="0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990" y="5175504"/>
            <a:ext cx="10543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A0DAD"/>
                </a:solidFill>
              </a:rPr>
              <a:t>💡 </a:t>
            </a:r>
            <a:r>
              <a:rPr sz="1100" b="0" i="1" dirty="0" err="1">
                <a:solidFill>
                  <a:srgbClr val="6A0DAD"/>
                </a:solidFill>
              </a:rPr>
              <a:t>Téléphone</a:t>
            </a:r>
            <a:r>
              <a:rPr sz="1100" b="0" i="1" dirty="0">
                <a:solidFill>
                  <a:srgbClr val="6A0DAD"/>
                </a:solidFill>
              </a:rPr>
              <a:t> = sync Photos </a:t>
            </a:r>
            <a:r>
              <a:rPr sz="1100" b="0" i="1" dirty="0" err="1">
                <a:solidFill>
                  <a:srgbClr val="6A0DAD"/>
                </a:solidFill>
              </a:rPr>
              <a:t>seulement</a:t>
            </a:r>
            <a:r>
              <a:rPr sz="1100" b="0" i="1" dirty="0">
                <a:solidFill>
                  <a:srgbClr val="6A0DAD"/>
                </a:solidFill>
              </a:rPr>
              <a:t> · PC bureau = tout · Laptop = </a:t>
            </a:r>
            <a:r>
              <a:rPr sz="1100" b="0" i="1" dirty="0" err="1">
                <a:solidFill>
                  <a:srgbClr val="6A0DAD"/>
                </a:solidFill>
              </a:rPr>
              <a:t>projets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actifs</a:t>
            </a:r>
            <a:endParaRPr sz="1100" b="0" i="1" dirty="0">
              <a:solidFill>
                <a:srgbClr val="6A0DAD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" y="5504688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5504688"/>
            <a:ext cx="685800" cy="107899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0432" y="5504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1A3560"/>
                </a:solidFill>
              </a:rPr>
              <a:t>Corbeille</a:t>
            </a:r>
            <a:r>
              <a:rPr sz="1250" b="1" i="0" dirty="0">
                <a:solidFill>
                  <a:srgbClr val="1A3560"/>
                </a:solidFill>
              </a:rPr>
              <a:t> OneDrive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76072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595959"/>
                </a:solidFill>
              </a:rPr>
              <a:t>Fichiers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supprimés</a:t>
            </a:r>
            <a:r>
              <a:rPr sz="1200" b="0" i="0" dirty="0">
                <a:solidFill>
                  <a:srgbClr val="595959"/>
                </a:solidFill>
              </a:rPr>
              <a:t> = </a:t>
            </a:r>
            <a:r>
              <a:rPr sz="1200" b="0" i="0" dirty="0" err="1">
                <a:solidFill>
                  <a:srgbClr val="595959"/>
                </a:solidFill>
              </a:rPr>
              <a:t>dans</a:t>
            </a:r>
            <a:r>
              <a:rPr sz="1200" b="0" i="0" dirty="0">
                <a:solidFill>
                  <a:srgbClr val="595959"/>
                </a:solidFill>
              </a:rPr>
              <a:t> la </a:t>
            </a:r>
            <a:r>
              <a:rPr sz="1200" b="0" i="0" dirty="0" err="1">
                <a:solidFill>
                  <a:srgbClr val="595959"/>
                </a:solidFill>
              </a:rPr>
              <a:t>Corbeille</a:t>
            </a:r>
            <a:r>
              <a:rPr sz="1200" b="0" i="0" dirty="0">
                <a:solidFill>
                  <a:srgbClr val="595959"/>
                </a:solidFill>
              </a:rPr>
              <a:t> OneDrive pendant 30 </a:t>
            </a:r>
            <a:r>
              <a:rPr sz="1200" b="0" i="0" dirty="0" err="1">
                <a:solidFill>
                  <a:srgbClr val="595959"/>
                </a:solidFill>
              </a:rPr>
              <a:t>jours</a:t>
            </a:r>
            <a:r>
              <a:rPr sz="1200" b="0" i="0" dirty="0">
                <a:solidFill>
                  <a:srgbClr val="595959"/>
                </a:solidFill>
              </a:rPr>
              <a:t> (93 </a:t>
            </a:r>
            <a:r>
              <a:rPr sz="1200" b="0" i="0" dirty="0" err="1">
                <a:solidFill>
                  <a:srgbClr val="595959"/>
                </a:solidFill>
              </a:rPr>
              <a:t>jours</a:t>
            </a:r>
            <a:r>
              <a:rPr sz="1200" b="0" i="0" dirty="0">
                <a:solidFill>
                  <a:srgbClr val="595959"/>
                </a:solidFill>
              </a:rPr>
              <a:t> M365)
onedrive.com → </a:t>
            </a:r>
            <a:r>
              <a:rPr sz="1200" b="0" i="0" dirty="0" err="1">
                <a:solidFill>
                  <a:srgbClr val="595959"/>
                </a:solidFill>
              </a:rPr>
              <a:t>Corbeille</a:t>
            </a:r>
            <a:r>
              <a:rPr sz="1200" b="0" i="0" dirty="0">
                <a:solidFill>
                  <a:srgbClr val="595959"/>
                </a:solidFill>
              </a:rPr>
              <a:t> → </a:t>
            </a:r>
            <a:r>
              <a:rPr sz="1200" b="0" i="0" dirty="0" err="1">
                <a:solidFill>
                  <a:srgbClr val="595959"/>
                </a:solidFill>
              </a:rPr>
              <a:t>Restaurer</a:t>
            </a:r>
            <a:r>
              <a:rPr sz="1200" b="0" i="0" dirty="0">
                <a:solidFill>
                  <a:srgbClr val="595959"/>
                </a:solidFill>
              </a:rPr>
              <a:t>
</a:t>
            </a:r>
            <a:r>
              <a:rPr sz="1200" b="0" i="0" dirty="0" err="1">
                <a:solidFill>
                  <a:srgbClr val="595959"/>
                </a:solidFill>
              </a:rPr>
              <a:t>Fichiers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versionnés</a:t>
            </a:r>
            <a:r>
              <a:rPr sz="1200" b="0" i="0" dirty="0">
                <a:solidFill>
                  <a:srgbClr val="595959"/>
                </a:solidFill>
              </a:rPr>
              <a:t> : </a:t>
            </a:r>
            <a:r>
              <a:rPr sz="1200" b="0" i="0" dirty="0" err="1">
                <a:solidFill>
                  <a:srgbClr val="595959"/>
                </a:solidFill>
              </a:rPr>
              <a:t>historique</a:t>
            </a:r>
            <a:r>
              <a:rPr sz="1200" b="0" i="0" dirty="0">
                <a:solidFill>
                  <a:srgbClr val="595959"/>
                </a:solidFill>
              </a:rPr>
              <a:t> </a:t>
            </a:r>
            <a:r>
              <a:rPr sz="1200" b="0" i="0" dirty="0" err="1">
                <a:solidFill>
                  <a:srgbClr val="595959"/>
                </a:solidFill>
              </a:rPr>
              <a:t>disponible</a:t>
            </a:r>
            <a:r>
              <a:rPr sz="1200" b="0" i="0" dirty="0">
                <a:solidFill>
                  <a:srgbClr val="595959"/>
                </a:solidFill>
              </a:rPr>
              <a:t> sur 30 </a:t>
            </a:r>
            <a:r>
              <a:rPr sz="1200" b="0" i="0" dirty="0" err="1">
                <a:solidFill>
                  <a:srgbClr val="595959"/>
                </a:solidFill>
              </a:rPr>
              <a:t>jours</a:t>
            </a:r>
            <a:endParaRPr sz="1200" b="0" i="0" dirty="0">
              <a:solidFill>
                <a:srgbClr val="595959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95621" y="6381132"/>
            <a:ext cx="10543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A0DAD"/>
                </a:solidFill>
              </a:rPr>
              <a:t>💡 </a:t>
            </a:r>
            <a:r>
              <a:rPr sz="1100" b="0" i="1" dirty="0" err="1">
                <a:solidFill>
                  <a:srgbClr val="6A0DAD"/>
                </a:solidFill>
              </a:rPr>
              <a:t>Même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si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supprimé</a:t>
            </a:r>
            <a:r>
              <a:rPr sz="1100" b="0" i="1" dirty="0">
                <a:solidFill>
                  <a:srgbClr val="6A0DAD"/>
                </a:solidFill>
              </a:rPr>
              <a:t> du PC = encore </a:t>
            </a:r>
            <a:r>
              <a:rPr sz="1100" b="0" i="1" dirty="0" err="1">
                <a:solidFill>
                  <a:srgbClr val="6A0DAD"/>
                </a:solidFill>
              </a:rPr>
              <a:t>récupérable</a:t>
            </a:r>
            <a:r>
              <a:rPr sz="1100" b="0" i="1" dirty="0">
                <a:solidFill>
                  <a:srgbClr val="6A0DAD"/>
                </a:solidFill>
              </a:rPr>
              <a:t> </a:t>
            </a:r>
            <a:r>
              <a:rPr sz="1100" b="0" i="1" dirty="0" err="1">
                <a:solidFill>
                  <a:srgbClr val="6A0DAD"/>
                </a:solidFill>
              </a:rPr>
              <a:t>depuis</a:t>
            </a:r>
            <a:r>
              <a:rPr sz="1100" b="0" i="1" dirty="0">
                <a:solidFill>
                  <a:srgbClr val="6A0DAD"/>
                </a:solidFill>
              </a:rPr>
              <a:t> la </a:t>
            </a:r>
            <a:r>
              <a:rPr sz="1100" b="0" i="1" dirty="0" err="1">
                <a:solidFill>
                  <a:srgbClr val="6A0DAD"/>
                </a:solidFill>
              </a:rPr>
              <a:t>corbeille</a:t>
            </a:r>
            <a:r>
              <a:rPr sz="1100" b="0" i="1" dirty="0">
                <a:solidFill>
                  <a:srgbClr val="6A0DAD"/>
                </a:solidFill>
              </a:rPr>
              <a:t> 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OneDrive — Partage et collaboration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627632"/>
            <a:ext cx="6858000" cy="416052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6858000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685800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3323844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0168" y="3159251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93592" y="3488435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005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Insérer ici : screenshot onedrive.com avec menu partage ouvert (lien ou avec personnes)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7972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Montrer : Partager → Paramètres du lien → Qui peut accéder → peut afficher vs modifier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58968"/>
            <a:ext cx="6858000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458968"/>
            <a:ext cx="685800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162763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Méthodes de partage 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084831"/>
            <a:ext cx="4480560" cy="10241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06640" y="2084831"/>
            <a:ext cx="164592" cy="102412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2" y="2176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0DAD"/>
                </a:solidFill>
              </a:rPr>
              <a:t>Avec des personnes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2523744"/>
            <a:ext cx="4114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Invitation email · Permissions individuelles · Notifié par email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236976"/>
            <a:ext cx="44805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06640" y="3236976"/>
            <a:ext cx="164592" cy="10241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2" y="33284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A0"/>
                </a:solidFill>
              </a:rPr>
              <a:t>Lien (tout le monde)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3675887"/>
            <a:ext cx="4114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URL publique · N'importe qui avec le lien · À utiliser avec prudence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4389120"/>
            <a:ext cx="4480560" cy="10241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06640" y="4389120"/>
            <a:ext cx="164592" cy="10241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62672" y="44805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Lien (organisation)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4828031"/>
            <a:ext cx="4114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Personnes de votre tenant M365 · Recommandé en PME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5541264"/>
            <a:ext cx="44805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06640" y="5541264"/>
            <a:ext cx="164592" cy="1024128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62672" y="56327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BB"/>
                </a:solidFill>
              </a:rPr>
              <a:t>Lien (avec mot de passe)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5980176"/>
            <a:ext cx="4114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URL protégée par MDP · Idéal pour partenaires externes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Clic droit sur fichier/dossier → OneDrive → Partager  ·  ou depuis onedrive.com</a:t>
            </a:r>
          </a:p>
        </p:txBody>
      </p:sp>
      <p:pic>
        <p:nvPicPr>
          <p:cNvPr id="1026" name="Picture 2" descr="OneDrive : vos informations avec vous, partout, tout le temp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627632"/>
            <a:ext cx="6869203" cy="416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NAS — Stockage réseau dédié pour les PME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NAS = Network Attached Storage. Serveur de fichiers simplifié, toujours allumé, accessible sur le réseau.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11457432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685800" cy="107899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93392"/>
            <a:ext cx="685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Qu'es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066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Qu'est-ce qu'un NAS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39572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Boîtier dédié contenant 2-8 disques durs. Interface web simple. Pas besoin de PC Windows allumé pour accéder.
Principaux fabricants : Synology · QNAP · Netgear · TerraMaster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66544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0DAD"/>
                </a:solidFill>
              </a:rPr>
              <a:t>Synology DS223j = 2 baies · ~250$ · Idéal PME 5-10 utilisateurs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63824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163824"/>
            <a:ext cx="685800" cy="107899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163824"/>
            <a:ext cx="685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2369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Usages en PME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5661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Partage de fichiers d'équipe · Sauvegarde automatique des PCs · Streaming multimédia interne · Surveillance caméras IP · Serveur TimeMachine Mac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36976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0DAD"/>
                </a:solidFill>
              </a:rPr>
              <a:t>Remplace avantageusement un PC 'serveur de fichiers' toujours allumé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34256"/>
            <a:ext cx="11457432" cy="10789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334256"/>
            <a:ext cx="685800" cy="107899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334256"/>
            <a:ext cx="685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407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Configuration initiale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73659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Insérer les disques · Brancher sur le réseau · Trouver l'IP (etcher.io ou Synology Assistant) · Interface web → configurer le RAID · créer utilisateurs et dossiers partagés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40740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0DAD"/>
                </a:solidFill>
              </a:rPr>
              <a:t>RAID 1 (2 disques miroir) = protection contre la panne d'un disque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04688"/>
            <a:ext cx="11457432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5504688"/>
            <a:ext cx="685800" cy="107899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5504688"/>
            <a:ext cx="685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Accès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Accès depuis Windows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590702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Explorateur → \\IP_du_NAS · Ou : \\nom_nas
Mapper comme lecteur réseau Z: pour accès permanent
Synology Drive = synchronisation locale comme OneDrive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55778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0DAD"/>
                </a:solidFill>
              </a:rPr>
              <a:t>\\192.168.1.50\Documents → se connecte comme n'importe quel partage SMB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Imprimante réseau — La méthode fiable par IP directe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11457432" cy="713232"/>
          </a:xfrm>
          <a:prstGeom prst="rect">
            <a:avLst/>
          </a:prstGeom>
          <a:solidFill>
            <a:srgbClr val="FFF0E0"/>
          </a:solidFill>
          <a:ln w="25400">
            <a:solidFill>
              <a:srgbClr val="D4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502920" cy="713232"/>
          </a:xfrm>
          <a:prstGeom prst="rect">
            <a:avLst/>
          </a:prstGeom>
          <a:solidFill>
            <a:srgbClr val="D4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1874519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92224"/>
            <a:ext cx="10771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41000"/>
                </a:solidFill>
              </a:rPr>
              <a:t>NE JAMAIS partager une imprimante via un PC hôte Windows.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84831"/>
            <a:ext cx="10771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Si le PC hôte s'éteint → tout le bureau perd l'accès. Toujours ajouter l'imprimante via son IP réseau directe.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78608"/>
            <a:ext cx="11457432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578608"/>
            <a:ext cx="530352" cy="62179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578608"/>
            <a:ext cx="530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5786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A3560"/>
                </a:solidFill>
              </a:rPr>
              <a:t>Trouver</a:t>
            </a:r>
            <a:r>
              <a:rPr sz="1200" b="1" i="0" dirty="0">
                <a:solidFill>
                  <a:srgbClr val="1A3560"/>
                </a:solidFill>
              </a:rPr>
              <a:t> </a:t>
            </a:r>
            <a:r>
              <a:rPr sz="1200" b="1" i="0" dirty="0" err="1">
                <a:solidFill>
                  <a:srgbClr val="1A3560"/>
                </a:solidFill>
              </a:rPr>
              <a:t>l'IP</a:t>
            </a:r>
            <a:r>
              <a:rPr sz="1200" b="1" i="0" dirty="0">
                <a:solidFill>
                  <a:srgbClr val="1A3560"/>
                </a:solidFill>
              </a:rPr>
              <a:t> de </a:t>
            </a:r>
            <a:r>
              <a:rPr sz="1200" b="1" i="0" dirty="0" err="1">
                <a:solidFill>
                  <a:srgbClr val="1A3560"/>
                </a:solidFill>
              </a:rPr>
              <a:t>l'imprimante</a:t>
            </a:r>
            <a:endParaRPr sz="1200" b="1" i="0" dirty="0">
              <a:solidFill>
                <a:srgbClr val="1A356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7552" y="2846082"/>
            <a:ext cx="10725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595959"/>
                </a:solidFill>
              </a:rPr>
              <a:t>Imprimante</a:t>
            </a:r>
            <a:r>
              <a:rPr sz="1100" b="1" i="0" dirty="0">
                <a:solidFill>
                  <a:srgbClr val="595959"/>
                </a:solidFill>
              </a:rPr>
              <a:t> → </a:t>
            </a:r>
            <a:r>
              <a:rPr sz="1100" b="1" i="0" dirty="0" err="1">
                <a:solidFill>
                  <a:srgbClr val="595959"/>
                </a:solidFill>
              </a:rPr>
              <a:t>Imprimer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une</a:t>
            </a:r>
            <a:r>
              <a:rPr sz="1100" b="1" i="0" dirty="0">
                <a:solidFill>
                  <a:srgbClr val="595959"/>
                </a:solidFill>
              </a:rPr>
              <a:t> page de configuration </a:t>
            </a:r>
            <a:r>
              <a:rPr sz="1100" b="1" i="0" dirty="0" err="1">
                <a:solidFill>
                  <a:srgbClr val="595959"/>
                </a:solidFill>
              </a:rPr>
              <a:t>réseau</a:t>
            </a:r>
            <a:r>
              <a:rPr sz="1100" b="1" i="0" dirty="0">
                <a:solidFill>
                  <a:srgbClr val="595959"/>
                </a:solidFill>
              </a:rPr>
              <a:t> (menu sur </a:t>
            </a:r>
            <a:r>
              <a:rPr sz="1100" b="1" i="0" dirty="0" err="1">
                <a:solidFill>
                  <a:srgbClr val="595959"/>
                </a:solidFill>
              </a:rPr>
              <a:t>l'écran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smtClean="0">
                <a:solidFill>
                  <a:srgbClr val="595959"/>
                </a:solidFill>
              </a:rPr>
              <a:t>LCD)</a:t>
            </a:r>
            <a:r>
              <a:rPr lang="fr-CA" sz="1100" b="1" i="0" dirty="0" smtClean="0">
                <a:solidFill>
                  <a:srgbClr val="595959"/>
                </a:solidFill>
              </a:rPr>
              <a:t> </a:t>
            </a:r>
            <a:r>
              <a:rPr sz="1100" b="1" i="0" dirty="0" smtClean="0">
                <a:solidFill>
                  <a:srgbClr val="595959"/>
                </a:solidFill>
              </a:rPr>
              <a:t>OU </a:t>
            </a:r>
            <a:r>
              <a:rPr sz="1100" b="1" i="0" dirty="0">
                <a:solidFill>
                  <a:srgbClr val="595959"/>
                </a:solidFill>
              </a:rPr>
              <a:t>: </a:t>
            </a:r>
            <a:r>
              <a:rPr sz="1100" b="1" i="0" dirty="0" err="1">
                <a:solidFill>
                  <a:srgbClr val="595959"/>
                </a:solidFill>
              </a:rPr>
              <a:t>Dans</a:t>
            </a:r>
            <a:r>
              <a:rPr sz="1100" b="1" i="0" dirty="0">
                <a:solidFill>
                  <a:srgbClr val="595959"/>
                </a:solidFill>
              </a:rPr>
              <a:t> le </a:t>
            </a:r>
            <a:r>
              <a:rPr sz="1100" b="1" i="0" dirty="0" err="1">
                <a:solidFill>
                  <a:srgbClr val="595959"/>
                </a:solidFill>
              </a:rPr>
              <a:t>routeur</a:t>
            </a:r>
            <a:r>
              <a:rPr sz="1100" b="1" i="0" dirty="0">
                <a:solidFill>
                  <a:srgbClr val="595959"/>
                </a:solidFill>
              </a:rPr>
              <a:t> → </a:t>
            </a:r>
            <a:r>
              <a:rPr sz="1100" b="1" i="0" dirty="0" err="1">
                <a:solidFill>
                  <a:srgbClr val="595959"/>
                </a:solidFill>
              </a:rPr>
              <a:t>liste</a:t>
            </a:r>
            <a:r>
              <a:rPr sz="1100" b="1" i="0" dirty="0">
                <a:solidFill>
                  <a:srgbClr val="595959"/>
                </a:solidFill>
              </a:rPr>
              <a:t> des </a:t>
            </a:r>
            <a:r>
              <a:rPr sz="1100" b="1" i="0" dirty="0" err="1">
                <a:solidFill>
                  <a:srgbClr val="595959"/>
                </a:solidFill>
              </a:rPr>
              <a:t>appareils</a:t>
            </a:r>
            <a:r>
              <a:rPr sz="1100" b="1" i="0" dirty="0">
                <a:solidFill>
                  <a:srgbClr val="595959"/>
                </a:solidFill>
              </a:rPr>
              <a:t> DHCP → identifier </a:t>
            </a:r>
            <a:r>
              <a:rPr sz="1100" b="1" i="0" dirty="0" err="1">
                <a:solidFill>
                  <a:srgbClr val="595959"/>
                </a:solidFill>
              </a:rPr>
              <a:t>l'imprimante</a:t>
            </a:r>
            <a:r>
              <a:rPr sz="1100" b="1" i="0" dirty="0">
                <a:solidFill>
                  <a:srgbClr val="595959"/>
                </a:solidFill>
              </a:rPr>
              <a:t> par son nom </a:t>
            </a:r>
            <a:r>
              <a:rPr sz="1100" b="1" i="0" dirty="0" err="1">
                <a:solidFill>
                  <a:srgbClr val="595959"/>
                </a:solidFill>
              </a:rPr>
              <a:t>ou</a:t>
            </a:r>
            <a:r>
              <a:rPr sz="1100" b="1" i="0" dirty="0">
                <a:solidFill>
                  <a:srgbClr val="595959"/>
                </a:solidFill>
              </a:rPr>
              <a:t> MAC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39"/>
            <a:ext cx="1145743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291839"/>
            <a:ext cx="530352" cy="62179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291839"/>
            <a:ext cx="530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24956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A3560"/>
                </a:solidFill>
              </a:rPr>
              <a:t>Ouvrir</a:t>
            </a:r>
            <a:r>
              <a:rPr sz="1200" b="1" i="0" dirty="0">
                <a:solidFill>
                  <a:srgbClr val="1A3560"/>
                </a:solidFill>
              </a:rPr>
              <a:t> </a:t>
            </a:r>
            <a:r>
              <a:rPr sz="1200" b="1" i="0" dirty="0" err="1">
                <a:solidFill>
                  <a:srgbClr val="1A3560"/>
                </a:solidFill>
              </a:rPr>
              <a:t>l'ajout</a:t>
            </a:r>
            <a:r>
              <a:rPr sz="1200" b="1" i="0" dirty="0">
                <a:solidFill>
                  <a:srgbClr val="1A3560"/>
                </a:solidFill>
              </a:rPr>
              <a:t> </a:t>
            </a:r>
            <a:r>
              <a:rPr sz="1200" b="1" i="0" dirty="0" err="1">
                <a:solidFill>
                  <a:srgbClr val="1A3560"/>
                </a:solidFill>
              </a:rPr>
              <a:t>d'imprimante</a:t>
            </a:r>
            <a:endParaRPr sz="1200" b="1" i="0" dirty="0">
              <a:solidFill>
                <a:srgbClr val="1A356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7552" y="3540969"/>
            <a:ext cx="10725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595959"/>
                </a:solidFill>
              </a:rPr>
              <a:t>Paramètres</a:t>
            </a:r>
            <a:r>
              <a:rPr sz="1100" b="1" i="0" dirty="0">
                <a:solidFill>
                  <a:srgbClr val="595959"/>
                </a:solidFill>
              </a:rPr>
              <a:t> → Bluetooth et </a:t>
            </a:r>
            <a:r>
              <a:rPr sz="1100" b="1" i="0" dirty="0" err="1">
                <a:solidFill>
                  <a:srgbClr val="595959"/>
                </a:solidFill>
              </a:rPr>
              <a:t>appareils</a:t>
            </a:r>
            <a:r>
              <a:rPr sz="1100" b="1" i="0" dirty="0">
                <a:solidFill>
                  <a:srgbClr val="595959"/>
                </a:solidFill>
              </a:rPr>
              <a:t> → </a:t>
            </a:r>
            <a:r>
              <a:rPr sz="1100" b="1" i="0" dirty="0" err="1">
                <a:solidFill>
                  <a:srgbClr val="595959"/>
                </a:solidFill>
              </a:rPr>
              <a:t>Imprimantes</a:t>
            </a:r>
            <a:r>
              <a:rPr sz="1100" b="1" i="0" dirty="0">
                <a:solidFill>
                  <a:srgbClr val="595959"/>
                </a:solidFill>
              </a:rPr>
              <a:t> et scanners → </a:t>
            </a:r>
            <a:r>
              <a:rPr sz="1100" b="1" i="0" dirty="0" err="1">
                <a:solidFill>
                  <a:srgbClr val="595959"/>
                </a:solidFill>
              </a:rPr>
              <a:t>Ajouter</a:t>
            </a:r>
            <a:r>
              <a:rPr sz="1100" b="1" i="0" dirty="0">
                <a:solidFill>
                  <a:srgbClr val="595959"/>
                </a:solidFill>
              </a:rPr>
              <a:t> un </a:t>
            </a:r>
            <a:r>
              <a:rPr sz="1100" b="1" i="0" dirty="0" err="1" smtClean="0">
                <a:solidFill>
                  <a:srgbClr val="595959"/>
                </a:solidFill>
              </a:rPr>
              <a:t>appareil</a:t>
            </a:r>
            <a:r>
              <a:rPr lang="fr-CA" sz="1100" b="1" i="0" dirty="0" smtClean="0">
                <a:solidFill>
                  <a:srgbClr val="595959"/>
                </a:solidFill>
              </a:rPr>
              <a:t> </a:t>
            </a:r>
            <a:r>
              <a:rPr sz="1100" b="1" i="0" dirty="0" smtClean="0">
                <a:solidFill>
                  <a:srgbClr val="595959"/>
                </a:solidFill>
              </a:rPr>
              <a:t>→ </a:t>
            </a:r>
            <a:r>
              <a:rPr sz="1100" b="1" i="0" dirty="0" err="1">
                <a:solidFill>
                  <a:srgbClr val="595959"/>
                </a:solidFill>
              </a:rPr>
              <a:t>Attendre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quelques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secondes</a:t>
            </a:r>
            <a:r>
              <a:rPr sz="1100" b="1" i="0" dirty="0">
                <a:solidFill>
                  <a:srgbClr val="595959"/>
                </a:solidFill>
              </a:rPr>
              <a:t> → </a:t>
            </a:r>
            <a:r>
              <a:rPr sz="1100" b="1" i="0" dirty="0" err="1">
                <a:solidFill>
                  <a:srgbClr val="595959"/>
                </a:solidFill>
              </a:rPr>
              <a:t>cliquer</a:t>
            </a:r>
            <a:r>
              <a:rPr sz="1100" b="1" i="0" dirty="0">
                <a:solidFill>
                  <a:srgbClr val="595959"/>
                </a:solidFill>
              </a:rPr>
              <a:t> '</a:t>
            </a:r>
            <a:r>
              <a:rPr sz="1100" b="1" i="0" dirty="0" err="1">
                <a:solidFill>
                  <a:srgbClr val="595959"/>
                </a:solidFill>
              </a:rPr>
              <a:t>L'imprimante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voulue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n'est</a:t>
            </a:r>
            <a:r>
              <a:rPr sz="1100" b="1" i="0" dirty="0">
                <a:solidFill>
                  <a:srgbClr val="595959"/>
                </a:solidFill>
              </a:rPr>
              <a:t> pas </a:t>
            </a:r>
            <a:r>
              <a:rPr sz="1100" b="1" i="0" dirty="0" err="1">
                <a:solidFill>
                  <a:srgbClr val="595959"/>
                </a:solidFill>
              </a:rPr>
              <a:t>répertoriée</a:t>
            </a:r>
            <a:r>
              <a:rPr sz="1100" b="1" i="0" dirty="0">
                <a:solidFill>
                  <a:srgbClr val="595959"/>
                </a:solidFill>
              </a:rPr>
              <a:t>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05072"/>
            <a:ext cx="11457432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005072"/>
            <a:ext cx="530352" cy="62179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005072"/>
            <a:ext cx="530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05993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Choisir la méthode TCP/IP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4352544"/>
            <a:ext cx="10725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595959"/>
                </a:solidFill>
              </a:rPr>
              <a:t>Sélectionner</a:t>
            </a:r>
            <a:r>
              <a:rPr sz="1100" b="1" i="0" dirty="0">
                <a:solidFill>
                  <a:srgbClr val="595959"/>
                </a:solidFill>
              </a:rPr>
              <a:t> '</a:t>
            </a:r>
            <a:r>
              <a:rPr sz="1100" b="1" i="0" dirty="0" err="1">
                <a:solidFill>
                  <a:srgbClr val="595959"/>
                </a:solidFill>
              </a:rPr>
              <a:t>Ajouter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une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imprimante</a:t>
            </a:r>
            <a:r>
              <a:rPr sz="1100" b="1" i="0" dirty="0">
                <a:solidFill>
                  <a:srgbClr val="595959"/>
                </a:solidFill>
              </a:rPr>
              <a:t> avec </a:t>
            </a:r>
            <a:r>
              <a:rPr sz="1100" b="1" i="0" dirty="0" err="1">
                <a:solidFill>
                  <a:srgbClr val="595959"/>
                </a:solidFill>
              </a:rPr>
              <a:t>une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adresse</a:t>
            </a:r>
            <a:r>
              <a:rPr sz="1100" b="1" i="0" dirty="0">
                <a:solidFill>
                  <a:srgbClr val="595959"/>
                </a:solidFill>
              </a:rPr>
              <a:t> TCP/IP </a:t>
            </a:r>
            <a:r>
              <a:rPr sz="1100" b="1" i="0" dirty="0" err="1">
                <a:solidFill>
                  <a:srgbClr val="595959"/>
                </a:solidFill>
              </a:rPr>
              <a:t>ou</a:t>
            </a:r>
            <a:r>
              <a:rPr sz="1100" b="1" i="0" dirty="0">
                <a:solidFill>
                  <a:srgbClr val="595959"/>
                </a:solidFill>
              </a:rPr>
              <a:t> un nom d'hôte</a:t>
            </a:r>
            <a:r>
              <a:rPr sz="1100" b="1" i="0" dirty="0" smtClean="0">
                <a:solidFill>
                  <a:srgbClr val="595959"/>
                </a:solidFill>
              </a:rPr>
              <a:t>'</a:t>
            </a:r>
            <a:r>
              <a:rPr lang="fr-CA" sz="1100" b="1" i="0" dirty="0" smtClean="0">
                <a:solidFill>
                  <a:srgbClr val="595959"/>
                </a:solidFill>
              </a:rPr>
              <a:t> </a:t>
            </a:r>
            <a:r>
              <a:rPr sz="1100" b="1" i="0" dirty="0" smtClean="0">
                <a:solidFill>
                  <a:srgbClr val="595959"/>
                </a:solidFill>
              </a:rPr>
              <a:t>→ </a:t>
            </a:r>
            <a:r>
              <a:rPr sz="1100" b="1" i="0" dirty="0">
                <a:solidFill>
                  <a:srgbClr val="595959"/>
                </a:solidFill>
              </a:rPr>
              <a:t>Type </a:t>
            </a:r>
            <a:r>
              <a:rPr sz="1100" b="1" i="0" dirty="0" err="1">
                <a:solidFill>
                  <a:srgbClr val="595959"/>
                </a:solidFill>
              </a:rPr>
              <a:t>d'appareil</a:t>
            </a:r>
            <a:r>
              <a:rPr sz="1100" b="1" i="0" dirty="0">
                <a:solidFill>
                  <a:srgbClr val="595959"/>
                </a:solidFill>
              </a:rPr>
              <a:t> : </a:t>
            </a:r>
            <a:r>
              <a:rPr sz="1100" b="1" i="0" dirty="0" err="1">
                <a:solidFill>
                  <a:srgbClr val="595959"/>
                </a:solidFill>
              </a:rPr>
              <a:t>Détection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automatique</a:t>
            </a:r>
            <a:r>
              <a:rPr sz="1100" b="1" i="0" dirty="0">
                <a:solidFill>
                  <a:srgbClr val="595959"/>
                </a:solidFill>
              </a:rPr>
              <a:t> · </a:t>
            </a:r>
            <a:r>
              <a:rPr sz="1100" b="1" i="0" dirty="0" err="1">
                <a:solidFill>
                  <a:srgbClr val="595959"/>
                </a:solidFill>
              </a:rPr>
              <a:t>Adresse</a:t>
            </a:r>
            <a:r>
              <a:rPr sz="1100" b="1" i="0" dirty="0">
                <a:solidFill>
                  <a:srgbClr val="595959"/>
                </a:solidFill>
              </a:rPr>
              <a:t> : </a:t>
            </a:r>
            <a:r>
              <a:rPr sz="1100" b="1" i="0" dirty="0" err="1">
                <a:solidFill>
                  <a:srgbClr val="595959"/>
                </a:solidFill>
              </a:rPr>
              <a:t>saisir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l'IP</a:t>
            </a:r>
            <a:r>
              <a:rPr sz="1100" b="1" i="0" dirty="0">
                <a:solidFill>
                  <a:srgbClr val="595959"/>
                </a:solidFill>
              </a:rPr>
              <a:t> de </a:t>
            </a:r>
            <a:r>
              <a:rPr sz="1100" b="1" i="0" dirty="0" err="1">
                <a:solidFill>
                  <a:srgbClr val="595959"/>
                </a:solidFill>
              </a:rPr>
              <a:t>l'imprimante</a:t>
            </a:r>
            <a:endParaRPr sz="1100" b="1" i="0" dirty="0">
              <a:solidFill>
                <a:srgbClr val="595959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" y="4718304"/>
            <a:ext cx="1145743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718304"/>
            <a:ext cx="530352" cy="62179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4718304"/>
            <a:ext cx="530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7731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Installer le driver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065776"/>
            <a:ext cx="10725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595959"/>
                </a:solidFill>
              </a:rPr>
              <a:t>Windows </a:t>
            </a:r>
            <a:r>
              <a:rPr sz="1100" b="1" i="0" dirty="0" err="1">
                <a:solidFill>
                  <a:srgbClr val="595959"/>
                </a:solidFill>
              </a:rPr>
              <a:t>détecte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automatiquement</a:t>
            </a:r>
            <a:r>
              <a:rPr sz="1100" b="1" i="0" dirty="0">
                <a:solidFill>
                  <a:srgbClr val="595959"/>
                </a:solidFill>
              </a:rPr>
              <a:t> le </a:t>
            </a:r>
            <a:r>
              <a:rPr sz="1100" b="1" i="0" dirty="0" err="1">
                <a:solidFill>
                  <a:srgbClr val="595959"/>
                </a:solidFill>
              </a:rPr>
              <a:t>modèle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dans</a:t>
            </a:r>
            <a:r>
              <a:rPr sz="1100" b="1" i="0" dirty="0">
                <a:solidFill>
                  <a:srgbClr val="595959"/>
                </a:solidFill>
              </a:rPr>
              <a:t> la </a:t>
            </a:r>
            <a:r>
              <a:rPr sz="1100" b="1" i="0" dirty="0" err="1">
                <a:solidFill>
                  <a:srgbClr val="595959"/>
                </a:solidFill>
              </a:rPr>
              <a:t>plupart</a:t>
            </a:r>
            <a:r>
              <a:rPr sz="1100" b="1" i="0" dirty="0">
                <a:solidFill>
                  <a:srgbClr val="595959"/>
                </a:solidFill>
              </a:rPr>
              <a:t> des </a:t>
            </a:r>
            <a:r>
              <a:rPr sz="1100" b="1" i="0" dirty="0" err="1" smtClean="0">
                <a:solidFill>
                  <a:srgbClr val="595959"/>
                </a:solidFill>
              </a:rPr>
              <a:t>cas</a:t>
            </a:r>
            <a:r>
              <a:rPr lang="fr-CA" sz="1100" b="1" i="0" dirty="0" smtClean="0">
                <a:solidFill>
                  <a:srgbClr val="595959"/>
                </a:solidFill>
              </a:rPr>
              <a:t> </a:t>
            </a:r>
            <a:r>
              <a:rPr sz="1100" b="1" i="0" dirty="0" smtClean="0">
                <a:solidFill>
                  <a:srgbClr val="595959"/>
                </a:solidFill>
              </a:rPr>
              <a:t>Si </a:t>
            </a:r>
            <a:r>
              <a:rPr sz="1100" b="1" i="0" dirty="0">
                <a:solidFill>
                  <a:srgbClr val="595959"/>
                </a:solidFill>
              </a:rPr>
              <a:t>non </a:t>
            </a:r>
            <a:r>
              <a:rPr sz="1100" b="1" i="0" dirty="0" err="1">
                <a:solidFill>
                  <a:srgbClr val="595959"/>
                </a:solidFill>
              </a:rPr>
              <a:t>détecté</a:t>
            </a:r>
            <a:r>
              <a:rPr sz="1100" b="1" i="0" dirty="0">
                <a:solidFill>
                  <a:srgbClr val="595959"/>
                </a:solidFill>
              </a:rPr>
              <a:t> : </a:t>
            </a:r>
            <a:r>
              <a:rPr sz="1100" b="1" i="0" dirty="0" err="1">
                <a:solidFill>
                  <a:srgbClr val="595959"/>
                </a:solidFill>
              </a:rPr>
              <a:t>aller</a:t>
            </a:r>
            <a:r>
              <a:rPr sz="1100" b="1" i="0" dirty="0">
                <a:solidFill>
                  <a:srgbClr val="595959"/>
                </a:solidFill>
              </a:rPr>
              <a:t> sur le site du fabricant · </a:t>
            </a:r>
            <a:r>
              <a:rPr sz="1100" b="1" i="0" dirty="0" err="1">
                <a:solidFill>
                  <a:srgbClr val="595959"/>
                </a:solidFill>
              </a:rPr>
              <a:t>télécharger</a:t>
            </a:r>
            <a:r>
              <a:rPr sz="1100" b="1" i="0" dirty="0">
                <a:solidFill>
                  <a:srgbClr val="595959"/>
                </a:solidFill>
              </a:rPr>
              <a:t> le driver exact du </a:t>
            </a:r>
            <a:r>
              <a:rPr sz="1100" b="1" i="0" dirty="0" err="1">
                <a:solidFill>
                  <a:srgbClr val="595959"/>
                </a:solidFill>
              </a:rPr>
              <a:t>modèle</a:t>
            </a:r>
            <a:endParaRPr sz="1100" b="1" i="0" dirty="0">
              <a:solidFill>
                <a:srgbClr val="595959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" y="5431536"/>
            <a:ext cx="11457432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431536"/>
            <a:ext cx="530352" cy="621792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431536"/>
            <a:ext cx="530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4863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Imprimer une page de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5779007"/>
            <a:ext cx="10725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595959"/>
                </a:solidFill>
              </a:rPr>
              <a:t>Clic</a:t>
            </a:r>
            <a:r>
              <a:rPr sz="1100" b="1" i="0" dirty="0">
                <a:solidFill>
                  <a:srgbClr val="595959"/>
                </a:solidFill>
              </a:rPr>
              <a:t> droit sur </a:t>
            </a:r>
            <a:r>
              <a:rPr sz="1100" b="1" i="0" dirty="0" err="1">
                <a:solidFill>
                  <a:srgbClr val="595959"/>
                </a:solidFill>
              </a:rPr>
              <a:t>l'imprimante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ajoutée</a:t>
            </a:r>
            <a:r>
              <a:rPr sz="1100" b="1" i="0" dirty="0">
                <a:solidFill>
                  <a:srgbClr val="595959"/>
                </a:solidFill>
              </a:rPr>
              <a:t> → </a:t>
            </a:r>
            <a:r>
              <a:rPr sz="1100" b="1" i="0" dirty="0" err="1">
                <a:solidFill>
                  <a:srgbClr val="595959"/>
                </a:solidFill>
              </a:rPr>
              <a:t>Propriétés</a:t>
            </a:r>
            <a:r>
              <a:rPr sz="1100" b="1" i="0" dirty="0">
                <a:solidFill>
                  <a:srgbClr val="595959"/>
                </a:solidFill>
              </a:rPr>
              <a:t> de </a:t>
            </a:r>
            <a:r>
              <a:rPr sz="1100" b="1" i="0" dirty="0" err="1">
                <a:solidFill>
                  <a:srgbClr val="595959"/>
                </a:solidFill>
              </a:rPr>
              <a:t>l'imprimante</a:t>
            </a:r>
            <a:r>
              <a:rPr sz="1100" b="1" i="0" dirty="0">
                <a:solidFill>
                  <a:srgbClr val="595959"/>
                </a:solidFill>
              </a:rPr>
              <a:t> → </a:t>
            </a:r>
            <a:r>
              <a:rPr sz="1100" b="1" i="0" dirty="0" err="1">
                <a:solidFill>
                  <a:srgbClr val="595959"/>
                </a:solidFill>
              </a:rPr>
              <a:t>Imprimer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une</a:t>
            </a:r>
            <a:r>
              <a:rPr sz="1100" b="1" i="0" dirty="0">
                <a:solidFill>
                  <a:srgbClr val="595959"/>
                </a:solidFill>
              </a:rPr>
              <a:t> page de </a:t>
            </a:r>
            <a:r>
              <a:rPr sz="1100" b="1" i="0" dirty="0" smtClean="0">
                <a:solidFill>
                  <a:srgbClr val="595959"/>
                </a:solidFill>
              </a:rPr>
              <a:t>test</a:t>
            </a:r>
            <a:r>
              <a:rPr lang="fr-CA" sz="1100" b="1" i="0" dirty="0" smtClean="0">
                <a:solidFill>
                  <a:srgbClr val="595959"/>
                </a:solidFill>
              </a:rPr>
              <a:t> </a:t>
            </a:r>
            <a:r>
              <a:rPr sz="1100" b="1" i="0" dirty="0" err="1" smtClean="0">
                <a:solidFill>
                  <a:srgbClr val="595959"/>
                </a:solidFill>
              </a:rPr>
              <a:t>Vérifier</a:t>
            </a:r>
            <a:r>
              <a:rPr sz="1100" b="1" i="0" dirty="0" smtClean="0">
                <a:solidFill>
                  <a:srgbClr val="595959"/>
                </a:solidFill>
              </a:rPr>
              <a:t> </a:t>
            </a:r>
            <a:r>
              <a:rPr sz="1100" b="1" i="0" dirty="0">
                <a:solidFill>
                  <a:srgbClr val="595959"/>
                </a:solidFill>
              </a:rPr>
              <a:t>la </a:t>
            </a:r>
            <a:r>
              <a:rPr sz="1100" b="1" i="0" dirty="0" err="1">
                <a:solidFill>
                  <a:srgbClr val="595959"/>
                </a:solidFill>
              </a:rPr>
              <a:t>mise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en</a:t>
            </a:r>
            <a:r>
              <a:rPr sz="1100" b="1" i="0" dirty="0">
                <a:solidFill>
                  <a:srgbClr val="595959"/>
                </a:solidFill>
              </a:rPr>
              <a:t> file </a:t>
            </a:r>
            <a:r>
              <a:rPr sz="1100" b="1" i="0" dirty="0" err="1">
                <a:solidFill>
                  <a:srgbClr val="595959"/>
                </a:solidFill>
              </a:rPr>
              <a:t>d'attente</a:t>
            </a:r>
            <a:r>
              <a:rPr sz="1100" b="1" i="0" dirty="0">
                <a:solidFill>
                  <a:srgbClr val="595959"/>
                </a:solidFill>
              </a:rPr>
              <a:t> et la </a:t>
            </a:r>
            <a:r>
              <a:rPr sz="1100" b="1" i="0" dirty="0" err="1">
                <a:solidFill>
                  <a:srgbClr val="595959"/>
                </a:solidFill>
              </a:rPr>
              <a:t>qualité</a:t>
            </a:r>
            <a:endParaRPr sz="1100" b="1" i="0" dirty="0">
              <a:solidFill>
                <a:srgbClr val="595959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5760" y="6144768"/>
            <a:ext cx="1145743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5760" y="6144768"/>
            <a:ext cx="530352" cy="62179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6144768"/>
            <a:ext cx="530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61996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Attribuer une IP fixe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" y="6492240"/>
            <a:ext cx="10725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595959"/>
                </a:solidFill>
              </a:rPr>
              <a:t>Dans</a:t>
            </a:r>
            <a:r>
              <a:rPr sz="1100" b="1" i="0" dirty="0">
                <a:solidFill>
                  <a:srgbClr val="595959"/>
                </a:solidFill>
              </a:rPr>
              <a:t> le </a:t>
            </a:r>
            <a:r>
              <a:rPr sz="1100" b="1" i="0" dirty="0" err="1">
                <a:solidFill>
                  <a:srgbClr val="595959"/>
                </a:solidFill>
              </a:rPr>
              <a:t>routeur</a:t>
            </a:r>
            <a:r>
              <a:rPr sz="1100" b="1" i="0" dirty="0">
                <a:solidFill>
                  <a:srgbClr val="595959"/>
                </a:solidFill>
              </a:rPr>
              <a:t> → </a:t>
            </a:r>
            <a:r>
              <a:rPr sz="1100" b="1" i="0" dirty="0" err="1">
                <a:solidFill>
                  <a:srgbClr val="595959"/>
                </a:solidFill>
              </a:rPr>
              <a:t>réservation</a:t>
            </a:r>
            <a:r>
              <a:rPr sz="1100" b="1" i="0" dirty="0">
                <a:solidFill>
                  <a:srgbClr val="595959"/>
                </a:solidFill>
              </a:rPr>
              <a:t> DHCP par </a:t>
            </a:r>
            <a:r>
              <a:rPr sz="1100" b="1" i="0" dirty="0" err="1">
                <a:solidFill>
                  <a:srgbClr val="595959"/>
                </a:solidFill>
              </a:rPr>
              <a:t>adresse</a:t>
            </a:r>
            <a:r>
              <a:rPr sz="1100" b="1" i="0" dirty="0">
                <a:solidFill>
                  <a:srgbClr val="595959"/>
                </a:solidFill>
              </a:rPr>
              <a:t> MAC de </a:t>
            </a:r>
            <a:r>
              <a:rPr sz="1100" b="1" i="0" dirty="0" err="1" smtClean="0">
                <a:solidFill>
                  <a:srgbClr val="595959"/>
                </a:solidFill>
              </a:rPr>
              <a:t>l'imprimante</a:t>
            </a:r>
            <a:r>
              <a:rPr lang="fr-CA" sz="1100" b="1" i="0" dirty="0" smtClean="0">
                <a:solidFill>
                  <a:srgbClr val="595959"/>
                </a:solidFill>
              </a:rPr>
              <a:t> </a:t>
            </a:r>
            <a:r>
              <a:rPr sz="1100" b="1" i="0" dirty="0" smtClean="0">
                <a:solidFill>
                  <a:srgbClr val="595959"/>
                </a:solidFill>
              </a:rPr>
              <a:t>Assure </a:t>
            </a:r>
            <a:r>
              <a:rPr sz="1100" b="1" i="0" dirty="0">
                <a:solidFill>
                  <a:srgbClr val="595959"/>
                </a:solidFill>
              </a:rPr>
              <a:t>que </a:t>
            </a:r>
            <a:r>
              <a:rPr sz="1100" b="1" i="0" dirty="0" err="1">
                <a:solidFill>
                  <a:srgbClr val="595959"/>
                </a:solidFill>
              </a:rPr>
              <a:t>l'imprimante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garde</a:t>
            </a:r>
            <a:r>
              <a:rPr sz="1100" b="1" i="0" dirty="0">
                <a:solidFill>
                  <a:srgbClr val="595959"/>
                </a:solidFill>
              </a:rPr>
              <a:t> </a:t>
            </a:r>
            <a:r>
              <a:rPr sz="1100" b="1" i="0" dirty="0" err="1">
                <a:solidFill>
                  <a:srgbClr val="595959"/>
                </a:solidFill>
              </a:rPr>
              <a:t>toujours</a:t>
            </a:r>
            <a:r>
              <a:rPr sz="1100" b="1" i="0" dirty="0">
                <a:solidFill>
                  <a:srgbClr val="595959"/>
                </a:solidFill>
              </a:rPr>
              <a:t> la </a:t>
            </a:r>
            <a:r>
              <a:rPr sz="1100" b="1" i="0" dirty="0" err="1">
                <a:solidFill>
                  <a:srgbClr val="595959"/>
                </a:solidFill>
              </a:rPr>
              <a:t>même</a:t>
            </a:r>
            <a:r>
              <a:rPr sz="1100" b="1" i="0" dirty="0">
                <a:solidFill>
                  <a:srgbClr val="595959"/>
                </a:solidFill>
              </a:rPr>
              <a:t> IP → </a:t>
            </a:r>
            <a:r>
              <a:rPr sz="1100" b="1" i="0" dirty="0" err="1">
                <a:solidFill>
                  <a:srgbClr val="595959"/>
                </a:solidFill>
              </a:rPr>
              <a:t>connexion</a:t>
            </a:r>
            <a:r>
              <a:rPr sz="1100" b="1" i="0" dirty="0">
                <a:solidFill>
                  <a:srgbClr val="595959"/>
                </a:solidFill>
              </a:rPr>
              <a:t> stable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Règle 3-2-1 — Le standard de sauvegarde industrie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595959"/>
                </a:solidFill>
              </a:rPr>
              <a:t>S'applique</a:t>
            </a:r>
            <a:r>
              <a:rPr sz="1300" b="0" i="1" dirty="0">
                <a:solidFill>
                  <a:srgbClr val="595959"/>
                </a:solidFill>
              </a:rPr>
              <a:t> aux </a:t>
            </a:r>
            <a:r>
              <a:rPr sz="1300" b="0" i="1" dirty="0" err="1">
                <a:solidFill>
                  <a:srgbClr val="595959"/>
                </a:solidFill>
              </a:rPr>
              <a:t>particuliers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comme</a:t>
            </a:r>
            <a:r>
              <a:rPr sz="1300" b="0" i="1" dirty="0">
                <a:solidFill>
                  <a:srgbClr val="595959"/>
                </a:solidFill>
              </a:rPr>
              <a:t> aux PME. </a:t>
            </a:r>
            <a:r>
              <a:rPr sz="1300" b="0" i="1" dirty="0" err="1">
                <a:solidFill>
                  <a:srgbClr val="595959"/>
                </a:solidFill>
              </a:rPr>
              <a:t>Mémorisez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cette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règle</a:t>
            </a:r>
            <a:r>
              <a:rPr sz="1300" b="0" i="1" dirty="0">
                <a:solidFill>
                  <a:srgbClr val="595959"/>
                </a:solidFill>
              </a:rPr>
              <a:t> — </a:t>
            </a:r>
            <a:r>
              <a:rPr sz="1300" b="0" i="1" dirty="0" err="1">
                <a:solidFill>
                  <a:srgbClr val="595959"/>
                </a:solidFill>
              </a:rPr>
              <a:t>elle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sauvera</a:t>
            </a:r>
            <a:r>
              <a:rPr sz="1300" b="0" i="1" dirty="0">
                <a:solidFill>
                  <a:srgbClr val="595959"/>
                </a:solidFill>
              </a:rPr>
              <a:t> des </a:t>
            </a:r>
            <a:r>
              <a:rPr sz="1300" b="0" i="1" dirty="0" err="1">
                <a:solidFill>
                  <a:srgbClr val="595959"/>
                </a:solidFill>
              </a:rPr>
              <a:t>données</a:t>
            </a:r>
            <a:r>
              <a:rPr sz="1300" b="0" i="1" dirty="0">
                <a:solidFill>
                  <a:srgbClr val="595959"/>
                </a:solidFill>
              </a:rPr>
              <a:t> un jour.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712861"/>
            <a:ext cx="3694176" cy="56692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719072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17830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copies de vos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395728"/>
            <a:ext cx="347472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L'original sur votre PC + 2 sauvegardes séparées.
Si 1 copie est corrompue ou chiffrée (ransomware),
2 autres restent intact et disponibles.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4187952"/>
            <a:ext cx="3474720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4279392"/>
            <a:ext cx="3474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A0DAD"/>
                </a:solidFill>
              </a:rPr>
              <a:t>Exemple concret :
Fichier Word original + copie disque ext. + copie OneDrive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61104" y="1719072"/>
            <a:ext cx="3694176" cy="5669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0832" y="1719072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17830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supports différents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2395728"/>
            <a:ext cx="347472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Ne pas avoir 2 copies au même endroit sur le même type de média.
Deux disques USB identiques de la même marque achetés ensemble peuvent tomber en même temps.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4187952"/>
            <a:ext cx="3474720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0832" y="4279392"/>
            <a:ext cx="3474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A0DAD"/>
                </a:solidFill>
              </a:rPr>
              <a:t>Exemple concret :
SSD interne + disque externe USB · Pas 2 clés USB identiques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56448" y="1719072"/>
            <a:ext cx="3694176" cy="5669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66175" y="1719072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17830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copie hors 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2395728"/>
            <a:ext cx="347472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Cloud (OneDrive, Backblaze) OU disque chez un proche OU coffre.
Protège contre incendie, vol, inondation, ransomware réseau.
Si tout est au même endroit = 0 vraie protection.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5" y="4187952"/>
            <a:ext cx="3474720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5" y="4279392"/>
            <a:ext cx="3474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A0DAD"/>
                </a:solidFill>
              </a:rPr>
              <a:t>Exemple concret :
OneDrive 1 TB M365 · ou disque ext. stocké à l'extérieur du bureau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Une sauvegarde non testée n'est pas une sauvegarde. Tester = restaurer 1 fichier et vérifier son intégrité.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Dépannage — Partage réseau inaccessible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Deux erreurs distinctes : 'Accès refusé' (permissions) vs 'Introuvable' (réseau). Méthode différente pour chacune.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8"/>
            <a:ext cx="11457432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029968"/>
            <a:ext cx="685800" cy="8046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208483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</a:rPr>
              <a:t>Erreur : L'ordinateur distant est introuvable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377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Ping NomPC → répond ? · Ping IP → répond ? · Découverte réseau activée ? · Pare-feu Windows bloque SMB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31352" y="2084832"/>
            <a:ext cx="3291840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20848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net view \\NomPC · ou explorer.exe \\IP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1145743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685800" cy="804672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2927115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BB1C1C"/>
                </a:solidFill>
              </a:rPr>
              <a:t>Erreur</a:t>
            </a:r>
            <a:r>
              <a:rPr sz="1200" b="1" i="0" dirty="0">
                <a:solidFill>
                  <a:srgbClr val="BB1C1C"/>
                </a:solidFill>
              </a:rPr>
              <a:t> : </a:t>
            </a:r>
            <a:r>
              <a:rPr sz="1200" b="1" i="0" dirty="0" err="1">
                <a:solidFill>
                  <a:srgbClr val="BB1C1C"/>
                </a:solidFill>
              </a:rPr>
              <a:t>Accès</a:t>
            </a:r>
            <a:r>
              <a:rPr sz="1200" b="1" i="0" dirty="0">
                <a:solidFill>
                  <a:srgbClr val="BB1C1C"/>
                </a:solidFill>
              </a:rPr>
              <a:t> </a:t>
            </a:r>
            <a:r>
              <a:rPr sz="1200" b="1" i="0" dirty="0" err="1">
                <a:solidFill>
                  <a:srgbClr val="BB1C1C"/>
                </a:solidFill>
              </a:rPr>
              <a:t>refusé</a:t>
            </a:r>
            <a:r>
              <a:rPr sz="1200" b="1" i="0" dirty="0">
                <a:solidFill>
                  <a:srgbClr val="BB1C1C"/>
                </a:solidFill>
              </a:rPr>
              <a:t> (0x80070005)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16485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595959"/>
                </a:solidFill>
              </a:rPr>
              <a:t>Vérifier</a:t>
            </a:r>
            <a:r>
              <a:rPr sz="1150" b="0" i="0" dirty="0">
                <a:solidFill>
                  <a:srgbClr val="595959"/>
                </a:solidFill>
              </a:rPr>
              <a:t> permissions de </a:t>
            </a:r>
            <a:r>
              <a:rPr sz="1150" b="0" i="0" dirty="0" err="1">
                <a:solidFill>
                  <a:srgbClr val="595959"/>
                </a:solidFill>
              </a:rPr>
              <a:t>partage</a:t>
            </a:r>
            <a:r>
              <a:rPr sz="1150" b="0" i="0" dirty="0">
                <a:solidFill>
                  <a:srgbClr val="595959"/>
                </a:solidFill>
              </a:rPr>
              <a:t> (</a:t>
            </a:r>
            <a:r>
              <a:rPr sz="1150" b="0" i="0" dirty="0" err="1">
                <a:solidFill>
                  <a:srgbClr val="595959"/>
                </a:solidFill>
              </a:rPr>
              <a:t>Propriétés</a:t>
            </a:r>
            <a:r>
              <a:rPr sz="1150" b="0" i="0" dirty="0">
                <a:solidFill>
                  <a:srgbClr val="595959"/>
                </a:solidFill>
              </a:rPr>
              <a:t> → </a:t>
            </a:r>
            <a:r>
              <a:rPr sz="1150" b="0" i="0" dirty="0" err="1">
                <a:solidFill>
                  <a:srgbClr val="595959"/>
                </a:solidFill>
              </a:rPr>
              <a:t>Partage</a:t>
            </a:r>
            <a:r>
              <a:rPr sz="1150" b="0" i="0" dirty="0">
                <a:solidFill>
                  <a:srgbClr val="595959"/>
                </a:solidFill>
              </a:rPr>
              <a:t> → </a:t>
            </a:r>
            <a:r>
              <a:rPr sz="1150" b="0" i="0" dirty="0" err="1">
                <a:solidFill>
                  <a:srgbClr val="595959"/>
                </a:solidFill>
              </a:rPr>
              <a:t>Partager</a:t>
            </a:r>
            <a:r>
              <a:rPr sz="1150" b="0" i="0" dirty="0">
                <a:solidFill>
                  <a:srgbClr val="595959"/>
                </a:solidFill>
              </a:rPr>
              <a:t>)
</a:t>
            </a:r>
            <a:r>
              <a:rPr sz="1150" b="0" i="0" dirty="0" err="1">
                <a:solidFill>
                  <a:srgbClr val="595959"/>
                </a:solidFill>
              </a:rPr>
              <a:t>Vérifier</a:t>
            </a:r>
            <a:r>
              <a:rPr sz="1150" b="0" i="0" dirty="0">
                <a:solidFill>
                  <a:srgbClr val="595959"/>
                </a:solidFill>
              </a:rPr>
              <a:t> permissions NTFS (</a:t>
            </a:r>
            <a:r>
              <a:rPr sz="1150" b="0" i="0" dirty="0" err="1">
                <a:solidFill>
                  <a:srgbClr val="595959"/>
                </a:solidFill>
              </a:rPr>
              <a:t>onglet</a:t>
            </a:r>
            <a:r>
              <a:rPr sz="1150" b="0" i="0" dirty="0">
                <a:solidFill>
                  <a:srgbClr val="595959"/>
                </a:solidFill>
              </a:rPr>
              <a:t> </a:t>
            </a:r>
            <a:r>
              <a:rPr sz="1150" b="0" i="0" dirty="0" err="1">
                <a:solidFill>
                  <a:srgbClr val="595959"/>
                </a:solidFill>
              </a:rPr>
              <a:t>Sécurité</a:t>
            </a:r>
            <a:r>
              <a:rPr sz="1150" b="0" i="0" dirty="0">
                <a:solidFill>
                  <a:srgbClr val="595959"/>
                </a:solidFill>
              </a:rPr>
              <a:t>)
La plus restrictive des 2 </a:t>
            </a:r>
            <a:r>
              <a:rPr sz="1150" b="0" i="0" dirty="0" err="1">
                <a:solidFill>
                  <a:srgbClr val="595959"/>
                </a:solidFill>
              </a:rPr>
              <a:t>s'applique</a:t>
            </a:r>
            <a:endParaRPr sz="1150" b="0" i="0" dirty="0">
              <a:solidFill>
                <a:srgbClr val="595959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531352" y="2980944"/>
            <a:ext cx="3291840" cy="329184"/>
          </a:xfrm>
          <a:prstGeom prst="rect">
            <a:avLst/>
          </a:prstGeom>
          <a:solidFill>
            <a:srgbClr val="B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31352" y="29809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Ajouter l'utilisateur dans les 2 onglets 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22191"/>
            <a:ext cx="11457432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822191"/>
            <a:ext cx="685800" cy="80467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0432" y="3877055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7000"/>
                </a:solidFill>
              </a:rPr>
              <a:t>Erreur : Ressource réseau absente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169663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Partage supprimé · PC hôte éteint · Chemin UNC incorrect
Vérifier que le PC hôte est allumé · Que le partage existe encore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31352" y="3877055"/>
            <a:ext cx="3291840" cy="329184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31352" y="3877055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net share → lister les partages actifs sur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18304"/>
            <a:ext cx="1145743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718304"/>
            <a:ext cx="685800" cy="8046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0432" y="477316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A0"/>
                </a:solidFill>
              </a:rPr>
              <a:t>Lecteur réseau déconnecté (X rouge)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065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PC hôte était éteint au démarrage · Le montage automatique a échoué
Réinitialiser : Ouvrir l'explorateur → clic droit → Déconnecter → Remonter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31352" y="4773168"/>
            <a:ext cx="3291840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31352" y="477316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net use Z: /delete puis net use Z: \\NomPC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14416"/>
            <a:ext cx="11457432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5614416"/>
            <a:ext cx="685800" cy="804672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70432" y="566928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9BB"/>
                </a:solidFill>
              </a:rPr>
              <a:t>Lenteur du partage réseau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5961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Câble Gigabit ? · Switch Gigabit ? · Wi-Fi au lieu de câble ?
Les transferts sur Wi-Fi peuvent être 5-10× plus lents qu'en câble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31352" y="5669280"/>
            <a:ext cx="3291840" cy="329184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31352" y="56692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Task Manager → Réseau · Ou : Paramètres 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Cas pratiques — Séance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7548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Sophie, ex-ex-coiffeuse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</a:rPr>
              <a:t>Partage créé hier fonctionne sur son PC mais pas sur les 2 autres PC du bureau.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2907792"/>
            <a:ext cx="3438144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980944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 vérifiez-vous en premier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639311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Si découverte réseau est désactivée sur les autres PC, que faire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297679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Comment tester l'accès directement par IP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035040"/>
            <a:ext cx="3200400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Découverte réseau · \\IP\Dossier · Permissions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61104" y="1719072"/>
            <a:ext cx="3694176" cy="47548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Karim, ex-ex-plombier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</a:rPr>
              <a:t>Lecteur réseau Z: déconnecté chaque matin. Doit remapper manuellement.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907792"/>
            <a:ext cx="3438144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2980944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Pourquoi le lecteur se déconnecte-t-il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639311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Comment corriger définitivement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297679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Que faire si le PC cible n'est pas toujours allumé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9704" y="6035040"/>
            <a:ext cx="3200400" cy="3474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9704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Démarrage PC cible tardif · Task Scheduler · NAS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56448" y="1719072"/>
            <a:ext cx="3694176" cy="47548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Mario, ex-ex-maçon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304288"/>
            <a:ext cx="34381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</a:rPr>
              <a:t>OneDrive synchronise 80 GB alors que son laptop n'a que 64 GB de stockage.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4464" y="2907792"/>
            <a:ext cx="3438144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84464" y="2980944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Comment résoudre sans supprimer des fichiers 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3639311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Qu'est-ce que 'Fichiers à la demande'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297679"/>
            <a:ext cx="34381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Comment libérer l'espace occupé par un fichier OneDrive 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5048" y="6035040"/>
            <a:ext cx="3200400" cy="34747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85048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Piste : Fichiers à la demande · Libérer de l'espace · Quota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016"/>
            <a:ext cx="1036320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097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44AA"/>
                </a:solidFill>
              </a:rPr>
              <a:t>Séance 9 — Partage et Stockage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7315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744AA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9260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2266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0DAD"/>
                </a:solidFill>
              </a:rPr>
              <a:t>VOCABULAIRE PARTAGE ET STOCKAGE — 18 termes essentiels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9264"/>
            <a:ext cx="11274552" cy="22860"/>
          </a:xfrm>
          <a:prstGeom prst="rect">
            <a:avLst/>
          </a:prstGeom>
          <a:solidFill>
            <a:srgbClr val="331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078992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SMB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Server Message Block — protocole partage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975104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UNC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\\NomPC\Dossier — chemin universel réseau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871215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Permissions NTFS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Droits sur fichiers — niveau disque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67328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Permissions de partage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Droits accès réseau — niveau partage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Lecteur réseau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Partage monté comme disque (Z:)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559552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NAS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Network Attached Storage — serveur fichiers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1078992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RAID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Miroir de 2 disques — redondance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97680" y="1975104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OneDrive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Stockage cloud Microsoft — 5 GB gratuit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97680" y="2871215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Fichiers à la demande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Fichiers cloud visibles sans téléchargement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97680" y="3767328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6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Synology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Marque NAS populaire PME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297680" y="4663440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Réservation DHCP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IP fixe attribuée par MAC dans le routeur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97680" y="5559552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6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3-2-1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3 copies · 2 supports · 1 hors site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07899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1078992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113385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Spool impression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426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File d'attente d'impression Windows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1975104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138160" y="1975104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21040" y="20299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Corbeille OneDrive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3225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30 jours récupération fichiers supprimés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2871215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38160" y="2871215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29260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Découverte réseau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21868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Rend le PC visible aux autres sur le LAN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3767328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138160" y="3767328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21040" y="38221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Bail DHCP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1148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Durée d'attribution adresse IP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663440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138160" y="4663440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21040" y="47183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AES-256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010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Chiffrement utilisé par OneDrive · BitLocker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559552"/>
            <a:ext cx="356616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138160" y="5559552"/>
            <a:ext cx="73152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21040" y="5614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AAFF"/>
                </a:solidFill>
              </a:rPr>
              <a:t>SharePoint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5907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CC"/>
                </a:solidFill>
              </a:rPr>
              <a:t>Partage documentaire Microsoft 365 équipe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55AA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Commandes partage réseau — CMD et PowerShell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0DAD"/>
                </a:solidFill>
              </a:rPr>
              <a:t>Certaines nécessitent CMD admin (net share · net use avec /delete)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81328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64208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664208"/>
            <a:ext cx="731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73736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AAFF"/>
                </a:solidFill>
              </a:rPr>
              <a:t>net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396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Lister tous les partages actifs sur ce 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664208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91072" y="1664208"/>
            <a:ext cx="731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AAFF"/>
                </a:solidFill>
              </a:rPr>
              <a:t>net share NomPartage=C:\Chemin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396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Créer un partage en ligne de commande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98064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798064"/>
            <a:ext cx="731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871216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AAFF"/>
                </a:solidFill>
              </a:rPr>
              <a:t>net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2735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Lister tous les lecteurs réseau montés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798064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2798064"/>
            <a:ext cx="731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871216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AAFF"/>
                </a:solidFill>
              </a:rPr>
              <a:t>net use Z: \\NomPC\Dossier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735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Monter un partage réseau en lecteur Z: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931920"/>
            <a:ext cx="731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005072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AAFF"/>
                </a:solidFill>
              </a:rPr>
              <a:t>net use * /delete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4074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Supprimer tous les lecteurs réseau montés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3931920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91072" y="3931920"/>
            <a:ext cx="731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005072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AAFF"/>
                </a:solidFill>
              </a:rPr>
              <a:t>net view \\NomPC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074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Lister les partages disponibles sur un PC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65776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5065776"/>
            <a:ext cx="731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5138928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AAFF"/>
                </a:solidFill>
              </a:rPr>
              <a:t>Get-SmbShare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541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PowerShell : lister les partages SMB locaux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5065776"/>
            <a:ext cx="5669280" cy="10058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91072" y="5065776"/>
            <a:ext cx="731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5138928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CAAFF"/>
                </a:solidFill>
              </a:rPr>
              <a:t>Get-SmbConnection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541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CC"/>
                </a:solidFill>
              </a:rPr>
              <a:t>PowerShell : voir les connexions SMB actives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006A"/>
                </a:solidFill>
              </a:rPr>
              <a:t>Séance 9 — Partage et Stockage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91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A006A"/>
                </a:solidFill>
              </a:rPr>
              <a:t>CHAFIK MOUSTAID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A006A"/>
                </a:solidFill>
              </a:rPr>
              <a:t>À vous de jouer.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A0DAD"/>
                </a:solidFill>
              </a:rPr>
              <a:t>Créez vos premiers partages et configurez OneDrive.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93392"/>
            <a:ext cx="1136599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148840"/>
            <a:ext cx="2743200" cy="42519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148840"/>
            <a:ext cx="2743200" cy="475488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A0DAD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Créer un partage SMB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AAFF"/>
                </a:solidFill>
              </a:rPr>
              <a:t>Dossier Exercices → Partager → Tout le monde lecture/écriture → Tester depuis une autre 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88736"/>
            <a:ext cx="2286000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148840"/>
            <a:ext cx="2743200" cy="42519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A0DAD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Monter un lecteur Z: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AAFF"/>
                </a:solidFill>
              </a:rPr>
              <a:t>Monter \\VotrePC\Exercices en Z: · Vérifier dans l'Explorateur · Tester lecture/écriture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5888736"/>
            <a:ext cx="2286000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148840"/>
            <a:ext cx="2743200" cy="42519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2148840"/>
            <a:ext cx="2743200" cy="475488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A0DAD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OneDrive — Sauvegarde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AAFF"/>
                </a:solidFill>
              </a:rPr>
              <a:t>Activer sauvegarde Bureau+Documents+Images · Observer la synchronisation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888736"/>
            <a:ext cx="2286000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15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59" y="2148840"/>
            <a:ext cx="2743200" cy="42519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52559" y="2148840"/>
            <a:ext cx="2743200" cy="475488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59" y="214884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A0DAD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7" y="2724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Fichiers à la demande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7" y="3108960"/>
            <a:ext cx="25237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AAFF"/>
                </a:solidFill>
              </a:rPr>
              <a:t>Activer · Comprendre les icônes · Libérer l'espace d'un fichier synchronisé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59" y="5888736"/>
            <a:ext cx="2286000" cy="34747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1159" y="58887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 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OneDrive — Icônes de synchronisation à connaître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1145743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91556" y="3017520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29884" y="2852927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3308" y="3182111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94176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595959"/>
                </a:solidFill>
              </a:rPr>
              <a:t>Insérer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ici</a:t>
            </a:r>
            <a:r>
              <a:rPr sz="1300" b="0" i="1" dirty="0">
                <a:solidFill>
                  <a:srgbClr val="595959"/>
                </a:solidFill>
              </a:rPr>
              <a:t> : screenshot </a:t>
            </a:r>
            <a:r>
              <a:rPr sz="1300" b="0" i="1" dirty="0" err="1">
                <a:solidFill>
                  <a:srgbClr val="595959"/>
                </a:solidFill>
              </a:rPr>
              <a:t>Explorateur</a:t>
            </a:r>
            <a:r>
              <a:rPr sz="1300" b="0" i="1" dirty="0">
                <a:solidFill>
                  <a:srgbClr val="595959"/>
                </a:solidFill>
              </a:rPr>
              <a:t> avec dossier OneDrive et </a:t>
            </a:r>
            <a:r>
              <a:rPr sz="1300" b="0" i="1" dirty="0" err="1">
                <a:solidFill>
                  <a:srgbClr val="595959"/>
                </a:solidFill>
              </a:rPr>
              <a:t>icônes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visibles</a:t>
            </a:r>
            <a:endParaRPr sz="1300" b="0" i="1" dirty="0">
              <a:solidFill>
                <a:srgbClr val="59595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041648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Montrer les 5 icônes : nuage bleu (online) · cercle vert plein (sync local) · cercle vert vide (dispo hors ligne) · flèches (sync en cours) · X rouge (erreur)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1145743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266944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Les 5 icônes OneDrive dans l'Explorateur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509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AD"/>
                </a:solidFill>
              </a:rPr>
              <a:t>☁ Bleu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650992"/>
            <a:ext cx="9811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En ligne seulement — pas sur ce PC · téléchargé à l'ouverture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5215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AD"/>
                </a:solidFill>
              </a:rPr>
              <a:t>✓ Vert plein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852159"/>
            <a:ext cx="9811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Synchronisé localement — copie sur ce PC disponible hors ligne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53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AD"/>
                </a:solidFill>
              </a:rPr>
              <a:t>✓ Vert vide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053328"/>
            <a:ext cx="9811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Disponible hors ligne — marqué explicitement pour conservation locale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5449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AD"/>
                </a:solidFill>
              </a:rPr>
              <a:t>↻ Bleu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6254496"/>
            <a:ext cx="9811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Synchronisation en cours — ne pas éteindre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5566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AD"/>
                </a:solidFill>
              </a:rPr>
              <a:t>✗ Rouge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6455664"/>
            <a:ext cx="9811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Erreur de synchronisation — voir les détails en cliquant sur l'icône barre des tâches</a:t>
            </a:r>
          </a:p>
        </p:txBody>
      </p:sp>
      <p:pic>
        <p:nvPicPr>
          <p:cNvPr id="2050" name="Picture 2" descr="absence d'affichage des images dans les icones de l'Explorateur - Microsoft  Q&amp;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1" y="1630392"/>
            <a:ext cx="11457432" cy="351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Comparatif — Quelle solution pour quel usage 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719072"/>
          <a:ext cx="11457432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8"/>
              </a:tblGrid>
              <a:tr h="8260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3A00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Partage équipe</a:t>
                      </a:r>
                    </a:p>
                  </a:txBody>
                  <a:tcPr>
                    <a:solidFill>
                      <a:srgbClr val="3A00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Accès distant</a:t>
                      </a:r>
                    </a:p>
                  </a:txBody>
                  <a:tcPr>
                    <a:solidFill>
                      <a:srgbClr val="3A00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Coût mensuel</a:t>
                      </a:r>
                    </a:p>
                  </a:txBody>
                  <a:tcPr>
                    <a:solidFill>
                      <a:srgbClr val="3A00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Usage recommandé</a:t>
                      </a:r>
                    </a:p>
                  </a:txBody>
                  <a:tcPr>
                    <a:solidFill>
                      <a:srgbClr val="3A006A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006A"/>
                          </a:solidFill>
                        </a:rPr>
                        <a:t>Partage SMB local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7A1F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Non (sans VPN)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0$ (inclus Windows)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</a:rPr>
                        <a:t>PME sans cloud · fichiers internes seulement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006A"/>
                          </a:solidFill>
                        </a:rPr>
                        <a:t>OneDrive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Très bon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7A1F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5$/user/mois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</a:rPr>
                        <a:t>PME avec M365 · accès mobile essentiel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006A"/>
                          </a:solidFill>
                        </a:rPr>
                        <a:t>SharePoint Online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7A1F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7A1F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Inclus M365 Business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</a:rPr>
                        <a:t>Collaboration documentaire · versioning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006A"/>
                          </a:solidFill>
                        </a:rPr>
                        <a:t>NAS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7A1F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Nécessite VPN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Achat unique ~500$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</a:rPr>
                        <a:t>Grosses données · vidéo · conformité locale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006A"/>
                          </a:solidFill>
                        </a:rPr>
                        <a:t>Google Drive Business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Très bon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7A1F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</a:rPr>
                        <a:t>12$/user/mois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</a:rPr>
                        <a:t>PME hors écosystème Microsoft</a:t>
                      </a:r>
                    </a:p>
                  </a:txBody>
                  <a:tcPr>
                    <a:solidFill>
                      <a:srgbClr val="F0E8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574536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6A0DAD"/>
                </a:solidFill>
              </a:rPr>
              <a:t>Combinaison</a:t>
            </a:r>
            <a:r>
              <a:rPr sz="1200" b="1" i="0" dirty="0">
                <a:solidFill>
                  <a:srgbClr val="6A0DAD"/>
                </a:solidFill>
              </a:rPr>
              <a:t> </a:t>
            </a:r>
            <a:r>
              <a:rPr sz="1200" b="1" i="0" dirty="0" err="1">
                <a:solidFill>
                  <a:srgbClr val="6A0DAD"/>
                </a:solidFill>
              </a:rPr>
              <a:t>optimale</a:t>
            </a:r>
            <a:r>
              <a:rPr sz="1200" b="1" i="0" dirty="0">
                <a:solidFill>
                  <a:srgbClr val="6A0DAD"/>
                </a:solidFill>
              </a:rPr>
              <a:t> PME : SharePoint/OneDrive pour les </a:t>
            </a:r>
            <a:r>
              <a:rPr sz="1200" b="1" i="0" dirty="0" err="1">
                <a:solidFill>
                  <a:srgbClr val="6A0DAD"/>
                </a:solidFill>
              </a:rPr>
              <a:t>fichiers</a:t>
            </a:r>
            <a:r>
              <a:rPr sz="1200" b="1" i="0" dirty="0">
                <a:solidFill>
                  <a:srgbClr val="6A0DAD"/>
                </a:solidFill>
              </a:rPr>
              <a:t> + NAS pour les archives </a:t>
            </a:r>
            <a:r>
              <a:rPr sz="1200" b="1" i="0" dirty="0" err="1">
                <a:solidFill>
                  <a:srgbClr val="6A0DAD"/>
                </a:solidFill>
              </a:rPr>
              <a:t>volumineuses</a:t>
            </a:r>
            <a:r>
              <a:rPr sz="1200" b="1" i="0" dirty="0">
                <a:solidFill>
                  <a:srgbClr val="6A0DAD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Imprimante réseau — Page de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91556" y="3291840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29884" y="3127248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3308" y="3456432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68496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595959"/>
                </a:solidFill>
              </a:rPr>
              <a:t>Insérer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ici</a:t>
            </a:r>
            <a:r>
              <a:rPr sz="1300" b="0" i="1" dirty="0">
                <a:solidFill>
                  <a:srgbClr val="595959"/>
                </a:solidFill>
              </a:rPr>
              <a:t> : screenshot de la page de configuration </a:t>
            </a:r>
            <a:r>
              <a:rPr sz="1300" b="0" i="1" dirty="0" err="1">
                <a:solidFill>
                  <a:srgbClr val="595959"/>
                </a:solidFill>
              </a:rPr>
              <a:t>réseau</a:t>
            </a:r>
            <a:r>
              <a:rPr sz="1300" b="0" i="1" dirty="0">
                <a:solidFill>
                  <a:srgbClr val="595959"/>
                </a:solidFill>
              </a:rPr>
              <a:t> de </a:t>
            </a:r>
            <a:r>
              <a:rPr sz="1300" b="0" i="1" dirty="0" err="1">
                <a:solidFill>
                  <a:srgbClr val="595959"/>
                </a:solidFill>
              </a:rPr>
              <a:t>votre</a:t>
            </a:r>
            <a:r>
              <a:rPr sz="1300" b="0" i="1" dirty="0">
                <a:solidFill>
                  <a:srgbClr val="595959"/>
                </a:solidFill>
              </a:rPr>
              <a:t> </a:t>
            </a:r>
            <a:r>
              <a:rPr sz="1300" b="0" i="1" dirty="0" err="1">
                <a:solidFill>
                  <a:srgbClr val="595959"/>
                </a:solidFill>
              </a:rPr>
              <a:t>imprimante</a:t>
            </a:r>
            <a:endParaRPr sz="1300" b="0" i="1" dirty="0">
              <a:solidFill>
                <a:srgbClr val="59595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315968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Montrer : Adresse IP attribuée · Masque · Passerelle · Type connexion (filaire/Wi-Fi) · MAC address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Astuce : l'IP se trouve aussi dans le menu de l'imprimante (LCD) → Réseau → TCP/IP → Adresse IP</a:t>
            </a:r>
          </a:p>
        </p:txBody>
      </p:sp>
      <p:pic>
        <p:nvPicPr>
          <p:cNvPr id="3074" name="Picture 2" descr="Windows 10 : Installer un copieur ou une imprimante réseau - Wiki  Université Lyon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149" y="2028138"/>
            <a:ext cx="6808226" cy="432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Mémo — Tout le partage réseau en une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3891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Partage SMB — Checklist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32304"/>
            <a:ext cx="109728" cy="10972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2249424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Découverte réseau : 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45536"/>
            <a:ext cx="109728" cy="10972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2962656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Partage créé (Propriétés → Partage)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109728" cy="10972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3675887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Permissions partage : 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09728" cy="10972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4389120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Permissions NTFS : 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85232"/>
            <a:ext cx="109728" cy="10972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5102352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Pare-feu laisse passer SMB (port 445)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98464"/>
            <a:ext cx="109728" cy="10972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5815584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Tester \\IP\Dossier avant \\NomPC\Dossier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61104" y="1719072"/>
            <a:ext cx="3694176" cy="43891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OneDrive — Checklist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43984" y="2432304"/>
            <a:ext cx="109728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2249424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Compte Microsoft connecté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43984" y="3145536"/>
            <a:ext cx="109728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0" y="2962656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Sauvegarde Bureau+Docs+Images activée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3984" y="3858768"/>
            <a:ext cx="109728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3675887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Fichiers à la demande : selon espace disque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43984" y="4572000"/>
            <a:ext cx="109728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4389120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Corbeille = 30 jours de récupération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43984" y="5285232"/>
            <a:ext cx="109728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5102352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Mobile : app OneDrive installée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43984" y="5998464"/>
            <a:ext cx="109728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63440" y="5815584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M365 = 1 TB · Gratuit = 5 GB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56448" y="1719072"/>
            <a:ext cx="3694176" cy="438912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84464" y="17373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NAS —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9327" y="2432304"/>
            <a:ext cx="109728" cy="1097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58784" y="2249424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IP fixe attribuée (DHCP réservation)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9327" y="3145536"/>
            <a:ext cx="109728" cy="1097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58784" y="2962656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RAID configuré (RAID 1 minimum)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9327" y="3858768"/>
            <a:ext cx="109728" cy="1097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58784" y="3675887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Utilisateurs créés · permissions 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39327" y="4572000"/>
            <a:ext cx="109728" cy="1097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58784" y="4389120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Dossier partagé visible en SMB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9327" y="5285232"/>
            <a:ext cx="109728" cy="1097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58784" y="5102352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Sauvegarde NAS vers cloud (3-2-1)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9327" y="5998464"/>
            <a:ext cx="109728" cy="10972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58784" y="5815584"/>
            <a:ext cx="31455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Accès extérieur via VPN uniquement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A006A"/>
                </a:solidFill>
              </a:rPr>
              <a:t>Corrigés — Cas pratiques Séance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3694176" cy="47548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Corrigé — Sophie — Partage visible 1 PC sur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304288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304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04288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Vérifier découverte réseau sur les 2 PC qui ne voient pas le partage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3328416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33284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28416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Si désactivée : Paramètres → Réseau → Options de partage avancé → Activer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4352544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43525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52544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Tester \\IP_du_PC_hôte\NomDossier — si ça marche = problème nom/DNS local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5376672"/>
            <a:ext cx="329184" cy="32918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5376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7667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Si toujours impossible : vérifier le pare-feu Windows sur le PC hôte (autoriser SMB/partage)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4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61104" y="1719072"/>
            <a:ext cx="3694176" cy="47548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Corrigé — Karim — Lecteur réseau déconnecté chaque matin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304288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2304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2304288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Cause : le PC hôte démarre après Karim et le lecteur échoue à monter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328416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3284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328416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Solution 1 : Script de remontage au démarrage différé (Task Scheduler → 5 min après logon)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352544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43525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9744" y="4352544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Solution 2 : Passer à un NAS (toujours allumé = lecteur toujours disponible)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5376672"/>
            <a:ext cx="329184" cy="32918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5376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9744" y="537667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Solution 3 : Activer le démarrage rapide du PC hôte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6448" y="1719072"/>
            <a:ext cx="3694176" cy="482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56448" y="1719072"/>
            <a:ext cx="3694176" cy="47548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84464" y="1737360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Corrigé — Mario — OneDrive 80 GB sur 64 GB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84464" y="2304288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84464" y="23042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2304288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Activer Fichiers à la demande : clic droit OneDrive → Paramètres → Fichiers à la demande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84464" y="3328416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84464" y="33284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3328416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Clic droit sur des dossiers → Libérer de l'espace → passe en 'en ligne seulement'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84464" y="4352544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84464" y="43525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05088" y="4352544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Seuls les fichiers récemment ouverts restent en local — les autres = 0 espace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84464" y="5376672"/>
            <a:ext cx="329184" cy="329184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84464" y="5376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537667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Mario peut avoir 80 GB 'visible' en utilisant seulement 5 GB localement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Partage et Stockage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64792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7282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28216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crée un partage SMB avec les permissions correctes (partage ET NTFS).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72868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3362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336292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39115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J'active la découverte réseau et j'accède à \\NomPC\Dossier depuis un autre PC.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980944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944368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99923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monte un partage réseau comme lecteur Z: de façon permanente.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589020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5524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552444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607308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configure la sauvegarde automatique OneDrive (Bureau + Documents + Images).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197096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1605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160520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215383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connais les icônes OneDrive : nuage = en ligne · cercle vert = local · X rouge = erreur.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805172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76859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768596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82346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J'ajoute une imprimante réseau par IP directe (méthode TCP/IP).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413248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3766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376672"/>
            <a:ext cx="10890504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4315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Je connais la règle 3-2-1 et je peux l'appliquer à un contexte PME.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6021324"/>
            <a:ext cx="402336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59847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984748"/>
            <a:ext cx="1089050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603961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Je distingue 'Accès refusé' (permissions) de 'Introuvable' (réseau) pour choisir la bonne solution.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92240"/>
            <a:ext cx="11420856" cy="25603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4048" y="6492240"/>
            <a:ext cx="11420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 SÉANCE 9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3224</Words>
  <Application>Microsoft Office PowerPoint</Application>
  <PresentationFormat>Personnalisé</PresentationFormat>
  <Paragraphs>471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Chafik Moustaid</dc:creator>
  <dc:description>generated using python-pptx</dc:description>
  <cp:lastModifiedBy>Chafik Moustaid</cp:lastModifiedBy>
  <cp:revision>4</cp:revision>
  <dcterms:created xsi:type="dcterms:W3CDTF">2013-01-27T09:14:16Z</dcterms:created>
  <dcterms:modified xsi:type="dcterms:W3CDTF">2026-07-06T16:08:36Z</dcterms:modified>
</cp:coreProperties>
</file>