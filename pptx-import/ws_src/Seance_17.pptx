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2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45720" cy="68580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65079" y="0"/>
            <a:ext cx="702387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128016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1417320"/>
            <a:ext cx="4631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 dirty="0">
                <a:solidFill>
                  <a:schemeClr val="bg2"/>
                </a:solidFill>
              </a:rPr>
              <a:t>SOUTIEN RÉSEAUTIQUE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438802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FFFFFF"/>
                </a:solidFill>
              </a:rPr>
              <a:t>Administration
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852160"/>
            <a:ext cx="4388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Chafik Moustaid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144768"/>
            <a:ext cx="4388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6E0"/>
                </a:solidFill>
              </a:rPr>
              <a:t>Formateur — SAMO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2279" y="960120"/>
            <a:ext cx="610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A0DAD"/>
                </a:solidFill>
              </a:rPr>
              <a:t>SÉANCE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2279" y="1298448"/>
            <a:ext cx="610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1" i="0">
                <a:solidFill>
                  <a:srgbClr val="1A3560"/>
                </a:solidFill>
              </a:rPr>
              <a:t>Bac à sable : hôte Hyper-V
et schéma de la maquette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2279" y="2395728"/>
            <a:ext cx="610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595959"/>
                </a:solidFill>
              </a:rPr>
              <a:t>Préparer l'infrastructure de virtualisation avant les VMs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2279" y="2724912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2279" y="306324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6327" y="3063240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4 heures — à distance (Teams)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2279" y="348386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6327" y="3483864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Bloc Fondations — 2ᵉ séance sur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2279" y="3904488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6327" y="3904488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Prérequis : virtualisation activée au BIOS/UEFI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22960"/>
            <a:ext cx="11274552" cy="10515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Une seule maquette virtuelle peut simuler un site complet : contrôleurs de
domaine, serveurs de rôle et poste client — sans acheter le moindre matériel.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 i="0">
                <a:solidFill>
                  <a:srgbClr val="1A3560"/>
                </a:solidFill>
              </a:rPr>
              <a:t>Pourquoi commencer par le bac à sable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Un labo, zéro risque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Toutes les erreurs sont réversibles : on peut casser, recommencer, tester sans jamais toucher un vrai serveur de production.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6824" y="274320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Aucun matériel à acheter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Un seul hôte physique (ou même un poste puissant) suffit à héberger les 5 VMs de toute la maquette du cours.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56448" y="274320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7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Base de tout le reste du cours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AD1, AD2, SV1, SRVCore et CL10-01 seront créés dès la Séance 3 sur l'infrastructure préparée aujourd'hui.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Introduction au bac à sable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6 blocs pour préparer le bac à sable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26563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975104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Hyper-V et prérequis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340864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Rôle, virtualisation assistée, dimensionnement de l'hôte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828800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828800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7356" y="2226563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0588" y="1975104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Installation du rôle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0588" y="2340864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Server Manager et PowerShell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27832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227832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2559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374136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Le Gestionnaire Hyper-V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39896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Tour de l'interface et des paramètres de VM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3227832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7356" y="3227832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7356" y="362559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0588" y="3374136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Commutateurs virtuels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0588" y="3739896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Externe, Interne, Privé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26864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626864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02462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773168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Schéma de la maquette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5138928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5 VMs, rôles et plan d'adressage 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4626864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77356" y="4626864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77356" y="502462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0588" y="4773168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Bonnes pratiques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0588" y="5138928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Nommage, organisation, points de contrôle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Plan de la séance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Qu'est-ce qu'Hyper-V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Le rôle d'hyperviseur natif de Windows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Hyper-V est un hyperviseur intégré à Windows Server : il permet d'exécuter plusieurs machines virtuelles (chacune avec son propre OS) sur un même serveur physique, en partageant CPU, RAM et stockage.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3575304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64008" cy="1920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73405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4495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Hôte physique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74136"/>
            <a:ext cx="32095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 serveur réel qui exécute Hyper-V et héberge toutes les VMs du bac à sable.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2606040"/>
            <a:ext cx="3575304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06824" y="2606040"/>
            <a:ext cx="64008" cy="1920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9704" y="273405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04495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Machines virtuelles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374136"/>
            <a:ext cx="32095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AD1, AD2, SV1, SRVCore, CL10-01 : chacune isolée, avec ses propres ressources.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2606040"/>
            <a:ext cx="3575304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56448" y="2606040"/>
            <a:ext cx="64008" cy="1920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273405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04495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Ressources partagées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374136"/>
            <a:ext cx="32095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CPU, RAM et disques de l'hôte sont répartis entre les VMs selon leur configuration.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60"/>
            <a:ext cx="11274552" cy="855394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502920" cy="85539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89661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78231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À retenir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7492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595959"/>
                </a:solidFill>
              </a:rPr>
              <a:t>Hyper-V </a:t>
            </a:r>
            <a:r>
              <a:rPr sz="1250" b="0" i="0" dirty="0" err="1">
                <a:solidFill>
                  <a:srgbClr val="595959"/>
                </a:solidFill>
              </a:rPr>
              <a:t>est</a:t>
            </a:r>
            <a:r>
              <a:rPr sz="1250" b="0" i="0" dirty="0">
                <a:solidFill>
                  <a:srgbClr val="595959"/>
                </a:solidFill>
              </a:rPr>
              <a:t> un </a:t>
            </a:r>
            <a:r>
              <a:rPr sz="1250" b="0" i="0" dirty="0" err="1">
                <a:solidFill>
                  <a:srgbClr val="595959"/>
                </a:solidFill>
              </a:rPr>
              <a:t>hyperviseur</a:t>
            </a:r>
            <a:r>
              <a:rPr sz="1250" b="0" i="0" dirty="0">
                <a:solidFill>
                  <a:srgbClr val="595959"/>
                </a:solidFill>
              </a:rPr>
              <a:t> de « type 1 » : </a:t>
            </a:r>
            <a:r>
              <a:rPr sz="1250" b="0" i="0" dirty="0" err="1">
                <a:solidFill>
                  <a:srgbClr val="595959"/>
                </a:solidFill>
              </a:rPr>
              <a:t>il</a:t>
            </a:r>
            <a:r>
              <a:rPr sz="1250" b="0" i="0" dirty="0">
                <a:solidFill>
                  <a:srgbClr val="595959"/>
                </a:solidFill>
              </a:rPr>
              <a:t> </a:t>
            </a:r>
            <a:r>
              <a:rPr sz="1250" b="0" i="0" dirty="0" err="1">
                <a:solidFill>
                  <a:srgbClr val="595959"/>
                </a:solidFill>
              </a:rPr>
              <a:t>s'exécute</a:t>
            </a:r>
            <a:r>
              <a:rPr sz="1250" b="0" i="0" dirty="0">
                <a:solidFill>
                  <a:srgbClr val="595959"/>
                </a:solidFill>
              </a:rPr>
              <a:t> </a:t>
            </a:r>
            <a:r>
              <a:rPr sz="1250" b="0" i="0" dirty="0" err="1">
                <a:solidFill>
                  <a:srgbClr val="595959"/>
                </a:solidFill>
              </a:rPr>
              <a:t>directement</a:t>
            </a:r>
            <a:r>
              <a:rPr sz="1250" b="0" i="0" dirty="0">
                <a:solidFill>
                  <a:srgbClr val="595959"/>
                </a:solidFill>
              </a:rPr>
              <a:t> au-</a:t>
            </a:r>
            <a:r>
              <a:rPr sz="1250" b="0" i="0" dirty="0" err="1">
                <a:solidFill>
                  <a:srgbClr val="595959"/>
                </a:solidFill>
              </a:rPr>
              <a:t>dessus</a:t>
            </a:r>
            <a:r>
              <a:rPr sz="1250" b="0" i="0" dirty="0">
                <a:solidFill>
                  <a:srgbClr val="595959"/>
                </a:solidFill>
              </a:rPr>
              <a:t> du </a:t>
            </a:r>
            <a:r>
              <a:rPr sz="1250" b="0" i="0" dirty="0" err="1">
                <a:solidFill>
                  <a:srgbClr val="595959"/>
                </a:solidFill>
              </a:rPr>
              <a:t>matériel</a:t>
            </a:r>
            <a:r>
              <a:rPr sz="1250" b="0" i="0" dirty="0">
                <a:solidFill>
                  <a:srgbClr val="595959"/>
                </a:solidFill>
              </a:rPr>
              <a:t>, Windows Server </a:t>
            </a:r>
            <a:r>
              <a:rPr sz="1250" b="0" i="0" dirty="0" err="1">
                <a:solidFill>
                  <a:srgbClr val="595959"/>
                </a:solidFill>
              </a:rPr>
              <a:t>lui-même</a:t>
            </a:r>
            <a:r>
              <a:rPr sz="1250" b="0" i="0" dirty="0">
                <a:solidFill>
                  <a:srgbClr val="595959"/>
                </a:solidFill>
              </a:rPr>
              <a:t> </a:t>
            </a:r>
            <a:r>
              <a:rPr sz="1250" b="0" i="0" dirty="0" err="1">
                <a:solidFill>
                  <a:srgbClr val="595959"/>
                </a:solidFill>
              </a:rPr>
              <a:t>devenant</a:t>
            </a:r>
            <a:r>
              <a:rPr sz="1250" b="0" i="0" dirty="0">
                <a:solidFill>
                  <a:srgbClr val="595959"/>
                </a:solidFill>
              </a:rPr>
              <a:t> </a:t>
            </a:r>
            <a:r>
              <a:rPr sz="1250" b="0" i="0" dirty="0" err="1">
                <a:solidFill>
                  <a:srgbClr val="595959"/>
                </a:solidFill>
              </a:rPr>
              <a:t>une</a:t>
            </a:r>
            <a:r>
              <a:rPr sz="1250" b="0" i="0" dirty="0">
                <a:solidFill>
                  <a:srgbClr val="595959"/>
                </a:solidFill>
              </a:rPr>
              <a:t> VM </a:t>
            </a:r>
            <a:r>
              <a:rPr sz="1250" b="0" i="0" dirty="0" err="1">
                <a:solidFill>
                  <a:srgbClr val="595959"/>
                </a:solidFill>
              </a:rPr>
              <a:t>privilégiée</a:t>
            </a:r>
            <a:r>
              <a:rPr sz="1250" b="0" i="0" dirty="0">
                <a:solidFill>
                  <a:srgbClr val="595959"/>
                </a:solidFill>
              </a:rPr>
              <a:t> (la « partition </a:t>
            </a:r>
            <a:r>
              <a:rPr sz="1250" b="0" i="0" dirty="0" err="1">
                <a:solidFill>
                  <a:srgbClr val="595959"/>
                </a:solidFill>
              </a:rPr>
              <a:t>parente</a:t>
            </a:r>
            <a:r>
              <a:rPr sz="1250" b="0" i="0" dirty="0">
                <a:solidFill>
                  <a:srgbClr val="595959"/>
                </a:solidFill>
              </a:rPr>
              <a:t> »).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1 : Hyper-V et prérequis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Pourquoi un bac à sable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Les objectifs pédagogiques du labo virtuel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11274552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548640" cy="1143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44851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011679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Réversibilité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35000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Les points de contrôle (checkpoints) permettent de revenir en arrière après une manipulation ratée, sans conséquence.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79"/>
            <a:ext cx="11274552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154679"/>
            <a:ext cx="548640" cy="1143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25011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291839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3016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 réseau de labo est isolé du reste du réseau de l'entreprise : aucun risque de perturber une infrastructure réelle.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11274552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548640" cy="1143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0517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5720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Montée en compétence progressive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910327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Chaque séance ajoute une VM ou un rôle sur la même maquette, jusqu'à obtenir une infrastructure complète en fin de cours.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1 : Hyper-V et prérequis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Prérequis matériels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Ce que l'hôte physique doit supporter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16916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Virtualisation assistée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Intel VT-x ou AMD-V : extensions du processeur permettant l'exécution accélérée des VMs.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64008" cy="16916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0236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SLAT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551175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Second Level Address Translation : accélère la gestion mémoire des VMs (requis depuis longtemps par Hyper-V).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64008" cy="16916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8561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9651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Activation BIOS/UEFI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25696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Ces options sont souvent désactivées par défaut sur les postes : à vérifier et activer manuellement.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365760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7356" y="3657600"/>
            <a:ext cx="64008" cy="16916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0236" y="378561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409651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RAM et disque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425696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16 Go de RAM et un disque avec de l'espace libre confortable pour héberger les 5 VHDX de la maquette.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1 : Hyper-V et prérequis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Dimensionnement de l'hôte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Combien de ressources pour 5 VMs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38404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56231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1838" y="1856231"/>
            <a:ext cx="60181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2842" y="1856231"/>
            <a:ext cx="26357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RAM recommandée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67128"/>
            <a:ext cx="11274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221992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AD1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1838" y="2221992"/>
            <a:ext cx="6018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Contrôleur de domaine principal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2842" y="2221992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2 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2888"/>
            <a:ext cx="11274552" cy="365760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2587752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AD2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1838" y="2587752"/>
            <a:ext cx="6018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Contrôleur de domaine secondaire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2842" y="2587752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2 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98648"/>
            <a:ext cx="11274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2953512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1838" y="2953512"/>
            <a:ext cx="6018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Serveur membre (Desktop Experience)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2842" y="2953512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2 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64408"/>
            <a:ext cx="11274552" cy="365760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319272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SRVCore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1838" y="3319272"/>
            <a:ext cx="6018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Serveur membre (Server Core)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2842" y="3319272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1-2 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30168"/>
            <a:ext cx="11274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685031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CL10-01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1838" y="3685031"/>
            <a:ext cx="6018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Poste client Windows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2842" y="3685031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2-4 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24528"/>
            <a:ext cx="11274552" cy="77724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224528"/>
            <a:ext cx="502920" cy="777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" y="4411980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297680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Total recommandé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590288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Environ 9-12 Go pour les 5 VMs + une réserve pour l'hôte lui-même : viser 16 Go de RAM physique au minimum.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1 : Hyper-V et prérequis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Installation du rôle Hyper-V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Deux méthodes, un même résultat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21945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Via le Gestionnaire de serveur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Ajouter des rôles et fonctionnalités → cocher Hyper-V → suivre l'assistant → redémarrer. Interface graphique, idéale pour une première installation guidée.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5454396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810512"/>
            <a:ext cx="51800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</a:rPr>
              <a:t>PowerShell (</a:t>
            </a:r>
            <a:r>
              <a:rPr sz="1300" b="0" i="0" dirty="0" err="1">
                <a:solidFill>
                  <a:schemeClr val="bg1"/>
                </a:solidFill>
              </a:rPr>
              <a:t>recommandé</a:t>
            </a:r>
            <a:r>
              <a:rPr sz="1300" b="0" i="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956" y="2084831"/>
            <a:ext cx="4997196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Install-WindowsFeature `
  -Name Hyper-V `
  -IncludeManagementTools `
  -Restart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11274552" cy="77724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502920" cy="777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434797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3367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Redémarrage obligatoire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2628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 rôle Hyper-V modifie la couche de virtualisation du noyau : Windows doit redémarrer pour charger l'hyperviseur en dessous du système d'exploitation hôte.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2 : installation du rôle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Le Gestionnaire Hyper-V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Vue d'ensemble de la console de gestion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9728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7627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Volet des VMs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Liste toutes les machines virtuelles de l'hôte, leur état (en cours, arrêtée) et leur utilisation CPU/RAM en temps réel.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548640" cy="109728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1071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8211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Points de contrôle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Affiche l'arborescence des checkpoints d'une VM sélectionnée, pour revenir à un état antérieur.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548640" cy="109728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1655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Panneau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54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Accès rapide à Nouveau &gt; Machine virtuelle, Gestionnaire de commutateurs virtuels, Paramètres, etc.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3 : le Gestionnaire Hyper-V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Les commutateurs virtuels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Externe, Interne ou Privé : bien choisir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38404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56231"/>
            <a:ext cx="229752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7329" y="1856231"/>
            <a:ext cx="2748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VM ↔ 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8712" y="1856231"/>
            <a:ext cx="2748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VM ↔ Hôte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096" y="1856231"/>
            <a:ext cx="2748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VM ↔ Réseau physique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67128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267712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Externe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329" y="22677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8712" y="22677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0096" y="22677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24328"/>
            <a:ext cx="11274552" cy="457200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724912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Interne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7329" y="27249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8712" y="27249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0096" y="27249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1010"/>
                </a:solidFill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81528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182112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Privé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7329" y="31821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8712" y="31821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1010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0096" y="31821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1010"/>
                </a:solidFill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13048"/>
            <a:ext cx="11274552" cy="86868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813048"/>
            <a:ext cx="502920" cy="8686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" y="4046220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886200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Pour le bac à sable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178808"/>
            <a:ext cx="105887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Un commutateur Interne (« LAN-Labo ») pour le réseau isolé de la maquette, et un commutateur Externe (« Internet ») si les VMs doivent recevoir des mises à jour.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4 : commutateurs virtuels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Schéma de la maquette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5 VMs pour tout le reste du cours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96230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267712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06039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AD1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07791"/>
            <a:ext cx="18708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Contrôleur de domaine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5262" y="2103120"/>
            <a:ext cx="196230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5262" y="2267712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0982" y="2606039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AD2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0982" y="2907791"/>
            <a:ext cx="18708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Contrôleur de domaine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3324" y="2103120"/>
            <a:ext cx="196230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3324" y="2267712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9044" y="2606039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SV1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9044" y="2907791"/>
            <a:ext cx="18708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Serveur membre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1387" y="2103120"/>
            <a:ext cx="196230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1387" y="2267712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7107" y="2606039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SRVCore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7107" y="2907791"/>
            <a:ext cx="18708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Serveur membre (Core)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9449" y="2103120"/>
            <a:ext cx="196230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69449" y="2267712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5169" y="2606039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CL10-01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5169" y="2907791"/>
            <a:ext cx="18708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Poste client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783080"/>
            <a:ext cx="11274552" cy="4572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7033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595959"/>
                </a:solidFill>
              </a:rPr>
              <a:t>Toutes reliées au commutateur virtuel « LAN-Labo 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06240"/>
            <a:ext cx="11274552" cy="77724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206240"/>
            <a:ext cx="502920" cy="777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263" y="4393692"/>
            <a:ext cx="4667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 dirty="0" smtClean="0">
                <a:solidFill>
                  <a:srgbClr val="FFFFFF"/>
                </a:solidFill>
              </a:rPr>
              <a:t>🗓</a:t>
            </a:r>
            <a:endParaRPr sz="2200" b="1" i="0" dirty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1560" y="427939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Ordre de création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AD1 et AD2 seront créés en Séance 3, SV1/SRVCore/CL10-01 en Séance 4 : la maquette se construit progressivement, séance après séance.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5 : schéma de la maquette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Plan d'adressage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Des adresses fixes pour la maquette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38404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56231"/>
            <a:ext cx="18465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347" y="1856231"/>
            <a:ext cx="25230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Adresse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2239" y="1856231"/>
            <a:ext cx="635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Rôle réseau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67128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18465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AD1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347" y="2231136"/>
            <a:ext cx="25230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192.168.10.10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2239" y="2231136"/>
            <a:ext cx="635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DNS primaire / DC principal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51176"/>
            <a:ext cx="11274552" cy="384048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2615184"/>
            <a:ext cx="18465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AD2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347" y="2615184"/>
            <a:ext cx="25230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192.168.10.11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2239" y="2615184"/>
            <a:ext cx="635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DNS secondaire / DC réplique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35224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2999232"/>
            <a:ext cx="18465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347" y="2999232"/>
            <a:ext cx="25230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192.168.10.20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2239" y="2999232"/>
            <a:ext cx="635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Serveur membre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19272"/>
            <a:ext cx="11274552" cy="384048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383279"/>
            <a:ext cx="18465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SRVCore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6347" y="3383279"/>
            <a:ext cx="25230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192.168.10.21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2239" y="3383279"/>
            <a:ext cx="635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Serveur membre (Core)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767328"/>
            <a:ext cx="18465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CL10-01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347" y="3767328"/>
            <a:ext cx="25230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192.168.10.101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2239" y="3767328"/>
            <a:ext cx="635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Poste client (plage dynamique future : .150+)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15968"/>
            <a:ext cx="11274552" cy="77724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315968"/>
            <a:ext cx="502920" cy="777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" y="4503420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389120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Pourquoi fixer les IP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681728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DNS, réplication AD et configuration des clients exigent des adresses stables : le rôle DHCP ne sera administré comme service qu'en Séance 15-16, pas utilisé pour le réseau de gestion lui-même.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5 : schéma de la maquette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Points de contrôle (checkpoints)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Un filet de sécurité, pas une sauvegarde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Ce qu'ils permettent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Revenir instantanément à un état antérieur de la VM avant une manipulation risquée (ex. avant de promouvoir un DC).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0236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Leurs limites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551175"/>
            <a:ext cx="5088636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Stockés sur le même disque que la VM : aucune protection en cas de panne de l'hôte ou de suppression accidentelle.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94760"/>
            <a:ext cx="11274552" cy="96012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502920" cy="9601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" y="407365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86791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Bon réflexe en labo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160520"/>
            <a:ext cx="10588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Créer un checkpoint avant chaque manipulation importante (installation d'un rôle, modification GPO...), puis le supprimer une fois l'étape validée pour ne pas accumuler l'espace disque.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6 : bonnes pratiques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Nommage et organisation dès le départ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9728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947" y="2176272"/>
            <a:ext cx="4411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 dirty="0" smtClean="0">
                <a:solidFill>
                  <a:srgbClr val="FFFFFF"/>
                </a:solidFill>
              </a:rPr>
              <a:t>🏷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Nommage cohérent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VMs (AD1, AD2, SV1...), commutateurs (LAN-Labo, Internet) et VHDX nommés selon une convention claire, documentée dès aujourd'hui.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548640" cy="109728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1071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8211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Organisation des fichiers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Un dossier dédié par VM pour ses VHDX et fichiers de configuration, sur un volume avec suffisamment d'espace libre.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548640" cy="109728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1655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Documentation continue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54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Tenir à jour un schéma et un tableau d'adressage IP au fil des séances : indispensable pour le dépannage futur.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Bloc 6 : bonnes pratiques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Gestionnaire Hyper-V — vue d'ensemble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1892807"/>
            <a:ext cx="10945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3560"/>
                </a:solidFill>
              </a:rPr>
              <a:t>[ Screenshot ] </a:t>
            </a:r>
            <a:r>
              <a:rPr sz="1300" b="1" i="0" dirty="0" err="1">
                <a:solidFill>
                  <a:srgbClr val="1A3560"/>
                </a:solidFill>
              </a:rPr>
              <a:t>Gestionnaire</a:t>
            </a:r>
            <a:r>
              <a:rPr sz="1300" b="1" i="0" dirty="0">
                <a:solidFill>
                  <a:srgbClr val="1A3560"/>
                </a:solidFill>
              </a:rPr>
              <a:t> Hyper-V — </a:t>
            </a:r>
            <a:r>
              <a:rPr sz="1300" b="1" i="0" dirty="0" err="1">
                <a:solidFill>
                  <a:srgbClr val="1A3560"/>
                </a:solidFill>
              </a:rPr>
              <a:t>vue</a:t>
            </a:r>
            <a:r>
              <a:rPr sz="1300" b="1" i="0" dirty="0">
                <a:solidFill>
                  <a:srgbClr val="1A3560"/>
                </a:solidFill>
              </a:rPr>
              <a:t> </a:t>
            </a:r>
            <a:r>
              <a:rPr sz="1300" b="1" i="0" dirty="0" err="1">
                <a:solidFill>
                  <a:srgbClr val="1A3560"/>
                </a:solidFill>
              </a:rPr>
              <a:t>d'ensemble</a:t>
            </a:r>
            <a:endParaRPr sz="1200" b="1" i="0" dirty="0">
              <a:solidFill>
                <a:srgbClr val="1A35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</a:rPr>
              <a:t>Ouvrez le Gestionnaire Hyper-V et repérez le volet des VMs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AAAA"/>
                </a:solidFill>
              </a:rPr>
              <a:t>Menu Démarrer → Outils d'administration → Gestionnaire Hyper-V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05855"/>
            <a:ext cx="1127455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705855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51576"/>
            <a:ext cx="11000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Aperçu pratique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7785"/>
            <a:ext cx="11274552" cy="5001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Gestionnaire des commutateurs virtuels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1892807"/>
            <a:ext cx="10945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3560"/>
                </a:solidFill>
              </a:rPr>
              <a:t>[ Screenshot ] </a:t>
            </a:r>
            <a:r>
              <a:rPr sz="1300" b="1" i="0" dirty="0" err="1">
                <a:solidFill>
                  <a:srgbClr val="1A3560"/>
                </a:solidFill>
              </a:rPr>
              <a:t>Gestionnaire</a:t>
            </a:r>
            <a:r>
              <a:rPr sz="1300" b="1" i="0" dirty="0">
                <a:solidFill>
                  <a:srgbClr val="1A3560"/>
                </a:solidFill>
              </a:rPr>
              <a:t> des </a:t>
            </a:r>
            <a:r>
              <a:rPr sz="1300" b="1" i="0" dirty="0" err="1">
                <a:solidFill>
                  <a:srgbClr val="1A3560"/>
                </a:solidFill>
              </a:rPr>
              <a:t>commutateurs</a:t>
            </a:r>
            <a:r>
              <a:rPr sz="1300" b="1" i="0" dirty="0">
                <a:solidFill>
                  <a:srgbClr val="1A3560"/>
                </a:solidFill>
              </a:rPr>
              <a:t> </a:t>
            </a:r>
            <a:r>
              <a:rPr sz="1300" b="1" i="0" dirty="0" err="1">
                <a:solidFill>
                  <a:srgbClr val="1A3560"/>
                </a:solidFill>
              </a:rPr>
              <a:t>virtuels</a:t>
            </a:r>
            <a:endParaRPr sz="1200" b="1" i="0" dirty="0">
              <a:solidFill>
                <a:srgbClr val="1A35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</a:rPr>
              <a:t>Créez vos commutateurs Interne et Externe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AAAA"/>
                </a:solidFill>
              </a:rPr>
              <a:t>Panneau Actions → Gestionnaire de commutateurs virtuels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05855"/>
            <a:ext cx="1127455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705855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51576"/>
            <a:ext cx="11000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Aperçu pratique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54" y="1688123"/>
            <a:ext cx="11348798" cy="4841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Paramètres d'une VM — mémoire et processeur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1892807"/>
            <a:ext cx="10945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[ Screenshot ] Paramètres d'une VM — mémoire et processeur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</a:rPr>
              <a:t>Ajustez la RAM et le nombre de processeurs virtuels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AAAA"/>
                </a:solidFill>
              </a:rPr>
              <a:t>Clic droit sur la VM → Paramètres → Mémoire / Processeur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05855"/>
            <a:ext cx="1127455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705855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51576"/>
            <a:ext cx="11000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Aperçu pratique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88123"/>
            <a:ext cx="11340975" cy="4601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75" b="1" i="0">
                <a:solidFill>
                  <a:srgbClr val="FFFFFF"/>
                </a:solidFill>
              </a:rPr>
              <a:t>Vocabulaire clé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88DD"/>
                </a:solidFill>
              </a:rPr>
              <a:t>18 termes à maîtriser avant la Séance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Hyperviseur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Logiciel qui crée et exécute des machines virtuelles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Hyper-V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Rôle d'hyperviseur natif de Windows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Machine virtuelle, système d'exploitation isolé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Hôte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Serveur physique qui exécute Hyper-V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VT-x / AMD-V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Extensions de virtualisation assistée par matériel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SLAT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Second Level Address Translation, accélère la mémoire virtualisée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VHDX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Format de disque dur virtuel utilisé par Hyper-V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Commutateur virtuel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Élément réseau qui relie les VMs entre elles et/ou à l'extérieur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Commutateur Externe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Relie les VMs au réseau physique de l'hôte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Commutateur Interne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Relie les VMs entre elles et à l'hôte, sans sortie externe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Commutateur Privé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6824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Relie uniquement les VMs entre elles, même pas l'hôte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Point de contrôle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Instantané réversible de l'état d'une VM (checkpoint)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Partition parente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Instance de Windows Server qui héberge l'hyperviseur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6824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Mémoire dynamique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Ajustement automatique de la RAM allouée à une VM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Bac à sable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Environnement de test isolé et sans conséquence sur la 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Maquette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Ensemble des VMs représentant l'infrastructure simulée du cours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6824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Server 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6824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Installation de Windows Server sans interface graphique complète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Plan d'adressage 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Répartition documentée des adresses IP entre les machines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Vocabulaire clé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Mémo commandes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PowerShell Hyper-V essentiel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81051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Installer le rôle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1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Install-WindowsFeature -Name Hyper-V -IncludeManagementTools -Restart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9736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487168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Lister les VMs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61488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Get-VM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36391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136391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163823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Créer un commutateur interne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438144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New-VMSwitch -Name "LAN-Labo" -SwitchType Internal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13048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813048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0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Créer un commutateur externe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New-VMSwitch -Name "Internet" -NetAdapterName "Ethernet"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9704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489704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4517136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Créer un checkpoint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91456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Checkpoint-VM -Name "AD1" -SnapshotName "Avant-install-ADDS"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66360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16636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9379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Voir l'utilisation mémoire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468112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Get-VM | Select Name, MemoryAssigned, 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Mémo commandes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3 mises en situation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4864" cy="1234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911095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Julien — Admin réseau junior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Julien doit préparer l'hôte avant l'arrivée d'AD1 et AD2. Quelles vérifications matérielles effectue-t-il en priorité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54864" cy="1234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282696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Sophie — Technicienne support 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Sophie remarque que ses VMs de test peuvent accéder à internet alors qu'elle voulait un réseau isolé. Quel type de commutateur a-t-elle probablement utilisé par erreur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526280"/>
            <a:ext cx="54864" cy="1234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654296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Mario — Responsable infrastructure PME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Mario veut s'assurer que l'équipe peut revenir en arrière si une installation de rôle échoue sur AD1. Quelle fonctionnalité Hyper-V lui propose-t-on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Cas pratiques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4 exercices avant la Séance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Vérifiez les prérequis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Confirmez sur votre poste que la virtualisation assistée et le SLAT sont bien activés.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8288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8288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920240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23957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Installez Hyper-V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7249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Installez le rôle via PowerShell, puis redémarrez et ouvrez le Gestionnaire Hyper-V.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39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245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Créez les commutateurs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537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Créez un commutateur Interne « LAN-Labo » et, si possible, un commutateur Externe « Internet ».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36576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31636" y="36576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4516" y="3749039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516" y="42245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Dessinez votre schéma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516" y="45537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Représentez les 5 VMs de la maquette avec leur rôle et leur future adresse IP.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À vous de jouer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2 — Bac à sable Hyper-V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Récapitulatif et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Avant de passer à la Séance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1862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Ce que nous avons vu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48840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Rôle Hyper-V et prérequis matériels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33472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Virtualisation assistée VT-x/AMD-V, SLAT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1810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18104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Installation via Server Manager et PowerShell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027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02736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Le Gestionnaire Hyper-V et ses panneaux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873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87368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Commutateurs Externe, Interne, Privé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72000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Schéma de la maquette et plan d'adressage 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1783080"/>
            <a:ext cx="5637276" cy="42062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7356" y="1920240"/>
            <a:ext cx="52715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3EAFB"/>
                </a:solidFill>
              </a:rPr>
              <a:t>☑  CHECKLIST AVANT LA SÉANCE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23317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97396" y="22951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Virtualisation VT-x/AMD-V activée au BIOS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7356" y="27889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97396" y="27523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Rôle Hyper-V installé et opérationnel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7356" y="32461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97396" y="32095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Commutateur Interne « LAN-Labo » créé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7356" y="37033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7396" y="36667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Commutateur Externe créé (si internet requis)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7356" y="41605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97396" y="41239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Schéma des 5 VMs dessiné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46177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97396" y="45811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Plan d'adressage IP documenté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7356" y="50749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97396" y="50383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16 Go de RAM disponibles confirmés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7356" y="55321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97396" y="54955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Espace disque suffisant vérifié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2 — Récapitulatif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2367</Words>
  <Application>Microsoft Office PowerPoint</Application>
  <PresentationFormat>Personnalisé</PresentationFormat>
  <Paragraphs>415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5</cp:revision>
  <dcterms:created xsi:type="dcterms:W3CDTF">2013-01-27T09:14:16Z</dcterms:created>
  <dcterms:modified xsi:type="dcterms:W3CDTF">2026-07-29T18:57:24Z</dcterms:modified>
  <cp:category/>
</cp:coreProperties>
</file>