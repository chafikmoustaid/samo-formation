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3" r:id="rId17"/>
    <p:sldId id="274" r:id="rId18"/>
    <p:sldId id="275" r:id="rId19"/>
    <p:sldId id="276" r:id="rId20"/>
    <p:sldId id="277" r:id="rId21"/>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81" d="100"/>
          <a:sy n="81" d="100"/>
        </p:scale>
        <p:origin x="-56" y="7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7/29/2026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7/29/2026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7/29/2026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7/29/2026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7/29/2026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7/29/2026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7/29/2026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5119359" cy="6858000"/>
          </a:xfrm>
          <a:prstGeom prst="rect">
            <a:avLst/>
          </a:prstGeom>
          <a:solidFill>
            <a:srgbClr val="3A00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119359" y="0"/>
            <a:ext cx="45720" cy="6858000"/>
          </a:xfrm>
          <a:prstGeom prst="rect">
            <a:avLst/>
          </a:prstGeom>
          <a:solidFill>
            <a:srgbClr val="6A0D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165079" y="0"/>
            <a:ext cx="7023872" cy="6858000"/>
          </a:xfrm>
          <a:prstGeom prst="rect">
            <a:avLst/>
          </a:prstGeom>
          <a:solidFill>
            <a:srgbClr val="F4EE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mage1.png"/>
          <p:cNvPicPr>
            <a:picLocks noChangeAspect="1"/>
          </p:cNvPicPr>
          <p:nvPr/>
        </p:nvPicPr>
        <p:blipFill>
          <a:blip r:embed="rId2"/>
          <a:stretch>
            <a:fillRect/>
          </a:stretch>
        </p:blipFill>
        <p:spPr>
          <a:xfrm>
            <a:off x="0" y="15222"/>
            <a:ext cx="1731500" cy="519450"/>
          </a:xfrm>
          <a:prstGeom prst="rect">
            <a:avLst/>
          </a:prstGeom>
        </p:spPr>
      </p:pic>
      <p:sp>
        <p:nvSpPr>
          <p:cNvPr id="6" name="TextBox 5"/>
          <p:cNvSpPr txBox="1"/>
          <p:nvPr/>
        </p:nvSpPr>
        <p:spPr>
          <a:xfrm>
            <a:off x="320040" y="1417320"/>
            <a:ext cx="4631801" cy="284693"/>
          </a:xfrm>
          <a:prstGeom prst="rect">
            <a:avLst/>
          </a:prstGeom>
          <a:noFill/>
        </p:spPr>
        <p:txBody>
          <a:bodyPr wrap="square">
            <a:spAutoFit/>
          </a:bodyPr>
          <a:lstStyle/>
          <a:p>
            <a:pPr algn="l"/>
            <a:r>
              <a:rPr lang="fr-CA" sz="1350" b="1" i="0" dirty="0" smtClean="0">
                <a:solidFill>
                  <a:schemeClr val="accent5"/>
                </a:solidFill>
              </a:rPr>
              <a:t>Soutien Réseautique</a:t>
            </a:r>
            <a:endParaRPr lang="fr-CA" sz="1250" b="1" i="0" dirty="0">
              <a:solidFill>
                <a:schemeClr val="accent5"/>
              </a:solidFill>
            </a:endParaRPr>
          </a:p>
        </p:txBody>
      </p:sp>
      <p:sp>
        <p:nvSpPr>
          <p:cNvPr id="7" name="TextBox 6"/>
          <p:cNvSpPr txBox="1"/>
          <p:nvPr/>
        </p:nvSpPr>
        <p:spPr>
          <a:xfrm>
            <a:off x="320040" y="1737360"/>
            <a:ext cx="4388022" cy="1097280"/>
          </a:xfrm>
          <a:prstGeom prst="rect">
            <a:avLst/>
          </a:prstGeom>
          <a:noFill/>
        </p:spPr>
        <p:txBody>
          <a:bodyPr wrap="square">
            <a:spAutoFit/>
          </a:bodyPr>
          <a:lstStyle/>
          <a:p>
            <a:pPr algn="l"/>
            <a:r>
              <a:rPr sz="2750" b="1" i="0">
                <a:solidFill>
                  <a:srgbClr val="FFFFFF"/>
                </a:solidFill>
              </a:rPr>
              <a:t>Administration
Windows Server</a:t>
            </a:r>
          </a:p>
        </p:txBody>
      </p:sp>
      <p:sp>
        <p:nvSpPr>
          <p:cNvPr id="8" name="TextBox 7"/>
          <p:cNvSpPr txBox="1"/>
          <p:nvPr/>
        </p:nvSpPr>
        <p:spPr>
          <a:xfrm>
            <a:off x="320040" y="5852160"/>
            <a:ext cx="4388022" cy="274320"/>
          </a:xfrm>
          <a:prstGeom prst="rect">
            <a:avLst/>
          </a:prstGeom>
          <a:noFill/>
        </p:spPr>
        <p:txBody>
          <a:bodyPr wrap="square">
            <a:spAutoFit/>
          </a:bodyPr>
          <a:lstStyle/>
          <a:p>
            <a:pPr algn="l"/>
            <a:r>
              <a:rPr sz="1500" b="1" i="0">
                <a:solidFill>
                  <a:srgbClr val="FFFFFF"/>
                </a:solidFill>
              </a:rPr>
              <a:t>Chafik Moustaid</a:t>
            </a:r>
          </a:p>
        </p:txBody>
      </p:sp>
      <p:sp>
        <p:nvSpPr>
          <p:cNvPr id="9" name="TextBox 8"/>
          <p:cNvSpPr txBox="1"/>
          <p:nvPr/>
        </p:nvSpPr>
        <p:spPr>
          <a:xfrm>
            <a:off x="320040" y="6144768"/>
            <a:ext cx="4388022" cy="274320"/>
          </a:xfrm>
          <a:prstGeom prst="rect">
            <a:avLst/>
          </a:prstGeom>
          <a:noFill/>
        </p:spPr>
        <p:txBody>
          <a:bodyPr wrap="square">
            <a:spAutoFit/>
          </a:bodyPr>
          <a:lstStyle/>
          <a:p>
            <a:pPr algn="l"/>
            <a:r>
              <a:rPr sz="1200" b="0" i="0">
                <a:solidFill>
                  <a:srgbClr val="C8B6E0"/>
                </a:solidFill>
              </a:rPr>
              <a:t>Formateur — SAMO Formation</a:t>
            </a:r>
          </a:p>
        </p:txBody>
      </p:sp>
      <p:sp>
        <p:nvSpPr>
          <p:cNvPr id="10" name="TextBox 9"/>
          <p:cNvSpPr txBox="1"/>
          <p:nvPr/>
        </p:nvSpPr>
        <p:spPr>
          <a:xfrm>
            <a:off x="5622279" y="960120"/>
            <a:ext cx="6109472" cy="320040"/>
          </a:xfrm>
          <a:prstGeom prst="rect">
            <a:avLst/>
          </a:prstGeom>
          <a:noFill/>
        </p:spPr>
        <p:txBody>
          <a:bodyPr wrap="square">
            <a:spAutoFit/>
          </a:bodyPr>
          <a:lstStyle/>
          <a:p>
            <a:pPr algn="l"/>
            <a:r>
              <a:rPr sz="1600" b="1" i="0">
                <a:solidFill>
                  <a:srgbClr val="6A0DAD"/>
                </a:solidFill>
              </a:rPr>
              <a:t>SÉANCE 4</a:t>
            </a:r>
          </a:p>
        </p:txBody>
      </p:sp>
      <p:sp>
        <p:nvSpPr>
          <p:cNvPr id="11" name="TextBox 10"/>
          <p:cNvSpPr txBox="1"/>
          <p:nvPr/>
        </p:nvSpPr>
        <p:spPr>
          <a:xfrm>
            <a:off x="5622279" y="1298448"/>
            <a:ext cx="6109472" cy="1005840"/>
          </a:xfrm>
          <a:prstGeom prst="rect">
            <a:avLst/>
          </a:prstGeom>
          <a:noFill/>
        </p:spPr>
        <p:txBody>
          <a:bodyPr wrap="square">
            <a:spAutoFit/>
          </a:bodyPr>
          <a:lstStyle/>
          <a:p>
            <a:pPr algn="l"/>
            <a:r>
              <a:rPr sz="2650" b="1" i="0">
                <a:solidFill>
                  <a:srgbClr val="1A3560"/>
                </a:solidFill>
              </a:rPr>
              <a:t>VMs SV1, SRVCore, CL10-01
et points de contrôle</a:t>
            </a:r>
          </a:p>
        </p:txBody>
      </p:sp>
      <p:sp>
        <p:nvSpPr>
          <p:cNvPr id="12" name="TextBox 11"/>
          <p:cNvSpPr txBox="1"/>
          <p:nvPr/>
        </p:nvSpPr>
        <p:spPr>
          <a:xfrm>
            <a:off x="5622279" y="2395728"/>
            <a:ext cx="6109472" cy="365760"/>
          </a:xfrm>
          <a:prstGeom prst="rect">
            <a:avLst/>
          </a:prstGeom>
          <a:noFill/>
        </p:spPr>
        <p:txBody>
          <a:bodyPr wrap="square">
            <a:spAutoFit/>
          </a:bodyPr>
          <a:lstStyle/>
          <a:p>
            <a:pPr algn="l"/>
            <a:r>
              <a:rPr sz="1450" b="0" i="1">
                <a:solidFill>
                  <a:srgbClr val="595959"/>
                </a:solidFill>
              </a:rPr>
              <a:t>La maquette du cours est enfin complète</a:t>
            </a:r>
          </a:p>
        </p:txBody>
      </p:sp>
      <p:sp>
        <p:nvSpPr>
          <p:cNvPr id="13" name="Rectangle 12"/>
          <p:cNvSpPr/>
          <p:nvPr/>
        </p:nvSpPr>
        <p:spPr>
          <a:xfrm>
            <a:off x="5622279" y="2724912"/>
            <a:ext cx="1280160" cy="45720"/>
          </a:xfrm>
          <a:prstGeom prst="rect">
            <a:avLst/>
          </a:prstGeom>
          <a:solidFill>
            <a:srgbClr val="6A0D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622279" y="3063240"/>
            <a:ext cx="457200" cy="292608"/>
          </a:xfrm>
          <a:prstGeom prst="rect">
            <a:avLst/>
          </a:prstGeom>
          <a:noFill/>
        </p:spPr>
        <p:txBody>
          <a:bodyPr wrap="none">
            <a:spAutoFit/>
          </a:bodyPr>
          <a:lstStyle/>
          <a:p>
            <a:pPr algn="l"/>
            <a:r>
              <a:rPr sz="1500" b="0" i="0">
                <a:solidFill>
                  <a:srgbClr val="595959"/>
                </a:solidFill>
              </a:rPr>
              <a:t>⏱</a:t>
            </a:r>
          </a:p>
        </p:txBody>
      </p:sp>
      <p:sp>
        <p:nvSpPr>
          <p:cNvPr id="15" name="TextBox 14"/>
          <p:cNvSpPr txBox="1"/>
          <p:nvPr/>
        </p:nvSpPr>
        <p:spPr>
          <a:xfrm>
            <a:off x="6006327" y="3063240"/>
            <a:ext cx="5743712" cy="292608"/>
          </a:xfrm>
          <a:prstGeom prst="rect">
            <a:avLst/>
          </a:prstGeom>
          <a:noFill/>
        </p:spPr>
        <p:txBody>
          <a:bodyPr wrap="square">
            <a:spAutoFit/>
          </a:bodyPr>
          <a:lstStyle/>
          <a:p>
            <a:pPr algn="l"/>
            <a:r>
              <a:rPr sz="1400" b="0" i="0">
                <a:solidFill>
                  <a:srgbClr val="1A3560"/>
                </a:solidFill>
              </a:rPr>
              <a:t>4 heures — à distance (Teams)</a:t>
            </a:r>
          </a:p>
        </p:txBody>
      </p:sp>
      <p:sp>
        <p:nvSpPr>
          <p:cNvPr id="16" name="TextBox 15"/>
          <p:cNvSpPr txBox="1"/>
          <p:nvPr/>
        </p:nvSpPr>
        <p:spPr>
          <a:xfrm>
            <a:off x="5622279" y="3483864"/>
            <a:ext cx="457200" cy="292608"/>
          </a:xfrm>
          <a:prstGeom prst="rect">
            <a:avLst/>
          </a:prstGeom>
          <a:noFill/>
        </p:spPr>
        <p:txBody>
          <a:bodyPr wrap="none">
            <a:spAutoFit/>
          </a:bodyPr>
          <a:lstStyle/>
          <a:p>
            <a:pPr algn="l"/>
            <a:r>
              <a:rPr sz="1500" b="0" i="0">
                <a:solidFill>
                  <a:srgbClr val="595959"/>
                </a:solidFill>
              </a:rPr>
              <a:t>🎯</a:t>
            </a:r>
          </a:p>
        </p:txBody>
      </p:sp>
      <p:sp>
        <p:nvSpPr>
          <p:cNvPr id="17" name="TextBox 16"/>
          <p:cNvSpPr txBox="1"/>
          <p:nvPr/>
        </p:nvSpPr>
        <p:spPr>
          <a:xfrm>
            <a:off x="6006327" y="3483864"/>
            <a:ext cx="5743712" cy="292608"/>
          </a:xfrm>
          <a:prstGeom prst="rect">
            <a:avLst/>
          </a:prstGeom>
          <a:noFill/>
        </p:spPr>
        <p:txBody>
          <a:bodyPr wrap="square">
            <a:spAutoFit/>
          </a:bodyPr>
          <a:lstStyle/>
          <a:p>
            <a:pPr algn="l"/>
            <a:r>
              <a:rPr sz="1400" b="0" i="0">
                <a:solidFill>
                  <a:srgbClr val="1A3560"/>
                </a:solidFill>
              </a:rPr>
              <a:t>Bloc Fondations — 4ᵉ séance sur 45</a:t>
            </a:r>
          </a:p>
        </p:txBody>
      </p:sp>
      <p:sp>
        <p:nvSpPr>
          <p:cNvPr id="18" name="TextBox 17"/>
          <p:cNvSpPr txBox="1"/>
          <p:nvPr/>
        </p:nvSpPr>
        <p:spPr>
          <a:xfrm>
            <a:off x="5622279" y="3904488"/>
            <a:ext cx="457200" cy="292608"/>
          </a:xfrm>
          <a:prstGeom prst="rect">
            <a:avLst/>
          </a:prstGeom>
          <a:noFill/>
        </p:spPr>
        <p:txBody>
          <a:bodyPr wrap="none">
            <a:spAutoFit/>
          </a:bodyPr>
          <a:lstStyle/>
          <a:p>
            <a:pPr algn="l"/>
            <a:r>
              <a:rPr sz="1500" b="0" i="0">
                <a:solidFill>
                  <a:srgbClr val="595959"/>
                </a:solidFill>
              </a:rPr>
              <a:t>💻</a:t>
            </a:r>
          </a:p>
        </p:txBody>
      </p:sp>
      <p:sp>
        <p:nvSpPr>
          <p:cNvPr id="19" name="TextBox 18"/>
          <p:cNvSpPr txBox="1"/>
          <p:nvPr/>
        </p:nvSpPr>
        <p:spPr>
          <a:xfrm>
            <a:off x="6006327" y="3904488"/>
            <a:ext cx="5743712" cy="292608"/>
          </a:xfrm>
          <a:prstGeom prst="rect">
            <a:avLst/>
          </a:prstGeom>
          <a:noFill/>
        </p:spPr>
        <p:txBody>
          <a:bodyPr wrap="square">
            <a:spAutoFit/>
          </a:bodyPr>
          <a:lstStyle/>
          <a:p>
            <a:pPr algn="l"/>
            <a:r>
              <a:rPr sz="1400" b="0" i="0">
                <a:solidFill>
                  <a:srgbClr val="1A3560"/>
                </a:solidFill>
              </a:rPr>
              <a:t>Prérequis : AD1 et AD2 créées et opérationnelles (Séance 3)</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4EE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594360"/>
          </a:xfrm>
          <a:prstGeom prst="rect">
            <a:avLst/>
          </a:prstGeom>
          <a:solidFill>
            <a:srgbClr val="1A3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548640"/>
            <a:ext cx="12188952" cy="45720"/>
          </a:xfrm>
          <a:prstGeom prst="rect">
            <a:avLst/>
          </a:prstGeom>
          <a:solidFill>
            <a:srgbClr val="6A0D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mage1.png"/>
          <p:cNvPicPr>
            <a:picLocks noChangeAspect="1"/>
          </p:cNvPicPr>
          <p:nvPr/>
        </p:nvPicPr>
        <p:blipFill>
          <a:blip r:embed="rId2"/>
          <a:stretch>
            <a:fillRect/>
          </a:stretch>
        </p:blipFill>
        <p:spPr>
          <a:xfrm>
            <a:off x="164592" y="109728"/>
            <a:ext cx="1158240" cy="347472"/>
          </a:xfrm>
          <a:prstGeom prst="rect">
            <a:avLst/>
          </a:prstGeom>
        </p:spPr>
      </p:pic>
      <p:sp>
        <p:nvSpPr>
          <p:cNvPr id="6" name="TextBox 5"/>
          <p:cNvSpPr txBox="1"/>
          <p:nvPr/>
        </p:nvSpPr>
        <p:spPr>
          <a:xfrm>
            <a:off x="1426464" y="73152"/>
            <a:ext cx="4754880" cy="237744"/>
          </a:xfrm>
          <a:prstGeom prst="rect">
            <a:avLst/>
          </a:prstGeom>
          <a:noFill/>
        </p:spPr>
        <p:txBody>
          <a:bodyPr wrap="square">
            <a:spAutoFit/>
          </a:bodyPr>
          <a:lstStyle/>
          <a:p>
            <a:pPr algn="l"/>
            <a:r>
              <a:rPr sz="1350" b="0" i="0">
                <a:solidFill>
                  <a:srgbClr val="FFFFFF"/>
                </a:solidFill>
              </a:rPr>
              <a:t>SÉANCE 4 — VMs SV1/SRVCore/CL10-01</a:t>
            </a:r>
          </a:p>
        </p:txBody>
      </p:sp>
      <p:sp>
        <p:nvSpPr>
          <p:cNvPr id="7" name="TextBox 6"/>
          <p:cNvSpPr txBox="1"/>
          <p:nvPr/>
        </p:nvSpPr>
        <p:spPr>
          <a:xfrm>
            <a:off x="8714232" y="45720"/>
            <a:ext cx="3291840" cy="246888"/>
          </a:xfrm>
          <a:prstGeom prst="rect">
            <a:avLst/>
          </a:prstGeom>
          <a:noFill/>
        </p:spPr>
        <p:txBody>
          <a:bodyPr wrap="square">
            <a:spAutoFit/>
          </a:bodyPr>
          <a:lstStyle/>
          <a:p>
            <a:pPr algn="r"/>
            <a:r>
              <a:rPr sz="1200" b="1" i="0">
                <a:solidFill>
                  <a:srgbClr val="FFFFFF"/>
                </a:solidFill>
              </a:rPr>
              <a:t>CHAFIK MOUSTAID — FORMATEUR</a:t>
            </a:r>
          </a:p>
        </p:txBody>
      </p:sp>
      <p:sp>
        <p:nvSpPr>
          <p:cNvPr id="8" name="TextBox 7"/>
          <p:cNvSpPr txBox="1"/>
          <p:nvPr/>
        </p:nvSpPr>
        <p:spPr>
          <a:xfrm>
            <a:off x="8714232" y="310896"/>
            <a:ext cx="3291840" cy="182880"/>
          </a:xfrm>
          <a:prstGeom prst="rect">
            <a:avLst/>
          </a:prstGeom>
          <a:noFill/>
        </p:spPr>
        <p:txBody>
          <a:bodyPr wrap="square">
            <a:spAutoFit/>
          </a:bodyPr>
          <a:lstStyle/>
          <a:p>
            <a:pPr algn="r"/>
            <a:r>
              <a:rPr sz="1100" b="0" i="0">
                <a:solidFill>
                  <a:srgbClr val="99BB99"/>
                </a:solidFill>
              </a:rPr>
              <a:t>Version 1 — Juin 2026</a:t>
            </a:r>
          </a:p>
        </p:txBody>
      </p:sp>
      <p:sp>
        <p:nvSpPr>
          <p:cNvPr id="9" name="Rectangle 8"/>
          <p:cNvSpPr/>
          <p:nvPr/>
        </p:nvSpPr>
        <p:spPr>
          <a:xfrm>
            <a:off x="457200" y="822960"/>
            <a:ext cx="11274552" cy="1051560"/>
          </a:xfrm>
          <a:prstGeom prst="rect">
            <a:avLst/>
          </a:prstGeom>
          <a:solidFill>
            <a:srgbClr val="1A3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 y="960120"/>
            <a:ext cx="10543032" cy="822960"/>
          </a:xfrm>
          <a:prstGeom prst="rect">
            <a:avLst/>
          </a:prstGeom>
          <a:noFill/>
        </p:spPr>
        <p:txBody>
          <a:bodyPr wrap="square">
            <a:spAutoFit/>
          </a:bodyPr>
          <a:lstStyle/>
          <a:p>
            <a:pPr algn="l"/>
            <a:r>
              <a:rPr sz="1600" b="1" i="0">
                <a:solidFill>
                  <a:srgbClr val="FFFFFF"/>
                </a:solidFill>
              </a:rPr>
              <a:t>Après AD1 et AD2, trois dernières VMs complètent la maquette : un serveur membre,
un serveur Core et un poste client — la base de tout ce que vous administrerez ensuite.</a:t>
            </a:r>
          </a:p>
        </p:txBody>
      </p:sp>
      <p:sp>
        <p:nvSpPr>
          <p:cNvPr id="11" name="TextBox 10"/>
          <p:cNvSpPr txBox="1"/>
          <p:nvPr/>
        </p:nvSpPr>
        <p:spPr>
          <a:xfrm>
            <a:off x="457200" y="2148840"/>
            <a:ext cx="11274552" cy="402336"/>
          </a:xfrm>
          <a:prstGeom prst="rect">
            <a:avLst/>
          </a:prstGeom>
          <a:noFill/>
        </p:spPr>
        <p:txBody>
          <a:bodyPr wrap="square">
            <a:spAutoFit/>
          </a:bodyPr>
          <a:lstStyle/>
          <a:p>
            <a:pPr algn="l"/>
            <a:r>
              <a:rPr sz="2175" b="1" i="0">
                <a:solidFill>
                  <a:srgbClr val="1A3560"/>
                </a:solidFill>
              </a:rPr>
              <a:t>Pourquoi ces trois VMs précises ?</a:t>
            </a:r>
          </a:p>
        </p:txBody>
      </p:sp>
      <p:sp>
        <p:nvSpPr>
          <p:cNvPr id="12" name="Rectangle 11"/>
          <p:cNvSpPr/>
          <p:nvPr/>
        </p:nvSpPr>
        <p:spPr>
          <a:xfrm>
            <a:off x="457200" y="2743200"/>
            <a:ext cx="3575304" cy="1828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57200" y="2743200"/>
            <a:ext cx="64008" cy="1828800"/>
          </a:xfrm>
          <a:prstGeom prst="rect">
            <a:avLst/>
          </a:prstGeom>
          <a:solidFill>
            <a:srgbClr val="6A0D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 y="2871216"/>
            <a:ext cx="415498" cy="369332"/>
          </a:xfrm>
          <a:prstGeom prst="rect">
            <a:avLst/>
          </a:prstGeom>
          <a:noFill/>
        </p:spPr>
        <p:txBody>
          <a:bodyPr wrap="none">
            <a:spAutoFit/>
          </a:bodyPr>
          <a:lstStyle/>
          <a:p>
            <a:pPr algn="l"/>
            <a:r>
              <a:rPr sz="1900" b="0" i="0" dirty="0" smtClean="0">
                <a:solidFill>
                  <a:srgbClr val="595959"/>
                </a:solidFill>
              </a:rPr>
              <a:t>🖥</a:t>
            </a:r>
            <a:endParaRPr sz="1800" b="0" i="0" dirty="0">
              <a:solidFill>
                <a:srgbClr val="595959"/>
              </a:solidFill>
            </a:endParaRPr>
          </a:p>
        </p:txBody>
      </p:sp>
      <p:sp>
        <p:nvSpPr>
          <p:cNvPr id="15" name="TextBox 14"/>
          <p:cNvSpPr txBox="1"/>
          <p:nvPr/>
        </p:nvSpPr>
        <p:spPr>
          <a:xfrm>
            <a:off x="640080" y="3182112"/>
            <a:ext cx="3209544" cy="292608"/>
          </a:xfrm>
          <a:prstGeom prst="rect">
            <a:avLst/>
          </a:prstGeom>
          <a:noFill/>
        </p:spPr>
        <p:txBody>
          <a:bodyPr wrap="square">
            <a:spAutoFit/>
          </a:bodyPr>
          <a:lstStyle/>
          <a:p>
            <a:pPr algn="l"/>
            <a:r>
              <a:rPr sz="1450" b="1" i="0">
                <a:solidFill>
                  <a:srgbClr val="1A3560"/>
                </a:solidFill>
              </a:rPr>
              <a:t>SV1 — Serveur membre</a:t>
            </a:r>
          </a:p>
        </p:txBody>
      </p:sp>
      <p:sp>
        <p:nvSpPr>
          <p:cNvPr id="16" name="TextBox 15"/>
          <p:cNvSpPr txBox="1"/>
          <p:nvPr/>
        </p:nvSpPr>
        <p:spPr>
          <a:xfrm>
            <a:off x="640080" y="3511296"/>
            <a:ext cx="3209544" cy="950976"/>
          </a:xfrm>
          <a:prstGeom prst="rect">
            <a:avLst/>
          </a:prstGeom>
          <a:noFill/>
        </p:spPr>
        <p:txBody>
          <a:bodyPr wrap="square">
            <a:spAutoFit/>
          </a:bodyPr>
          <a:lstStyle/>
          <a:p>
            <a:pPr algn="l"/>
            <a:r>
              <a:rPr sz="1200" b="0" i="0">
                <a:solidFill>
                  <a:srgbClr val="595959"/>
                </a:solidFill>
              </a:rPr>
              <a:t>Représente un serveur applicatif classique en Desktop Experience, rattaché au futur domaine.</a:t>
            </a:r>
          </a:p>
        </p:txBody>
      </p:sp>
      <p:sp>
        <p:nvSpPr>
          <p:cNvPr id="17" name="Rectangle 16"/>
          <p:cNvSpPr/>
          <p:nvPr/>
        </p:nvSpPr>
        <p:spPr>
          <a:xfrm>
            <a:off x="4306824" y="2743200"/>
            <a:ext cx="3575304" cy="1828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306824" y="2743200"/>
            <a:ext cx="64008" cy="1828800"/>
          </a:xfrm>
          <a:prstGeom prst="rect">
            <a:avLst/>
          </a:prstGeom>
          <a:solidFill>
            <a:srgbClr val="6A0D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489704" y="2871216"/>
            <a:ext cx="481222" cy="369332"/>
          </a:xfrm>
          <a:prstGeom prst="rect">
            <a:avLst/>
          </a:prstGeom>
          <a:noFill/>
        </p:spPr>
        <p:txBody>
          <a:bodyPr wrap="none">
            <a:spAutoFit/>
          </a:bodyPr>
          <a:lstStyle/>
          <a:p>
            <a:pPr algn="l"/>
            <a:r>
              <a:rPr sz="1900" b="0" i="0" dirty="0" smtClean="0">
                <a:solidFill>
                  <a:srgbClr val="595959"/>
                </a:solidFill>
              </a:rPr>
              <a:t>⌨</a:t>
            </a:r>
            <a:endParaRPr sz="1800" b="0" i="0" dirty="0">
              <a:solidFill>
                <a:srgbClr val="595959"/>
              </a:solidFill>
            </a:endParaRPr>
          </a:p>
        </p:txBody>
      </p:sp>
      <p:sp>
        <p:nvSpPr>
          <p:cNvPr id="20" name="TextBox 19"/>
          <p:cNvSpPr txBox="1"/>
          <p:nvPr/>
        </p:nvSpPr>
        <p:spPr>
          <a:xfrm>
            <a:off x="4489704" y="3182112"/>
            <a:ext cx="3209544" cy="292608"/>
          </a:xfrm>
          <a:prstGeom prst="rect">
            <a:avLst/>
          </a:prstGeom>
          <a:noFill/>
        </p:spPr>
        <p:txBody>
          <a:bodyPr wrap="square">
            <a:spAutoFit/>
          </a:bodyPr>
          <a:lstStyle/>
          <a:p>
            <a:pPr algn="l"/>
            <a:r>
              <a:rPr sz="1450" b="1" i="0">
                <a:solidFill>
                  <a:srgbClr val="1A3560"/>
                </a:solidFill>
              </a:rPr>
              <a:t>SRVCore — Sans interface</a:t>
            </a:r>
          </a:p>
        </p:txBody>
      </p:sp>
      <p:sp>
        <p:nvSpPr>
          <p:cNvPr id="21" name="TextBox 20"/>
          <p:cNvSpPr txBox="1"/>
          <p:nvPr/>
        </p:nvSpPr>
        <p:spPr>
          <a:xfrm>
            <a:off x="4489704" y="3511296"/>
            <a:ext cx="3209544" cy="950976"/>
          </a:xfrm>
          <a:prstGeom prst="rect">
            <a:avLst/>
          </a:prstGeom>
          <a:noFill/>
        </p:spPr>
        <p:txBody>
          <a:bodyPr wrap="square">
            <a:spAutoFit/>
          </a:bodyPr>
          <a:lstStyle/>
          <a:p>
            <a:pPr algn="l"/>
            <a:r>
              <a:rPr sz="1200" b="0" i="0">
                <a:solidFill>
                  <a:srgbClr val="595959"/>
                </a:solidFill>
              </a:rPr>
              <a:t>Pratiquer l'administration en ligne de commande, comme en environnement de production réel.</a:t>
            </a:r>
          </a:p>
        </p:txBody>
      </p:sp>
      <p:sp>
        <p:nvSpPr>
          <p:cNvPr id="22" name="Rectangle 21"/>
          <p:cNvSpPr/>
          <p:nvPr/>
        </p:nvSpPr>
        <p:spPr>
          <a:xfrm>
            <a:off x="8156448" y="2743200"/>
            <a:ext cx="3575304" cy="1828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156448" y="2743200"/>
            <a:ext cx="64008" cy="1828800"/>
          </a:xfrm>
          <a:prstGeom prst="rect">
            <a:avLst/>
          </a:prstGeom>
          <a:solidFill>
            <a:srgbClr val="6A0D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339327" y="2871216"/>
            <a:ext cx="3209544" cy="310896"/>
          </a:xfrm>
          <a:prstGeom prst="rect">
            <a:avLst/>
          </a:prstGeom>
          <a:noFill/>
        </p:spPr>
        <p:txBody>
          <a:bodyPr wrap="none">
            <a:spAutoFit/>
          </a:bodyPr>
          <a:lstStyle/>
          <a:p>
            <a:pPr algn="l"/>
            <a:r>
              <a:rPr sz="1900" b="0" i="0">
                <a:solidFill>
                  <a:srgbClr val="595959"/>
                </a:solidFill>
              </a:rPr>
              <a:t>💻</a:t>
            </a:r>
          </a:p>
        </p:txBody>
      </p:sp>
      <p:sp>
        <p:nvSpPr>
          <p:cNvPr id="25" name="TextBox 24"/>
          <p:cNvSpPr txBox="1"/>
          <p:nvPr/>
        </p:nvSpPr>
        <p:spPr>
          <a:xfrm>
            <a:off x="8339327" y="3182112"/>
            <a:ext cx="3209544" cy="292608"/>
          </a:xfrm>
          <a:prstGeom prst="rect">
            <a:avLst/>
          </a:prstGeom>
          <a:noFill/>
        </p:spPr>
        <p:txBody>
          <a:bodyPr wrap="square">
            <a:spAutoFit/>
          </a:bodyPr>
          <a:lstStyle/>
          <a:p>
            <a:pPr algn="l"/>
            <a:r>
              <a:rPr sz="1450" b="1" i="0">
                <a:solidFill>
                  <a:srgbClr val="1A3560"/>
                </a:solidFill>
              </a:rPr>
              <a:t>CL10-01 — Poste client</a:t>
            </a:r>
          </a:p>
        </p:txBody>
      </p:sp>
      <p:sp>
        <p:nvSpPr>
          <p:cNvPr id="26" name="TextBox 25"/>
          <p:cNvSpPr txBox="1"/>
          <p:nvPr/>
        </p:nvSpPr>
        <p:spPr>
          <a:xfrm>
            <a:off x="8339327" y="3511296"/>
            <a:ext cx="3209544" cy="950976"/>
          </a:xfrm>
          <a:prstGeom prst="rect">
            <a:avLst/>
          </a:prstGeom>
          <a:noFill/>
        </p:spPr>
        <p:txBody>
          <a:bodyPr wrap="square">
            <a:spAutoFit/>
          </a:bodyPr>
          <a:lstStyle/>
          <a:p>
            <a:pPr algn="l"/>
            <a:r>
              <a:rPr sz="1250" b="0" i="0">
                <a:solidFill>
                  <a:srgbClr val="595959"/>
                </a:solidFill>
              </a:rPr>
              <a:t>Indispensable pour tester l'authentification, les GPO et l'expérience utilisateur finale.</a:t>
            </a:r>
          </a:p>
        </p:txBody>
      </p:sp>
      <p:sp>
        <p:nvSpPr>
          <p:cNvPr id="27" name="Rectangle 26"/>
          <p:cNvSpPr/>
          <p:nvPr/>
        </p:nvSpPr>
        <p:spPr>
          <a:xfrm>
            <a:off x="0" y="6693408"/>
            <a:ext cx="12188952" cy="32004"/>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20040" y="6675120"/>
            <a:ext cx="11548872" cy="201168"/>
          </a:xfrm>
          <a:prstGeom prst="rect">
            <a:avLst/>
          </a:prstGeom>
          <a:noFill/>
        </p:spPr>
        <p:txBody>
          <a:bodyPr wrap="square">
            <a:spAutoFit/>
          </a:bodyPr>
          <a:lstStyle/>
          <a:p>
            <a:pPr algn="l"/>
            <a:r>
              <a:rPr sz="1050" b="0" i="1">
                <a:solidFill>
                  <a:srgbClr val="AAAAAA"/>
                </a:solidFill>
              </a:rPr>
              <a:t>Séance 4 — Introduction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4EE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594360"/>
          </a:xfrm>
          <a:prstGeom prst="rect">
            <a:avLst/>
          </a:prstGeom>
          <a:solidFill>
            <a:srgbClr val="1A3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548640"/>
            <a:ext cx="12188952" cy="45720"/>
          </a:xfrm>
          <a:prstGeom prst="rect">
            <a:avLst/>
          </a:prstGeom>
          <a:solidFill>
            <a:srgbClr val="6A0D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mage1.png"/>
          <p:cNvPicPr>
            <a:picLocks noChangeAspect="1"/>
          </p:cNvPicPr>
          <p:nvPr/>
        </p:nvPicPr>
        <p:blipFill>
          <a:blip r:embed="rId2"/>
          <a:stretch>
            <a:fillRect/>
          </a:stretch>
        </p:blipFill>
        <p:spPr>
          <a:xfrm>
            <a:off x="164592" y="109728"/>
            <a:ext cx="1158240" cy="347472"/>
          </a:xfrm>
          <a:prstGeom prst="rect">
            <a:avLst/>
          </a:prstGeom>
        </p:spPr>
      </p:pic>
      <p:sp>
        <p:nvSpPr>
          <p:cNvPr id="6" name="TextBox 5"/>
          <p:cNvSpPr txBox="1"/>
          <p:nvPr/>
        </p:nvSpPr>
        <p:spPr>
          <a:xfrm>
            <a:off x="1426464" y="73152"/>
            <a:ext cx="4754880" cy="237744"/>
          </a:xfrm>
          <a:prstGeom prst="rect">
            <a:avLst/>
          </a:prstGeom>
          <a:noFill/>
        </p:spPr>
        <p:txBody>
          <a:bodyPr wrap="square">
            <a:spAutoFit/>
          </a:bodyPr>
          <a:lstStyle/>
          <a:p>
            <a:pPr algn="l"/>
            <a:r>
              <a:rPr sz="1350" b="0" i="0">
                <a:solidFill>
                  <a:srgbClr val="FFFFFF"/>
                </a:solidFill>
              </a:rPr>
              <a:t>SÉANCE 4 — VMs SV1/SRVCore/CL10-01</a:t>
            </a:r>
          </a:p>
        </p:txBody>
      </p:sp>
      <p:sp>
        <p:nvSpPr>
          <p:cNvPr id="7" name="TextBox 6"/>
          <p:cNvSpPr txBox="1"/>
          <p:nvPr/>
        </p:nvSpPr>
        <p:spPr>
          <a:xfrm>
            <a:off x="8714232" y="45720"/>
            <a:ext cx="3291840" cy="246888"/>
          </a:xfrm>
          <a:prstGeom prst="rect">
            <a:avLst/>
          </a:prstGeom>
          <a:noFill/>
        </p:spPr>
        <p:txBody>
          <a:bodyPr wrap="square">
            <a:spAutoFit/>
          </a:bodyPr>
          <a:lstStyle/>
          <a:p>
            <a:pPr algn="r"/>
            <a:r>
              <a:rPr sz="1200" b="1" i="0">
                <a:solidFill>
                  <a:srgbClr val="FFFFFF"/>
                </a:solidFill>
              </a:rPr>
              <a:t>CHAFIK MOUSTAID — FORMATEUR</a:t>
            </a:r>
          </a:p>
        </p:txBody>
      </p:sp>
      <p:sp>
        <p:nvSpPr>
          <p:cNvPr id="8" name="TextBox 7"/>
          <p:cNvSpPr txBox="1"/>
          <p:nvPr/>
        </p:nvSpPr>
        <p:spPr>
          <a:xfrm>
            <a:off x="8714232" y="310896"/>
            <a:ext cx="3291840" cy="182880"/>
          </a:xfrm>
          <a:prstGeom prst="rect">
            <a:avLst/>
          </a:prstGeom>
          <a:noFill/>
        </p:spPr>
        <p:txBody>
          <a:bodyPr wrap="square">
            <a:spAutoFit/>
          </a:bodyPr>
          <a:lstStyle/>
          <a:p>
            <a:pPr algn="r"/>
            <a:r>
              <a:rPr sz="1100" b="0" i="0">
                <a:solidFill>
                  <a:srgbClr val="99BB99"/>
                </a:solidFill>
              </a:rPr>
              <a:t>Version 1 — Juin 2026</a:t>
            </a:r>
          </a:p>
        </p:txBody>
      </p:sp>
      <p:sp>
        <p:nvSpPr>
          <p:cNvPr id="9" name="TextBox 8"/>
          <p:cNvSpPr txBox="1"/>
          <p:nvPr/>
        </p:nvSpPr>
        <p:spPr>
          <a:xfrm>
            <a:off x="457200" y="685800"/>
            <a:ext cx="11274552" cy="530352"/>
          </a:xfrm>
          <a:prstGeom prst="rect">
            <a:avLst/>
          </a:prstGeom>
          <a:noFill/>
        </p:spPr>
        <p:txBody>
          <a:bodyPr wrap="square">
            <a:spAutoFit/>
          </a:bodyPr>
          <a:lstStyle/>
          <a:p>
            <a:pPr algn="l"/>
            <a:r>
              <a:rPr sz="2750" b="1" i="0">
                <a:solidFill>
                  <a:srgbClr val="1A3560"/>
                </a:solidFill>
              </a:rPr>
              <a:t>Plan de la séance</a:t>
            </a:r>
          </a:p>
        </p:txBody>
      </p:sp>
      <p:sp>
        <p:nvSpPr>
          <p:cNvPr id="10" name="TextBox 9"/>
          <p:cNvSpPr txBox="1"/>
          <p:nvPr/>
        </p:nvSpPr>
        <p:spPr>
          <a:xfrm>
            <a:off x="457200" y="1188720"/>
            <a:ext cx="11274552" cy="310896"/>
          </a:xfrm>
          <a:prstGeom prst="rect">
            <a:avLst/>
          </a:prstGeom>
          <a:noFill/>
        </p:spPr>
        <p:txBody>
          <a:bodyPr wrap="square">
            <a:spAutoFit/>
          </a:bodyPr>
          <a:lstStyle/>
          <a:p>
            <a:pPr algn="l"/>
            <a:r>
              <a:rPr sz="1450" b="0" i="0">
                <a:solidFill>
                  <a:srgbClr val="595959"/>
                </a:solidFill>
              </a:rPr>
              <a:t>6 blocs pour compléter la maquette</a:t>
            </a:r>
          </a:p>
        </p:txBody>
      </p:sp>
      <p:sp>
        <p:nvSpPr>
          <p:cNvPr id="11" name="Rectangle 10"/>
          <p:cNvSpPr/>
          <p:nvPr/>
        </p:nvSpPr>
        <p:spPr>
          <a:xfrm>
            <a:off x="457200" y="1463040"/>
            <a:ext cx="1280160" cy="45720"/>
          </a:xfrm>
          <a:prstGeom prst="rect">
            <a:avLst/>
          </a:prstGeom>
          <a:solidFill>
            <a:srgbClr val="6A0D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57200" y="1828800"/>
            <a:ext cx="5454396" cy="1234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57200" y="1828800"/>
            <a:ext cx="566928" cy="1234440"/>
          </a:xfrm>
          <a:prstGeom prst="rect">
            <a:avLst/>
          </a:prstGeom>
          <a:solidFill>
            <a:srgbClr val="3A00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7200" y="2226563"/>
            <a:ext cx="566928" cy="438912"/>
          </a:xfrm>
          <a:prstGeom prst="rect">
            <a:avLst/>
          </a:prstGeom>
          <a:noFill/>
        </p:spPr>
        <p:txBody>
          <a:bodyPr wrap="square">
            <a:spAutoFit/>
          </a:bodyPr>
          <a:lstStyle/>
          <a:p>
            <a:pPr algn="ctr"/>
            <a:r>
              <a:rPr sz="2275" b="1" i="0">
                <a:solidFill>
                  <a:srgbClr val="FFFFFF"/>
                </a:solidFill>
              </a:rPr>
              <a:t>1</a:t>
            </a:r>
          </a:p>
        </p:txBody>
      </p:sp>
      <p:sp>
        <p:nvSpPr>
          <p:cNvPr id="15" name="TextBox 14"/>
          <p:cNvSpPr txBox="1"/>
          <p:nvPr/>
        </p:nvSpPr>
        <p:spPr>
          <a:xfrm>
            <a:off x="1170432" y="1975104"/>
            <a:ext cx="4539996" cy="310896"/>
          </a:xfrm>
          <a:prstGeom prst="rect">
            <a:avLst/>
          </a:prstGeom>
          <a:noFill/>
        </p:spPr>
        <p:txBody>
          <a:bodyPr wrap="square">
            <a:spAutoFit/>
          </a:bodyPr>
          <a:lstStyle/>
          <a:p>
            <a:pPr algn="l"/>
            <a:r>
              <a:rPr sz="1550" b="1" i="0">
                <a:solidFill>
                  <a:srgbClr val="1A3560"/>
                </a:solidFill>
              </a:rPr>
              <a:t>Rappel de la maquette</a:t>
            </a:r>
          </a:p>
        </p:txBody>
      </p:sp>
      <p:sp>
        <p:nvSpPr>
          <p:cNvPr id="16" name="TextBox 15"/>
          <p:cNvSpPr txBox="1"/>
          <p:nvPr/>
        </p:nvSpPr>
        <p:spPr>
          <a:xfrm>
            <a:off x="1170432" y="2340864"/>
            <a:ext cx="4539996" cy="594360"/>
          </a:xfrm>
          <a:prstGeom prst="rect">
            <a:avLst/>
          </a:prstGeom>
          <a:noFill/>
        </p:spPr>
        <p:txBody>
          <a:bodyPr wrap="square">
            <a:spAutoFit/>
          </a:bodyPr>
          <a:lstStyle/>
          <a:p>
            <a:pPr algn="l"/>
            <a:r>
              <a:rPr sz="1250" b="0" i="0">
                <a:solidFill>
                  <a:srgbClr val="595959"/>
                </a:solidFill>
              </a:rPr>
              <a:t>Les 3 dernières VMs à construire aujourd'hui</a:t>
            </a:r>
          </a:p>
        </p:txBody>
      </p:sp>
      <p:sp>
        <p:nvSpPr>
          <p:cNvPr id="17" name="Rectangle 16"/>
          <p:cNvSpPr/>
          <p:nvPr/>
        </p:nvSpPr>
        <p:spPr>
          <a:xfrm>
            <a:off x="6277356" y="1828800"/>
            <a:ext cx="5454396" cy="1234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277356" y="1828800"/>
            <a:ext cx="566928" cy="1234440"/>
          </a:xfrm>
          <a:prstGeom prst="rect">
            <a:avLst/>
          </a:prstGeom>
          <a:solidFill>
            <a:srgbClr val="3A00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277356" y="2226563"/>
            <a:ext cx="566928" cy="438912"/>
          </a:xfrm>
          <a:prstGeom prst="rect">
            <a:avLst/>
          </a:prstGeom>
          <a:noFill/>
        </p:spPr>
        <p:txBody>
          <a:bodyPr wrap="square">
            <a:spAutoFit/>
          </a:bodyPr>
          <a:lstStyle/>
          <a:p>
            <a:pPr algn="ctr"/>
            <a:r>
              <a:rPr sz="2275" b="1" i="0">
                <a:solidFill>
                  <a:srgbClr val="FFFFFF"/>
                </a:solidFill>
              </a:rPr>
              <a:t>2</a:t>
            </a:r>
          </a:p>
        </p:txBody>
      </p:sp>
      <p:sp>
        <p:nvSpPr>
          <p:cNvPr id="20" name="TextBox 19"/>
          <p:cNvSpPr txBox="1"/>
          <p:nvPr/>
        </p:nvSpPr>
        <p:spPr>
          <a:xfrm>
            <a:off x="6990588" y="1975104"/>
            <a:ext cx="4539996" cy="310896"/>
          </a:xfrm>
          <a:prstGeom prst="rect">
            <a:avLst/>
          </a:prstGeom>
          <a:noFill/>
        </p:spPr>
        <p:txBody>
          <a:bodyPr wrap="square">
            <a:spAutoFit/>
          </a:bodyPr>
          <a:lstStyle/>
          <a:p>
            <a:pPr algn="l"/>
            <a:r>
              <a:rPr sz="1550" b="1" i="0">
                <a:solidFill>
                  <a:srgbClr val="1A3560"/>
                </a:solidFill>
              </a:rPr>
              <a:t>Créer SV1</a:t>
            </a:r>
          </a:p>
        </p:txBody>
      </p:sp>
      <p:sp>
        <p:nvSpPr>
          <p:cNvPr id="21" name="TextBox 20"/>
          <p:cNvSpPr txBox="1"/>
          <p:nvPr/>
        </p:nvSpPr>
        <p:spPr>
          <a:xfrm>
            <a:off x="6990588" y="2340864"/>
            <a:ext cx="4539996" cy="594360"/>
          </a:xfrm>
          <a:prstGeom prst="rect">
            <a:avLst/>
          </a:prstGeom>
          <a:noFill/>
        </p:spPr>
        <p:txBody>
          <a:bodyPr wrap="square">
            <a:spAutoFit/>
          </a:bodyPr>
          <a:lstStyle/>
          <a:p>
            <a:pPr algn="l"/>
            <a:r>
              <a:rPr sz="1250" b="0" i="0">
                <a:solidFill>
                  <a:srgbClr val="595959"/>
                </a:solidFill>
              </a:rPr>
              <a:t>Serveur membre en Desktop Experience</a:t>
            </a:r>
          </a:p>
        </p:txBody>
      </p:sp>
      <p:sp>
        <p:nvSpPr>
          <p:cNvPr id="22" name="Rectangle 21"/>
          <p:cNvSpPr/>
          <p:nvPr/>
        </p:nvSpPr>
        <p:spPr>
          <a:xfrm>
            <a:off x="457200" y="3227832"/>
            <a:ext cx="5454396" cy="1234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57200" y="3227832"/>
            <a:ext cx="566928" cy="1234440"/>
          </a:xfrm>
          <a:prstGeom prst="rect">
            <a:avLst/>
          </a:prstGeom>
          <a:solidFill>
            <a:srgbClr val="3A00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57200" y="3625596"/>
            <a:ext cx="566928" cy="438912"/>
          </a:xfrm>
          <a:prstGeom prst="rect">
            <a:avLst/>
          </a:prstGeom>
          <a:noFill/>
        </p:spPr>
        <p:txBody>
          <a:bodyPr wrap="square">
            <a:spAutoFit/>
          </a:bodyPr>
          <a:lstStyle/>
          <a:p>
            <a:pPr algn="ctr"/>
            <a:r>
              <a:rPr sz="2275" b="1" i="0">
                <a:solidFill>
                  <a:srgbClr val="FFFFFF"/>
                </a:solidFill>
              </a:rPr>
              <a:t>3</a:t>
            </a:r>
          </a:p>
        </p:txBody>
      </p:sp>
      <p:sp>
        <p:nvSpPr>
          <p:cNvPr id="25" name="TextBox 24"/>
          <p:cNvSpPr txBox="1"/>
          <p:nvPr/>
        </p:nvSpPr>
        <p:spPr>
          <a:xfrm>
            <a:off x="1170432" y="3374136"/>
            <a:ext cx="4539996" cy="310896"/>
          </a:xfrm>
          <a:prstGeom prst="rect">
            <a:avLst/>
          </a:prstGeom>
          <a:noFill/>
        </p:spPr>
        <p:txBody>
          <a:bodyPr wrap="square">
            <a:spAutoFit/>
          </a:bodyPr>
          <a:lstStyle/>
          <a:p>
            <a:pPr algn="l"/>
            <a:r>
              <a:rPr sz="1550" b="1" i="0">
                <a:solidFill>
                  <a:srgbClr val="1A3560"/>
                </a:solidFill>
              </a:rPr>
              <a:t>Créer SRVCore</a:t>
            </a:r>
          </a:p>
        </p:txBody>
      </p:sp>
      <p:sp>
        <p:nvSpPr>
          <p:cNvPr id="26" name="TextBox 25"/>
          <p:cNvSpPr txBox="1"/>
          <p:nvPr/>
        </p:nvSpPr>
        <p:spPr>
          <a:xfrm>
            <a:off x="1170432" y="3739896"/>
            <a:ext cx="4539996" cy="594360"/>
          </a:xfrm>
          <a:prstGeom prst="rect">
            <a:avLst/>
          </a:prstGeom>
          <a:noFill/>
        </p:spPr>
        <p:txBody>
          <a:bodyPr wrap="square">
            <a:spAutoFit/>
          </a:bodyPr>
          <a:lstStyle/>
          <a:p>
            <a:pPr algn="l"/>
            <a:r>
              <a:rPr sz="1250" b="0" i="0">
                <a:solidFill>
                  <a:srgbClr val="595959"/>
                </a:solidFill>
              </a:rPr>
              <a:t>Serveur membre en Server Core, sconfig</a:t>
            </a:r>
          </a:p>
        </p:txBody>
      </p:sp>
      <p:sp>
        <p:nvSpPr>
          <p:cNvPr id="27" name="Rectangle 26"/>
          <p:cNvSpPr/>
          <p:nvPr/>
        </p:nvSpPr>
        <p:spPr>
          <a:xfrm>
            <a:off x="6277356" y="3227832"/>
            <a:ext cx="5454396" cy="1234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277356" y="3227832"/>
            <a:ext cx="566928" cy="1234440"/>
          </a:xfrm>
          <a:prstGeom prst="rect">
            <a:avLst/>
          </a:prstGeom>
          <a:solidFill>
            <a:srgbClr val="3A00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277356" y="3625596"/>
            <a:ext cx="566928" cy="438912"/>
          </a:xfrm>
          <a:prstGeom prst="rect">
            <a:avLst/>
          </a:prstGeom>
          <a:noFill/>
        </p:spPr>
        <p:txBody>
          <a:bodyPr wrap="square">
            <a:spAutoFit/>
          </a:bodyPr>
          <a:lstStyle/>
          <a:p>
            <a:pPr algn="ctr"/>
            <a:r>
              <a:rPr sz="2275" b="1" i="0">
                <a:solidFill>
                  <a:srgbClr val="FFFFFF"/>
                </a:solidFill>
              </a:rPr>
              <a:t>4</a:t>
            </a:r>
          </a:p>
        </p:txBody>
      </p:sp>
      <p:sp>
        <p:nvSpPr>
          <p:cNvPr id="30" name="TextBox 29"/>
          <p:cNvSpPr txBox="1"/>
          <p:nvPr/>
        </p:nvSpPr>
        <p:spPr>
          <a:xfrm>
            <a:off x="6990588" y="3374136"/>
            <a:ext cx="4539996" cy="310896"/>
          </a:xfrm>
          <a:prstGeom prst="rect">
            <a:avLst/>
          </a:prstGeom>
          <a:noFill/>
        </p:spPr>
        <p:txBody>
          <a:bodyPr wrap="square">
            <a:spAutoFit/>
          </a:bodyPr>
          <a:lstStyle/>
          <a:p>
            <a:pPr algn="l"/>
            <a:r>
              <a:rPr sz="1550" b="1" i="0">
                <a:solidFill>
                  <a:srgbClr val="1A3560"/>
                </a:solidFill>
              </a:rPr>
              <a:t>Créer CL10-01</a:t>
            </a:r>
          </a:p>
        </p:txBody>
      </p:sp>
      <p:sp>
        <p:nvSpPr>
          <p:cNvPr id="31" name="TextBox 30"/>
          <p:cNvSpPr txBox="1"/>
          <p:nvPr/>
        </p:nvSpPr>
        <p:spPr>
          <a:xfrm>
            <a:off x="6990588" y="3739896"/>
            <a:ext cx="4539996" cy="594360"/>
          </a:xfrm>
          <a:prstGeom prst="rect">
            <a:avLst/>
          </a:prstGeom>
          <a:noFill/>
        </p:spPr>
        <p:txBody>
          <a:bodyPr wrap="square">
            <a:spAutoFit/>
          </a:bodyPr>
          <a:lstStyle/>
          <a:p>
            <a:pPr algn="l"/>
            <a:r>
              <a:rPr sz="1250" b="0" i="0">
                <a:solidFill>
                  <a:srgbClr val="595959"/>
                </a:solidFill>
              </a:rPr>
              <a:t>Poste client Windows</a:t>
            </a:r>
          </a:p>
        </p:txBody>
      </p:sp>
      <p:sp>
        <p:nvSpPr>
          <p:cNvPr id="32" name="Rectangle 31"/>
          <p:cNvSpPr/>
          <p:nvPr/>
        </p:nvSpPr>
        <p:spPr>
          <a:xfrm>
            <a:off x="457200" y="4626864"/>
            <a:ext cx="5454396" cy="1234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457200" y="4626864"/>
            <a:ext cx="566928" cy="1234440"/>
          </a:xfrm>
          <a:prstGeom prst="rect">
            <a:avLst/>
          </a:prstGeom>
          <a:solidFill>
            <a:srgbClr val="3A00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57200" y="5024628"/>
            <a:ext cx="566928" cy="438912"/>
          </a:xfrm>
          <a:prstGeom prst="rect">
            <a:avLst/>
          </a:prstGeom>
          <a:noFill/>
        </p:spPr>
        <p:txBody>
          <a:bodyPr wrap="square">
            <a:spAutoFit/>
          </a:bodyPr>
          <a:lstStyle/>
          <a:p>
            <a:pPr algn="ctr"/>
            <a:r>
              <a:rPr sz="2275" b="1" i="0">
                <a:solidFill>
                  <a:srgbClr val="FFFFFF"/>
                </a:solidFill>
              </a:rPr>
              <a:t>5</a:t>
            </a:r>
          </a:p>
        </p:txBody>
      </p:sp>
      <p:sp>
        <p:nvSpPr>
          <p:cNvPr id="35" name="TextBox 34"/>
          <p:cNvSpPr txBox="1"/>
          <p:nvPr/>
        </p:nvSpPr>
        <p:spPr>
          <a:xfrm>
            <a:off x="1170432" y="4773168"/>
            <a:ext cx="4539996" cy="310896"/>
          </a:xfrm>
          <a:prstGeom prst="rect">
            <a:avLst/>
          </a:prstGeom>
          <a:noFill/>
        </p:spPr>
        <p:txBody>
          <a:bodyPr wrap="square">
            <a:spAutoFit/>
          </a:bodyPr>
          <a:lstStyle/>
          <a:p>
            <a:pPr algn="l"/>
            <a:r>
              <a:rPr sz="1550" b="1" i="0">
                <a:solidFill>
                  <a:srgbClr val="1A3560"/>
                </a:solidFill>
              </a:rPr>
              <a:t>Points de contrôle</a:t>
            </a:r>
          </a:p>
        </p:txBody>
      </p:sp>
      <p:sp>
        <p:nvSpPr>
          <p:cNvPr id="36" name="TextBox 35"/>
          <p:cNvSpPr txBox="1"/>
          <p:nvPr/>
        </p:nvSpPr>
        <p:spPr>
          <a:xfrm>
            <a:off x="1170432" y="5138928"/>
            <a:ext cx="4539996" cy="594360"/>
          </a:xfrm>
          <a:prstGeom prst="rect">
            <a:avLst/>
          </a:prstGeom>
          <a:noFill/>
        </p:spPr>
        <p:txBody>
          <a:bodyPr wrap="square">
            <a:spAutoFit/>
          </a:bodyPr>
          <a:lstStyle/>
          <a:p>
            <a:pPr algn="l"/>
            <a:r>
              <a:rPr sz="1250" b="0" i="0">
                <a:solidFill>
                  <a:srgbClr val="595959"/>
                </a:solidFill>
              </a:rPr>
              <a:t>Créer, appliquer, gérer les checkpoints</a:t>
            </a:r>
          </a:p>
        </p:txBody>
      </p:sp>
      <p:sp>
        <p:nvSpPr>
          <p:cNvPr id="37" name="Rectangle 36"/>
          <p:cNvSpPr/>
          <p:nvPr/>
        </p:nvSpPr>
        <p:spPr>
          <a:xfrm>
            <a:off x="6277356" y="4626864"/>
            <a:ext cx="5454396" cy="1234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6277356" y="4626864"/>
            <a:ext cx="566928" cy="1234440"/>
          </a:xfrm>
          <a:prstGeom prst="rect">
            <a:avLst/>
          </a:prstGeom>
          <a:solidFill>
            <a:srgbClr val="3A00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277356" y="5024628"/>
            <a:ext cx="566928" cy="438912"/>
          </a:xfrm>
          <a:prstGeom prst="rect">
            <a:avLst/>
          </a:prstGeom>
          <a:noFill/>
        </p:spPr>
        <p:txBody>
          <a:bodyPr wrap="square">
            <a:spAutoFit/>
          </a:bodyPr>
          <a:lstStyle/>
          <a:p>
            <a:pPr algn="ctr"/>
            <a:r>
              <a:rPr sz="2275" b="1" i="0">
                <a:solidFill>
                  <a:srgbClr val="FFFFFF"/>
                </a:solidFill>
              </a:rPr>
              <a:t>6</a:t>
            </a:r>
          </a:p>
        </p:txBody>
      </p:sp>
      <p:sp>
        <p:nvSpPr>
          <p:cNvPr id="40" name="TextBox 39"/>
          <p:cNvSpPr txBox="1"/>
          <p:nvPr/>
        </p:nvSpPr>
        <p:spPr>
          <a:xfrm>
            <a:off x="6990588" y="4773168"/>
            <a:ext cx="4539996" cy="310896"/>
          </a:xfrm>
          <a:prstGeom prst="rect">
            <a:avLst/>
          </a:prstGeom>
          <a:noFill/>
        </p:spPr>
        <p:txBody>
          <a:bodyPr wrap="square">
            <a:spAutoFit/>
          </a:bodyPr>
          <a:lstStyle/>
          <a:p>
            <a:pPr algn="l"/>
            <a:r>
              <a:rPr sz="1550" b="1" i="0">
                <a:solidFill>
                  <a:srgbClr val="1A3560"/>
                </a:solidFill>
              </a:rPr>
              <a:t>Vue d'ensemble finale</a:t>
            </a:r>
          </a:p>
        </p:txBody>
      </p:sp>
      <p:sp>
        <p:nvSpPr>
          <p:cNvPr id="41" name="TextBox 40"/>
          <p:cNvSpPr txBox="1"/>
          <p:nvPr/>
        </p:nvSpPr>
        <p:spPr>
          <a:xfrm>
            <a:off x="6990588" y="5138928"/>
            <a:ext cx="4539996" cy="594360"/>
          </a:xfrm>
          <a:prstGeom prst="rect">
            <a:avLst/>
          </a:prstGeom>
          <a:noFill/>
        </p:spPr>
        <p:txBody>
          <a:bodyPr wrap="square">
            <a:spAutoFit/>
          </a:bodyPr>
          <a:lstStyle/>
          <a:p>
            <a:pPr algn="l"/>
            <a:r>
              <a:rPr sz="1250" b="0" i="0">
                <a:solidFill>
                  <a:srgbClr val="595959"/>
                </a:solidFill>
              </a:rPr>
              <a:t>La maquette des 5 VMs, complète</a:t>
            </a:r>
          </a:p>
        </p:txBody>
      </p:sp>
      <p:sp>
        <p:nvSpPr>
          <p:cNvPr id="42" name="Rectangle 41"/>
          <p:cNvSpPr/>
          <p:nvPr/>
        </p:nvSpPr>
        <p:spPr>
          <a:xfrm>
            <a:off x="0" y="6693408"/>
            <a:ext cx="12188952" cy="32004"/>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320040" y="6675120"/>
            <a:ext cx="11548872" cy="201168"/>
          </a:xfrm>
          <a:prstGeom prst="rect">
            <a:avLst/>
          </a:prstGeom>
          <a:noFill/>
        </p:spPr>
        <p:txBody>
          <a:bodyPr wrap="square">
            <a:spAutoFit/>
          </a:bodyPr>
          <a:lstStyle/>
          <a:p>
            <a:pPr algn="l"/>
            <a:r>
              <a:rPr sz="1050" b="0" i="1">
                <a:solidFill>
                  <a:srgbClr val="AAAAAA"/>
                </a:solidFill>
              </a:rPr>
              <a:t>Séance 4 — Plan de la séance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4EE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594360"/>
          </a:xfrm>
          <a:prstGeom prst="rect">
            <a:avLst/>
          </a:prstGeom>
          <a:solidFill>
            <a:srgbClr val="1A3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548640"/>
            <a:ext cx="12188952" cy="45720"/>
          </a:xfrm>
          <a:prstGeom prst="rect">
            <a:avLst/>
          </a:prstGeom>
          <a:solidFill>
            <a:srgbClr val="6A0D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mage1.png"/>
          <p:cNvPicPr>
            <a:picLocks noChangeAspect="1"/>
          </p:cNvPicPr>
          <p:nvPr/>
        </p:nvPicPr>
        <p:blipFill>
          <a:blip r:embed="rId2"/>
          <a:stretch>
            <a:fillRect/>
          </a:stretch>
        </p:blipFill>
        <p:spPr>
          <a:xfrm>
            <a:off x="164592" y="109728"/>
            <a:ext cx="1158240" cy="347472"/>
          </a:xfrm>
          <a:prstGeom prst="rect">
            <a:avLst/>
          </a:prstGeom>
        </p:spPr>
      </p:pic>
      <p:sp>
        <p:nvSpPr>
          <p:cNvPr id="6" name="TextBox 5"/>
          <p:cNvSpPr txBox="1"/>
          <p:nvPr/>
        </p:nvSpPr>
        <p:spPr>
          <a:xfrm>
            <a:off x="1426464" y="73152"/>
            <a:ext cx="4754880" cy="237744"/>
          </a:xfrm>
          <a:prstGeom prst="rect">
            <a:avLst/>
          </a:prstGeom>
          <a:noFill/>
        </p:spPr>
        <p:txBody>
          <a:bodyPr wrap="square">
            <a:spAutoFit/>
          </a:bodyPr>
          <a:lstStyle/>
          <a:p>
            <a:pPr algn="l"/>
            <a:r>
              <a:rPr sz="1350" b="0" i="0">
                <a:solidFill>
                  <a:srgbClr val="FFFFFF"/>
                </a:solidFill>
              </a:rPr>
              <a:t>SÉANCE 4 — VMs SV1/SRVCore/CL10-01</a:t>
            </a:r>
          </a:p>
        </p:txBody>
      </p:sp>
      <p:sp>
        <p:nvSpPr>
          <p:cNvPr id="7" name="TextBox 6"/>
          <p:cNvSpPr txBox="1"/>
          <p:nvPr/>
        </p:nvSpPr>
        <p:spPr>
          <a:xfrm>
            <a:off x="8714232" y="45720"/>
            <a:ext cx="3291840" cy="246888"/>
          </a:xfrm>
          <a:prstGeom prst="rect">
            <a:avLst/>
          </a:prstGeom>
          <a:noFill/>
        </p:spPr>
        <p:txBody>
          <a:bodyPr wrap="square">
            <a:spAutoFit/>
          </a:bodyPr>
          <a:lstStyle/>
          <a:p>
            <a:pPr algn="r"/>
            <a:r>
              <a:rPr sz="1200" b="1" i="0">
                <a:solidFill>
                  <a:srgbClr val="FFFFFF"/>
                </a:solidFill>
              </a:rPr>
              <a:t>CHAFIK MOUSTAID — FORMATEUR</a:t>
            </a:r>
          </a:p>
        </p:txBody>
      </p:sp>
      <p:sp>
        <p:nvSpPr>
          <p:cNvPr id="8" name="TextBox 7"/>
          <p:cNvSpPr txBox="1"/>
          <p:nvPr/>
        </p:nvSpPr>
        <p:spPr>
          <a:xfrm>
            <a:off x="8714232" y="310896"/>
            <a:ext cx="3291840" cy="182880"/>
          </a:xfrm>
          <a:prstGeom prst="rect">
            <a:avLst/>
          </a:prstGeom>
          <a:noFill/>
        </p:spPr>
        <p:txBody>
          <a:bodyPr wrap="square">
            <a:spAutoFit/>
          </a:bodyPr>
          <a:lstStyle/>
          <a:p>
            <a:pPr algn="r"/>
            <a:r>
              <a:rPr sz="1100" b="0" i="0">
                <a:solidFill>
                  <a:srgbClr val="99BB99"/>
                </a:solidFill>
              </a:rPr>
              <a:t>Version 1 — Juin 2026</a:t>
            </a:r>
          </a:p>
        </p:txBody>
      </p:sp>
      <p:sp>
        <p:nvSpPr>
          <p:cNvPr id="9" name="TextBox 8"/>
          <p:cNvSpPr txBox="1"/>
          <p:nvPr/>
        </p:nvSpPr>
        <p:spPr>
          <a:xfrm>
            <a:off x="457200" y="685800"/>
            <a:ext cx="11274552" cy="530352"/>
          </a:xfrm>
          <a:prstGeom prst="rect">
            <a:avLst/>
          </a:prstGeom>
          <a:noFill/>
        </p:spPr>
        <p:txBody>
          <a:bodyPr wrap="square">
            <a:spAutoFit/>
          </a:bodyPr>
          <a:lstStyle/>
          <a:p>
            <a:pPr algn="l"/>
            <a:r>
              <a:rPr sz="2750" b="1" i="0">
                <a:solidFill>
                  <a:srgbClr val="1A3560"/>
                </a:solidFill>
              </a:rPr>
              <a:t>Où en est la maquette ?</a:t>
            </a:r>
          </a:p>
        </p:txBody>
      </p:sp>
      <p:sp>
        <p:nvSpPr>
          <p:cNvPr id="10" name="TextBox 9"/>
          <p:cNvSpPr txBox="1"/>
          <p:nvPr/>
        </p:nvSpPr>
        <p:spPr>
          <a:xfrm>
            <a:off x="457200" y="1188720"/>
            <a:ext cx="11274552" cy="310896"/>
          </a:xfrm>
          <a:prstGeom prst="rect">
            <a:avLst/>
          </a:prstGeom>
          <a:noFill/>
        </p:spPr>
        <p:txBody>
          <a:bodyPr wrap="square">
            <a:spAutoFit/>
          </a:bodyPr>
          <a:lstStyle/>
          <a:p>
            <a:pPr algn="l"/>
            <a:r>
              <a:rPr sz="1450" b="0" i="0">
                <a:solidFill>
                  <a:srgbClr val="595959"/>
                </a:solidFill>
              </a:rPr>
              <a:t>Trois VMs à construire aujourd'hui</a:t>
            </a:r>
          </a:p>
        </p:txBody>
      </p:sp>
      <p:sp>
        <p:nvSpPr>
          <p:cNvPr id="11" name="Rectangle 10"/>
          <p:cNvSpPr/>
          <p:nvPr/>
        </p:nvSpPr>
        <p:spPr>
          <a:xfrm>
            <a:off x="457200" y="1463040"/>
            <a:ext cx="1280160" cy="45720"/>
          </a:xfrm>
          <a:prstGeom prst="rect">
            <a:avLst/>
          </a:prstGeom>
          <a:solidFill>
            <a:srgbClr val="6A0D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57200" y="2103120"/>
            <a:ext cx="1962302" cy="1463040"/>
          </a:xfrm>
          <a:prstGeom prst="rect">
            <a:avLst/>
          </a:prstGeom>
          <a:solidFill>
            <a:srgbClr val="FFFFFF"/>
          </a:solidFill>
          <a:ln w="12700">
            <a:solidFill>
              <a:srgbClr val="AAAA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7200" y="2231136"/>
            <a:ext cx="1962302" cy="274320"/>
          </a:xfrm>
          <a:prstGeom prst="rect">
            <a:avLst/>
          </a:prstGeom>
          <a:noFill/>
        </p:spPr>
        <p:txBody>
          <a:bodyPr wrap="none">
            <a:spAutoFit/>
          </a:bodyPr>
          <a:lstStyle/>
          <a:p>
            <a:pPr algn="ctr"/>
            <a:r>
              <a:rPr sz="1700" b="1" i="0">
                <a:solidFill>
                  <a:srgbClr val="3A006A"/>
                </a:solidFill>
              </a:rPr>
              <a:t>🖥</a:t>
            </a:r>
          </a:p>
        </p:txBody>
      </p:sp>
      <p:sp>
        <p:nvSpPr>
          <p:cNvPr id="14" name="TextBox 13"/>
          <p:cNvSpPr txBox="1"/>
          <p:nvPr/>
        </p:nvSpPr>
        <p:spPr>
          <a:xfrm>
            <a:off x="502920" y="2560320"/>
            <a:ext cx="1870862" cy="274320"/>
          </a:xfrm>
          <a:prstGeom prst="rect">
            <a:avLst/>
          </a:prstGeom>
          <a:noFill/>
        </p:spPr>
        <p:txBody>
          <a:bodyPr wrap="square">
            <a:spAutoFit/>
          </a:bodyPr>
          <a:lstStyle/>
          <a:p>
            <a:pPr algn="ctr"/>
            <a:r>
              <a:rPr sz="1400" b="1" i="0">
                <a:solidFill>
                  <a:srgbClr val="1A3560"/>
                </a:solidFill>
              </a:rPr>
              <a:t>AD1</a:t>
            </a:r>
          </a:p>
        </p:txBody>
      </p:sp>
      <p:sp>
        <p:nvSpPr>
          <p:cNvPr id="15" name="TextBox 14"/>
          <p:cNvSpPr txBox="1"/>
          <p:nvPr/>
        </p:nvSpPr>
        <p:spPr>
          <a:xfrm>
            <a:off x="502920" y="2852927"/>
            <a:ext cx="1870862" cy="457200"/>
          </a:xfrm>
          <a:prstGeom prst="rect">
            <a:avLst/>
          </a:prstGeom>
          <a:noFill/>
        </p:spPr>
        <p:txBody>
          <a:bodyPr wrap="square">
            <a:spAutoFit/>
          </a:bodyPr>
          <a:lstStyle/>
          <a:p>
            <a:pPr algn="ctr"/>
            <a:r>
              <a:rPr sz="1150" b="0" i="0">
                <a:solidFill>
                  <a:srgbClr val="595959"/>
                </a:solidFill>
              </a:rPr>
              <a:t>Contrôleur de domaine</a:t>
            </a:r>
          </a:p>
        </p:txBody>
      </p:sp>
      <p:sp>
        <p:nvSpPr>
          <p:cNvPr id="16" name="TextBox 15"/>
          <p:cNvSpPr txBox="1"/>
          <p:nvPr/>
        </p:nvSpPr>
        <p:spPr>
          <a:xfrm>
            <a:off x="502920" y="3291839"/>
            <a:ext cx="1870862" cy="237744"/>
          </a:xfrm>
          <a:prstGeom prst="rect">
            <a:avLst/>
          </a:prstGeom>
          <a:noFill/>
        </p:spPr>
        <p:txBody>
          <a:bodyPr wrap="square">
            <a:spAutoFit/>
          </a:bodyPr>
          <a:lstStyle/>
          <a:p>
            <a:pPr algn="ctr"/>
            <a:r>
              <a:rPr sz="1100" b="1" i="0">
                <a:solidFill>
                  <a:srgbClr val="3E7A28"/>
                </a:solidFill>
              </a:rPr>
              <a:t>✓ Créée (S3)</a:t>
            </a:r>
          </a:p>
        </p:txBody>
      </p:sp>
      <p:sp>
        <p:nvSpPr>
          <p:cNvPr id="17" name="Rectangle 16"/>
          <p:cNvSpPr/>
          <p:nvPr/>
        </p:nvSpPr>
        <p:spPr>
          <a:xfrm>
            <a:off x="2785262" y="2103120"/>
            <a:ext cx="1962302" cy="1463040"/>
          </a:xfrm>
          <a:prstGeom prst="rect">
            <a:avLst/>
          </a:prstGeom>
          <a:solidFill>
            <a:srgbClr val="FFFFFF"/>
          </a:solidFill>
          <a:ln w="12700">
            <a:solidFill>
              <a:srgbClr val="AAAA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785262" y="2231136"/>
            <a:ext cx="1962302" cy="274320"/>
          </a:xfrm>
          <a:prstGeom prst="rect">
            <a:avLst/>
          </a:prstGeom>
          <a:noFill/>
        </p:spPr>
        <p:txBody>
          <a:bodyPr wrap="none">
            <a:spAutoFit/>
          </a:bodyPr>
          <a:lstStyle/>
          <a:p>
            <a:pPr algn="ctr"/>
            <a:r>
              <a:rPr sz="1700" b="1" i="0">
                <a:solidFill>
                  <a:srgbClr val="3A006A"/>
                </a:solidFill>
              </a:rPr>
              <a:t>🖥</a:t>
            </a:r>
          </a:p>
        </p:txBody>
      </p:sp>
      <p:sp>
        <p:nvSpPr>
          <p:cNvPr id="19" name="TextBox 18"/>
          <p:cNvSpPr txBox="1"/>
          <p:nvPr/>
        </p:nvSpPr>
        <p:spPr>
          <a:xfrm>
            <a:off x="2830982" y="2560320"/>
            <a:ext cx="1870862" cy="274320"/>
          </a:xfrm>
          <a:prstGeom prst="rect">
            <a:avLst/>
          </a:prstGeom>
          <a:noFill/>
        </p:spPr>
        <p:txBody>
          <a:bodyPr wrap="square">
            <a:spAutoFit/>
          </a:bodyPr>
          <a:lstStyle/>
          <a:p>
            <a:pPr algn="ctr"/>
            <a:r>
              <a:rPr sz="1400" b="1" i="0">
                <a:solidFill>
                  <a:srgbClr val="1A3560"/>
                </a:solidFill>
              </a:rPr>
              <a:t>AD2</a:t>
            </a:r>
          </a:p>
        </p:txBody>
      </p:sp>
      <p:sp>
        <p:nvSpPr>
          <p:cNvPr id="20" name="TextBox 19"/>
          <p:cNvSpPr txBox="1"/>
          <p:nvPr/>
        </p:nvSpPr>
        <p:spPr>
          <a:xfrm>
            <a:off x="2830982" y="2852927"/>
            <a:ext cx="1870862" cy="457200"/>
          </a:xfrm>
          <a:prstGeom prst="rect">
            <a:avLst/>
          </a:prstGeom>
          <a:noFill/>
        </p:spPr>
        <p:txBody>
          <a:bodyPr wrap="square">
            <a:spAutoFit/>
          </a:bodyPr>
          <a:lstStyle/>
          <a:p>
            <a:pPr algn="ctr"/>
            <a:r>
              <a:rPr sz="1150" b="0" i="0">
                <a:solidFill>
                  <a:srgbClr val="595959"/>
                </a:solidFill>
              </a:rPr>
              <a:t>Contrôleur de domaine</a:t>
            </a:r>
          </a:p>
        </p:txBody>
      </p:sp>
      <p:sp>
        <p:nvSpPr>
          <p:cNvPr id="21" name="TextBox 20"/>
          <p:cNvSpPr txBox="1"/>
          <p:nvPr/>
        </p:nvSpPr>
        <p:spPr>
          <a:xfrm>
            <a:off x="2830982" y="3291839"/>
            <a:ext cx="1870862" cy="237744"/>
          </a:xfrm>
          <a:prstGeom prst="rect">
            <a:avLst/>
          </a:prstGeom>
          <a:noFill/>
        </p:spPr>
        <p:txBody>
          <a:bodyPr wrap="square">
            <a:spAutoFit/>
          </a:bodyPr>
          <a:lstStyle/>
          <a:p>
            <a:pPr algn="ctr"/>
            <a:r>
              <a:rPr sz="1100" b="1" i="0">
                <a:solidFill>
                  <a:srgbClr val="3E7A28"/>
                </a:solidFill>
              </a:rPr>
              <a:t>✓ Créée (S3)</a:t>
            </a:r>
          </a:p>
        </p:txBody>
      </p:sp>
      <p:sp>
        <p:nvSpPr>
          <p:cNvPr id="22" name="Rectangle 21"/>
          <p:cNvSpPr/>
          <p:nvPr/>
        </p:nvSpPr>
        <p:spPr>
          <a:xfrm>
            <a:off x="5113324" y="2103120"/>
            <a:ext cx="1962302" cy="1463040"/>
          </a:xfrm>
          <a:prstGeom prst="rect">
            <a:avLst/>
          </a:prstGeom>
          <a:solidFill>
            <a:srgbClr val="F3EAFB"/>
          </a:solidFill>
          <a:ln w="19050">
            <a:solidFill>
              <a:srgbClr val="6A0D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113324" y="2231136"/>
            <a:ext cx="1962302" cy="274320"/>
          </a:xfrm>
          <a:prstGeom prst="rect">
            <a:avLst/>
          </a:prstGeom>
          <a:noFill/>
        </p:spPr>
        <p:txBody>
          <a:bodyPr wrap="none">
            <a:spAutoFit/>
          </a:bodyPr>
          <a:lstStyle/>
          <a:p>
            <a:pPr algn="ctr"/>
            <a:r>
              <a:rPr sz="1700" b="1" i="0">
                <a:solidFill>
                  <a:srgbClr val="3A006A"/>
                </a:solidFill>
              </a:rPr>
              <a:t>🖥</a:t>
            </a:r>
          </a:p>
        </p:txBody>
      </p:sp>
      <p:sp>
        <p:nvSpPr>
          <p:cNvPr id="24" name="TextBox 23"/>
          <p:cNvSpPr txBox="1"/>
          <p:nvPr/>
        </p:nvSpPr>
        <p:spPr>
          <a:xfrm>
            <a:off x="5159044" y="2560320"/>
            <a:ext cx="1870862" cy="274320"/>
          </a:xfrm>
          <a:prstGeom prst="rect">
            <a:avLst/>
          </a:prstGeom>
          <a:noFill/>
        </p:spPr>
        <p:txBody>
          <a:bodyPr wrap="square">
            <a:spAutoFit/>
          </a:bodyPr>
          <a:lstStyle/>
          <a:p>
            <a:pPr algn="ctr"/>
            <a:r>
              <a:rPr sz="1400" b="1" i="0">
                <a:solidFill>
                  <a:srgbClr val="1A3560"/>
                </a:solidFill>
              </a:rPr>
              <a:t>SV1</a:t>
            </a:r>
          </a:p>
        </p:txBody>
      </p:sp>
      <p:sp>
        <p:nvSpPr>
          <p:cNvPr id="25" name="TextBox 24"/>
          <p:cNvSpPr txBox="1"/>
          <p:nvPr/>
        </p:nvSpPr>
        <p:spPr>
          <a:xfrm>
            <a:off x="5159044" y="2852927"/>
            <a:ext cx="1870862" cy="457200"/>
          </a:xfrm>
          <a:prstGeom prst="rect">
            <a:avLst/>
          </a:prstGeom>
          <a:noFill/>
        </p:spPr>
        <p:txBody>
          <a:bodyPr wrap="square">
            <a:spAutoFit/>
          </a:bodyPr>
          <a:lstStyle/>
          <a:p>
            <a:pPr algn="ctr"/>
            <a:r>
              <a:rPr sz="1150" b="0" i="0">
                <a:solidFill>
                  <a:srgbClr val="595959"/>
                </a:solidFill>
              </a:rPr>
              <a:t>Serveur membre</a:t>
            </a:r>
          </a:p>
        </p:txBody>
      </p:sp>
      <p:sp>
        <p:nvSpPr>
          <p:cNvPr id="26" name="TextBox 25"/>
          <p:cNvSpPr txBox="1"/>
          <p:nvPr/>
        </p:nvSpPr>
        <p:spPr>
          <a:xfrm>
            <a:off x="5159044" y="3291839"/>
            <a:ext cx="1870862" cy="237744"/>
          </a:xfrm>
          <a:prstGeom prst="rect">
            <a:avLst/>
          </a:prstGeom>
          <a:noFill/>
        </p:spPr>
        <p:txBody>
          <a:bodyPr wrap="square">
            <a:spAutoFit/>
          </a:bodyPr>
          <a:lstStyle/>
          <a:p>
            <a:pPr algn="ctr"/>
            <a:r>
              <a:rPr sz="1100" b="1" i="0">
                <a:solidFill>
                  <a:srgbClr val="6A0DAD"/>
                </a:solidFill>
              </a:rPr>
              <a:t>★ Aujourd'hui</a:t>
            </a:r>
          </a:p>
        </p:txBody>
      </p:sp>
      <p:sp>
        <p:nvSpPr>
          <p:cNvPr id="27" name="Rectangle 26"/>
          <p:cNvSpPr/>
          <p:nvPr/>
        </p:nvSpPr>
        <p:spPr>
          <a:xfrm>
            <a:off x="7441387" y="2103120"/>
            <a:ext cx="1962302" cy="1463040"/>
          </a:xfrm>
          <a:prstGeom prst="rect">
            <a:avLst/>
          </a:prstGeom>
          <a:solidFill>
            <a:srgbClr val="F3EAFB"/>
          </a:solidFill>
          <a:ln w="19050">
            <a:solidFill>
              <a:srgbClr val="6A0D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441387" y="2231136"/>
            <a:ext cx="1962302" cy="274320"/>
          </a:xfrm>
          <a:prstGeom prst="rect">
            <a:avLst/>
          </a:prstGeom>
          <a:noFill/>
        </p:spPr>
        <p:txBody>
          <a:bodyPr wrap="none">
            <a:spAutoFit/>
          </a:bodyPr>
          <a:lstStyle/>
          <a:p>
            <a:pPr algn="ctr"/>
            <a:r>
              <a:rPr sz="1700" b="1" i="0">
                <a:solidFill>
                  <a:srgbClr val="3A006A"/>
                </a:solidFill>
              </a:rPr>
              <a:t>🖥</a:t>
            </a:r>
          </a:p>
        </p:txBody>
      </p:sp>
      <p:sp>
        <p:nvSpPr>
          <p:cNvPr id="29" name="TextBox 28"/>
          <p:cNvSpPr txBox="1"/>
          <p:nvPr/>
        </p:nvSpPr>
        <p:spPr>
          <a:xfrm>
            <a:off x="7487107" y="2560320"/>
            <a:ext cx="1870862" cy="274320"/>
          </a:xfrm>
          <a:prstGeom prst="rect">
            <a:avLst/>
          </a:prstGeom>
          <a:noFill/>
        </p:spPr>
        <p:txBody>
          <a:bodyPr wrap="square">
            <a:spAutoFit/>
          </a:bodyPr>
          <a:lstStyle/>
          <a:p>
            <a:pPr algn="ctr"/>
            <a:r>
              <a:rPr sz="1400" b="1" i="0">
                <a:solidFill>
                  <a:srgbClr val="1A3560"/>
                </a:solidFill>
              </a:rPr>
              <a:t>SRVCore</a:t>
            </a:r>
          </a:p>
        </p:txBody>
      </p:sp>
      <p:sp>
        <p:nvSpPr>
          <p:cNvPr id="30" name="TextBox 29"/>
          <p:cNvSpPr txBox="1"/>
          <p:nvPr/>
        </p:nvSpPr>
        <p:spPr>
          <a:xfrm>
            <a:off x="7487107" y="2852927"/>
            <a:ext cx="1870862" cy="457200"/>
          </a:xfrm>
          <a:prstGeom prst="rect">
            <a:avLst/>
          </a:prstGeom>
          <a:noFill/>
        </p:spPr>
        <p:txBody>
          <a:bodyPr wrap="square">
            <a:spAutoFit/>
          </a:bodyPr>
          <a:lstStyle/>
          <a:p>
            <a:pPr algn="ctr"/>
            <a:r>
              <a:rPr sz="1150" b="0" i="0">
                <a:solidFill>
                  <a:srgbClr val="595959"/>
                </a:solidFill>
              </a:rPr>
              <a:t>Serveur membre (Core)</a:t>
            </a:r>
          </a:p>
        </p:txBody>
      </p:sp>
      <p:sp>
        <p:nvSpPr>
          <p:cNvPr id="31" name="TextBox 30"/>
          <p:cNvSpPr txBox="1"/>
          <p:nvPr/>
        </p:nvSpPr>
        <p:spPr>
          <a:xfrm>
            <a:off x="7487107" y="3291839"/>
            <a:ext cx="1870862" cy="237744"/>
          </a:xfrm>
          <a:prstGeom prst="rect">
            <a:avLst/>
          </a:prstGeom>
          <a:noFill/>
        </p:spPr>
        <p:txBody>
          <a:bodyPr wrap="square">
            <a:spAutoFit/>
          </a:bodyPr>
          <a:lstStyle/>
          <a:p>
            <a:pPr algn="ctr"/>
            <a:r>
              <a:rPr sz="1100" b="1" i="0">
                <a:solidFill>
                  <a:srgbClr val="6A0DAD"/>
                </a:solidFill>
              </a:rPr>
              <a:t>★ Aujourd'hui</a:t>
            </a:r>
          </a:p>
        </p:txBody>
      </p:sp>
      <p:sp>
        <p:nvSpPr>
          <p:cNvPr id="32" name="Rectangle 31"/>
          <p:cNvSpPr/>
          <p:nvPr/>
        </p:nvSpPr>
        <p:spPr>
          <a:xfrm>
            <a:off x="9769449" y="2103120"/>
            <a:ext cx="1962302" cy="1463040"/>
          </a:xfrm>
          <a:prstGeom prst="rect">
            <a:avLst/>
          </a:prstGeom>
          <a:solidFill>
            <a:srgbClr val="F3EAFB"/>
          </a:solidFill>
          <a:ln w="19050">
            <a:solidFill>
              <a:srgbClr val="6A0D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769449" y="2231136"/>
            <a:ext cx="1962302" cy="274320"/>
          </a:xfrm>
          <a:prstGeom prst="rect">
            <a:avLst/>
          </a:prstGeom>
          <a:noFill/>
        </p:spPr>
        <p:txBody>
          <a:bodyPr wrap="none">
            <a:spAutoFit/>
          </a:bodyPr>
          <a:lstStyle/>
          <a:p>
            <a:pPr algn="ctr"/>
            <a:r>
              <a:rPr sz="1700" b="1" i="0">
                <a:solidFill>
                  <a:srgbClr val="3A006A"/>
                </a:solidFill>
              </a:rPr>
              <a:t>🖥</a:t>
            </a:r>
          </a:p>
        </p:txBody>
      </p:sp>
      <p:sp>
        <p:nvSpPr>
          <p:cNvPr id="34" name="TextBox 33"/>
          <p:cNvSpPr txBox="1"/>
          <p:nvPr/>
        </p:nvSpPr>
        <p:spPr>
          <a:xfrm>
            <a:off x="9815169" y="2560320"/>
            <a:ext cx="1870862" cy="274320"/>
          </a:xfrm>
          <a:prstGeom prst="rect">
            <a:avLst/>
          </a:prstGeom>
          <a:noFill/>
        </p:spPr>
        <p:txBody>
          <a:bodyPr wrap="square">
            <a:spAutoFit/>
          </a:bodyPr>
          <a:lstStyle/>
          <a:p>
            <a:pPr algn="ctr"/>
            <a:r>
              <a:rPr sz="1400" b="1" i="0">
                <a:solidFill>
                  <a:srgbClr val="1A3560"/>
                </a:solidFill>
              </a:rPr>
              <a:t>CL10-01</a:t>
            </a:r>
          </a:p>
        </p:txBody>
      </p:sp>
      <p:sp>
        <p:nvSpPr>
          <p:cNvPr id="35" name="TextBox 34"/>
          <p:cNvSpPr txBox="1"/>
          <p:nvPr/>
        </p:nvSpPr>
        <p:spPr>
          <a:xfrm>
            <a:off x="9815169" y="2852927"/>
            <a:ext cx="1870862" cy="457200"/>
          </a:xfrm>
          <a:prstGeom prst="rect">
            <a:avLst/>
          </a:prstGeom>
          <a:noFill/>
        </p:spPr>
        <p:txBody>
          <a:bodyPr wrap="square">
            <a:spAutoFit/>
          </a:bodyPr>
          <a:lstStyle/>
          <a:p>
            <a:pPr algn="ctr"/>
            <a:r>
              <a:rPr sz="1150" b="0" i="0">
                <a:solidFill>
                  <a:srgbClr val="595959"/>
                </a:solidFill>
              </a:rPr>
              <a:t>Poste client</a:t>
            </a:r>
          </a:p>
        </p:txBody>
      </p:sp>
      <p:sp>
        <p:nvSpPr>
          <p:cNvPr id="36" name="TextBox 35"/>
          <p:cNvSpPr txBox="1"/>
          <p:nvPr/>
        </p:nvSpPr>
        <p:spPr>
          <a:xfrm>
            <a:off x="9815169" y="3291839"/>
            <a:ext cx="1870862" cy="237744"/>
          </a:xfrm>
          <a:prstGeom prst="rect">
            <a:avLst/>
          </a:prstGeom>
          <a:noFill/>
        </p:spPr>
        <p:txBody>
          <a:bodyPr wrap="square">
            <a:spAutoFit/>
          </a:bodyPr>
          <a:lstStyle/>
          <a:p>
            <a:pPr algn="ctr"/>
            <a:r>
              <a:rPr sz="1100" b="1" i="0">
                <a:solidFill>
                  <a:srgbClr val="6A0DAD"/>
                </a:solidFill>
              </a:rPr>
              <a:t>★ Aujourd'hui</a:t>
            </a:r>
          </a:p>
        </p:txBody>
      </p:sp>
      <p:sp>
        <p:nvSpPr>
          <p:cNvPr id="37" name="Rectangle 36"/>
          <p:cNvSpPr/>
          <p:nvPr/>
        </p:nvSpPr>
        <p:spPr>
          <a:xfrm>
            <a:off x="457200" y="3840480"/>
            <a:ext cx="11274552" cy="868680"/>
          </a:xfrm>
          <a:prstGeom prst="rect">
            <a:avLst/>
          </a:prstGeom>
          <a:solidFill>
            <a:srgbClr val="F3EAFB"/>
          </a:solidFill>
          <a:ln w="25400">
            <a:solidFill>
              <a:srgbClr val="6A0D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457200" y="3840480"/>
            <a:ext cx="502920" cy="868680"/>
          </a:xfrm>
          <a:prstGeom prst="rect">
            <a:avLst/>
          </a:prstGeom>
          <a:solidFill>
            <a:srgbClr val="6A0D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75263" y="4073652"/>
            <a:ext cx="466794" cy="430887"/>
          </a:xfrm>
          <a:prstGeom prst="rect">
            <a:avLst/>
          </a:prstGeom>
          <a:noFill/>
        </p:spPr>
        <p:txBody>
          <a:bodyPr wrap="none">
            <a:spAutoFit/>
          </a:bodyPr>
          <a:lstStyle/>
          <a:p>
            <a:pPr algn="ctr"/>
            <a:r>
              <a:rPr sz="2275" b="1" i="0" dirty="0" smtClean="0">
                <a:solidFill>
                  <a:srgbClr val="FFFFFF"/>
                </a:solidFill>
              </a:rPr>
              <a:t>🗓</a:t>
            </a:r>
            <a:endParaRPr sz="2200" b="1" i="0" dirty="0">
              <a:solidFill>
                <a:srgbClr val="FFFFFF"/>
              </a:solidFill>
            </a:endParaRPr>
          </a:p>
        </p:txBody>
      </p:sp>
      <p:sp>
        <p:nvSpPr>
          <p:cNvPr id="40" name="TextBox 39"/>
          <p:cNvSpPr txBox="1"/>
          <p:nvPr/>
        </p:nvSpPr>
        <p:spPr>
          <a:xfrm>
            <a:off x="1051560" y="3913632"/>
            <a:ext cx="10588752" cy="292608"/>
          </a:xfrm>
          <a:prstGeom prst="rect">
            <a:avLst/>
          </a:prstGeom>
          <a:noFill/>
        </p:spPr>
        <p:txBody>
          <a:bodyPr wrap="square">
            <a:spAutoFit/>
          </a:bodyPr>
          <a:lstStyle/>
          <a:p>
            <a:pPr algn="l"/>
            <a:r>
              <a:rPr sz="1500" b="1" i="0">
                <a:solidFill>
                  <a:srgbClr val="1A005D"/>
                </a:solidFill>
              </a:rPr>
              <a:t>À la fin de cette séance</a:t>
            </a:r>
          </a:p>
        </p:txBody>
      </p:sp>
      <p:sp>
        <p:nvSpPr>
          <p:cNvPr id="41" name="TextBox 40"/>
          <p:cNvSpPr txBox="1"/>
          <p:nvPr/>
        </p:nvSpPr>
        <p:spPr>
          <a:xfrm>
            <a:off x="1051560" y="4206240"/>
            <a:ext cx="10588752" cy="411479"/>
          </a:xfrm>
          <a:prstGeom prst="rect">
            <a:avLst/>
          </a:prstGeom>
          <a:noFill/>
        </p:spPr>
        <p:txBody>
          <a:bodyPr wrap="square">
            <a:spAutoFit/>
          </a:bodyPr>
          <a:lstStyle/>
          <a:p>
            <a:pPr algn="l"/>
            <a:r>
              <a:rPr sz="1250" b="0" i="0">
                <a:solidFill>
                  <a:srgbClr val="595959"/>
                </a:solidFill>
              </a:rPr>
              <a:t>La maquette des 5 VMs sera complète. Elle restera la base de toutes les manipulations jusqu'à la fin du cours (Séance 45).</a:t>
            </a:r>
          </a:p>
        </p:txBody>
      </p:sp>
      <p:sp>
        <p:nvSpPr>
          <p:cNvPr id="42" name="Rectangle 41"/>
          <p:cNvSpPr/>
          <p:nvPr/>
        </p:nvSpPr>
        <p:spPr>
          <a:xfrm>
            <a:off x="0" y="6693408"/>
            <a:ext cx="12188952" cy="32004"/>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320040" y="6675120"/>
            <a:ext cx="11548872" cy="201168"/>
          </a:xfrm>
          <a:prstGeom prst="rect">
            <a:avLst/>
          </a:prstGeom>
          <a:noFill/>
        </p:spPr>
        <p:txBody>
          <a:bodyPr wrap="square">
            <a:spAutoFit/>
          </a:bodyPr>
          <a:lstStyle/>
          <a:p>
            <a:pPr algn="l"/>
            <a:r>
              <a:rPr sz="1050" b="0" i="1">
                <a:solidFill>
                  <a:srgbClr val="AAAAAA"/>
                </a:solidFill>
              </a:rPr>
              <a:t>Séance 4 — Bloc 1 : rappel de la maquette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4EE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594360"/>
          </a:xfrm>
          <a:prstGeom prst="rect">
            <a:avLst/>
          </a:prstGeom>
          <a:solidFill>
            <a:srgbClr val="1A3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548640"/>
            <a:ext cx="12188952" cy="45720"/>
          </a:xfrm>
          <a:prstGeom prst="rect">
            <a:avLst/>
          </a:prstGeom>
          <a:solidFill>
            <a:srgbClr val="6A0D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mage1.png"/>
          <p:cNvPicPr>
            <a:picLocks noChangeAspect="1"/>
          </p:cNvPicPr>
          <p:nvPr/>
        </p:nvPicPr>
        <p:blipFill>
          <a:blip r:embed="rId2"/>
          <a:stretch>
            <a:fillRect/>
          </a:stretch>
        </p:blipFill>
        <p:spPr>
          <a:xfrm>
            <a:off x="164592" y="109728"/>
            <a:ext cx="1158240" cy="347472"/>
          </a:xfrm>
          <a:prstGeom prst="rect">
            <a:avLst/>
          </a:prstGeom>
        </p:spPr>
      </p:pic>
      <p:sp>
        <p:nvSpPr>
          <p:cNvPr id="6" name="TextBox 5"/>
          <p:cNvSpPr txBox="1"/>
          <p:nvPr/>
        </p:nvSpPr>
        <p:spPr>
          <a:xfrm>
            <a:off x="1426464" y="73152"/>
            <a:ext cx="4754880" cy="237744"/>
          </a:xfrm>
          <a:prstGeom prst="rect">
            <a:avLst/>
          </a:prstGeom>
          <a:noFill/>
        </p:spPr>
        <p:txBody>
          <a:bodyPr wrap="square">
            <a:spAutoFit/>
          </a:bodyPr>
          <a:lstStyle/>
          <a:p>
            <a:pPr algn="l"/>
            <a:r>
              <a:rPr sz="1350" b="0" i="0">
                <a:solidFill>
                  <a:srgbClr val="FFFFFF"/>
                </a:solidFill>
              </a:rPr>
              <a:t>SÉANCE 4 — VMs SV1/SRVCore/CL10-01</a:t>
            </a:r>
          </a:p>
        </p:txBody>
      </p:sp>
      <p:sp>
        <p:nvSpPr>
          <p:cNvPr id="7" name="TextBox 6"/>
          <p:cNvSpPr txBox="1"/>
          <p:nvPr/>
        </p:nvSpPr>
        <p:spPr>
          <a:xfrm>
            <a:off x="8714232" y="45720"/>
            <a:ext cx="3291840" cy="246888"/>
          </a:xfrm>
          <a:prstGeom prst="rect">
            <a:avLst/>
          </a:prstGeom>
          <a:noFill/>
        </p:spPr>
        <p:txBody>
          <a:bodyPr wrap="square">
            <a:spAutoFit/>
          </a:bodyPr>
          <a:lstStyle/>
          <a:p>
            <a:pPr algn="r"/>
            <a:r>
              <a:rPr sz="1200" b="1" i="0">
                <a:solidFill>
                  <a:srgbClr val="FFFFFF"/>
                </a:solidFill>
              </a:rPr>
              <a:t>CHAFIK MOUSTAID — FORMATEUR</a:t>
            </a:r>
          </a:p>
        </p:txBody>
      </p:sp>
      <p:sp>
        <p:nvSpPr>
          <p:cNvPr id="8" name="TextBox 7"/>
          <p:cNvSpPr txBox="1"/>
          <p:nvPr/>
        </p:nvSpPr>
        <p:spPr>
          <a:xfrm>
            <a:off x="8714232" y="310896"/>
            <a:ext cx="3291840" cy="182880"/>
          </a:xfrm>
          <a:prstGeom prst="rect">
            <a:avLst/>
          </a:prstGeom>
          <a:noFill/>
        </p:spPr>
        <p:txBody>
          <a:bodyPr wrap="square">
            <a:spAutoFit/>
          </a:bodyPr>
          <a:lstStyle/>
          <a:p>
            <a:pPr algn="r"/>
            <a:r>
              <a:rPr sz="1100" b="0" i="0">
                <a:solidFill>
                  <a:srgbClr val="99BB99"/>
                </a:solidFill>
              </a:rPr>
              <a:t>Version 1 — Juin 2026</a:t>
            </a:r>
          </a:p>
        </p:txBody>
      </p:sp>
      <p:sp>
        <p:nvSpPr>
          <p:cNvPr id="9" name="TextBox 8"/>
          <p:cNvSpPr txBox="1"/>
          <p:nvPr/>
        </p:nvSpPr>
        <p:spPr>
          <a:xfrm>
            <a:off x="457200" y="685800"/>
            <a:ext cx="11274552" cy="530352"/>
          </a:xfrm>
          <a:prstGeom prst="rect">
            <a:avLst/>
          </a:prstGeom>
          <a:noFill/>
        </p:spPr>
        <p:txBody>
          <a:bodyPr wrap="square">
            <a:spAutoFit/>
          </a:bodyPr>
          <a:lstStyle/>
          <a:p>
            <a:pPr algn="l"/>
            <a:r>
              <a:rPr sz="2750" b="1" i="0">
                <a:solidFill>
                  <a:srgbClr val="1A3560"/>
                </a:solidFill>
              </a:rPr>
              <a:t>Créer SV1</a:t>
            </a:r>
          </a:p>
        </p:txBody>
      </p:sp>
      <p:sp>
        <p:nvSpPr>
          <p:cNvPr id="10" name="TextBox 9"/>
          <p:cNvSpPr txBox="1"/>
          <p:nvPr/>
        </p:nvSpPr>
        <p:spPr>
          <a:xfrm>
            <a:off x="457200" y="1188720"/>
            <a:ext cx="11274552" cy="310896"/>
          </a:xfrm>
          <a:prstGeom prst="rect">
            <a:avLst/>
          </a:prstGeom>
          <a:noFill/>
        </p:spPr>
        <p:txBody>
          <a:bodyPr wrap="square">
            <a:spAutoFit/>
          </a:bodyPr>
          <a:lstStyle/>
          <a:p>
            <a:pPr algn="l"/>
            <a:r>
              <a:rPr sz="1450" b="0" i="0">
                <a:solidFill>
                  <a:srgbClr val="595959"/>
                </a:solidFill>
              </a:rPr>
              <a:t>Serveur membre en Desktop Experience</a:t>
            </a:r>
          </a:p>
        </p:txBody>
      </p:sp>
      <p:sp>
        <p:nvSpPr>
          <p:cNvPr id="11" name="Rectangle 10"/>
          <p:cNvSpPr/>
          <p:nvPr/>
        </p:nvSpPr>
        <p:spPr>
          <a:xfrm>
            <a:off x="457200" y="1463040"/>
            <a:ext cx="1280160" cy="45720"/>
          </a:xfrm>
          <a:prstGeom prst="rect">
            <a:avLst/>
          </a:prstGeom>
          <a:solidFill>
            <a:srgbClr val="6A0D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57200" y="1828800"/>
            <a:ext cx="11274552" cy="1005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57200" y="1828800"/>
            <a:ext cx="548640" cy="1005840"/>
          </a:xfrm>
          <a:prstGeom prst="rect">
            <a:avLst/>
          </a:prstGeom>
          <a:solidFill>
            <a:srgbClr val="3A00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7200" y="2130551"/>
            <a:ext cx="548640" cy="402336"/>
          </a:xfrm>
          <a:prstGeom prst="rect">
            <a:avLst/>
          </a:prstGeom>
          <a:noFill/>
        </p:spPr>
        <p:txBody>
          <a:bodyPr wrap="none">
            <a:spAutoFit/>
          </a:bodyPr>
          <a:lstStyle/>
          <a:p>
            <a:pPr algn="ctr"/>
            <a:r>
              <a:rPr sz="2075" b="1" i="0">
                <a:solidFill>
                  <a:srgbClr val="FFFFFF"/>
                </a:solidFill>
              </a:rPr>
              <a:t>🆕</a:t>
            </a:r>
          </a:p>
        </p:txBody>
      </p:sp>
      <p:sp>
        <p:nvSpPr>
          <p:cNvPr id="15" name="TextBox 14"/>
          <p:cNvSpPr txBox="1"/>
          <p:nvPr/>
        </p:nvSpPr>
        <p:spPr>
          <a:xfrm>
            <a:off x="1143000" y="1947672"/>
            <a:ext cx="10360152" cy="292608"/>
          </a:xfrm>
          <a:prstGeom prst="rect">
            <a:avLst/>
          </a:prstGeom>
          <a:noFill/>
        </p:spPr>
        <p:txBody>
          <a:bodyPr wrap="square">
            <a:spAutoFit/>
          </a:bodyPr>
          <a:lstStyle/>
          <a:p>
            <a:pPr algn="l"/>
            <a:r>
              <a:rPr sz="1500" b="1" i="0">
                <a:solidFill>
                  <a:srgbClr val="1A3560"/>
                </a:solidFill>
              </a:rPr>
              <a:t>Même assistant que pour AD1/AD2</a:t>
            </a:r>
          </a:p>
        </p:txBody>
      </p:sp>
      <p:sp>
        <p:nvSpPr>
          <p:cNvPr id="16" name="TextBox 15"/>
          <p:cNvSpPr txBox="1"/>
          <p:nvPr/>
        </p:nvSpPr>
        <p:spPr>
          <a:xfrm>
            <a:off x="1143000" y="2286000"/>
            <a:ext cx="10360152" cy="457200"/>
          </a:xfrm>
          <a:prstGeom prst="rect">
            <a:avLst/>
          </a:prstGeom>
          <a:noFill/>
        </p:spPr>
        <p:txBody>
          <a:bodyPr wrap="square">
            <a:spAutoFit/>
          </a:bodyPr>
          <a:lstStyle/>
          <a:p>
            <a:pPr algn="l"/>
            <a:r>
              <a:rPr sz="1250" b="0" i="0">
                <a:solidFill>
                  <a:srgbClr val="595959"/>
                </a:solidFill>
              </a:rPr>
              <a:t>Génération 2, 2 Go de RAM, VHDX dynamique 60 Go, connectée au commutateur « LAN-Labo ».</a:t>
            </a:r>
          </a:p>
        </p:txBody>
      </p:sp>
      <p:sp>
        <p:nvSpPr>
          <p:cNvPr id="17" name="Rectangle 16"/>
          <p:cNvSpPr/>
          <p:nvPr/>
        </p:nvSpPr>
        <p:spPr>
          <a:xfrm>
            <a:off x="457200" y="2971800"/>
            <a:ext cx="11274552" cy="1005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57200" y="2971800"/>
            <a:ext cx="548640" cy="1005840"/>
          </a:xfrm>
          <a:prstGeom prst="rect">
            <a:avLst/>
          </a:prstGeom>
          <a:solidFill>
            <a:srgbClr val="3A00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7200" y="3273551"/>
            <a:ext cx="548640" cy="402336"/>
          </a:xfrm>
          <a:prstGeom prst="rect">
            <a:avLst/>
          </a:prstGeom>
          <a:noFill/>
        </p:spPr>
        <p:txBody>
          <a:bodyPr wrap="none">
            <a:spAutoFit/>
          </a:bodyPr>
          <a:lstStyle/>
          <a:p>
            <a:pPr algn="ctr"/>
            <a:r>
              <a:rPr sz="2075" b="1" i="0">
                <a:solidFill>
                  <a:srgbClr val="FFFFFF"/>
                </a:solidFill>
              </a:rPr>
              <a:t>💽</a:t>
            </a:r>
          </a:p>
        </p:txBody>
      </p:sp>
      <p:sp>
        <p:nvSpPr>
          <p:cNvPr id="20" name="TextBox 19"/>
          <p:cNvSpPr txBox="1"/>
          <p:nvPr/>
        </p:nvSpPr>
        <p:spPr>
          <a:xfrm>
            <a:off x="1143000" y="3090672"/>
            <a:ext cx="10360152" cy="292608"/>
          </a:xfrm>
          <a:prstGeom prst="rect">
            <a:avLst/>
          </a:prstGeom>
          <a:noFill/>
        </p:spPr>
        <p:txBody>
          <a:bodyPr wrap="square">
            <a:spAutoFit/>
          </a:bodyPr>
          <a:lstStyle/>
          <a:p>
            <a:pPr algn="l"/>
            <a:r>
              <a:rPr sz="1500" b="1" i="0">
                <a:solidFill>
                  <a:srgbClr val="1A3560"/>
                </a:solidFill>
              </a:rPr>
              <a:t>Installation Desktop Experience</a:t>
            </a:r>
          </a:p>
        </p:txBody>
      </p:sp>
      <p:sp>
        <p:nvSpPr>
          <p:cNvPr id="21" name="TextBox 20"/>
          <p:cNvSpPr txBox="1"/>
          <p:nvPr/>
        </p:nvSpPr>
        <p:spPr>
          <a:xfrm>
            <a:off x="1143000" y="3429000"/>
            <a:ext cx="10360152" cy="457200"/>
          </a:xfrm>
          <a:prstGeom prst="rect">
            <a:avLst/>
          </a:prstGeom>
          <a:noFill/>
        </p:spPr>
        <p:txBody>
          <a:bodyPr wrap="square">
            <a:spAutoFit/>
          </a:bodyPr>
          <a:lstStyle/>
          <a:p>
            <a:pPr algn="l"/>
            <a:r>
              <a:rPr sz="1200" b="0" i="0">
                <a:solidFill>
                  <a:srgbClr val="595959"/>
                </a:solidFill>
              </a:rPr>
              <a:t>Choisir l'édition Standard avec interface graphique complète lors de l'installation de Windows Server.</a:t>
            </a:r>
          </a:p>
        </p:txBody>
      </p:sp>
      <p:sp>
        <p:nvSpPr>
          <p:cNvPr id="22" name="Rectangle 21"/>
          <p:cNvSpPr/>
          <p:nvPr/>
        </p:nvSpPr>
        <p:spPr>
          <a:xfrm>
            <a:off x="457200" y="4114800"/>
            <a:ext cx="11274552" cy="1005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57200" y="4114800"/>
            <a:ext cx="548640" cy="1005840"/>
          </a:xfrm>
          <a:prstGeom prst="rect">
            <a:avLst/>
          </a:prstGeom>
          <a:solidFill>
            <a:srgbClr val="3A00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10947" y="4416552"/>
            <a:ext cx="441146" cy="400110"/>
          </a:xfrm>
          <a:prstGeom prst="rect">
            <a:avLst/>
          </a:prstGeom>
          <a:noFill/>
        </p:spPr>
        <p:txBody>
          <a:bodyPr wrap="none">
            <a:spAutoFit/>
          </a:bodyPr>
          <a:lstStyle/>
          <a:p>
            <a:pPr algn="ctr"/>
            <a:r>
              <a:rPr sz="2075" b="1" i="0" dirty="0" smtClean="0">
                <a:solidFill>
                  <a:srgbClr val="FFFFFF"/>
                </a:solidFill>
              </a:rPr>
              <a:t>🏷</a:t>
            </a:r>
            <a:endParaRPr sz="2000" b="1" i="0" dirty="0">
              <a:solidFill>
                <a:srgbClr val="FFFFFF"/>
              </a:solidFill>
            </a:endParaRPr>
          </a:p>
        </p:txBody>
      </p:sp>
      <p:sp>
        <p:nvSpPr>
          <p:cNvPr id="25" name="TextBox 24"/>
          <p:cNvSpPr txBox="1"/>
          <p:nvPr/>
        </p:nvSpPr>
        <p:spPr>
          <a:xfrm>
            <a:off x="1143000" y="4233672"/>
            <a:ext cx="10360152" cy="292608"/>
          </a:xfrm>
          <a:prstGeom prst="rect">
            <a:avLst/>
          </a:prstGeom>
          <a:noFill/>
        </p:spPr>
        <p:txBody>
          <a:bodyPr wrap="square">
            <a:spAutoFit/>
          </a:bodyPr>
          <a:lstStyle/>
          <a:p>
            <a:pPr algn="l"/>
            <a:r>
              <a:rPr sz="1500" b="1" i="0">
                <a:solidFill>
                  <a:srgbClr val="1A3560"/>
                </a:solidFill>
              </a:rPr>
              <a:t>Post-installation identique</a:t>
            </a:r>
          </a:p>
        </p:txBody>
      </p:sp>
      <p:sp>
        <p:nvSpPr>
          <p:cNvPr id="26" name="TextBox 25"/>
          <p:cNvSpPr txBox="1"/>
          <p:nvPr/>
        </p:nvSpPr>
        <p:spPr>
          <a:xfrm>
            <a:off x="1143000" y="4572000"/>
            <a:ext cx="10360152" cy="457200"/>
          </a:xfrm>
          <a:prstGeom prst="rect">
            <a:avLst/>
          </a:prstGeom>
          <a:noFill/>
        </p:spPr>
        <p:txBody>
          <a:bodyPr wrap="square">
            <a:spAutoFit/>
          </a:bodyPr>
          <a:lstStyle/>
          <a:p>
            <a:pPr algn="l"/>
            <a:r>
              <a:rPr sz="1200" b="0" i="0">
                <a:solidFill>
                  <a:srgbClr val="595959"/>
                </a:solidFill>
              </a:rPr>
              <a:t>Renommer en « SV1 » et attribuer l'adresse IP 192.168.10.20, comme pour AD1 et AD2 en Séance 3.</a:t>
            </a:r>
          </a:p>
        </p:txBody>
      </p:sp>
      <p:sp>
        <p:nvSpPr>
          <p:cNvPr id="27" name="Rectangle 26"/>
          <p:cNvSpPr/>
          <p:nvPr/>
        </p:nvSpPr>
        <p:spPr>
          <a:xfrm>
            <a:off x="457200" y="5257800"/>
            <a:ext cx="11274552" cy="548640"/>
          </a:xfrm>
          <a:prstGeom prst="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457200" y="5257800"/>
            <a:ext cx="11274552" cy="256032"/>
          </a:xfrm>
          <a:prstGeom prst="rect">
            <a:avLst/>
          </a:prstGeom>
          <a:solidFill>
            <a:srgbClr val="0D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94360" y="5285232"/>
            <a:ext cx="11000232" cy="253916"/>
          </a:xfrm>
          <a:prstGeom prst="rect">
            <a:avLst/>
          </a:prstGeom>
          <a:noFill/>
        </p:spPr>
        <p:txBody>
          <a:bodyPr wrap="square">
            <a:spAutoFit/>
          </a:bodyPr>
          <a:lstStyle/>
          <a:p>
            <a:pPr algn="l"/>
            <a:r>
              <a:rPr sz="1150" b="0" i="0" dirty="0">
                <a:solidFill>
                  <a:schemeClr val="bg2"/>
                </a:solidFill>
              </a:rPr>
              <a:t>PowerShell — </a:t>
            </a:r>
            <a:r>
              <a:rPr sz="1150" b="0" i="0" dirty="0" err="1">
                <a:solidFill>
                  <a:schemeClr val="bg2"/>
                </a:solidFill>
              </a:rPr>
              <a:t>créer</a:t>
            </a:r>
            <a:r>
              <a:rPr sz="1150" b="0" i="0" dirty="0">
                <a:solidFill>
                  <a:schemeClr val="bg2"/>
                </a:solidFill>
              </a:rPr>
              <a:t> SV1</a:t>
            </a:r>
          </a:p>
        </p:txBody>
      </p:sp>
      <p:sp>
        <p:nvSpPr>
          <p:cNvPr id="30" name="TextBox 29"/>
          <p:cNvSpPr txBox="1"/>
          <p:nvPr/>
        </p:nvSpPr>
        <p:spPr>
          <a:xfrm>
            <a:off x="685800" y="5481398"/>
            <a:ext cx="10817352" cy="201167"/>
          </a:xfrm>
          <a:prstGeom prst="rect">
            <a:avLst/>
          </a:prstGeom>
          <a:noFill/>
        </p:spPr>
        <p:txBody>
          <a:bodyPr wrap="none">
            <a:spAutoFit/>
          </a:bodyPr>
          <a:lstStyle/>
          <a:p>
            <a:pPr algn="l"/>
            <a:r>
              <a:rPr sz="1400" b="1" i="0">
                <a:solidFill>
                  <a:srgbClr val="88DDAA"/>
                </a:solidFill>
              </a:rPr>
              <a:t>New-VM -Name "SV1" -MemoryStartupBytes 2GB -Generation 2 -SwitchName "LAN-Labo"</a:t>
            </a:r>
          </a:p>
        </p:txBody>
      </p:sp>
      <p:sp>
        <p:nvSpPr>
          <p:cNvPr id="31" name="Rectangle 30"/>
          <p:cNvSpPr/>
          <p:nvPr/>
        </p:nvSpPr>
        <p:spPr>
          <a:xfrm>
            <a:off x="0" y="6693408"/>
            <a:ext cx="12188952" cy="32004"/>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20040" y="6675120"/>
            <a:ext cx="11548872" cy="201168"/>
          </a:xfrm>
          <a:prstGeom prst="rect">
            <a:avLst/>
          </a:prstGeom>
          <a:noFill/>
        </p:spPr>
        <p:txBody>
          <a:bodyPr wrap="square">
            <a:spAutoFit/>
          </a:bodyPr>
          <a:lstStyle/>
          <a:p>
            <a:pPr algn="l"/>
            <a:r>
              <a:rPr sz="1050" b="0" i="1">
                <a:solidFill>
                  <a:srgbClr val="AAAAAA"/>
                </a:solidFill>
              </a:rPr>
              <a:t>Séance 4 — Bloc 2 : créer SV1</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4EE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594360"/>
          </a:xfrm>
          <a:prstGeom prst="rect">
            <a:avLst/>
          </a:prstGeom>
          <a:solidFill>
            <a:srgbClr val="1A3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548640"/>
            <a:ext cx="12188952" cy="45720"/>
          </a:xfrm>
          <a:prstGeom prst="rect">
            <a:avLst/>
          </a:prstGeom>
          <a:solidFill>
            <a:srgbClr val="6A0D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mage1.png"/>
          <p:cNvPicPr>
            <a:picLocks noChangeAspect="1"/>
          </p:cNvPicPr>
          <p:nvPr/>
        </p:nvPicPr>
        <p:blipFill>
          <a:blip r:embed="rId2"/>
          <a:stretch>
            <a:fillRect/>
          </a:stretch>
        </p:blipFill>
        <p:spPr>
          <a:xfrm>
            <a:off x="164592" y="109728"/>
            <a:ext cx="1158240" cy="347472"/>
          </a:xfrm>
          <a:prstGeom prst="rect">
            <a:avLst/>
          </a:prstGeom>
        </p:spPr>
      </p:pic>
      <p:sp>
        <p:nvSpPr>
          <p:cNvPr id="6" name="TextBox 5"/>
          <p:cNvSpPr txBox="1"/>
          <p:nvPr/>
        </p:nvSpPr>
        <p:spPr>
          <a:xfrm>
            <a:off x="1426464" y="73152"/>
            <a:ext cx="4754880" cy="237744"/>
          </a:xfrm>
          <a:prstGeom prst="rect">
            <a:avLst/>
          </a:prstGeom>
          <a:noFill/>
        </p:spPr>
        <p:txBody>
          <a:bodyPr wrap="square">
            <a:spAutoFit/>
          </a:bodyPr>
          <a:lstStyle/>
          <a:p>
            <a:pPr algn="l"/>
            <a:r>
              <a:rPr sz="1350" b="0" i="0">
                <a:solidFill>
                  <a:srgbClr val="FFFFFF"/>
                </a:solidFill>
              </a:rPr>
              <a:t>SÉANCE 4 — VMs SV1/SRVCore/CL10-01</a:t>
            </a:r>
          </a:p>
        </p:txBody>
      </p:sp>
      <p:sp>
        <p:nvSpPr>
          <p:cNvPr id="7" name="TextBox 6"/>
          <p:cNvSpPr txBox="1"/>
          <p:nvPr/>
        </p:nvSpPr>
        <p:spPr>
          <a:xfrm>
            <a:off x="8714232" y="45720"/>
            <a:ext cx="3291840" cy="246888"/>
          </a:xfrm>
          <a:prstGeom prst="rect">
            <a:avLst/>
          </a:prstGeom>
          <a:noFill/>
        </p:spPr>
        <p:txBody>
          <a:bodyPr wrap="square">
            <a:spAutoFit/>
          </a:bodyPr>
          <a:lstStyle/>
          <a:p>
            <a:pPr algn="r"/>
            <a:r>
              <a:rPr sz="1200" b="1" i="0">
                <a:solidFill>
                  <a:srgbClr val="FFFFFF"/>
                </a:solidFill>
              </a:rPr>
              <a:t>CHAFIK MOUSTAID — FORMATEUR</a:t>
            </a:r>
          </a:p>
        </p:txBody>
      </p:sp>
      <p:sp>
        <p:nvSpPr>
          <p:cNvPr id="8" name="TextBox 7"/>
          <p:cNvSpPr txBox="1"/>
          <p:nvPr/>
        </p:nvSpPr>
        <p:spPr>
          <a:xfrm>
            <a:off x="8714232" y="310896"/>
            <a:ext cx="3291840" cy="182880"/>
          </a:xfrm>
          <a:prstGeom prst="rect">
            <a:avLst/>
          </a:prstGeom>
          <a:noFill/>
        </p:spPr>
        <p:txBody>
          <a:bodyPr wrap="square">
            <a:spAutoFit/>
          </a:bodyPr>
          <a:lstStyle/>
          <a:p>
            <a:pPr algn="r"/>
            <a:r>
              <a:rPr sz="1100" b="0" i="0">
                <a:solidFill>
                  <a:srgbClr val="99BB99"/>
                </a:solidFill>
              </a:rPr>
              <a:t>Version 1 — Juin 2026</a:t>
            </a:r>
          </a:p>
        </p:txBody>
      </p:sp>
      <p:sp>
        <p:nvSpPr>
          <p:cNvPr id="9" name="TextBox 8"/>
          <p:cNvSpPr txBox="1"/>
          <p:nvPr/>
        </p:nvSpPr>
        <p:spPr>
          <a:xfrm>
            <a:off x="457200" y="685800"/>
            <a:ext cx="11274552" cy="530352"/>
          </a:xfrm>
          <a:prstGeom prst="rect">
            <a:avLst/>
          </a:prstGeom>
          <a:noFill/>
        </p:spPr>
        <p:txBody>
          <a:bodyPr wrap="square">
            <a:spAutoFit/>
          </a:bodyPr>
          <a:lstStyle/>
          <a:p>
            <a:pPr algn="l"/>
            <a:r>
              <a:rPr sz="2750" b="1" i="0">
                <a:solidFill>
                  <a:srgbClr val="1A3560"/>
                </a:solidFill>
              </a:rPr>
              <a:t>Créer SRVCore</a:t>
            </a:r>
          </a:p>
        </p:txBody>
      </p:sp>
      <p:sp>
        <p:nvSpPr>
          <p:cNvPr id="10" name="TextBox 9"/>
          <p:cNvSpPr txBox="1"/>
          <p:nvPr/>
        </p:nvSpPr>
        <p:spPr>
          <a:xfrm>
            <a:off x="457200" y="1188720"/>
            <a:ext cx="11274552" cy="310896"/>
          </a:xfrm>
          <a:prstGeom prst="rect">
            <a:avLst/>
          </a:prstGeom>
          <a:noFill/>
        </p:spPr>
        <p:txBody>
          <a:bodyPr wrap="square">
            <a:spAutoFit/>
          </a:bodyPr>
          <a:lstStyle/>
          <a:p>
            <a:pPr algn="l"/>
            <a:r>
              <a:rPr sz="1450" b="0" i="0">
                <a:solidFill>
                  <a:srgbClr val="595959"/>
                </a:solidFill>
              </a:rPr>
              <a:t>Serveur membre en Server Core</a:t>
            </a:r>
          </a:p>
        </p:txBody>
      </p:sp>
      <p:sp>
        <p:nvSpPr>
          <p:cNvPr id="11" name="Rectangle 10"/>
          <p:cNvSpPr/>
          <p:nvPr/>
        </p:nvSpPr>
        <p:spPr>
          <a:xfrm>
            <a:off x="457200" y="1463040"/>
            <a:ext cx="1280160" cy="45720"/>
          </a:xfrm>
          <a:prstGeom prst="rect">
            <a:avLst/>
          </a:prstGeom>
          <a:solidFill>
            <a:srgbClr val="6A0D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57200" y="1783080"/>
            <a:ext cx="5454396" cy="1737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57200" y="1783080"/>
            <a:ext cx="64008" cy="1737360"/>
          </a:xfrm>
          <a:prstGeom prst="rect">
            <a:avLst/>
          </a:prstGeom>
          <a:solidFill>
            <a:srgbClr val="6A0D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 y="1911095"/>
            <a:ext cx="5088636" cy="310896"/>
          </a:xfrm>
          <a:prstGeom prst="rect">
            <a:avLst/>
          </a:prstGeom>
          <a:noFill/>
        </p:spPr>
        <p:txBody>
          <a:bodyPr wrap="none">
            <a:spAutoFit/>
          </a:bodyPr>
          <a:lstStyle/>
          <a:p>
            <a:pPr algn="l"/>
            <a:r>
              <a:rPr sz="1900" b="0" i="0">
                <a:solidFill>
                  <a:srgbClr val="595959"/>
                </a:solidFill>
              </a:rPr>
              <a:t>⚙️</a:t>
            </a:r>
          </a:p>
        </p:txBody>
      </p:sp>
      <p:sp>
        <p:nvSpPr>
          <p:cNvPr id="15" name="TextBox 14"/>
          <p:cNvSpPr txBox="1"/>
          <p:nvPr/>
        </p:nvSpPr>
        <p:spPr>
          <a:xfrm>
            <a:off x="640080" y="2221991"/>
            <a:ext cx="5088636" cy="292608"/>
          </a:xfrm>
          <a:prstGeom prst="rect">
            <a:avLst/>
          </a:prstGeom>
          <a:noFill/>
        </p:spPr>
        <p:txBody>
          <a:bodyPr wrap="square">
            <a:spAutoFit/>
          </a:bodyPr>
          <a:lstStyle/>
          <a:p>
            <a:pPr algn="l"/>
            <a:r>
              <a:rPr sz="1450" b="1" i="0">
                <a:solidFill>
                  <a:srgbClr val="1A3560"/>
                </a:solidFill>
              </a:rPr>
              <a:t>Même création de VM</a:t>
            </a:r>
          </a:p>
        </p:txBody>
      </p:sp>
      <p:sp>
        <p:nvSpPr>
          <p:cNvPr id="16" name="TextBox 15"/>
          <p:cNvSpPr txBox="1"/>
          <p:nvPr/>
        </p:nvSpPr>
        <p:spPr>
          <a:xfrm>
            <a:off x="640080" y="2551175"/>
            <a:ext cx="5088636" cy="859536"/>
          </a:xfrm>
          <a:prstGeom prst="rect">
            <a:avLst/>
          </a:prstGeom>
          <a:noFill/>
        </p:spPr>
        <p:txBody>
          <a:bodyPr wrap="square">
            <a:spAutoFit/>
          </a:bodyPr>
          <a:lstStyle/>
          <a:p>
            <a:pPr algn="l"/>
            <a:r>
              <a:rPr sz="1250" b="0" i="0">
                <a:solidFill>
                  <a:srgbClr val="595959"/>
                </a:solidFill>
              </a:rPr>
              <a:t>Génération 2, 1-2 Go de RAM (Server Core consomme moins), VHDX dynamique 60 Go.</a:t>
            </a:r>
          </a:p>
        </p:txBody>
      </p:sp>
      <p:sp>
        <p:nvSpPr>
          <p:cNvPr id="17" name="Rectangle 16"/>
          <p:cNvSpPr/>
          <p:nvPr/>
        </p:nvSpPr>
        <p:spPr>
          <a:xfrm>
            <a:off x="6277356" y="1783080"/>
            <a:ext cx="5454396" cy="1737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277356" y="1783080"/>
            <a:ext cx="64008" cy="1737360"/>
          </a:xfrm>
          <a:prstGeom prst="rect">
            <a:avLst/>
          </a:prstGeom>
          <a:solidFill>
            <a:srgbClr val="6A0D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60236" y="1911095"/>
            <a:ext cx="481222" cy="369332"/>
          </a:xfrm>
          <a:prstGeom prst="rect">
            <a:avLst/>
          </a:prstGeom>
          <a:noFill/>
        </p:spPr>
        <p:txBody>
          <a:bodyPr wrap="none">
            <a:spAutoFit/>
          </a:bodyPr>
          <a:lstStyle/>
          <a:p>
            <a:pPr algn="l"/>
            <a:r>
              <a:rPr sz="1900" b="0" i="0" dirty="0" smtClean="0">
                <a:solidFill>
                  <a:srgbClr val="595959"/>
                </a:solidFill>
              </a:rPr>
              <a:t>⌨</a:t>
            </a:r>
            <a:endParaRPr sz="1800" b="0" i="0" dirty="0">
              <a:solidFill>
                <a:srgbClr val="595959"/>
              </a:solidFill>
            </a:endParaRPr>
          </a:p>
        </p:txBody>
      </p:sp>
      <p:sp>
        <p:nvSpPr>
          <p:cNvPr id="20" name="TextBox 19"/>
          <p:cNvSpPr txBox="1"/>
          <p:nvPr/>
        </p:nvSpPr>
        <p:spPr>
          <a:xfrm>
            <a:off x="6460236" y="2221991"/>
            <a:ext cx="5088636" cy="292608"/>
          </a:xfrm>
          <a:prstGeom prst="rect">
            <a:avLst/>
          </a:prstGeom>
          <a:noFill/>
        </p:spPr>
        <p:txBody>
          <a:bodyPr wrap="square">
            <a:spAutoFit/>
          </a:bodyPr>
          <a:lstStyle/>
          <a:p>
            <a:pPr algn="l"/>
            <a:r>
              <a:rPr sz="1450" b="1" i="0">
                <a:solidFill>
                  <a:srgbClr val="1A3560"/>
                </a:solidFill>
              </a:rPr>
              <a:t>Choix décisif à l'installation</a:t>
            </a:r>
          </a:p>
        </p:txBody>
      </p:sp>
      <p:sp>
        <p:nvSpPr>
          <p:cNvPr id="21" name="TextBox 20"/>
          <p:cNvSpPr txBox="1"/>
          <p:nvPr/>
        </p:nvSpPr>
        <p:spPr>
          <a:xfrm>
            <a:off x="6460236" y="2551175"/>
            <a:ext cx="5088636" cy="859536"/>
          </a:xfrm>
          <a:prstGeom prst="rect">
            <a:avLst/>
          </a:prstGeom>
          <a:noFill/>
        </p:spPr>
        <p:txBody>
          <a:bodyPr wrap="square">
            <a:spAutoFit/>
          </a:bodyPr>
          <a:lstStyle/>
          <a:p>
            <a:pPr algn="l"/>
            <a:r>
              <a:rPr sz="1200" b="0" i="0">
                <a:solidFill>
                  <a:srgbClr val="595959"/>
                </a:solidFill>
              </a:rPr>
              <a:t>À l'écran « Sélectionner le système d'exploitation à installer », choisir l'option SANS la mention « Desktop Experience ».</a:t>
            </a:r>
          </a:p>
        </p:txBody>
      </p:sp>
      <p:sp>
        <p:nvSpPr>
          <p:cNvPr id="22" name="Rectangle 21"/>
          <p:cNvSpPr/>
          <p:nvPr/>
        </p:nvSpPr>
        <p:spPr>
          <a:xfrm>
            <a:off x="457200" y="3703320"/>
            <a:ext cx="11274552" cy="868680"/>
          </a:xfrm>
          <a:prstGeom prst="rect">
            <a:avLst/>
          </a:prstGeom>
          <a:solidFill>
            <a:srgbClr val="F3EAFB"/>
          </a:solidFill>
          <a:ln w="25400">
            <a:solidFill>
              <a:srgbClr val="6A0D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57200" y="3703320"/>
            <a:ext cx="502920" cy="868680"/>
          </a:xfrm>
          <a:prstGeom prst="rect">
            <a:avLst/>
          </a:prstGeom>
          <a:solidFill>
            <a:srgbClr val="6A0D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12064" y="3936491"/>
            <a:ext cx="393192" cy="402336"/>
          </a:xfrm>
          <a:prstGeom prst="rect">
            <a:avLst/>
          </a:prstGeom>
          <a:noFill/>
        </p:spPr>
        <p:txBody>
          <a:bodyPr wrap="none">
            <a:spAutoFit/>
          </a:bodyPr>
          <a:lstStyle/>
          <a:p>
            <a:pPr algn="ctr"/>
            <a:r>
              <a:rPr sz="2275" b="1" i="0">
                <a:solidFill>
                  <a:srgbClr val="FFFFFF"/>
                </a:solidFill>
              </a:rPr>
              <a:t>⚠️</a:t>
            </a:r>
          </a:p>
        </p:txBody>
      </p:sp>
      <p:sp>
        <p:nvSpPr>
          <p:cNvPr id="25" name="TextBox 24"/>
          <p:cNvSpPr txBox="1"/>
          <p:nvPr/>
        </p:nvSpPr>
        <p:spPr>
          <a:xfrm>
            <a:off x="1051560" y="3776472"/>
            <a:ext cx="10588752" cy="292608"/>
          </a:xfrm>
          <a:prstGeom prst="rect">
            <a:avLst/>
          </a:prstGeom>
          <a:noFill/>
        </p:spPr>
        <p:txBody>
          <a:bodyPr wrap="square">
            <a:spAutoFit/>
          </a:bodyPr>
          <a:lstStyle/>
          <a:p>
            <a:pPr algn="l"/>
            <a:r>
              <a:rPr sz="1500" b="1" i="0">
                <a:solidFill>
                  <a:srgbClr val="1A005D"/>
                </a:solidFill>
              </a:rPr>
              <a:t>Pas de retour en arrière simple</a:t>
            </a:r>
          </a:p>
        </p:txBody>
      </p:sp>
      <p:sp>
        <p:nvSpPr>
          <p:cNvPr id="26" name="TextBox 25"/>
          <p:cNvSpPr txBox="1"/>
          <p:nvPr/>
        </p:nvSpPr>
        <p:spPr>
          <a:xfrm>
            <a:off x="1051560" y="4069080"/>
            <a:ext cx="10588752" cy="411479"/>
          </a:xfrm>
          <a:prstGeom prst="rect">
            <a:avLst/>
          </a:prstGeom>
          <a:noFill/>
        </p:spPr>
        <p:txBody>
          <a:bodyPr wrap="square">
            <a:spAutoFit/>
          </a:bodyPr>
          <a:lstStyle/>
          <a:p>
            <a:pPr algn="l"/>
            <a:r>
              <a:rPr sz="1250" b="0" i="0">
                <a:solidFill>
                  <a:srgbClr val="595959"/>
                </a:solidFill>
              </a:rPr>
              <a:t>Convertir un Server Core en Desktop Experience (ou l'inverse) après installation est possible mais complexe : mieux vaut confirmer ce choix avant de lancer la copie des fichiers.</a:t>
            </a:r>
          </a:p>
        </p:txBody>
      </p:sp>
      <p:sp>
        <p:nvSpPr>
          <p:cNvPr id="27" name="Rectangle 26"/>
          <p:cNvSpPr/>
          <p:nvPr/>
        </p:nvSpPr>
        <p:spPr>
          <a:xfrm>
            <a:off x="457200" y="4754880"/>
            <a:ext cx="11274552" cy="548640"/>
          </a:xfrm>
          <a:prstGeom prst="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457200" y="4754880"/>
            <a:ext cx="11274552" cy="256032"/>
          </a:xfrm>
          <a:prstGeom prst="rect">
            <a:avLst/>
          </a:prstGeom>
          <a:solidFill>
            <a:srgbClr val="0D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94360" y="4782312"/>
            <a:ext cx="11000232" cy="201168"/>
          </a:xfrm>
          <a:prstGeom prst="rect">
            <a:avLst/>
          </a:prstGeom>
          <a:noFill/>
        </p:spPr>
        <p:txBody>
          <a:bodyPr wrap="square">
            <a:spAutoFit/>
          </a:bodyPr>
          <a:lstStyle/>
          <a:p>
            <a:pPr algn="l"/>
            <a:r>
              <a:rPr sz="1150" b="0" i="0">
                <a:solidFill>
                  <a:srgbClr val="8888AA"/>
                </a:solidFill>
              </a:rPr>
              <a:t>PowerShell — créer SRVCore</a:t>
            </a:r>
          </a:p>
        </p:txBody>
      </p:sp>
      <p:sp>
        <p:nvSpPr>
          <p:cNvPr id="30" name="TextBox 29"/>
          <p:cNvSpPr txBox="1"/>
          <p:nvPr/>
        </p:nvSpPr>
        <p:spPr>
          <a:xfrm>
            <a:off x="685800" y="5056632"/>
            <a:ext cx="10817352" cy="201167"/>
          </a:xfrm>
          <a:prstGeom prst="rect">
            <a:avLst/>
          </a:prstGeom>
          <a:noFill/>
        </p:spPr>
        <p:txBody>
          <a:bodyPr wrap="none">
            <a:spAutoFit/>
          </a:bodyPr>
          <a:lstStyle/>
          <a:p>
            <a:pPr algn="l"/>
            <a:r>
              <a:rPr sz="1400" b="1" i="0">
                <a:solidFill>
                  <a:srgbClr val="88DDAA"/>
                </a:solidFill>
              </a:rPr>
              <a:t>New-VM -Name "SRVCore" -MemoryStartupBytes 1536MB -Generation 2 -SwitchName "LAN-Labo"</a:t>
            </a:r>
          </a:p>
        </p:txBody>
      </p:sp>
      <p:sp>
        <p:nvSpPr>
          <p:cNvPr id="31" name="Rectangle 30"/>
          <p:cNvSpPr/>
          <p:nvPr/>
        </p:nvSpPr>
        <p:spPr>
          <a:xfrm>
            <a:off x="0" y="6693408"/>
            <a:ext cx="12188952" cy="32004"/>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20040" y="6675120"/>
            <a:ext cx="11548872" cy="201168"/>
          </a:xfrm>
          <a:prstGeom prst="rect">
            <a:avLst/>
          </a:prstGeom>
          <a:noFill/>
        </p:spPr>
        <p:txBody>
          <a:bodyPr wrap="square">
            <a:spAutoFit/>
          </a:bodyPr>
          <a:lstStyle/>
          <a:p>
            <a:pPr algn="l"/>
            <a:r>
              <a:rPr sz="1050" b="0" i="1">
                <a:solidFill>
                  <a:srgbClr val="AAAAAA"/>
                </a:solidFill>
              </a:rPr>
              <a:t>Séance 4 — Bloc 3 : créer SRVCore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4EE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594360"/>
          </a:xfrm>
          <a:prstGeom prst="rect">
            <a:avLst/>
          </a:prstGeom>
          <a:solidFill>
            <a:srgbClr val="1A3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548640"/>
            <a:ext cx="12188952" cy="45720"/>
          </a:xfrm>
          <a:prstGeom prst="rect">
            <a:avLst/>
          </a:prstGeom>
          <a:solidFill>
            <a:srgbClr val="6A0D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mage1.png"/>
          <p:cNvPicPr>
            <a:picLocks noChangeAspect="1"/>
          </p:cNvPicPr>
          <p:nvPr/>
        </p:nvPicPr>
        <p:blipFill>
          <a:blip r:embed="rId2"/>
          <a:stretch>
            <a:fillRect/>
          </a:stretch>
        </p:blipFill>
        <p:spPr>
          <a:xfrm>
            <a:off x="164592" y="109728"/>
            <a:ext cx="1158240" cy="347472"/>
          </a:xfrm>
          <a:prstGeom prst="rect">
            <a:avLst/>
          </a:prstGeom>
        </p:spPr>
      </p:pic>
      <p:sp>
        <p:nvSpPr>
          <p:cNvPr id="6" name="TextBox 5"/>
          <p:cNvSpPr txBox="1"/>
          <p:nvPr/>
        </p:nvSpPr>
        <p:spPr>
          <a:xfrm>
            <a:off x="1426464" y="73152"/>
            <a:ext cx="4754880" cy="237744"/>
          </a:xfrm>
          <a:prstGeom prst="rect">
            <a:avLst/>
          </a:prstGeom>
          <a:noFill/>
        </p:spPr>
        <p:txBody>
          <a:bodyPr wrap="square">
            <a:spAutoFit/>
          </a:bodyPr>
          <a:lstStyle/>
          <a:p>
            <a:pPr algn="l"/>
            <a:r>
              <a:rPr sz="1350" b="0" i="0">
                <a:solidFill>
                  <a:srgbClr val="FFFFFF"/>
                </a:solidFill>
              </a:rPr>
              <a:t>SÉANCE 4 — VMs SV1/SRVCore/CL10-01</a:t>
            </a:r>
          </a:p>
        </p:txBody>
      </p:sp>
      <p:sp>
        <p:nvSpPr>
          <p:cNvPr id="7" name="TextBox 6"/>
          <p:cNvSpPr txBox="1"/>
          <p:nvPr/>
        </p:nvSpPr>
        <p:spPr>
          <a:xfrm>
            <a:off x="8714232" y="45720"/>
            <a:ext cx="3291840" cy="246888"/>
          </a:xfrm>
          <a:prstGeom prst="rect">
            <a:avLst/>
          </a:prstGeom>
          <a:noFill/>
        </p:spPr>
        <p:txBody>
          <a:bodyPr wrap="square">
            <a:spAutoFit/>
          </a:bodyPr>
          <a:lstStyle/>
          <a:p>
            <a:pPr algn="r"/>
            <a:r>
              <a:rPr sz="1200" b="1" i="0">
                <a:solidFill>
                  <a:srgbClr val="FFFFFF"/>
                </a:solidFill>
              </a:rPr>
              <a:t>CHAFIK MOUSTAID — FORMATEUR</a:t>
            </a:r>
          </a:p>
        </p:txBody>
      </p:sp>
      <p:sp>
        <p:nvSpPr>
          <p:cNvPr id="8" name="TextBox 7"/>
          <p:cNvSpPr txBox="1"/>
          <p:nvPr/>
        </p:nvSpPr>
        <p:spPr>
          <a:xfrm>
            <a:off x="8714232" y="310896"/>
            <a:ext cx="3291840" cy="182880"/>
          </a:xfrm>
          <a:prstGeom prst="rect">
            <a:avLst/>
          </a:prstGeom>
          <a:noFill/>
        </p:spPr>
        <p:txBody>
          <a:bodyPr wrap="square">
            <a:spAutoFit/>
          </a:bodyPr>
          <a:lstStyle/>
          <a:p>
            <a:pPr algn="r"/>
            <a:r>
              <a:rPr sz="1100" b="0" i="0">
                <a:solidFill>
                  <a:srgbClr val="99BB99"/>
                </a:solidFill>
              </a:rPr>
              <a:t>Version 1 — Juin 2026</a:t>
            </a:r>
          </a:p>
        </p:txBody>
      </p:sp>
      <p:sp>
        <p:nvSpPr>
          <p:cNvPr id="9" name="TextBox 8"/>
          <p:cNvSpPr txBox="1"/>
          <p:nvPr/>
        </p:nvSpPr>
        <p:spPr>
          <a:xfrm>
            <a:off x="457200" y="685800"/>
            <a:ext cx="11274552" cy="530352"/>
          </a:xfrm>
          <a:prstGeom prst="rect">
            <a:avLst/>
          </a:prstGeom>
          <a:noFill/>
        </p:spPr>
        <p:txBody>
          <a:bodyPr wrap="square">
            <a:spAutoFit/>
          </a:bodyPr>
          <a:lstStyle/>
          <a:p>
            <a:pPr algn="l"/>
            <a:r>
              <a:rPr sz="2750" b="1" i="0">
                <a:solidFill>
                  <a:srgbClr val="1A3560"/>
                </a:solidFill>
              </a:rPr>
              <a:t>Premier démarrage de SRVCore</a:t>
            </a:r>
          </a:p>
        </p:txBody>
      </p:sp>
      <p:sp>
        <p:nvSpPr>
          <p:cNvPr id="10" name="TextBox 9"/>
          <p:cNvSpPr txBox="1"/>
          <p:nvPr/>
        </p:nvSpPr>
        <p:spPr>
          <a:xfrm>
            <a:off x="457200" y="1188720"/>
            <a:ext cx="11274552" cy="310896"/>
          </a:xfrm>
          <a:prstGeom prst="rect">
            <a:avLst/>
          </a:prstGeom>
          <a:noFill/>
        </p:spPr>
        <p:txBody>
          <a:bodyPr wrap="square">
            <a:spAutoFit/>
          </a:bodyPr>
          <a:lstStyle/>
          <a:p>
            <a:pPr algn="l"/>
            <a:r>
              <a:rPr sz="1450" b="0" i="0">
                <a:solidFill>
                  <a:srgbClr val="595959"/>
                </a:solidFill>
              </a:rPr>
              <a:t>sconfig, l'outil incontournable</a:t>
            </a:r>
          </a:p>
        </p:txBody>
      </p:sp>
      <p:sp>
        <p:nvSpPr>
          <p:cNvPr id="11" name="Rectangle 10"/>
          <p:cNvSpPr/>
          <p:nvPr/>
        </p:nvSpPr>
        <p:spPr>
          <a:xfrm>
            <a:off x="457200" y="1463040"/>
            <a:ext cx="1280160" cy="45720"/>
          </a:xfrm>
          <a:prstGeom prst="rect">
            <a:avLst/>
          </a:prstGeom>
          <a:solidFill>
            <a:srgbClr val="6A0D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 y="1783080"/>
            <a:ext cx="11274552" cy="548640"/>
          </a:xfrm>
          <a:prstGeom prst="rect">
            <a:avLst/>
          </a:prstGeom>
          <a:noFill/>
        </p:spPr>
        <p:txBody>
          <a:bodyPr wrap="square">
            <a:spAutoFit/>
          </a:bodyPr>
          <a:lstStyle/>
          <a:p>
            <a:pPr algn="l"/>
            <a:r>
              <a:rPr sz="1350" b="0" i="0">
                <a:solidFill>
                  <a:srgbClr val="595959"/>
                </a:solidFill>
              </a:rPr>
              <a:t>Sans interface graphique, SRVCore démarre sur une invite de commandes. L'outil sconfig propose un menu texte pour les tâches de configuration courantes, sans avoir à mémoriser chaque commande PowerShell.</a:t>
            </a:r>
          </a:p>
        </p:txBody>
      </p:sp>
      <p:sp>
        <p:nvSpPr>
          <p:cNvPr id="13" name="Rectangle 12"/>
          <p:cNvSpPr/>
          <p:nvPr/>
        </p:nvSpPr>
        <p:spPr>
          <a:xfrm>
            <a:off x="457200" y="2514600"/>
            <a:ext cx="11274552" cy="91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57200" y="2514600"/>
            <a:ext cx="502920" cy="914400"/>
          </a:xfrm>
          <a:prstGeom prst="rect">
            <a:avLst/>
          </a:prstGeom>
          <a:solidFill>
            <a:srgbClr val="3A00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 y="2788920"/>
            <a:ext cx="502920" cy="365760"/>
          </a:xfrm>
          <a:prstGeom prst="rect">
            <a:avLst/>
          </a:prstGeom>
          <a:noFill/>
        </p:spPr>
        <p:txBody>
          <a:bodyPr wrap="square">
            <a:spAutoFit/>
          </a:bodyPr>
          <a:lstStyle/>
          <a:p>
            <a:pPr algn="ctr"/>
            <a:r>
              <a:rPr sz="1900" b="1" i="0">
                <a:solidFill>
                  <a:srgbClr val="FFFFFF"/>
                </a:solidFill>
              </a:rPr>
              <a:t>1</a:t>
            </a:r>
          </a:p>
        </p:txBody>
      </p:sp>
      <p:sp>
        <p:nvSpPr>
          <p:cNvPr id="16" name="TextBox 15"/>
          <p:cNvSpPr txBox="1"/>
          <p:nvPr/>
        </p:nvSpPr>
        <p:spPr>
          <a:xfrm>
            <a:off x="1097280" y="2624328"/>
            <a:ext cx="10360152" cy="274320"/>
          </a:xfrm>
          <a:prstGeom prst="rect">
            <a:avLst/>
          </a:prstGeom>
          <a:noFill/>
        </p:spPr>
        <p:txBody>
          <a:bodyPr wrap="square">
            <a:spAutoFit/>
          </a:bodyPr>
          <a:lstStyle/>
          <a:p>
            <a:pPr algn="l"/>
            <a:r>
              <a:rPr sz="1450" b="1" i="0">
                <a:solidFill>
                  <a:srgbClr val="1A3560"/>
                </a:solidFill>
              </a:rPr>
              <a:t>Nom de l'ordinateur</a:t>
            </a:r>
          </a:p>
        </p:txBody>
      </p:sp>
      <p:sp>
        <p:nvSpPr>
          <p:cNvPr id="17" name="TextBox 16"/>
          <p:cNvSpPr txBox="1"/>
          <p:nvPr/>
        </p:nvSpPr>
        <p:spPr>
          <a:xfrm>
            <a:off x="1097280" y="2935224"/>
            <a:ext cx="10360152" cy="411480"/>
          </a:xfrm>
          <a:prstGeom prst="rect">
            <a:avLst/>
          </a:prstGeom>
          <a:noFill/>
        </p:spPr>
        <p:txBody>
          <a:bodyPr wrap="square">
            <a:spAutoFit/>
          </a:bodyPr>
          <a:lstStyle/>
          <a:p>
            <a:pPr algn="l"/>
            <a:r>
              <a:rPr sz="1250" b="0" i="0">
                <a:solidFill>
                  <a:srgbClr val="595959"/>
                </a:solidFill>
              </a:rPr>
              <a:t>Renommer le serveur (option 2 du menu sconfig).</a:t>
            </a:r>
          </a:p>
        </p:txBody>
      </p:sp>
      <p:sp>
        <p:nvSpPr>
          <p:cNvPr id="18" name="Rectangle 17"/>
          <p:cNvSpPr/>
          <p:nvPr/>
        </p:nvSpPr>
        <p:spPr>
          <a:xfrm>
            <a:off x="457200" y="3566160"/>
            <a:ext cx="11274552" cy="91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57200" y="3566160"/>
            <a:ext cx="502920" cy="914400"/>
          </a:xfrm>
          <a:prstGeom prst="rect">
            <a:avLst/>
          </a:prstGeom>
          <a:solidFill>
            <a:srgbClr val="3A00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7200" y="3840480"/>
            <a:ext cx="502920" cy="365760"/>
          </a:xfrm>
          <a:prstGeom prst="rect">
            <a:avLst/>
          </a:prstGeom>
          <a:noFill/>
        </p:spPr>
        <p:txBody>
          <a:bodyPr wrap="square">
            <a:spAutoFit/>
          </a:bodyPr>
          <a:lstStyle/>
          <a:p>
            <a:pPr algn="ctr"/>
            <a:r>
              <a:rPr sz="1900" b="1" i="0">
                <a:solidFill>
                  <a:srgbClr val="FFFFFF"/>
                </a:solidFill>
              </a:rPr>
              <a:t>2</a:t>
            </a:r>
          </a:p>
        </p:txBody>
      </p:sp>
      <p:sp>
        <p:nvSpPr>
          <p:cNvPr id="21" name="TextBox 20"/>
          <p:cNvSpPr txBox="1"/>
          <p:nvPr/>
        </p:nvSpPr>
        <p:spPr>
          <a:xfrm>
            <a:off x="1097280" y="3675887"/>
            <a:ext cx="10360152" cy="274320"/>
          </a:xfrm>
          <a:prstGeom prst="rect">
            <a:avLst/>
          </a:prstGeom>
          <a:noFill/>
        </p:spPr>
        <p:txBody>
          <a:bodyPr wrap="square">
            <a:spAutoFit/>
          </a:bodyPr>
          <a:lstStyle/>
          <a:p>
            <a:pPr algn="l"/>
            <a:r>
              <a:rPr sz="1450" b="1" i="0">
                <a:solidFill>
                  <a:srgbClr val="1A3560"/>
                </a:solidFill>
              </a:rPr>
              <a:t>Configuration réseau</a:t>
            </a:r>
          </a:p>
        </p:txBody>
      </p:sp>
      <p:sp>
        <p:nvSpPr>
          <p:cNvPr id="22" name="TextBox 21"/>
          <p:cNvSpPr txBox="1"/>
          <p:nvPr/>
        </p:nvSpPr>
        <p:spPr>
          <a:xfrm>
            <a:off x="1097280" y="3986784"/>
            <a:ext cx="10360152" cy="411480"/>
          </a:xfrm>
          <a:prstGeom prst="rect">
            <a:avLst/>
          </a:prstGeom>
          <a:noFill/>
        </p:spPr>
        <p:txBody>
          <a:bodyPr wrap="square">
            <a:spAutoFit/>
          </a:bodyPr>
          <a:lstStyle/>
          <a:p>
            <a:pPr algn="l"/>
            <a:r>
              <a:rPr sz="1250" b="0" i="0">
                <a:solidFill>
                  <a:srgbClr val="595959"/>
                </a:solidFill>
              </a:rPr>
              <a:t>Définir l'adresse IP statique (option 8 du menu sconfig).</a:t>
            </a:r>
          </a:p>
        </p:txBody>
      </p:sp>
      <p:sp>
        <p:nvSpPr>
          <p:cNvPr id="23" name="Rectangle 22"/>
          <p:cNvSpPr/>
          <p:nvPr/>
        </p:nvSpPr>
        <p:spPr>
          <a:xfrm>
            <a:off x="457200" y="4617720"/>
            <a:ext cx="11274552" cy="91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457200" y="4617720"/>
            <a:ext cx="502920" cy="914400"/>
          </a:xfrm>
          <a:prstGeom prst="rect">
            <a:avLst/>
          </a:prstGeom>
          <a:solidFill>
            <a:srgbClr val="3A00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57200" y="4892040"/>
            <a:ext cx="502920" cy="365760"/>
          </a:xfrm>
          <a:prstGeom prst="rect">
            <a:avLst/>
          </a:prstGeom>
          <a:noFill/>
        </p:spPr>
        <p:txBody>
          <a:bodyPr wrap="square">
            <a:spAutoFit/>
          </a:bodyPr>
          <a:lstStyle/>
          <a:p>
            <a:pPr algn="ctr"/>
            <a:r>
              <a:rPr sz="1900" b="1" i="0">
                <a:solidFill>
                  <a:srgbClr val="FFFFFF"/>
                </a:solidFill>
              </a:rPr>
              <a:t>3</a:t>
            </a:r>
          </a:p>
        </p:txBody>
      </p:sp>
      <p:sp>
        <p:nvSpPr>
          <p:cNvPr id="26" name="TextBox 25"/>
          <p:cNvSpPr txBox="1"/>
          <p:nvPr/>
        </p:nvSpPr>
        <p:spPr>
          <a:xfrm>
            <a:off x="1097280" y="4727448"/>
            <a:ext cx="10360152" cy="274320"/>
          </a:xfrm>
          <a:prstGeom prst="rect">
            <a:avLst/>
          </a:prstGeom>
          <a:noFill/>
        </p:spPr>
        <p:txBody>
          <a:bodyPr wrap="square">
            <a:spAutoFit/>
          </a:bodyPr>
          <a:lstStyle/>
          <a:p>
            <a:pPr algn="l"/>
            <a:r>
              <a:rPr sz="1450" b="1" i="0">
                <a:solidFill>
                  <a:srgbClr val="1A3560"/>
                </a:solidFill>
              </a:rPr>
              <a:t>Mises à jour Windows</a:t>
            </a:r>
          </a:p>
        </p:txBody>
      </p:sp>
      <p:sp>
        <p:nvSpPr>
          <p:cNvPr id="27" name="TextBox 26"/>
          <p:cNvSpPr txBox="1"/>
          <p:nvPr/>
        </p:nvSpPr>
        <p:spPr>
          <a:xfrm>
            <a:off x="1097280" y="5038344"/>
            <a:ext cx="10360152" cy="411480"/>
          </a:xfrm>
          <a:prstGeom prst="rect">
            <a:avLst/>
          </a:prstGeom>
          <a:noFill/>
        </p:spPr>
        <p:txBody>
          <a:bodyPr wrap="square">
            <a:spAutoFit/>
          </a:bodyPr>
          <a:lstStyle/>
          <a:p>
            <a:pPr algn="l"/>
            <a:r>
              <a:rPr sz="1250" b="0" i="0">
                <a:solidFill>
                  <a:srgbClr val="595959"/>
                </a:solidFill>
              </a:rPr>
              <a:t>Configurer et lancer Windows Update (options 5 et 6).</a:t>
            </a:r>
          </a:p>
        </p:txBody>
      </p:sp>
      <p:sp>
        <p:nvSpPr>
          <p:cNvPr id="28" name="Rectangle 27"/>
          <p:cNvSpPr/>
          <p:nvPr/>
        </p:nvSpPr>
        <p:spPr>
          <a:xfrm>
            <a:off x="457200" y="5806440"/>
            <a:ext cx="11274552" cy="457200"/>
          </a:xfrm>
          <a:prstGeom prst="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457200" y="5806440"/>
            <a:ext cx="11274552" cy="256032"/>
          </a:xfrm>
          <a:prstGeom prst="rect">
            <a:avLst/>
          </a:prstGeom>
          <a:solidFill>
            <a:srgbClr val="0D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94360" y="5796593"/>
            <a:ext cx="11000232" cy="238527"/>
          </a:xfrm>
          <a:prstGeom prst="rect">
            <a:avLst/>
          </a:prstGeom>
          <a:noFill/>
        </p:spPr>
        <p:txBody>
          <a:bodyPr wrap="square">
            <a:spAutoFit/>
          </a:bodyPr>
          <a:lstStyle/>
          <a:p>
            <a:pPr algn="l"/>
            <a:r>
              <a:rPr sz="1150" b="0" i="0" dirty="0">
                <a:solidFill>
                  <a:schemeClr val="bg2"/>
                </a:solidFill>
              </a:rPr>
              <a:t>À taper </a:t>
            </a:r>
            <a:r>
              <a:rPr sz="1150" b="0" i="0" dirty="0" err="1">
                <a:solidFill>
                  <a:schemeClr val="bg2"/>
                </a:solidFill>
              </a:rPr>
              <a:t>directement</a:t>
            </a:r>
            <a:r>
              <a:rPr sz="1150" b="0" i="0" dirty="0">
                <a:solidFill>
                  <a:schemeClr val="bg2"/>
                </a:solidFill>
              </a:rPr>
              <a:t> à </a:t>
            </a:r>
            <a:r>
              <a:rPr sz="1150" b="0" i="0" dirty="0" err="1">
                <a:solidFill>
                  <a:schemeClr val="bg2"/>
                </a:solidFill>
              </a:rPr>
              <a:t>l'invite</a:t>
            </a:r>
            <a:r>
              <a:rPr sz="1150" b="0" i="0" dirty="0">
                <a:solidFill>
                  <a:schemeClr val="bg2"/>
                </a:solidFill>
              </a:rPr>
              <a:t> de </a:t>
            </a:r>
            <a:r>
              <a:rPr sz="1150" b="0" i="0" dirty="0" err="1">
                <a:solidFill>
                  <a:schemeClr val="bg2"/>
                </a:solidFill>
              </a:rPr>
              <a:t>commandes</a:t>
            </a:r>
            <a:endParaRPr sz="950" b="0" i="0" dirty="0">
              <a:solidFill>
                <a:schemeClr val="bg2"/>
              </a:solidFill>
            </a:endParaRPr>
          </a:p>
        </p:txBody>
      </p:sp>
      <p:sp>
        <p:nvSpPr>
          <p:cNvPr id="31" name="TextBox 30"/>
          <p:cNvSpPr txBox="1"/>
          <p:nvPr/>
        </p:nvSpPr>
        <p:spPr>
          <a:xfrm>
            <a:off x="685800" y="5963764"/>
            <a:ext cx="10817352" cy="109728"/>
          </a:xfrm>
          <a:prstGeom prst="rect">
            <a:avLst/>
          </a:prstGeom>
          <a:noFill/>
        </p:spPr>
        <p:txBody>
          <a:bodyPr wrap="none">
            <a:spAutoFit/>
          </a:bodyPr>
          <a:lstStyle/>
          <a:p>
            <a:pPr algn="l"/>
            <a:r>
              <a:rPr sz="1400" b="1" i="0" dirty="0" err="1">
                <a:solidFill>
                  <a:srgbClr val="88DDAA"/>
                </a:solidFill>
              </a:rPr>
              <a:t>sconfig</a:t>
            </a:r>
            <a:endParaRPr sz="1300" b="1" i="0" dirty="0">
              <a:solidFill>
                <a:srgbClr val="88DDAA"/>
              </a:solidFill>
            </a:endParaRPr>
          </a:p>
        </p:txBody>
      </p:sp>
      <p:sp>
        <p:nvSpPr>
          <p:cNvPr id="32" name="Rectangle 31"/>
          <p:cNvSpPr/>
          <p:nvPr/>
        </p:nvSpPr>
        <p:spPr>
          <a:xfrm>
            <a:off x="0" y="6693408"/>
            <a:ext cx="12188952" cy="32004"/>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20040" y="6675120"/>
            <a:ext cx="11548872" cy="201168"/>
          </a:xfrm>
          <a:prstGeom prst="rect">
            <a:avLst/>
          </a:prstGeom>
          <a:noFill/>
        </p:spPr>
        <p:txBody>
          <a:bodyPr wrap="square">
            <a:spAutoFit/>
          </a:bodyPr>
          <a:lstStyle/>
          <a:p>
            <a:pPr algn="l"/>
            <a:r>
              <a:rPr sz="1050" b="0" i="1">
                <a:solidFill>
                  <a:srgbClr val="AAAAAA"/>
                </a:solidFill>
              </a:rPr>
              <a:t>Séance 4 — Bloc 3 : créer SRVCore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4EE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594360"/>
          </a:xfrm>
          <a:prstGeom prst="rect">
            <a:avLst/>
          </a:prstGeom>
          <a:solidFill>
            <a:srgbClr val="1A3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548640"/>
            <a:ext cx="12188952" cy="45720"/>
          </a:xfrm>
          <a:prstGeom prst="rect">
            <a:avLst/>
          </a:prstGeom>
          <a:solidFill>
            <a:srgbClr val="6A0D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mage1.png"/>
          <p:cNvPicPr>
            <a:picLocks noChangeAspect="1"/>
          </p:cNvPicPr>
          <p:nvPr/>
        </p:nvPicPr>
        <p:blipFill>
          <a:blip r:embed="rId2"/>
          <a:stretch>
            <a:fillRect/>
          </a:stretch>
        </p:blipFill>
        <p:spPr>
          <a:xfrm>
            <a:off x="164592" y="109728"/>
            <a:ext cx="1158240" cy="347472"/>
          </a:xfrm>
          <a:prstGeom prst="rect">
            <a:avLst/>
          </a:prstGeom>
        </p:spPr>
      </p:pic>
      <p:sp>
        <p:nvSpPr>
          <p:cNvPr id="6" name="TextBox 5"/>
          <p:cNvSpPr txBox="1"/>
          <p:nvPr/>
        </p:nvSpPr>
        <p:spPr>
          <a:xfrm>
            <a:off x="1426464" y="73152"/>
            <a:ext cx="4754880" cy="237744"/>
          </a:xfrm>
          <a:prstGeom prst="rect">
            <a:avLst/>
          </a:prstGeom>
          <a:noFill/>
        </p:spPr>
        <p:txBody>
          <a:bodyPr wrap="square">
            <a:spAutoFit/>
          </a:bodyPr>
          <a:lstStyle/>
          <a:p>
            <a:pPr algn="l"/>
            <a:r>
              <a:rPr sz="1350" b="0" i="0">
                <a:solidFill>
                  <a:srgbClr val="FFFFFF"/>
                </a:solidFill>
              </a:rPr>
              <a:t>SÉANCE 4 — VMs SV1/SRVCore/CL10-01</a:t>
            </a:r>
          </a:p>
        </p:txBody>
      </p:sp>
      <p:sp>
        <p:nvSpPr>
          <p:cNvPr id="7" name="TextBox 6"/>
          <p:cNvSpPr txBox="1"/>
          <p:nvPr/>
        </p:nvSpPr>
        <p:spPr>
          <a:xfrm>
            <a:off x="8714232" y="45720"/>
            <a:ext cx="3291840" cy="246888"/>
          </a:xfrm>
          <a:prstGeom prst="rect">
            <a:avLst/>
          </a:prstGeom>
          <a:noFill/>
        </p:spPr>
        <p:txBody>
          <a:bodyPr wrap="square">
            <a:spAutoFit/>
          </a:bodyPr>
          <a:lstStyle/>
          <a:p>
            <a:pPr algn="r"/>
            <a:r>
              <a:rPr sz="1200" b="1" i="0">
                <a:solidFill>
                  <a:srgbClr val="FFFFFF"/>
                </a:solidFill>
              </a:rPr>
              <a:t>CHAFIK MOUSTAID — FORMATEUR</a:t>
            </a:r>
          </a:p>
        </p:txBody>
      </p:sp>
      <p:sp>
        <p:nvSpPr>
          <p:cNvPr id="8" name="TextBox 7"/>
          <p:cNvSpPr txBox="1"/>
          <p:nvPr/>
        </p:nvSpPr>
        <p:spPr>
          <a:xfrm>
            <a:off x="8714232" y="310896"/>
            <a:ext cx="3291840" cy="182880"/>
          </a:xfrm>
          <a:prstGeom prst="rect">
            <a:avLst/>
          </a:prstGeom>
          <a:noFill/>
        </p:spPr>
        <p:txBody>
          <a:bodyPr wrap="square">
            <a:spAutoFit/>
          </a:bodyPr>
          <a:lstStyle/>
          <a:p>
            <a:pPr algn="r"/>
            <a:r>
              <a:rPr sz="1100" b="0" i="0">
                <a:solidFill>
                  <a:srgbClr val="99BB99"/>
                </a:solidFill>
              </a:rPr>
              <a:t>Version 1 — Juin 2026</a:t>
            </a:r>
          </a:p>
        </p:txBody>
      </p:sp>
      <p:sp>
        <p:nvSpPr>
          <p:cNvPr id="9" name="TextBox 8"/>
          <p:cNvSpPr txBox="1"/>
          <p:nvPr/>
        </p:nvSpPr>
        <p:spPr>
          <a:xfrm>
            <a:off x="457200" y="685800"/>
            <a:ext cx="11274552" cy="530352"/>
          </a:xfrm>
          <a:prstGeom prst="rect">
            <a:avLst/>
          </a:prstGeom>
          <a:noFill/>
        </p:spPr>
        <p:txBody>
          <a:bodyPr wrap="square">
            <a:spAutoFit/>
          </a:bodyPr>
          <a:lstStyle/>
          <a:p>
            <a:pPr algn="l"/>
            <a:r>
              <a:rPr sz="2750" b="1" i="0">
                <a:solidFill>
                  <a:srgbClr val="1A3560"/>
                </a:solidFill>
              </a:rPr>
              <a:t>Créer CL10-01</a:t>
            </a:r>
          </a:p>
        </p:txBody>
      </p:sp>
      <p:sp>
        <p:nvSpPr>
          <p:cNvPr id="10" name="TextBox 9"/>
          <p:cNvSpPr txBox="1"/>
          <p:nvPr/>
        </p:nvSpPr>
        <p:spPr>
          <a:xfrm>
            <a:off x="457200" y="1188720"/>
            <a:ext cx="11274552" cy="310896"/>
          </a:xfrm>
          <a:prstGeom prst="rect">
            <a:avLst/>
          </a:prstGeom>
          <a:noFill/>
        </p:spPr>
        <p:txBody>
          <a:bodyPr wrap="square">
            <a:spAutoFit/>
          </a:bodyPr>
          <a:lstStyle/>
          <a:p>
            <a:pPr algn="l"/>
            <a:r>
              <a:rPr sz="1450" b="0" i="0">
                <a:solidFill>
                  <a:srgbClr val="595959"/>
                </a:solidFill>
              </a:rPr>
              <a:t>Le poste client de la maquette</a:t>
            </a:r>
          </a:p>
        </p:txBody>
      </p:sp>
      <p:sp>
        <p:nvSpPr>
          <p:cNvPr id="11" name="Rectangle 10"/>
          <p:cNvSpPr/>
          <p:nvPr/>
        </p:nvSpPr>
        <p:spPr>
          <a:xfrm>
            <a:off x="457200" y="1463040"/>
            <a:ext cx="1280160" cy="45720"/>
          </a:xfrm>
          <a:prstGeom prst="rect">
            <a:avLst/>
          </a:prstGeom>
          <a:solidFill>
            <a:srgbClr val="6A0D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57200" y="1783080"/>
            <a:ext cx="5454396" cy="1737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57200" y="1783080"/>
            <a:ext cx="64008" cy="1737360"/>
          </a:xfrm>
          <a:prstGeom prst="rect">
            <a:avLst/>
          </a:prstGeom>
          <a:solidFill>
            <a:srgbClr val="6A0D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 y="1911095"/>
            <a:ext cx="5088636" cy="310896"/>
          </a:xfrm>
          <a:prstGeom prst="rect">
            <a:avLst/>
          </a:prstGeom>
          <a:noFill/>
        </p:spPr>
        <p:txBody>
          <a:bodyPr wrap="none">
            <a:spAutoFit/>
          </a:bodyPr>
          <a:lstStyle/>
          <a:p>
            <a:pPr algn="l"/>
            <a:r>
              <a:rPr sz="1900" b="0" i="0">
                <a:solidFill>
                  <a:srgbClr val="595959"/>
                </a:solidFill>
              </a:rPr>
              <a:t>💻</a:t>
            </a:r>
          </a:p>
        </p:txBody>
      </p:sp>
      <p:sp>
        <p:nvSpPr>
          <p:cNvPr id="15" name="TextBox 14"/>
          <p:cNvSpPr txBox="1"/>
          <p:nvPr/>
        </p:nvSpPr>
        <p:spPr>
          <a:xfrm>
            <a:off x="640080" y="2221991"/>
            <a:ext cx="5088636" cy="292608"/>
          </a:xfrm>
          <a:prstGeom prst="rect">
            <a:avLst/>
          </a:prstGeom>
          <a:noFill/>
        </p:spPr>
        <p:txBody>
          <a:bodyPr wrap="square">
            <a:spAutoFit/>
          </a:bodyPr>
          <a:lstStyle/>
          <a:p>
            <a:pPr algn="l"/>
            <a:r>
              <a:rPr sz="1450" b="1" i="0">
                <a:solidFill>
                  <a:srgbClr val="1A3560"/>
                </a:solidFill>
              </a:rPr>
              <a:t>Une VM à part</a:t>
            </a:r>
          </a:p>
        </p:txBody>
      </p:sp>
      <p:sp>
        <p:nvSpPr>
          <p:cNvPr id="16" name="TextBox 15"/>
          <p:cNvSpPr txBox="1"/>
          <p:nvPr/>
        </p:nvSpPr>
        <p:spPr>
          <a:xfrm>
            <a:off x="640080" y="2551175"/>
            <a:ext cx="5088636" cy="859536"/>
          </a:xfrm>
          <a:prstGeom prst="rect">
            <a:avLst/>
          </a:prstGeom>
          <a:noFill/>
        </p:spPr>
        <p:txBody>
          <a:bodyPr wrap="square">
            <a:spAutoFit/>
          </a:bodyPr>
          <a:lstStyle/>
          <a:p>
            <a:pPr algn="l"/>
            <a:r>
              <a:rPr sz="1200" b="0" i="0">
                <a:solidFill>
                  <a:srgbClr val="595959"/>
                </a:solidFill>
              </a:rPr>
              <a:t>CL10-01 exécute un OS client (Windows 10/11), pas Windows Server : c'est le seul poste de la maquette dans ce cas.</a:t>
            </a:r>
          </a:p>
        </p:txBody>
      </p:sp>
      <p:sp>
        <p:nvSpPr>
          <p:cNvPr id="17" name="Rectangle 16"/>
          <p:cNvSpPr/>
          <p:nvPr/>
        </p:nvSpPr>
        <p:spPr>
          <a:xfrm>
            <a:off x="6277356" y="1783080"/>
            <a:ext cx="5454396" cy="1737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277356" y="1783080"/>
            <a:ext cx="64008" cy="1737360"/>
          </a:xfrm>
          <a:prstGeom prst="rect">
            <a:avLst/>
          </a:prstGeom>
          <a:solidFill>
            <a:srgbClr val="6A0D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60236" y="1911095"/>
            <a:ext cx="5088636" cy="310896"/>
          </a:xfrm>
          <a:prstGeom prst="rect">
            <a:avLst/>
          </a:prstGeom>
          <a:noFill/>
        </p:spPr>
        <p:txBody>
          <a:bodyPr wrap="none">
            <a:spAutoFit/>
          </a:bodyPr>
          <a:lstStyle/>
          <a:p>
            <a:pPr algn="l"/>
            <a:r>
              <a:rPr sz="1900" b="0" i="0">
                <a:solidFill>
                  <a:srgbClr val="595959"/>
                </a:solidFill>
              </a:rPr>
              <a:t>🔐</a:t>
            </a:r>
          </a:p>
        </p:txBody>
      </p:sp>
      <p:sp>
        <p:nvSpPr>
          <p:cNvPr id="20" name="TextBox 19"/>
          <p:cNvSpPr txBox="1"/>
          <p:nvPr/>
        </p:nvSpPr>
        <p:spPr>
          <a:xfrm>
            <a:off x="6460236" y="2221991"/>
            <a:ext cx="5088636" cy="292608"/>
          </a:xfrm>
          <a:prstGeom prst="rect">
            <a:avLst/>
          </a:prstGeom>
          <a:noFill/>
        </p:spPr>
        <p:txBody>
          <a:bodyPr wrap="square">
            <a:spAutoFit/>
          </a:bodyPr>
          <a:lstStyle/>
          <a:p>
            <a:pPr algn="l"/>
            <a:r>
              <a:rPr sz="1450" b="1" i="0">
                <a:solidFill>
                  <a:srgbClr val="1A3560"/>
                </a:solidFill>
              </a:rPr>
              <a:t>Génération 2 recommandée</a:t>
            </a:r>
          </a:p>
        </p:txBody>
      </p:sp>
      <p:sp>
        <p:nvSpPr>
          <p:cNvPr id="21" name="TextBox 20"/>
          <p:cNvSpPr txBox="1"/>
          <p:nvPr/>
        </p:nvSpPr>
        <p:spPr>
          <a:xfrm>
            <a:off x="6460236" y="2551175"/>
            <a:ext cx="5088636" cy="859536"/>
          </a:xfrm>
          <a:prstGeom prst="rect">
            <a:avLst/>
          </a:prstGeom>
          <a:noFill/>
        </p:spPr>
        <p:txBody>
          <a:bodyPr wrap="square">
            <a:spAutoFit/>
          </a:bodyPr>
          <a:lstStyle/>
          <a:p>
            <a:pPr algn="l"/>
            <a:r>
              <a:rPr sz="1200" b="0" i="0">
                <a:solidFill>
                  <a:srgbClr val="595959"/>
                </a:solidFill>
              </a:rPr>
              <a:t>Comme les autres VMs, Génération 2 avec Secure Boot activé — les OS clients récents le supportent nativement.</a:t>
            </a:r>
          </a:p>
        </p:txBody>
      </p:sp>
      <p:sp>
        <p:nvSpPr>
          <p:cNvPr id="22" name="Rectangle 21"/>
          <p:cNvSpPr/>
          <p:nvPr/>
        </p:nvSpPr>
        <p:spPr>
          <a:xfrm>
            <a:off x="457200" y="3703320"/>
            <a:ext cx="11274552" cy="868680"/>
          </a:xfrm>
          <a:prstGeom prst="rect">
            <a:avLst/>
          </a:prstGeom>
          <a:solidFill>
            <a:srgbClr val="F3EAFB"/>
          </a:solidFill>
          <a:ln w="25400">
            <a:solidFill>
              <a:srgbClr val="6A0D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57200" y="3703320"/>
            <a:ext cx="502920" cy="868680"/>
          </a:xfrm>
          <a:prstGeom prst="rect">
            <a:avLst/>
          </a:prstGeom>
          <a:solidFill>
            <a:srgbClr val="6A0D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12064" y="3936491"/>
            <a:ext cx="393192" cy="402336"/>
          </a:xfrm>
          <a:prstGeom prst="rect">
            <a:avLst/>
          </a:prstGeom>
          <a:noFill/>
        </p:spPr>
        <p:txBody>
          <a:bodyPr wrap="none">
            <a:spAutoFit/>
          </a:bodyPr>
          <a:lstStyle/>
          <a:p>
            <a:pPr algn="ctr"/>
            <a:r>
              <a:rPr sz="2275" b="1" i="0">
                <a:solidFill>
                  <a:srgbClr val="FFFFFF"/>
                </a:solidFill>
              </a:rPr>
              <a:t>📌</a:t>
            </a:r>
          </a:p>
        </p:txBody>
      </p:sp>
      <p:sp>
        <p:nvSpPr>
          <p:cNvPr id="25" name="TextBox 24"/>
          <p:cNvSpPr txBox="1"/>
          <p:nvPr/>
        </p:nvSpPr>
        <p:spPr>
          <a:xfrm>
            <a:off x="1051560" y="3776472"/>
            <a:ext cx="10588752" cy="292608"/>
          </a:xfrm>
          <a:prstGeom prst="rect">
            <a:avLst/>
          </a:prstGeom>
          <a:noFill/>
        </p:spPr>
        <p:txBody>
          <a:bodyPr wrap="square">
            <a:spAutoFit/>
          </a:bodyPr>
          <a:lstStyle/>
          <a:p>
            <a:pPr algn="l"/>
            <a:r>
              <a:rPr sz="1500" b="1" i="0">
                <a:solidFill>
                  <a:srgbClr val="1A005D"/>
                </a:solidFill>
              </a:rPr>
              <a:t>Ressources recommandées</a:t>
            </a:r>
          </a:p>
        </p:txBody>
      </p:sp>
      <p:sp>
        <p:nvSpPr>
          <p:cNvPr id="26" name="TextBox 25"/>
          <p:cNvSpPr txBox="1"/>
          <p:nvPr/>
        </p:nvSpPr>
        <p:spPr>
          <a:xfrm>
            <a:off x="1051560" y="4069080"/>
            <a:ext cx="10588752" cy="411479"/>
          </a:xfrm>
          <a:prstGeom prst="rect">
            <a:avLst/>
          </a:prstGeom>
          <a:noFill/>
        </p:spPr>
        <p:txBody>
          <a:bodyPr wrap="square">
            <a:spAutoFit/>
          </a:bodyPr>
          <a:lstStyle/>
          <a:p>
            <a:pPr algn="l"/>
            <a:r>
              <a:rPr sz="1250" b="0" i="0">
                <a:solidFill>
                  <a:srgbClr val="595959"/>
                </a:solidFill>
              </a:rPr>
              <a:t>2 à 4 Go de RAM et un VHDX dynamique de 60-80 Go suffisent pour un poste client de test, sans usage intensif ni logiciels lourds.</a:t>
            </a:r>
          </a:p>
        </p:txBody>
      </p:sp>
      <p:sp>
        <p:nvSpPr>
          <p:cNvPr id="27" name="Rectangle 26"/>
          <p:cNvSpPr/>
          <p:nvPr/>
        </p:nvSpPr>
        <p:spPr>
          <a:xfrm>
            <a:off x="457200" y="4754880"/>
            <a:ext cx="11274552" cy="548640"/>
          </a:xfrm>
          <a:prstGeom prst="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457200" y="4754880"/>
            <a:ext cx="11274552" cy="256032"/>
          </a:xfrm>
          <a:prstGeom prst="rect">
            <a:avLst/>
          </a:prstGeom>
          <a:solidFill>
            <a:srgbClr val="0D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94360" y="4782312"/>
            <a:ext cx="11000232" cy="201168"/>
          </a:xfrm>
          <a:prstGeom prst="rect">
            <a:avLst/>
          </a:prstGeom>
          <a:noFill/>
        </p:spPr>
        <p:txBody>
          <a:bodyPr wrap="square">
            <a:spAutoFit/>
          </a:bodyPr>
          <a:lstStyle/>
          <a:p>
            <a:pPr algn="l"/>
            <a:r>
              <a:rPr sz="1150" b="0" i="0">
                <a:solidFill>
                  <a:srgbClr val="8888AA"/>
                </a:solidFill>
              </a:rPr>
              <a:t>PowerShell — créer CL10-01</a:t>
            </a:r>
          </a:p>
        </p:txBody>
      </p:sp>
      <p:sp>
        <p:nvSpPr>
          <p:cNvPr id="30" name="TextBox 29"/>
          <p:cNvSpPr txBox="1"/>
          <p:nvPr/>
        </p:nvSpPr>
        <p:spPr>
          <a:xfrm>
            <a:off x="685800" y="5056632"/>
            <a:ext cx="10817352" cy="201167"/>
          </a:xfrm>
          <a:prstGeom prst="rect">
            <a:avLst/>
          </a:prstGeom>
          <a:noFill/>
        </p:spPr>
        <p:txBody>
          <a:bodyPr wrap="none">
            <a:spAutoFit/>
          </a:bodyPr>
          <a:lstStyle/>
          <a:p>
            <a:pPr algn="l"/>
            <a:r>
              <a:rPr sz="1400" b="1" i="0">
                <a:solidFill>
                  <a:srgbClr val="88DDAA"/>
                </a:solidFill>
              </a:rPr>
              <a:t>New-VM -Name "CL10-01" -MemoryStartupBytes 4GB -Generation 2 -SwitchName "LAN-Labo"</a:t>
            </a:r>
          </a:p>
        </p:txBody>
      </p:sp>
      <p:sp>
        <p:nvSpPr>
          <p:cNvPr id="31" name="Rectangle 30"/>
          <p:cNvSpPr/>
          <p:nvPr/>
        </p:nvSpPr>
        <p:spPr>
          <a:xfrm>
            <a:off x="0" y="6693408"/>
            <a:ext cx="12188952" cy="32004"/>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20040" y="6675120"/>
            <a:ext cx="11548872" cy="201168"/>
          </a:xfrm>
          <a:prstGeom prst="rect">
            <a:avLst/>
          </a:prstGeom>
          <a:noFill/>
        </p:spPr>
        <p:txBody>
          <a:bodyPr wrap="square">
            <a:spAutoFit/>
          </a:bodyPr>
          <a:lstStyle/>
          <a:p>
            <a:pPr algn="l"/>
            <a:r>
              <a:rPr sz="1050" b="0" i="1">
                <a:solidFill>
                  <a:srgbClr val="AAAAAA"/>
                </a:solidFill>
              </a:rPr>
              <a:t>Séance 4 — Bloc 4 : créer CL10-01</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4EE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594360"/>
          </a:xfrm>
          <a:prstGeom prst="rect">
            <a:avLst/>
          </a:prstGeom>
          <a:solidFill>
            <a:srgbClr val="1A3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548640"/>
            <a:ext cx="12188952" cy="45720"/>
          </a:xfrm>
          <a:prstGeom prst="rect">
            <a:avLst/>
          </a:prstGeom>
          <a:solidFill>
            <a:srgbClr val="6A0D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mage1.png"/>
          <p:cNvPicPr>
            <a:picLocks noChangeAspect="1"/>
          </p:cNvPicPr>
          <p:nvPr/>
        </p:nvPicPr>
        <p:blipFill>
          <a:blip r:embed="rId2"/>
          <a:stretch>
            <a:fillRect/>
          </a:stretch>
        </p:blipFill>
        <p:spPr>
          <a:xfrm>
            <a:off x="164592" y="109728"/>
            <a:ext cx="1158240" cy="347472"/>
          </a:xfrm>
          <a:prstGeom prst="rect">
            <a:avLst/>
          </a:prstGeom>
        </p:spPr>
      </p:pic>
      <p:sp>
        <p:nvSpPr>
          <p:cNvPr id="6" name="TextBox 5"/>
          <p:cNvSpPr txBox="1"/>
          <p:nvPr/>
        </p:nvSpPr>
        <p:spPr>
          <a:xfrm>
            <a:off x="1426464" y="73152"/>
            <a:ext cx="4754880" cy="237744"/>
          </a:xfrm>
          <a:prstGeom prst="rect">
            <a:avLst/>
          </a:prstGeom>
          <a:noFill/>
        </p:spPr>
        <p:txBody>
          <a:bodyPr wrap="square">
            <a:spAutoFit/>
          </a:bodyPr>
          <a:lstStyle/>
          <a:p>
            <a:pPr algn="l"/>
            <a:r>
              <a:rPr sz="1350" b="0" i="0">
                <a:solidFill>
                  <a:srgbClr val="FFFFFF"/>
                </a:solidFill>
              </a:rPr>
              <a:t>SÉANCE 4 — VMs SV1/SRVCore/CL10-01</a:t>
            </a:r>
          </a:p>
        </p:txBody>
      </p:sp>
      <p:sp>
        <p:nvSpPr>
          <p:cNvPr id="7" name="TextBox 6"/>
          <p:cNvSpPr txBox="1"/>
          <p:nvPr/>
        </p:nvSpPr>
        <p:spPr>
          <a:xfrm>
            <a:off x="8714232" y="45720"/>
            <a:ext cx="3291840" cy="246888"/>
          </a:xfrm>
          <a:prstGeom prst="rect">
            <a:avLst/>
          </a:prstGeom>
          <a:noFill/>
        </p:spPr>
        <p:txBody>
          <a:bodyPr wrap="square">
            <a:spAutoFit/>
          </a:bodyPr>
          <a:lstStyle/>
          <a:p>
            <a:pPr algn="r"/>
            <a:r>
              <a:rPr sz="1200" b="1" i="0">
                <a:solidFill>
                  <a:srgbClr val="FFFFFF"/>
                </a:solidFill>
              </a:rPr>
              <a:t>CHAFIK MOUSTAID — FORMATEUR</a:t>
            </a:r>
          </a:p>
        </p:txBody>
      </p:sp>
      <p:sp>
        <p:nvSpPr>
          <p:cNvPr id="8" name="TextBox 7"/>
          <p:cNvSpPr txBox="1"/>
          <p:nvPr/>
        </p:nvSpPr>
        <p:spPr>
          <a:xfrm>
            <a:off x="8714232" y="310896"/>
            <a:ext cx="3291840" cy="182880"/>
          </a:xfrm>
          <a:prstGeom prst="rect">
            <a:avLst/>
          </a:prstGeom>
          <a:noFill/>
        </p:spPr>
        <p:txBody>
          <a:bodyPr wrap="square">
            <a:spAutoFit/>
          </a:bodyPr>
          <a:lstStyle/>
          <a:p>
            <a:pPr algn="r"/>
            <a:r>
              <a:rPr sz="1100" b="0" i="0">
                <a:solidFill>
                  <a:srgbClr val="99BB99"/>
                </a:solidFill>
              </a:rPr>
              <a:t>Version 1 — Juin 2026</a:t>
            </a:r>
          </a:p>
        </p:txBody>
      </p:sp>
      <p:sp>
        <p:nvSpPr>
          <p:cNvPr id="9" name="TextBox 8"/>
          <p:cNvSpPr txBox="1"/>
          <p:nvPr/>
        </p:nvSpPr>
        <p:spPr>
          <a:xfrm>
            <a:off x="457200" y="685800"/>
            <a:ext cx="11274552" cy="530352"/>
          </a:xfrm>
          <a:prstGeom prst="rect">
            <a:avLst/>
          </a:prstGeom>
          <a:noFill/>
        </p:spPr>
        <p:txBody>
          <a:bodyPr wrap="square">
            <a:spAutoFit/>
          </a:bodyPr>
          <a:lstStyle/>
          <a:p>
            <a:pPr algn="l"/>
            <a:r>
              <a:rPr sz="2750" b="1" i="0">
                <a:solidFill>
                  <a:srgbClr val="1A3560"/>
                </a:solidFill>
              </a:rPr>
              <a:t>Comparatif des ressources</a:t>
            </a:r>
          </a:p>
        </p:txBody>
      </p:sp>
      <p:sp>
        <p:nvSpPr>
          <p:cNvPr id="10" name="TextBox 9"/>
          <p:cNvSpPr txBox="1"/>
          <p:nvPr/>
        </p:nvSpPr>
        <p:spPr>
          <a:xfrm>
            <a:off x="457200" y="1188720"/>
            <a:ext cx="11274552" cy="310896"/>
          </a:xfrm>
          <a:prstGeom prst="rect">
            <a:avLst/>
          </a:prstGeom>
          <a:noFill/>
        </p:spPr>
        <p:txBody>
          <a:bodyPr wrap="square">
            <a:spAutoFit/>
          </a:bodyPr>
          <a:lstStyle/>
          <a:p>
            <a:pPr algn="l"/>
            <a:r>
              <a:rPr sz="1450" b="0" i="0">
                <a:solidFill>
                  <a:srgbClr val="595959"/>
                </a:solidFill>
              </a:rPr>
              <a:t>Les 5 VMs de la maquette, côte à côte</a:t>
            </a:r>
          </a:p>
        </p:txBody>
      </p:sp>
      <p:sp>
        <p:nvSpPr>
          <p:cNvPr id="11" name="Rectangle 10"/>
          <p:cNvSpPr/>
          <p:nvPr/>
        </p:nvSpPr>
        <p:spPr>
          <a:xfrm>
            <a:off x="457200" y="1463040"/>
            <a:ext cx="1280160" cy="45720"/>
          </a:xfrm>
          <a:prstGeom prst="rect">
            <a:avLst/>
          </a:prstGeom>
          <a:solidFill>
            <a:srgbClr val="6A0D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57200" y="1783080"/>
            <a:ext cx="11274552" cy="384048"/>
          </a:xfrm>
          <a:prstGeom prst="rect">
            <a:avLst/>
          </a:prstGeom>
          <a:solidFill>
            <a:srgbClr val="3A00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66928" y="1856231"/>
            <a:ext cx="1846539" cy="256032"/>
          </a:xfrm>
          <a:prstGeom prst="rect">
            <a:avLst/>
          </a:prstGeom>
          <a:noFill/>
        </p:spPr>
        <p:txBody>
          <a:bodyPr wrap="square">
            <a:spAutoFit/>
          </a:bodyPr>
          <a:lstStyle/>
          <a:p>
            <a:pPr algn="l"/>
            <a:r>
              <a:rPr sz="1350" b="1" i="0">
                <a:solidFill>
                  <a:srgbClr val="FFFFFF"/>
                </a:solidFill>
              </a:rPr>
              <a:t>VM</a:t>
            </a:r>
          </a:p>
        </p:txBody>
      </p:sp>
      <p:sp>
        <p:nvSpPr>
          <p:cNvPr id="14" name="TextBox 13"/>
          <p:cNvSpPr txBox="1"/>
          <p:nvPr/>
        </p:nvSpPr>
        <p:spPr>
          <a:xfrm>
            <a:off x="2596347" y="1856231"/>
            <a:ext cx="4552431" cy="256032"/>
          </a:xfrm>
          <a:prstGeom prst="rect">
            <a:avLst/>
          </a:prstGeom>
          <a:noFill/>
        </p:spPr>
        <p:txBody>
          <a:bodyPr wrap="square">
            <a:spAutoFit/>
          </a:bodyPr>
          <a:lstStyle/>
          <a:p>
            <a:pPr algn="l"/>
            <a:r>
              <a:rPr sz="1350" b="1" i="0">
                <a:solidFill>
                  <a:srgbClr val="FFFFFF"/>
                </a:solidFill>
              </a:rPr>
              <a:t>Rôle</a:t>
            </a:r>
          </a:p>
        </p:txBody>
      </p:sp>
      <p:sp>
        <p:nvSpPr>
          <p:cNvPr id="15" name="TextBox 14"/>
          <p:cNvSpPr txBox="1"/>
          <p:nvPr/>
        </p:nvSpPr>
        <p:spPr>
          <a:xfrm>
            <a:off x="7331659" y="1856231"/>
            <a:ext cx="1846539" cy="256032"/>
          </a:xfrm>
          <a:prstGeom prst="rect">
            <a:avLst/>
          </a:prstGeom>
          <a:noFill/>
        </p:spPr>
        <p:txBody>
          <a:bodyPr wrap="square">
            <a:spAutoFit/>
          </a:bodyPr>
          <a:lstStyle/>
          <a:p>
            <a:pPr algn="l"/>
            <a:r>
              <a:rPr sz="1350" b="1" i="0">
                <a:solidFill>
                  <a:srgbClr val="FFFFFF"/>
                </a:solidFill>
              </a:rPr>
              <a:t>RAM</a:t>
            </a:r>
          </a:p>
        </p:txBody>
      </p:sp>
      <p:sp>
        <p:nvSpPr>
          <p:cNvPr id="16" name="TextBox 15"/>
          <p:cNvSpPr txBox="1"/>
          <p:nvPr/>
        </p:nvSpPr>
        <p:spPr>
          <a:xfrm>
            <a:off x="9361078" y="1856231"/>
            <a:ext cx="2297521" cy="256032"/>
          </a:xfrm>
          <a:prstGeom prst="rect">
            <a:avLst/>
          </a:prstGeom>
          <a:noFill/>
        </p:spPr>
        <p:txBody>
          <a:bodyPr wrap="square">
            <a:spAutoFit/>
          </a:bodyPr>
          <a:lstStyle/>
          <a:p>
            <a:pPr algn="l"/>
            <a:r>
              <a:rPr sz="1350" b="1" i="0">
                <a:solidFill>
                  <a:srgbClr val="FFFFFF"/>
                </a:solidFill>
              </a:rPr>
              <a:t>Génération</a:t>
            </a:r>
          </a:p>
        </p:txBody>
      </p:sp>
      <p:sp>
        <p:nvSpPr>
          <p:cNvPr id="17" name="Rectangle 16"/>
          <p:cNvSpPr/>
          <p:nvPr/>
        </p:nvSpPr>
        <p:spPr>
          <a:xfrm>
            <a:off x="457200" y="2167128"/>
            <a:ext cx="11274552"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66928" y="2221992"/>
            <a:ext cx="1846539" cy="274320"/>
          </a:xfrm>
          <a:prstGeom prst="rect">
            <a:avLst/>
          </a:prstGeom>
          <a:noFill/>
        </p:spPr>
        <p:txBody>
          <a:bodyPr wrap="square">
            <a:spAutoFit/>
          </a:bodyPr>
          <a:lstStyle/>
          <a:p>
            <a:pPr algn="l"/>
            <a:r>
              <a:rPr sz="1200" b="1" i="0">
                <a:solidFill>
                  <a:srgbClr val="1A3560"/>
                </a:solidFill>
              </a:rPr>
              <a:t>AD1</a:t>
            </a:r>
          </a:p>
        </p:txBody>
      </p:sp>
      <p:sp>
        <p:nvSpPr>
          <p:cNvPr id="19" name="TextBox 18"/>
          <p:cNvSpPr txBox="1"/>
          <p:nvPr/>
        </p:nvSpPr>
        <p:spPr>
          <a:xfrm>
            <a:off x="2596347" y="2221992"/>
            <a:ext cx="4552431" cy="274320"/>
          </a:xfrm>
          <a:prstGeom prst="rect">
            <a:avLst/>
          </a:prstGeom>
          <a:noFill/>
        </p:spPr>
        <p:txBody>
          <a:bodyPr wrap="square">
            <a:spAutoFit/>
          </a:bodyPr>
          <a:lstStyle/>
          <a:p>
            <a:pPr algn="l"/>
            <a:r>
              <a:rPr sz="1200" b="0" i="0">
                <a:solidFill>
                  <a:srgbClr val="595959"/>
                </a:solidFill>
              </a:rPr>
              <a:t>Contrôleur de domaine</a:t>
            </a:r>
          </a:p>
        </p:txBody>
      </p:sp>
      <p:sp>
        <p:nvSpPr>
          <p:cNvPr id="20" name="TextBox 19"/>
          <p:cNvSpPr txBox="1"/>
          <p:nvPr/>
        </p:nvSpPr>
        <p:spPr>
          <a:xfrm>
            <a:off x="7331659" y="2221992"/>
            <a:ext cx="1846539" cy="274320"/>
          </a:xfrm>
          <a:prstGeom prst="rect">
            <a:avLst/>
          </a:prstGeom>
          <a:noFill/>
        </p:spPr>
        <p:txBody>
          <a:bodyPr wrap="square">
            <a:spAutoFit/>
          </a:bodyPr>
          <a:lstStyle/>
          <a:p>
            <a:pPr algn="l"/>
            <a:r>
              <a:rPr sz="1200" b="0" i="0">
                <a:solidFill>
                  <a:srgbClr val="595959"/>
                </a:solidFill>
              </a:rPr>
              <a:t>2 Go</a:t>
            </a:r>
          </a:p>
        </p:txBody>
      </p:sp>
      <p:sp>
        <p:nvSpPr>
          <p:cNvPr id="21" name="TextBox 20"/>
          <p:cNvSpPr txBox="1"/>
          <p:nvPr/>
        </p:nvSpPr>
        <p:spPr>
          <a:xfrm>
            <a:off x="9361078" y="2221992"/>
            <a:ext cx="2297521" cy="274320"/>
          </a:xfrm>
          <a:prstGeom prst="rect">
            <a:avLst/>
          </a:prstGeom>
          <a:noFill/>
        </p:spPr>
        <p:txBody>
          <a:bodyPr wrap="square">
            <a:spAutoFit/>
          </a:bodyPr>
          <a:lstStyle/>
          <a:p>
            <a:pPr algn="l"/>
            <a:r>
              <a:rPr sz="1200" b="0" i="0">
                <a:solidFill>
                  <a:srgbClr val="595959"/>
                </a:solidFill>
              </a:rPr>
              <a:t>Génération 2</a:t>
            </a:r>
          </a:p>
        </p:txBody>
      </p:sp>
      <p:sp>
        <p:nvSpPr>
          <p:cNvPr id="22" name="Rectangle 21"/>
          <p:cNvSpPr/>
          <p:nvPr/>
        </p:nvSpPr>
        <p:spPr>
          <a:xfrm>
            <a:off x="457200" y="2532888"/>
            <a:ext cx="11274552" cy="365760"/>
          </a:xfrm>
          <a:prstGeom prst="rect">
            <a:avLst/>
          </a:prstGeom>
          <a:solidFill>
            <a:srgbClr val="F3E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66928" y="2587752"/>
            <a:ext cx="1846539" cy="274320"/>
          </a:xfrm>
          <a:prstGeom prst="rect">
            <a:avLst/>
          </a:prstGeom>
          <a:noFill/>
        </p:spPr>
        <p:txBody>
          <a:bodyPr wrap="square">
            <a:spAutoFit/>
          </a:bodyPr>
          <a:lstStyle/>
          <a:p>
            <a:pPr algn="l"/>
            <a:r>
              <a:rPr sz="1200" b="1" i="0">
                <a:solidFill>
                  <a:srgbClr val="1A3560"/>
                </a:solidFill>
              </a:rPr>
              <a:t>AD2</a:t>
            </a:r>
          </a:p>
        </p:txBody>
      </p:sp>
      <p:sp>
        <p:nvSpPr>
          <p:cNvPr id="24" name="TextBox 23"/>
          <p:cNvSpPr txBox="1"/>
          <p:nvPr/>
        </p:nvSpPr>
        <p:spPr>
          <a:xfrm>
            <a:off x="2596347" y="2587752"/>
            <a:ext cx="4552431" cy="274320"/>
          </a:xfrm>
          <a:prstGeom prst="rect">
            <a:avLst/>
          </a:prstGeom>
          <a:noFill/>
        </p:spPr>
        <p:txBody>
          <a:bodyPr wrap="square">
            <a:spAutoFit/>
          </a:bodyPr>
          <a:lstStyle/>
          <a:p>
            <a:pPr algn="l"/>
            <a:r>
              <a:rPr sz="1200" b="0" i="0">
                <a:solidFill>
                  <a:srgbClr val="595959"/>
                </a:solidFill>
              </a:rPr>
              <a:t>Contrôleur de domaine</a:t>
            </a:r>
          </a:p>
        </p:txBody>
      </p:sp>
      <p:sp>
        <p:nvSpPr>
          <p:cNvPr id="25" name="TextBox 24"/>
          <p:cNvSpPr txBox="1"/>
          <p:nvPr/>
        </p:nvSpPr>
        <p:spPr>
          <a:xfrm>
            <a:off x="7331659" y="2587752"/>
            <a:ext cx="1846539" cy="274320"/>
          </a:xfrm>
          <a:prstGeom prst="rect">
            <a:avLst/>
          </a:prstGeom>
          <a:noFill/>
        </p:spPr>
        <p:txBody>
          <a:bodyPr wrap="square">
            <a:spAutoFit/>
          </a:bodyPr>
          <a:lstStyle/>
          <a:p>
            <a:pPr algn="l"/>
            <a:r>
              <a:rPr sz="1200" b="0" i="0">
                <a:solidFill>
                  <a:srgbClr val="595959"/>
                </a:solidFill>
              </a:rPr>
              <a:t>2 Go</a:t>
            </a:r>
          </a:p>
        </p:txBody>
      </p:sp>
      <p:sp>
        <p:nvSpPr>
          <p:cNvPr id="26" name="TextBox 25"/>
          <p:cNvSpPr txBox="1"/>
          <p:nvPr/>
        </p:nvSpPr>
        <p:spPr>
          <a:xfrm>
            <a:off x="9361078" y="2587752"/>
            <a:ext cx="2297521" cy="274320"/>
          </a:xfrm>
          <a:prstGeom prst="rect">
            <a:avLst/>
          </a:prstGeom>
          <a:noFill/>
        </p:spPr>
        <p:txBody>
          <a:bodyPr wrap="square">
            <a:spAutoFit/>
          </a:bodyPr>
          <a:lstStyle/>
          <a:p>
            <a:pPr algn="l"/>
            <a:r>
              <a:rPr sz="1200" b="0" i="0">
                <a:solidFill>
                  <a:srgbClr val="595959"/>
                </a:solidFill>
              </a:rPr>
              <a:t>Génération 2</a:t>
            </a:r>
          </a:p>
        </p:txBody>
      </p:sp>
      <p:sp>
        <p:nvSpPr>
          <p:cNvPr id="27" name="Rectangle 26"/>
          <p:cNvSpPr/>
          <p:nvPr/>
        </p:nvSpPr>
        <p:spPr>
          <a:xfrm>
            <a:off x="457200" y="2898648"/>
            <a:ext cx="11274552"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66928" y="2953512"/>
            <a:ext cx="1846539" cy="274320"/>
          </a:xfrm>
          <a:prstGeom prst="rect">
            <a:avLst/>
          </a:prstGeom>
          <a:noFill/>
        </p:spPr>
        <p:txBody>
          <a:bodyPr wrap="square">
            <a:spAutoFit/>
          </a:bodyPr>
          <a:lstStyle/>
          <a:p>
            <a:pPr algn="l"/>
            <a:r>
              <a:rPr sz="1200" b="1" i="0">
                <a:solidFill>
                  <a:srgbClr val="1A3560"/>
                </a:solidFill>
              </a:rPr>
              <a:t>SV1</a:t>
            </a:r>
          </a:p>
        </p:txBody>
      </p:sp>
      <p:sp>
        <p:nvSpPr>
          <p:cNvPr id="29" name="TextBox 28"/>
          <p:cNvSpPr txBox="1"/>
          <p:nvPr/>
        </p:nvSpPr>
        <p:spPr>
          <a:xfrm>
            <a:off x="2596347" y="2953512"/>
            <a:ext cx="4552431" cy="274320"/>
          </a:xfrm>
          <a:prstGeom prst="rect">
            <a:avLst/>
          </a:prstGeom>
          <a:noFill/>
        </p:spPr>
        <p:txBody>
          <a:bodyPr wrap="square">
            <a:spAutoFit/>
          </a:bodyPr>
          <a:lstStyle/>
          <a:p>
            <a:pPr algn="l"/>
            <a:r>
              <a:rPr sz="1200" b="0" i="0">
                <a:solidFill>
                  <a:srgbClr val="595959"/>
                </a:solidFill>
              </a:rPr>
              <a:t>Serveur membre (Desktop Exp.)</a:t>
            </a:r>
          </a:p>
        </p:txBody>
      </p:sp>
      <p:sp>
        <p:nvSpPr>
          <p:cNvPr id="30" name="TextBox 29"/>
          <p:cNvSpPr txBox="1"/>
          <p:nvPr/>
        </p:nvSpPr>
        <p:spPr>
          <a:xfrm>
            <a:off x="7331659" y="2953512"/>
            <a:ext cx="1846539" cy="274320"/>
          </a:xfrm>
          <a:prstGeom prst="rect">
            <a:avLst/>
          </a:prstGeom>
          <a:noFill/>
        </p:spPr>
        <p:txBody>
          <a:bodyPr wrap="square">
            <a:spAutoFit/>
          </a:bodyPr>
          <a:lstStyle/>
          <a:p>
            <a:pPr algn="l"/>
            <a:r>
              <a:rPr sz="1200" b="0" i="0">
                <a:solidFill>
                  <a:srgbClr val="595959"/>
                </a:solidFill>
              </a:rPr>
              <a:t>2 Go</a:t>
            </a:r>
          </a:p>
        </p:txBody>
      </p:sp>
      <p:sp>
        <p:nvSpPr>
          <p:cNvPr id="31" name="TextBox 30"/>
          <p:cNvSpPr txBox="1"/>
          <p:nvPr/>
        </p:nvSpPr>
        <p:spPr>
          <a:xfrm>
            <a:off x="9361078" y="2953512"/>
            <a:ext cx="2297521" cy="274320"/>
          </a:xfrm>
          <a:prstGeom prst="rect">
            <a:avLst/>
          </a:prstGeom>
          <a:noFill/>
        </p:spPr>
        <p:txBody>
          <a:bodyPr wrap="square">
            <a:spAutoFit/>
          </a:bodyPr>
          <a:lstStyle/>
          <a:p>
            <a:pPr algn="l"/>
            <a:r>
              <a:rPr sz="1200" b="0" i="0">
                <a:solidFill>
                  <a:srgbClr val="595959"/>
                </a:solidFill>
              </a:rPr>
              <a:t>Génération 2</a:t>
            </a:r>
          </a:p>
        </p:txBody>
      </p:sp>
      <p:sp>
        <p:nvSpPr>
          <p:cNvPr id="32" name="Rectangle 31"/>
          <p:cNvSpPr/>
          <p:nvPr/>
        </p:nvSpPr>
        <p:spPr>
          <a:xfrm>
            <a:off x="457200" y="3264408"/>
            <a:ext cx="11274552" cy="365760"/>
          </a:xfrm>
          <a:prstGeom prst="rect">
            <a:avLst/>
          </a:prstGeom>
          <a:solidFill>
            <a:srgbClr val="F3E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66928" y="3319272"/>
            <a:ext cx="1846539" cy="274320"/>
          </a:xfrm>
          <a:prstGeom prst="rect">
            <a:avLst/>
          </a:prstGeom>
          <a:noFill/>
        </p:spPr>
        <p:txBody>
          <a:bodyPr wrap="square">
            <a:spAutoFit/>
          </a:bodyPr>
          <a:lstStyle/>
          <a:p>
            <a:pPr algn="l"/>
            <a:r>
              <a:rPr sz="1200" b="1" i="0">
                <a:solidFill>
                  <a:srgbClr val="1A3560"/>
                </a:solidFill>
              </a:rPr>
              <a:t>SRVCore</a:t>
            </a:r>
          </a:p>
        </p:txBody>
      </p:sp>
      <p:sp>
        <p:nvSpPr>
          <p:cNvPr id="34" name="TextBox 33"/>
          <p:cNvSpPr txBox="1"/>
          <p:nvPr/>
        </p:nvSpPr>
        <p:spPr>
          <a:xfrm>
            <a:off x="2596347" y="3319272"/>
            <a:ext cx="4552431" cy="274320"/>
          </a:xfrm>
          <a:prstGeom prst="rect">
            <a:avLst/>
          </a:prstGeom>
          <a:noFill/>
        </p:spPr>
        <p:txBody>
          <a:bodyPr wrap="square">
            <a:spAutoFit/>
          </a:bodyPr>
          <a:lstStyle/>
          <a:p>
            <a:pPr algn="l"/>
            <a:r>
              <a:rPr sz="1200" b="0" i="0">
                <a:solidFill>
                  <a:srgbClr val="595959"/>
                </a:solidFill>
              </a:rPr>
              <a:t>Serveur membre (Core)</a:t>
            </a:r>
          </a:p>
        </p:txBody>
      </p:sp>
      <p:sp>
        <p:nvSpPr>
          <p:cNvPr id="35" name="TextBox 34"/>
          <p:cNvSpPr txBox="1"/>
          <p:nvPr/>
        </p:nvSpPr>
        <p:spPr>
          <a:xfrm>
            <a:off x="7331659" y="3319272"/>
            <a:ext cx="1846539" cy="274320"/>
          </a:xfrm>
          <a:prstGeom prst="rect">
            <a:avLst/>
          </a:prstGeom>
          <a:noFill/>
        </p:spPr>
        <p:txBody>
          <a:bodyPr wrap="square">
            <a:spAutoFit/>
          </a:bodyPr>
          <a:lstStyle/>
          <a:p>
            <a:pPr algn="l"/>
            <a:r>
              <a:rPr sz="1200" b="0" i="0">
                <a:solidFill>
                  <a:srgbClr val="595959"/>
                </a:solidFill>
              </a:rPr>
              <a:t>1,5 Go</a:t>
            </a:r>
          </a:p>
        </p:txBody>
      </p:sp>
      <p:sp>
        <p:nvSpPr>
          <p:cNvPr id="36" name="TextBox 35"/>
          <p:cNvSpPr txBox="1"/>
          <p:nvPr/>
        </p:nvSpPr>
        <p:spPr>
          <a:xfrm>
            <a:off x="9361078" y="3319272"/>
            <a:ext cx="2297521" cy="274320"/>
          </a:xfrm>
          <a:prstGeom prst="rect">
            <a:avLst/>
          </a:prstGeom>
          <a:noFill/>
        </p:spPr>
        <p:txBody>
          <a:bodyPr wrap="square">
            <a:spAutoFit/>
          </a:bodyPr>
          <a:lstStyle/>
          <a:p>
            <a:pPr algn="l"/>
            <a:r>
              <a:rPr sz="1200" b="0" i="0">
                <a:solidFill>
                  <a:srgbClr val="595959"/>
                </a:solidFill>
              </a:rPr>
              <a:t>Génération 2</a:t>
            </a:r>
          </a:p>
        </p:txBody>
      </p:sp>
      <p:sp>
        <p:nvSpPr>
          <p:cNvPr id="37" name="Rectangle 36"/>
          <p:cNvSpPr/>
          <p:nvPr/>
        </p:nvSpPr>
        <p:spPr>
          <a:xfrm>
            <a:off x="457200" y="3630168"/>
            <a:ext cx="11274552"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66928" y="3685031"/>
            <a:ext cx="1846539" cy="274320"/>
          </a:xfrm>
          <a:prstGeom prst="rect">
            <a:avLst/>
          </a:prstGeom>
          <a:noFill/>
        </p:spPr>
        <p:txBody>
          <a:bodyPr wrap="square">
            <a:spAutoFit/>
          </a:bodyPr>
          <a:lstStyle/>
          <a:p>
            <a:pPr algn="l"/>
            <a:r>
              <a:rPr sz="1200" b="1" i="0">
                <a:solidFill>
                  <a:srgbClr val="1A3560"/>
                </a:solidFill>
              </a:rPr>
              <a:t>CL10-01</a:t>
            </a:r>
          </a:p>
        </p:txBody>
      </p:sp>
      <p:sp>
        <p:nvSpPr>
          <p:cNvPr id="39" name="TextBox 38"/>
          <p:cNvSpPr txBox="1"/>
          <p:nvPr/>
        </p:nvSpPr>
        <p:spPr>
          <a:xfrm>
            <a:off x="2596347" y="3685031"/>
            <a:ext cx="4552431" cy="274320"/>
          </a:xfrm>
          <a:prstGeom prst="rect">
            <a:avLst/>
          </a:prstGeom>
          <a:noFill/>
        </p:spPr>
        <p:txBody>
          <a:bodyPr wrap="square">
            <a:spAutoFit/>
          </a:bodyPr>
          <a:lstStyle/>
          <a:p>
            <a:pPr algn="l"/>
            <a:r>
              <a:rPr sz="1200" b="0" i="0">
                <a:solidFill>
                  <a:srgbClr val="595959"/>
                </a:solidFill>
              </a:rPr>
              <a:t>Poste client Windows</a:t>
            </a:r>
          </a:p>
        </p:txBody>
      </p:sp>
      <p:sp>
        <p:nvSpPr>
          <p:cNvPr id="40" name="TextBox 39"/>
          <p:cNvSpPr txBox="1"/>
          <p:nvPr/>
        </p:nvSpPr>
        <p:spPr>
          <a:xfrm>
            <a:off x="7331659" y="3685031"/>
            <a:ext cx="1846539" cy="274320"/>
          </a:xfrm>
          <a:prstGeom prst="rect">
            <a:avLst/>
          </a:prstGeom>
          <a:noFill/>
        </p:spPr>
        <p:txBody>
          <a:bodyPr wrap="square">
            <a:spAutoFit/>
          </a:bodyPr>
          <a:lstStyle/>
          <a:p>
            <a:pPr algn="l"/>
            <a:r>
              <a:rPr sz="1200" b="0" i="0">
                <a:solidFill>
                  <a:srgbClr val="595959"/>
                </a:solidFill>
              </a:rPr>
              <a:t>4 Go</a:t>
            </a:r>
          </a:p>
        </p:txBody>
      </p:sp>
      <p:sp>
        <p:nvSpPr>
          <p:cNvPr id="41" name="TextBox 40"/>
          <p:cNvSpPr txBox="1"/>
          <p:nvPr/>
        </p:nvSpPr>
        <p:spPr>
          <a:xfrm>
            <a:off x="9361078" y="3685031"/>
            <a:ext cx="2297521" cy="274320"/>
          </a:xfrm>
          <a:prstGeom prst="rect">
            <a:avLst/>
          </a:prstGeom>
          <a:noFill/>
        </p:spPr>
        <p:txBody>
          <a:bodyPr wrap="square">
            <a:spAutoFit/>
          </a:bodyPr>
          <a:lstStyle/>
          <a:p>
            <a:pPr algn="l"/>
            <a:r>
              <a:rPr sz="1200" b="0" i="0">
                <a:solidFill>
                  <a:srgbClr val="595959"/>
                </a:solidFill>
              </a:rPr>
              <a:t>Génération 2</a:t>
            </a:r>
          </a:p>
        </p:txBody>
      </p:sp>
      <p:sp>
        <p:nvSpPr>
          <p:cNvPr id="42" name="Rectangle 41"/>
          <p:cNvSpPr/>
          <p:nvPr/>
        </p:nvSpPr>
        <p:spPr>
          <a:xfrm>
            <a:off x="457200" y="4224528"/>
            <a:ext cx="11274552" cy="777240"/>
          </a:xfrm>
          <a:prstGeom prst="rect">
            <a:avLst/>
          </a:prstGeom>
          <a:solidFill>
            <a:srgbClr val="F3EAFB"/>
          </a:solidFill>
          <a:ln w="25400">
            <a:solidFill>
              <a:srgbClr val="6A0D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457200" y="4224528"/>
            <a:ext cx="502920" cy="777240"/>
          </a:xfrm>
          <a:prstGeom prst="rect">
            <a:avLst/>
          </a:prstGeom>
          <a:solidFill>
            <a:srgbClr val="6A0D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12064" y="4411980"/>
            <a:ext cx="393192" cy="402336"/>
          </a:xfrm>
          <a:prstGeom prst="rect">
            <a:avLst/>
          </a:prstGeom>
          <a:noFill/>
        </p:spPr>
        <p:txBody>
          <a:bodyPr wrap="none">
            <a:spAutoFit/>
          </a:bodyPr>
          <a:lstStyle/>
          <a:p>
            <a:pPr algn="ctr"/>
            <a:r>
              <a:rPr sz="2275" b="1" i="0">
                <a:solidFill>
                  <a:srgbClr val="FFFFFF"/>
                </a:solidFill>
              </a:rPr>
              <a:t>📌</a:t>
            </a:r>
          </a:p>
        </p:txBody>
      </p:sp>
      <p:sp>
        <p:nvSpPr>
          <p:cNvPr id="45" name="TextBox 44"/>
          <p:cNvSpPr txBox="1"/>
          <p:nvPr/>
        </p:nvSpPr>
        <p:spPr>
          <a:xfrm>
            <a:off x="1051560" y="4297680"/>
            <a:ext cx="10588752" cy="292608"/>
          </a:xfrm>
          <a:prstGeom prst="rect">
            <a:avLst/>
          </a:prstGeom>
          <a:noFill/>
        </p:spPr>
        <p:txBody>
          <a:bodyPr wrap="square">
            <a:spAutoFit/>
          </a:bodyPr>
          <a:lstStyle/>
          <a:p>
            <a:pPr algn="l"/>
            <a:r>
              <a:rPr sz="1500" b="1" i="0">
                <a:solidFill>
                  <a:srgbClr val="1A005D"/>
                </a:solidFill>
              </a:rPr>
              <a:t>Total hôte</a:t>
            </a:r>
          </a:p>
        </p:txBody>
      </p:sp>
      <p:sp>
        <p:nvSpPr>
          <p:cNvPr id="46" name="TextBox 45"/>
          <p:cNvSpPr txBox="1"/>
          <p:nvPr/>
        </p:nvSpPr>
        <p:spPr>
          <a:xfrm>
            <a:off x="1051560" y="4590288"/>
            <a:ext cx="10588752" cy="320040"/>
          </a:xfrm>
          <a:prstGeom prst="rect">
            <a:avLst/>
          </a:prstGeom>
          <a:noFill/>
        </p:spPr>
        <p:txBody>
          <a:bodyPr wrap="square">
            <a:spAutoFit/>
          </a:bodyPr>
          <a:lstStyle/>
          <a:p>
            <a:pPr algn="l"/>
            <a:r>
              <a:rPr sz="1250" b="0" i="0">
                <a:solidFill>
                  <a:srgbClr val="595959"/>
                </a:solidFill>
              </a:rPr>
              <a:t>Environ 11,5 Go pour les 5 VMs : confortable sur un hôte de 16 Go de RAM, avec une marge pour le système hôte lui-même.</a:t>
            </a:r>
          </a:p>
        </p:txBody>
      </p:sp>
      <p:sp>
        <p:nvSpPr>
          <p:cNvPr id="47" name="Rectangle 46"/>
          <p:cNvSpPr/>
          <p:nvPr/>
        </p:nvSpPr>
        <p:spPr>
          <a:xfrm>
            <a:off x="0" y="6693408"/>
            <a:ext cx="12188952" cy="32004"/>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320040" y="6675120"/>
            <a:ext cx="11548872" cy="201168"/>
          </a:xfrm>
          <a:prstGeom prst="rect">
            <a:avLst/>
          </a:prstGeom>
          <a:noFill/>
        </p:spPr>
        <p:txBody>
          <a:bodyPr wrap="square">
            <a:spAutoFit/>
          </a:bodyPr>
          <a:lstStyle/>
          <a:p>
            <a:pPr algn="l"/>
            <a:r>
              <a:rPr sz="1050" b="0" i="1">
                <a:solidFill>
                  <a:srgbClr val="AAAAAA"/>
                </a:solidFill>
              </a:rPr>
              <a:t>Séance 4 — Bloc 4 : créer CL10-01</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4EE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594360"/>
          </a:xfrm>
          <a:prstGeom prst="rect">
            <a:avLst/>
          </a:prstGeom>
          <a:solidFill>
            <a:srgbClr val="1A3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548640"/>
            <a:ext cx="12188952" cy="45720"/>
          </a:xfrm>
          <a:prstGeom prst="rect">
            <a:avLst/>
          </a:prstGeom>
          <a:solidFill>
            <a:srgbClr val="6A0D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mage1.png"/>
          <p:cNvPicPr>
            <a:picLocks noChangeAspect="1"/>
          </p:cNvPicPr>
          <p:nvPr/>
        </p:nvPicPr>
        <p:blipFill>
          <a:blip r:embed="rId2"/>
          <a:stretch>
            <a:fillRect/>
          </a:stretch>
        </p:blipFill>
        <p:spPr>
          <a:xfrm>
            <a:off x="164592" y="109728"/>
            <a:ext cx="1158240" cy="347472"/>
          </a:xfrm>
          <a:prstGeom prst="rect">
            <a:avLst/>
          </a:prstGeom>
        </p:spPr>
      </p:pic>
      <p:sp>
        <p:nvSpPr>
          <p:cNvPr id="6" name="TextBox 5"/>
          <p:cNvSpPr txBox="1"/>
          <p:nvPr/>
        </p:nvSpPr>
        <p:spPr>
          <a:xfrm>
            <a:off x="1426464" y="73152"/>
            <a:ext cx="4754880" cy="237744"/>
          </a:xfrm>
          <a:prstGeom prst="rect">
            <a:avLst/>
          </a:prstGeom>
          <a:noFill/>
        </p:spPr>
        <p:txBody>
          <a:bodyPr wrap="square">
            <a:spAutoFit/>
          </a:bodyPr>
          <a:lstStyle/>
          <a:p>
            <a:pPr algn="l"/>
            <a:r>
              <a:rPr sz="1350" b="0" i="0">
                <a:solidFill>
                  <a:srgbClr val="FFFFFF"/>
                </a:solidFill>
              </a:rPr>
              <a:t>SÉANCE 4 — VMs SV1/SRVCore/CL10-01</a:t>
            </a:r>
          </a:p>
        </p:txBody>
      </p:sp>
      <p:sp>
        <p:nvSpPr>
          <p:cNvPr id="7" name="TextBox 6"/>
          <p:cNvSpPr txBox="1"/>
          <p:nvPr/>
        </p:nvSpPr>
        <p:spPr>
          <a:xfrm>
            <a:off x="8714232" y="45720"/>
            <a:ext cx="3291840" cy="246888"/>
          </a:xfrm>
          <a:prstGeom prst="rect">
            <a:avLst/>
          </a:prstGeom>
          <a:noFill/>
        </p:spPr>
        <p:txBody>
          <a:bodyPr wrap="square">
            <a:spAutoFit/>
          </a:bodyPr>
          <a:lstStyle/>
          <a:p>
            <a:pPr algn="r"/>
            <a:r>
              <a:rPr sz="1200" b="1" i="0">
                <a:solidFill>
                  <a:srgbClr val="FFFFFF"/>
                </a:solidFill>
              </a:rPr>
              <a:t>CHAFIK MOUSTAID — FORMATEUR</a:t>
            </a:r>
          </a:p>
        </p:txBody>
      </p:sp>
      <p:sp>
        <p:nvSpPr>
          <p:cNvPr id="8" name="TextBox 7"/>
          <p:cNvSpPr txBox="1"/>
          <p:nvPr/>
        </p:nvSpPr>
        <p:spPr>
          <a:xfrm>
            <a:off x="8714232" y="310896"/>
            <a:ext cx="3291840" cy="182880"/>
          </a:xfrm>
          <a:prstGeom prst="rect">
            <a:avLst/>
          </a:prstGeom>
          <a:noFill/>
        </p:spPr>
        <p:txBody>
          <a:bodyPr wrap="square">
            <a:spAutoFit/>
          </a:bodyPr>
          <a:lstStyle/>
          <a:p>
            <a:pPr algn="r"/>
            <a:r>
              <a:rPr sz="1100" b="0" i="0">
                <a:solidFill>
                  <a:srgbClr val="99BB99"/>
                </a:solidFill>
              </a:rPr>
              <a:t>Version 1 — Juin 2026</a:t>
            </a:r>
          </a:p>
        </p:txBody>
      </p:sp>
      <p:sp>
        <p:nvSpPr>
          <p:cNvPr id="9" name="TextBox 8"/>
          <p:cNvSpPr txBox="1"/>
          <p:nvPr/>
        </p:nvSpPr>
        <p:spPr>
          <a:xfrm>
            <a:off x="457200" y="685800"/>
            <a:ext cx="11274552" cy="530352"/>
          </a:xfrm>
          <a:prstGeom prst="rect">
            <a:avLst/>
          </a:prstGeom>
          <a:noFill/>
        </p:spPr>
        <p:txBody>
          <a:bodyPr wrap="square">
            <a:spAutoFit/>
          </a:bodyPr>
          <a:lstStyle/>
          <a:p>
            <a:pPr algn="l"/>
            <a:r>
              <a:rPr sz="2750" b="1" i="0">
                <a:solidFill>
                  <a:srgbClr val="1A3560"/>
                </a:solidFill>
              </a:rPr>
              <a:t>Gérer les points de contrôle</a:t>
            </a:r>
          </a:p>
        </p:txBody>
      </p:sp>
      <p:sp>
        <p:nvSpPr>
          <p:cNvPr id="10" name="TextBox 9"/>
          <p:cNvSpPr txBox="1"/>
          <p:nvPr/>
        </p:nvSpPr>
        <p:spPr>
          <a:xfrm>
            <a:off x="457200" y="1188720"/>
            <a:ext cx="11274552" cy="310896"/>
          </a:xfrm>
          <a:prstGeom prst="rect">
            <a:avLst/>
          </a:prstGeom>
          <a:noFill/>
        </p:spPr>
        <p:txBody>
          <a:bodyPr wrap="square">
            <a:spAutoFit/>
          </a:bodyPr>
          <a:lstStyle/>
          <a:p>
            <a:pPr algn="l"/>
            <a:r>
              <a:rPr sz="1450" b="0" i="0">
                <a:solidFill>
                  <a:srgbClr val="595959"/>
                </a:solidFill>
              </a:rPr>
              <a:t>Créer, appliquer, supprimer</a:t>
            </a:r>
          </a:p>
        </p:txBody>
      </p:sp>
      <p:sp>
        <p:nvSpPr>
          <p:cNvPr id="11" name="Rectangle 10"/>
          <p:cNvSpPr/>
          <p:nvPr/>
        </p:nvSpPr>
        <p:spPr>
          <a:xfrm>
            <a:off x="457200" y="1463040"/>
            <a:ext cx="1280160" cy="45720"/>
          </a:xfrm>
          <a:prstGeom prst="rect">
            <a:avLst/>
          </a:prstGeom>
          <a:solidFill>
            <a:srgbClr val="6A0D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57200" y="1828800"/>
            <a:ext cx="11274552" cy="10972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57200" y="1828800"/>
            <a:ext cx="548640" cy="1097280"/>
          </a:xfrm>
          <a:prstGeom prst="rect">
            <a:avLst/>
          </a:prstGeom>
          <a:solidFill>
            <a:srgbClr val="3A00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7200" y="2176272"/>
            <a:ext cx="548640" cy="402336"/>
          </a:xfrm>
          <a:prstGeom prst="rect">
            <a:avLst/>
          </a:prstGeom>
          <a:noFill/>
        </p:spPr>
        <p:txBody>
          <a:bodyPr wrap="none">
            <a:spAutoFit/>
          </a:bodyPr>
          <a:lstStyle/>
          <a:p>
            <a:pPr algn="ctr"/>
            <a:r>
              <a:rPr sz="2075" b="1" i="0">
                <a:solidFill>
                  <a:srgbClr val="FFFFFF"/>
                </a:solidFill>
              </a:rPr>
              <a:t>➕</a:t>
            </a:r>
          </a:p>
        </p:txBody>
      </p:sp>
      <p:sp>
        <p:nvSpPr>
          <p:cNvPr id="15" name="TextBox 14"/>
          <p:cNvSpPr txBox="1"/>
          <p:nvPr/>
        </p:nvSpPr>
        <p:spPr>
          <a:xfrm>
            <a:off x="1143000" y="1947672"/>
            <a:ext cx="10360152" cy="292608"/>
          </a:xfrm>
          <a:prstGeom prst="rect">
            <a:avLst/>
          </a:prstGeom>
          <a:noFill/>
        </p:spPr>
        <p:txBody>
          <a:bodyPr wrap="square">
            <a:spAutoFit/>
          </a:bodyPr>
          <a:lstStyle/>
          <a:p>
            <a:pPr algn="l"/>
            <a:r>
              <a:rPr sz="1500" b="1" i="0">
                <a:solidFill>
                  <a:srgbClr val="1A3560"/>
                </a:solidFill>
              </a:rPr>
              <a:t>Créer</a:t>
            </a:r>
          </a:p>
        </p:txBody>
      </p:sp>
      <p:sp>
        <p:nvSpPr>
          <p:cNvPr id="16" name="TextBox 15"/>
          <p:cNvSpPr txBox="1"/>
          <p:nvPr/>
        </p:nvSpPr>
        <p:spPr>
          <a:xfrm>
            <a:off x="1143000" y="2286000"/>
            <a:ext cx="10360152" cy="548640"/>
          </a:xfrm>
          <a:prstGeom prst="rect">
            <a:avLst/>
          </a:prstGeom>
          <a:noFill/>
        </p:spPr>
        <p:txBody>
          <a:bodyPr wrap="square">
            <a:spAutoFit/>
          </a:bodyPr>
          <a:lstStyle/>
          <a:p>
            <a:pPr algn="l"/>
            <a:r>
              <a:rPr sz="1200" b="0" i="0">
                <a:solidFill>
                  <a:srgbClr val="595959"/>
                </a:solidFill>
              </a:rPr>
              <a:t>Fige l'état complet de la VM (mémoire, disque, configuration) à un instant T, avant une manipulation risquée.</a:t>
            </a:r>
          </a:p>
        </p:txBody>
      </p:sp>
      <p:sp>
        <p:nvSpPr>
          <p:cNvPr id="17" name="Rectangle 16"/>
          <p:cNvSpPr/>
          <p:nvPr/>
        </p:nvSpPr>
        <p:spPr>
          <a:xfrm>
            <a:off x="457200" y="3063240"/>
            <a:ext cx="11274552" cy="10972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57200" y="3063240"/>
            <a:ext cx="548640" cy="1097280"/>
          </a:xfrm>
          <a:prstGeom prst="rect">
            <a:avLst/>
          </a:prstGeom>
          <a:solidFill>
            <a:srgbClr val="3A00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35793" y="3410712"/>
            <a:ext cx="391454" cy="400110"/>
          </a:xfrm>
          <a:prstGeom prst="rect">
            <a:avLst/>
          </a:prstGeom>
          <a:noFill/>
        </p:spPr>
        <p:txBody>
          <a:bodyPr wrap="none">
            <a:spAutoFit/>
          </a:bodyPr>
          <a:lstStyle/>
          <a:p>
            <a:pPr algn="ctr"/>
            <a:r>
              <a:rPr sz="2075" b="1" i="0" dirty="0" smtClean="0">
                <a:solidFill>
                  <a:srgbClr val="FFFFFF"/>
                </a:solidFill>
              </a:rPr>
              <a:t>↩</a:t>
            </a:r>
            <a:endParaRPr sz="2000" b="1" i="0" dirty="0">
              <a:solidFill>
                <a:srgbClr val="FFFFFF"/>
              </a:solidFill>
            </a:endParaRPr>
          </a:p>
        </p:txBody>
      </p:sp>
      <p:sp>
        <p:nvSpPr>
          <p:cNvPr id="20" name="TextBox 19"/>
          <p:cNvSpPr txBox="1"/>
          <p:nvPr/>
        </p:nvSpPr>
        <p:spPr>
          <a:xfrm>
            <a:off x="1143000" y="3182112"/>
            <a:ext cx="10360152" cy="292608"/>
          </a:xfrm>
          <a:prstGeom prst="rect">
            <a:avLst/>
          </a:prstGeom>
          <a:noFill/>
        </p:spPr>
        <p:txBody>
          <a:bodyPr wrap="square">
            <a:spAutoFit/>
          </a:bodyPr>
          <a:lstStyle/>
          <a:p>
            <a:pPr algn="l"/>
            <a:r>
              <a:rPr sz="1500" b="1" i="0">
                <a:solidFill>
                  <a:srgbClr val="1A3560"/>
                </a:solidFill>
              </a:rPr>
              <a:t>Appliquer / restaurer</a:t>
            </a:r>
          </a:p>
        </p:txBody>
      </p:sp>
      <p:sp>
        <p:nvSpPr>
          <p:cNvPr id="21" name="TextBox 20"/>
          <p:cNvSpPr txBox="1"/>
          <p:nvPr/>
        </p:nvSpPr>
        <p:spPr>
          <a:xfrm>
            <a:off x="1143000" y="3520440"/>
            <a:ext cx="10360152" cy="548640"/>
          </a:xfrm>
          <a:prstGeom prst="rect">
            <a:avLst/>
          </a:prstGeom>
          <a:noFill/>
        </p:spPr>
        <p:txBody>
          <a:bodyPr wrap="square">
            <a:spAutoFit/>
          </a:bodyPr>
          <a:lstStyle/>
          <a:p>
            <a:pPr algn="l"/>
            <a:r>
              <a:rPr sz="1200" b="0" i="0">
                <a:solidFill>
                  <a:srgbClr val="595959"/>
                </a:solidFill>
              </a:rPr>
              <a:t>Ramène la VM exactement à l'état du checkpoint choisi : les modifications postérieures sont perdues.</a:t>
            </a:r>
          </a:p>
        </p:txBody>
      </p:sp>
      <p:sp>
        <p:nvSpPr>
          <p:cNvPr id="22" name="Rectangle 21"/>
          <p:cNvSpPr/>
          <p:nvPr/>
        </p:nvSpPr>
        <p:spPr>
          <a:xfrm>
            <a:off x="457200" y="4297680"/>
            <a:ext cx="11274552" cy="10972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57200" y="4297680"/>
            <a:ext cx="548640" cy="1097280"/>
          </a:xfrm>
          <a:prstGeom prst="rect">
            <a:avLst/>
          </a:prstGeom>
          <a:solidFill>
            <a:srgbClr val="3A00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49419" y="4645152"/>
            <a:ext cx="364202" cy="400110"/>
          </a:xfrm>
          <a:prstGeom prst="rect">
            <a:avLst/>
          </a:prstGeom>
          <a:noFill/>
        </p:spPr>
        <p:txBody>
          <a:bodyPr wrap="none">
            <a:spAutoFit/>
          </a:bodyPr>
          <a:lstStyle/>
          <a:p>
            <a:pPr algn="ctr"/>
            <a:r>
              <a:rPr sz="2075" b="1" i="0" dirty="0" smtClean="0">
                <a:solidFill>
                  <a:srgbClr val="FFFFFF"/>
                </a:solidFill>
              </a:rPr>
              <a:t>🗑</a:t>
            </a:r>
            <a:endParaRPr sz="2000" b="1" i="0" dirty="0">
              <a:solidFill>
                <a:srgbClr val="FFFFFF"/>
              </a:solidFill>
            </a:endParaRPr>
          </a:p>
        </p:txBody>
      </p:sp>
      <p:sp>
        <p:nvSpPr>
          <p:cNvPr id="25" name="TextBox 24"/>
          <p:cNvSpPr txBox="1"/>
          <p:nvPr/>
        </p:nvSpPr>
        <p:spPr>
          <a:xfrm>
            <a:off x="1143000" y="4416552"/>
            <a:ext cx="10360152" cy="292608"/>
          </a:xfrm>
          <a:prstGeom prst="rect">
            <a:avLst/>
          </a:prstGeom>
          <a:noFill/>
        </p:spPr>
        <p:txBody>
          <a:bodyPr wrap="square">
            <a:spAutoFit/>
          </a:bodyPr>
          <a:lstStyle/>
          <a:p>
            <a:pPr algn="l"/>
            <a:r>
              <a:rPr sz="1500" b="1" i="0">
                <a:solidFill>
                  <a:srgbClr val="1A3560"/>
                </a:solidFill>
              </a:rPr>
              <a:t>Supprimer</a:t>
            </a:r>
          </a:p>
        </p:txBody>
      </p:sp>
      <p:sp>
        <p:nvSpPr>
          <p:cNvPr id="26" name="TextBox 25"/>
          <p:cNvSpPr txBox="1"/>
          <p:nvPr/>
        </p:nvSpPr>
        <p:spPr>
          <a:xfrm>
            <a:off x="1143000" y="4754880"/>
            <a:ext cx="10360152" cy="548640"/>
          </a:xfrm>
          <a:prstGeom prst="rect">
            <a:avLst/>
          </a:prstGeom>
          <a:noFill/>
        </p:spPr>
        <p:txBody>
          <a:bodyPr wrap="square">
            <a:spAutoFit/>
          </a:bodyPr>
          <a:lstStyle/>
          <a:p>
            <a:pPr algn="l"/>
            <a:r>
              <a:rPr sz="1200" b="0" i="0">
                <a:solidFill>
                  <a:srgbClr val="595959"/>
                </a:solidFill>
              </a:rPr>
              <a:t>Fusionne les données du checkpoint dans le disque courant : à faire une fois l'étape validée pour libérer l'espace.</a:t>
            </a:r>
          </a:p>
        </p:txBody>
      </p:sp>
      <p:sp>
        <p:nvSpPr>
          <p:cNvPr id="27" name="Rectangle 26"/>
          <p:cNvSpPr/>
          <p:nvPr/>
        </p:nvSpPr>
        <p:spPr>
          <a:xfrm>
            <a:off x="0" y="6693408"/>
            <a:ext cx="12188952" cy="32004"/>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20040" y="6675120"/>
            <a:ext cx="11548872" cy="201168"/>
          </a:xfrm>
          <a:prstGeom prst="rect">
            <a:avLst/>
          </a:prstGeom>
          <a:noFill/>
        </p:spPr>
        <p:txBody>
          <a:bodyPr wrap="square">
            <a:spAutoFit/>
          </a:bodyPr>
          <a:lstStyle/>
          <a:p>
            <a:pPr algn="l"/>
            <a:r>
              <a:rPr sz="1050" b="0" i="1">
                <a:solidFill>
                  <a:srgbClr val="AAAAAA"/>
                </a:solidFill>
              </a:rPr>
              <a:t>Séance 4 — Bloc 5 : points de contrôle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4EE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594360"/>
          </a:xfrm>
          <a:prstGeom prst="rect">
            <a:avLst/>
          </a:prstGeom>
          <a:solidFill>
            <a:srgbClr val="1A3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548640"/>
            <a:ext cx="12188952" cy="45720"/>
          </a:xfrm>
          <a:prstGeom prst="rect">
            <a:avLst/>
          </a:prstGeom>
          <a:solidFill>
            <a:srgbClr val="6A0D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mage1.png"/>
          <p:cNvPicPr>
            <a:picLocks noChangeAspect="1"/>
          </p:cNvPicPr>
          <p:nvPr/>
        </p:nvPicPr>
        <p:blipFill>
          <a:blip r:embed="rId2"/>
          <a:stretch>
            <a:fillRect/>
          </a:stretch>
        </p:blipFill>
        <p:spPr>
          <a:xfrm>
            <a:off x="164592" y="109728"/>
            <a:ext cx="1158240" cy="347472"/>
          </a:xfrm>
          <a:prstGeom prst="rect">
            <a:avLst/>
          </a:prstGeom>
        </p:spPr>
      </p:pic>
      <p:sp>
        <p:nvSpPr>
          <p:cNvPr id="6" name="TextBox 5"/>
          <p:cNvSpPr txBox="1"/>
          <p:nvPr/>
        </p:nvSpPr>
        <p:spPr>
          <a:xfrm>
            <a:off x="1426464" y="73152"/>
            <a:ext cx="4754880" cy="237744"/>
          </a:xfrm>
          <a:prstGeom prst="rect">
            <a:avLst/>
          </a:prstGeom>
          <a:noFill/>
        </p:spPr>
        <p:txBody>
          <a:bodyPr wrap="square">
            <a:spAutoFit/>
          </a:bodyPr>
          <a:lstStyle/>
          <a:p>
            <a:pPr algn="l"/>
            <a:r>
              <a:rPr sz="1350" b="0" i="0">
                <a:solidFill>
                  <a:srgbClr val="FFFFFF"/>
                </a:solidFill>
              </a:rPr>
              <a:t>SÉANCE 4 — VMs SV1/SRVCore/CL10-01</a:t>
            </a:r>
          </a:p>
        </p:txBody>
      </p:sp>
      <p:sp>
        <p:nvSpPr>
          <p:cNvPr id="7" name="TextBox 6"/>
          <p:cNvSpPr txBox="1"/>
          <p:nvPr/>
        </p:nvSpPr>
        <p:spPr>
          <a:xfrm>
            <a:off x="8714232" y="45720"/>
            <a:ext cx="3291840" cy="246888"/>
          </a:xfrm>
          <a:prstGeom prst="rect">
            <a:avLst/>
          </a:prstGeom>
          <a:noFill/>
        </p:spPr>
        <p:txBody>
          <a:bodyPr wrap="square">
            <a:spAutoFit/>
          </a:bodyPr>
          <a:lstStyle/>
          <a:p>
            <a:pPr algn="r"/>
            <a:r>
              <a:rPr sz="1200" b="1" i="0">
                <a:solidFill>
                  <a:srgbClr val="FFFFFF"/>
                </a:solidFill>
              </a:rPr>
              <a:t>CHAFIK MOUSTAID — FORMATEUR</a:t>
            </a:r>
          </a:p>
        </p:txBody>
      </p:sp>
      <p:sp>
        <p:nvSpPr>
          <p:cNvPr id="8" name="TextBox 7"/>
          <p:cNvSpPr txBox="1"/>
          <p:nvPr/>
        </p:nvSpPr>
        <p:spPr>
          <a:xfrm>
            <a:off x="8714232" y="310896"/>
            <a:ext cx="3291840" cy="182880"/>
          </a:xfrm>
          <a:prstGeom prst="rect">
            <a:avLst/>
          </a:prstGeom>
          <a:noFill/>
        </p:spPr>
        <p:txBody>
          <a:bodyPr wrap="square">
            <a:spAutoFit/>
          </a:bodyPr>
          <a:lstStyle/>
          <a:p>
            <a:pPr algn="r"/>
            <a:r>
              <a:rPr sz="1100" b="0" i="0">
                <a:solidFill>
                  <a:srgbClr val="99BB99"/>
                </a:solidFill>
              </a:rPr>
              <a:t>Version 1 — Juin 2026</a:t>
            </a:r>
          </a:p>
        </p:txBody>
      </p:sp>
      <p:sp>
        <p:nvSpPr>
          <p:cNvPr id="9" name="TextBox 8"/>
          <p:cNvSpPr txBox="1"/>
          <p:nvPr/>
        </p:nvSpPr>
        <p:spPr>
          <a:xfrm>
            <a:off x="457200" y="685800"/>
            <a:ext cx="11274552" cy="530352"/>
          </a:xfrm>
          <a:prstGeom prst="rect">
            <a:avLst/>
          </a:prstGeom>
          <a:noFill/>
        </p:spPr>
        <p:txBody>
          <a:bodyPr wrap="square">
            <a:spAutoFit/>
          </a:bodyPr>
          <a:lstStyle/>
          <a:p>
            <a:pPr algn="l"/>
            <a:r>
              <a:rPr sz="2750" b="1" i="0">
                <a:solidFill>
                  <a:srgbClr val="1A3560"/>
                </a:solidFill>
              </a:rPr>
              <a:t>Checkpoints standards vs de production</a:t>
            </a:r>
          </a:p>
        </p:txBody>
      </p:sp>
      <p:sp>
        <p:nvSpPr>
          <p:cNvPr id="10" name="TextBox 9"/>
          <p:cNvSpPr txBox="1"/>
          <p:nvPr/>
        </p:nvSpPr>
        <p:spPr>
          <a:xfrm>
            <a:off x="457200" y="1188720"/>
            <a:ext cx="11274552" cy="310896"/>
          </a:xfrm>
          <a:prstGeom prst="rect">
            <a:avLst/>
          </a:prstGeom>
          <a:noFill/>
        </p:spPr>
        <p:txBody>
          <a:bodyPr wrap="square">
            <a:spAutoFit/>
          </a:bodyPr>
          <a:lstStyle/>
          <a:p>
            <a:pPr algn="l"/>
            <a:r>
              <a:rPr sz="1450" b="0" i="0">
                <a:solidFill>
                  <a:srgbClr val="595959"/>
                </a:solidFill>
              </a:rPr>
              <a:t>Une nuance importante sur les DC</a:t>
            </a:r>
          </a:p>
        </p:txBody>
      </p:sp>
      <p:sp>
        <p:nvSpPr>
          <p:cNvPr id="11" name="Rectangle 10"/>
          <p:cNvSpPr/>
          <p:nvPr/>
        </p:nvSpPr>
        <p:spPr>
          <a:xfrm>
            <a:off x="457200" y="1463040"/>
            <a:ext cx="1280160" cy="45720"/>
          </a:xfrm>
          <a:prstGeom prst="rect">
            <a:avLst/>
          </a:prstGeom>
          <a:solidFill>
            <a:srgbClr val="6A0D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57200" y="1783080"/>
            <a:ext cx="11274552" cy="384048"/>
          </a:xfrm>
          <a:prstGeom prst="rect">
            <a:avLst/>
          </a:prstGeom>
          <a:solidFill>
            <a:srgbClr val="3A00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66928" y="1856231"/>
            <a:ext cx="1846539" cy="256032"/>
          </a:xfrm>
          <a:prstGeom prst="rect">
            <a:avLst/>
          </a:prstGeom>
          <a:noFill/>
        </p:spPr>
        <p:txBody>
          <a:bodyPr wrap="square">
            <a:spAutoFit/>
          </a:bodyPr>
          <a:lstStyle/>
          <a:p>
            <a:pPr algn="l"/>
            <a:r>
              <a:rPr sz="1300" b="1" i="0">
                <a:solidFill>
                  <a:srgbClr val="FFFFFF"/>
                </a:solidFill>
              </a:rPr>
              <a:t>Type</a:t>
            </a:r>
          </a:p>
        </p:txBody>
      </p:sp>
      <p:sp>
        <p:nvSpPr>
          <p:cNvPr id="14" name="TextBox 13"/>
          <p:cNvSpPr txBox="1"/>
          <p:nvPr/>
        </p:nvSpPr>
        <p:spPr>
          <a:xfrm>
            <a:off x="2596347" y="1856231"/>
            <a:ext cx="4777922" cy="256032"/>
          </a:xfrm>
          <a:prstGeom prst="rect">
            <a:avLst/>
          </a:prstGeom>
          <a:noFill/>
        </p:spPr>
        <p:txBody>
          <a:bodyPr wrap="square">
            <a:spAutoFit/>
          </a:bodyPr>
          <a:lstStyle/>
          <a:p>
            <a:pPr algn="l"/>
            <a:r>
              <a:rPr sz="1300" b="1" i="0">
                <a:solidFill>
                  <a:srgbClr val="FFFFFF"/>
                </a:solidFill>
              </a:rPr>
              <a:t>Fonctionnement</a:t>
            </a:r>
          </a:p>
        </p:txBody>
      </p:sp>
      <p:sp>
        <p:nvSpPr>
          <p:cNvPr id="15" name="TextBox 14"/>
          <p:cNvSpPr txBox="1"/>
          <p:nvPr/>
        </p:nvSpPr>
        <p:spPr>
          <a:xfrm>
            <a:off x="7557150" y="1856231"/>
            <a:ext cx="4101449" cy="256032"/>
          </a:xfrm>
          <a:prstGeom prst="rect">
            <a:avLst/>
          </a:prstGeom>
          <a:noFill/>
        </p:spPr>
        <p:txBody>
          <a:bodyPr wrap="square">
            <a:spAutoFit/>
          </a:bodyPr>
          <a:lstStyle/>
          <a:p>
            <a:pPr algn="l"/>
            <a:r>
              <a:rPr sz="1300" b="1" i="0">
                <a:solidFill>
                  <a:srgbClr val="FFFFFF"/>
                </a:solidFill>
              </a:rPr>
              <a:t>Recommandé pour</a:t>
            </a:r>
          </a:p>
        </p:txBody>
      </p:sp>
      <p:sp>
        <p:nvSpPr>
          <p:cNvPr id="16" name="Rectangle 15"/>
          <p:cNvSpPr/>
          <p:nvPr/>
        </p:nvSpPr>
        <p:spPr>
          <a:xfrm>
            <a:off x="457200" y="2167128"/>
            <a:ext cx="11274552"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66928" y="2221992"/>
            <a:ext cx="1846539" cy="457200"/>
          </a:xfrm>
          <a:prstGeom prst="rect">
            <a:avLst/>
          </a:prstGeom>
          <a:noFill/>
        </p:spPr>
        <p:txBody>
          <a:bodyPr wrap="square">
            <a:spAutoFit/>
          </a:bodyPr>
          <a:lstStyle/>
          <a:p>
            <a:pPr algn="l"/>
            <a:r>
              <a:rPr sz="1150" b="1" i="0">
                <a:solidFill>
                  <a:srgbClr val="1A3560"/>
                </a:solidFill>
              </a:rPr>
              <a:t>Standard</a:t>
            </a:r>
          </a:p>
        </p:txBody>
      </p:sp>
      <p:sp>
        <p:nvSpPr>
          <p:cNvPr id="18" name="TextBox 17"/>
          <p:cNvSpPr txBox="1"/>
          <p:nvPr/>
        </p:nvSpPr>
        <p:spPr>
          <a:xfrm>
            <a:off x="2596347" y="2221992"/>
            <a:ext cx="4777922" cy="457200"/>
          </a:xfrm>
          <a:prstGeom prst="rect">
            <a:avLst/>
          </a:prstGeom>
          <a:noFill/>
        </p:spPr>
        <p:txBody>
          <a:bodyPr wrap="square">
            <a:spAutoFit/>
          </a:bodyPr>
          <a:lstStyle/>
          <a:p>
            <a:pPr algn="l"/>
            <a:r>
              <a:rPr sz="1150" b="0" i="0">
                <a:solidFill>
                  <a:srgbClr val="595959"/>
                </a:solidFill>
              </a:rPr>
              <a:t>Capture l'état mémoire ET disque, comme une pause/reprise</a:t>
            </a:r>
          </a:p>
        </p:txBody>
      </p:sp>
      <p:sp>
        <p:nvSpPr>
          <p:cNvPr id="19" name="TextBox 18"/>
          <p:cNvSpPr txBox="1"/>
          <p:nvPr/>
        </p:nvSpPr>
        <p:spPr>
          <a:xfrm>
            <a:off x="7557150" y="2221992"/>
            <a:ext cx="4101449" cy="457200"/>
          </a:xfrm>
          <a:prstGeom prst="rect">
            <a:avLst/>
          </a:prstGeom>
          <a:noFill/>
        </p:spPr>
        <p:txBody>
          <a:bodyPr wrap="square">
            <a:spAutoFit/>
          </a:bodyPr>
          <a:lstStyle/>
          <a:p>
            <a:pPr algn="l"/>
            <a:r>
              <a:rPr sz="1150" b="0" i="0">
                <a:solidFill>
                  <a:srgbClr val="595959"/>
                </a:solidFill>
              </a:rPr>
              <a:t>VMs sans rôle sensible à l'horodatage</a:t>
            </a:r>
          </a:p>
        </p:txBody>
      </p:sp>
      <p:sp>
        <p:nvSpPr>
          <p:cNvPr id="20" name="Rectangle 19"/>
          <p:cNvSpPr/>
          <p:nvPr/>
        </p:nvSpPr>
        <p:spPr>
          <a:xfrm>
            <a:off x="457200" y="2734056"/>
            <a:ext cx="11274552" cy="566928"/>
          </a:xfrm>
          <a:prstGeom prst="rect">
            <a:avLst/>
          </a:prstGeom>
          <a:solidFill>
            <a:srgbClr val="F3E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66928" y="2788920"/>
            <a:ext cx="1846539" cy="457200"/>
          </a:xfrm>
          <a:prstGeom prst="rect">
            <a:avLst/>
          </a:prstGeom>
          <a:noFill/>
        </p:spPr>
        <p:txBody>
          <a:bodyPr wrap="square">
            <a:spAutoFit/>
          </a:bodyPr>
          <a:lstStyle/>
          <a:p>
            <a:pPr algn="l"/>
            <a:r>
              <a:rPr sz="1150" b="1" i="0">
                <a:solidFill>
                  <a:srgbClr val="1A3560"/>
                </a:solidFill>
              </a:rPr>
              <a:t>De production</a:t>
            </a:r>
          </a:p>
        </p:txBody>
      </p:sp>
      <p:sp>
        <p:nvSpPr>
          <p:cNvPr id="22" name="TextBox 21"/>
          <p:cNvSpPr txBox="1"/>
          <p:nvPr/>
        </p:nvSpPr>
        <p:spPr>
          <a:xfrm>
            <a:off x="2596347" y="2788920"/>
            <a:ext cx="4777922" cy="457200"/>
          </a:xfrm>
          <a:prstGeom prst="rect">
            <a:avLst/>
          </a:prstGeom>
          <a:noFill/>
        </p:spPr>
        <p:txBody>
          <a:bodyPr wrap="square">
            <a:spAutoFit/>
          </a:bodyPr>
          <a:lstStyle/>
          <a:p>
            <a:pPr algn="l"/>
            <a:r>
              <a:rPr sz="1150" b="0" i="0">
                <a:solidFill>
                  <a:srgbClr val="595959"/>
                </a:solidFill>
              </a:rPr>
              <a:t>Utilise VSS, sans capturer l'état mémoire (redémarrage propre au retour)</a:t>
            </a:r>
          </a:p>
        </p:txBody>
      </p:sp>
      <p:sp>
        <p:nvSpPr>
          <p:cNvPr id="23" name="TextBox 22"/>
          <p:cNvSpPr txBox="1"/>
          <p:nvPr/>
        </p:nvSpPr>
        <p:spPr>
          <a:xfrm>
            <a:off x="7557150" y="2788920"/>
            <a:ext cx="4101449" cy="457200"/>
          </a:xfrm>
          <a:prstGeom prst="rect">
            <a:avLst/>
          </a:prstGeom>
          <a:noFill/>
        </p:spPr>
        <p:txBody>
          <a:bodyPr wrap="square">
            <a:spAutoFit/>
          </a:bodyPr>
          <a:lstStyle/>
          <a:p>
            <a:pPr algn="l"/>
            <a:r>
              <a:rPr sz="1150" b="0" i="0">
                <a:solidFill>
                  <a:srgbClr val="595959"/>
                </a:solidFill>
              </a:rPr>
              <a:t>AD1, AD2 : évite la corruption de la base AD</a:t>
            </a:r>
          </a:p>
        </p:txBody>
      </p:sp>
      <p:sp>
        <p:nvSpPr>
          <p:cNvPr id="24" name="Rectangle 23"/>
          <p:cNvSpPr/>
          <p:nvPr/>
        </p:nvSpPr>
        <p:spPr>
          <a:xfrm>
            <a:off x="457200" y="3575304"/>
            <a:ext cx="11274552" cy="868680"/>
          </a:xfrm>
          <a:prstGeom prst="rect">
            <a:avLst/>
          </a:prstGeom>
          <a:solidFill>
            <a:srgbClr val="F3EAFB"/>
          </a:solidFill>
          <a:ln w="25400">
            <a:solidFill>
              <a:srgbClr val="6A0D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57200" y="3575304"/>
            <a:ext cx="502920" cy="868680"/>
          </a:xfrm>
          <a:prstGeom prst="rect">
            <a:avLst/>
          </a:prstGeom>
          <a:solidFill>
            <a:srgbClr val="6A0D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12064" y="3808476"/>
            <a:ext cx="393192" cy="402336"/>
          </a:xfrm>
          <a:prstGeom prst="rect">
            <a:avLst/>
          </a:prstGeom>
          <a:noFill/>
        </p:spPr>
        <p:txBody>
          <a:bodyPr wrap="none">
            <a:spAutoFit/>
          </a:bodyPr>
          <a:lstStyle/>
          <a:p>
            <a:pPr algn="ctr"/>
            <a:r>
              <a:rPr sz="2275" b="1" i="0">
                <a:solidFill>
                  <a:srgbClr val="FFFFFF"/>
                </a:solidFill>
              </a:rPr>
              <a:t>⚠️</a:t>
            </a:r>
          </a:p>
        </p:txBody>
      </p:sp>
      <p:sp>
        <p:nvSpPr>
          <p:cNvPr id="27" name="TextBox 26"/>
          <p:cNvSpPr txBox="1"/>
          <p:nvPr/>
        </p:nvSpPr>
        <p:spPr>
          <a:xfrm>
            <a:off x="1051560" y="3648456"/>
            <a:ext cx="10588752" cy="292608"/>
          </a:xfrm>
          <a:prstGeom prst="rect">
            <a:avLst/>
          </a:prstGeom>
          <a:noFill/>
        </p:spPr>
        <p:txBody>
          <a:bodyPr wrap="square">
            <a:spAutoFit/>
          </a:bodyPr>
          <a:lstStyle/>
          <a:p>
            <a:pPr algn="l"/>
            <a:r>
              <a:rPr sz="1500" b="1" i="0">
                <a:solidFill>
                  <a:srgbClr val="1A005D"/>
                </a:solidFill>
              </a:rPr>
              <a:t>Important pour AD1/AD2</a:t>
            </a:r>
          </a:p>
        </p:txBody>
      </p:sp>
      <p:sp>
        <p:nvSpPr>
          <p:cNvPr id="28" name="TextBox 27"/>
          <p:cNvSpPr txBox="1"/>
          <p:nvPr/>
        </p:nvSpPr>
        <p:spPr>
          <a:xfrm>
            <a:off x="1051560" y="3941064"/>
            <a:ext cx="10588752" cy="411479"/>
          </a:xfrm>
          <a:prstGeom prst="rect">
            <a:avLst/>
          </a:prstGeom>
          <a:noFill/>
        </p:spPr>
        <p:txBody>
          <a:bodyPr wrap="square">
            <a:spAutoFit/>
          </a:bodyPr>
          <a:lstStyle/>
          <a:p>
            <a:pPr algn="l"/>
            <a:r>
              <a:rPr sz="1250" b="0" i="0">
                <a:solidFill>
                  <a:srgbClr val="595959"/>
                </a:solidFill>
              </a:rPr>
              <a:t>Restaurer un checkpoint standard sur un contrôleur de domaine déjà promu peut provoquer un « USN rollback » et corrompre la réplication AD : toujours utiliser les checkpoints de production sur les DC.</a:t>
            </a:r>
          </a:p>
        </p:txBody>
      </p:sp>
      <p:sp>
        <p:nvSpPr>
          <p:cNvPr id="29" name="Rectangle 28"/>
          <p:cNvSpPr/>
          <p:nvPr/>
        </p:nvSpPr>
        <p:spPr>
          <a:xfrm>
            <a:off x="0" y="6693408"/>
            <a:ext cx="12188952" cy="32004"/>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20040" y="6675120"/>
            <a:ext cx="11548872" cy="201168"/>
          </a:xfrm>
          <a:prstGeom prst="rect">
            <a:avLst/>
          </a:prstGeom>
          <a:noFill/>
        </p:spPr>
        <p:txBody>
          <a:bodyPr wrap="square">
            <a:spAutoFit/>
          </a:bodyPr>
          <a:lstStyle/>
          <a:p>
            <a:pPr algn="l"/>
            <a:r>
              <a:rPr sz="1050" b="0" i="1">
                <a:solidFill>
                  <a:srgbClr val="AAAAAA"/>
                </a:solidFill>
              </a:rPr>
              <a:t>Séance 4 — Bloc 5 : points de contrôle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4EE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594360"/>
          </a:xfrm>
          <a:prstGeom prst="rect">
            <a:avLst/>
          </a:prstGeom>
          <a:solidFill>
            <a:srgbClr val="1A3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548640"/>
            <a:ext cx="12188952" cy="45720"/>
          </a:xfrm>
          <a:prstGeom prst="rect">
            <a:avLst/>
          </a:prstGeom>
          <a:solidFill>
            <a:srgbClr val="6A0D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mage1.png"/>
          <p:cNvPicPr>
            <a:picLocks noChangeAspect="1"/>
          </p:cNvPicPr>
          <p:nvPr/>
        </p:nvPicPr>
        <p:blipFill>
          <a:blip r:embed="rId2"/>
          <a:stretch>
            <a:fillRect/>
          </a:stretch>
        </p:blipFill>
        <p:spPr>
          <a:xfrm>
            <a:off x="164592" y="109728"/>
            <a:ext cx="1158240" cy="347472"/>
          </a:xfrm>
          <a:prstGeom prst="rect">
            <a:avLst/>
          </a:prstGeom>
        </p:spPr>
      </p:pic>
      <p:sp>
        <p:nvSpPr>
          <p:cNvPr id="6" name="TextBox 5"/>
          <p:cNvSpPr txBox="1"/>
          <p:nvPr/>
        </p:nvSpPr>
        <p:spPr>
          <a:xfrm>
            <a:off x="1426464" y="73152"/>
            <a:ext cx="4754880" cy="237744"/>
          </a:xfrm>
          <a:prstGeom prst="rect">
            <a:avLst/>
          </a:prstGeom>
          <a:noFill/>
        </p:spPr>
        <p:txBody>
          <a:bodyPr wrap="square">
            <a:spAutoFit/>
          </a:bodyPr>
          <a:lstStyle/>
          <a:p>
            <a:pPr algn="l"/>
            <a:r>
              <a:rPr sz="1350" b="0" i="0">
                <a:solidFill>
                  <a:srgbClr val="FFFFFF"/>
                </a:solidFill>
              </a:rPr>
              <a:t>SÉANCE 4 — VMs SV1/SRVCore/CL10-01</a:t>
            </a:r>
          </a:p>
        </p:txBody>
      </p:sp>
      <p:sp>
        <p:nvSpPr>
          <p:cNvPr id="7" name="TextBox 6"/>
          <p:cNvSpPr txBox="1"/>
          <p:nvPr/>
        </p:nvSpPr>
        <p:spPr>
          <a:xfrm>
            <a:off x="8714232" y="45720"/>
            <a:ext cx="3291840" cy="246888"/>
          </a:xfrm>
          <a:prstGeom prst="rect">
            <a:avLst/>
          </a:prstGeom>
          <a:noFill/>
        </p:spPr>
        <p:txBody>
          <a:bodyPr wrap="square">
            <a:spAutoFit/>
          </a:bodyPr>
          <a:lstStyle/>
          <a:p>
            <a:pPr algn="r"/>
            <a:r>
              <a:rPr sz="1200" b="1" i="0">
                <a:solidFill>
                  <a:srgbClr val="FFFFFF"/>
                </a:solidFill>
              </a:rPr>
              <a:t>CHAFIK MOUSTAID — FORMATEUR</a:t>
            </a:r>
          </a:p>
        </p:txBody>
      </p:sp>
      <p:sp>
        <p:nvSpPr>
          <p:cNvPr id="8" name="TextBox 7"/>
          <p:cNvSpPr txBox="1"/>
          <p:nvPr/>
        </p:nvSpPr>
        <p:spPr>
          <a:xfrm>
            <a:off x="8714232" y="310896"/>
            <a:ext cx="3291840" cy="182880"/>
          </a:xfrm>
          <a:prstGeom prst="rect">
            <a:avLst/>
          </a:prstGeom>
          <a:noFill/>
        </p:spPr>
        <p:txBody>
          <a:bodyPr wrap="square">
            <a:spAutoFit/>
          </a:bodyPr>
          <a:lstStyle/>
          <a:p>
            <a:pPr algn="r"/>
            <a:r>
              <a:rPr sz="1100" b="0" i="0">
                <a:solidFill>
                  <a:srgbClr val="99BB99"/>
                </a:solidFill>
              </a:rPr>
              <a:t>Version 1 — Juin 2026</a:t>
            </a:r>
          </a:p>
        </p:txBody>
      </p:sp>
      <p:sp>
        <p:nvSpPr>
          <p:cNvPr id="9" name="TextBox 8"/>
          <p:cNvSpPr txBox="1"/>
          <p:nvPr/>
        </p:nvSpPr>
        <p:spPr>
          <a:xfrm>
            <a:off x="457200" y="685800"/>
            <a:ext cx="11274552" cy="530352"/>
          </a:xfrm>
          <a:prstGeom prst="rect">
            <a:avLst/>
          </a:prstGeom>
          <a:noFill/>
        </p:spPr>
        <p:txBody>
          <a:bodyPr wrap="square">
            <a:spAutoFit/>
          </a:bodyPr>
          <a:lstStyle/>
          <a:p>
            <a:pPr algn="l"/>
            <a:r>
              <a:rPr sz="2750" b="1" i="0">
                <a:solidFill>
                  <a:srgbClr val="1A3560"/>
                </a:solidFill>
              </a:rPr>
              <a:t>Bonnes pratiques des checkpoints</a:t>
            </a:r>
          </a:p>
        </p:txBody>
      </p:sp>
      <p:sp>
        <p:nvSpPr>
          <p:cNvPr id="10" name="TextBox 9"/>
          <p:cNvSpPr txBox="1"/>
          <p:nvPr/>
        </p:nvSpPr>
        <p:spPr>
          <a:xfrm>
            <a:off x="457200" y="1188720"/>
            <a:ext cx="11274552" cy="310896"/>
          </a:xfrm>
          <a:prstGeom prst="rect">
            <a:avLst/>
          </a:prstGeom>
          <a:noFill/>
        </p:spPr>
        <p:txBody>
          <a:bodyPr wrap="square">
            <a:spAutoFit/>
          </a:bodyPr>
          <a:lstStyle/>
          <a:p>
            <a:pPr algn="l"/>
            <a:r>
              <a:rPr sz="1450" b="0" i="0">
                <a:solidFill>
                  <a:srgbClr val="595959"/>
                </a:solidFill>
              </a:rPr>
              <a:t>Un outil puissant, à utiliser avec méthode</a:t>
            </a:r>
          </a:p>
        </p:txBody>
      </p:sp>
      <p:sp>
        <p:nvSpPr>
          <p:cNvPr id="11" name="Rectangle 10"/>
          <p:cNvSpPr/>
          <p:nvPr/>
        </p:nvSpPr>
        <p:spPr>
          <a:xfrm>
            <a:off x="457200" y="1463040"/>
            <a:ext cx="1280160" cy="45720"/>
          </a:xfrm>
          <a:prstGeom prst="rect">
            <a:avLst/>
          </a:prstGeom>
          <a:solidFill>
            <a:srgbClr val="6A0D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57200" y="1828800"/>
            <a:ext cx="11274552" cy="10972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57200" y="1828800"/>
            <a:ext cx="548640" cy="1097280"/>
          </a:xfrm>
          <a:prstGeom prst="rect">
            <a:avLst/>
          </a:prstGeom>
          <a:solidFill>
            <a:srgbClr val="3A00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10947" y="2176272"/>
            <a:ext cx="441146" cy="400110"/>
          </a:xfrm>
          <a:prstGeom prst="rect">
            <a:avLst/>
          </a:prstGeom>
          <a:noFill/>
        </p:spPr>
        <p:txBody>
          <a:bodyPr wrap="none">
            <a:spAutoFit/>
          </a:bodyPr>
          <a:lstStyle/>
          <a:p>
            <a:pPr algn="ctr"/>
            <a:r>
              <a:rPr sz="2075" b="1" i="0" dirty="0" smtClean="0">
                <a:solidFill>
                  <a:srgbClr val="FFFFFF"/>
                </a:solidFill>
              </a:rPr>
              <a:t>🏷</a:t>
            </a:r>
            <a:endParaRPr sz="2000" b="1" i="0" dirty="0">
              <a:solidFill>
                <a:srgbClr val="FFFFFF"/>
              </a:solidFill>
            </a:endParaRPr>
          </a:p>
        </p:txBody>
      </p:sp>
      <p:sp>
        <p:nvSpPr>
          <p:cNvPr id="15" name="TextBox 14"/>
          <p:cNvSpPr txBox="1"/>
          <p:nvPr/>
        </p:nvSpPr>
        <p:spPr>
          <a:xfrm>
            <a:off x="1143000" y="1947672"/>
            <a:ext cx="10360152" cy="292608"/>
          </a:xfrm>
          <a:prstGeom prst="rect">
            <a:avLst/>
          </a:prstGeom>
          <a:noFill/>
        </p:spPr>
        <p:txBody>
          <a:bodyPr wrap="square">
            <a:spAutoFit/>
          </a:bodyPr>
          <a:lstStyle/>
          <a:p>
            <a:pPr algn="l"/>
            <a:r>
              <a:rPr sz="1500" b="1" i="0">
                <a:solidFill>
                  <a:srgbClr val="1A3560"/>
                </a:solidFill>
              </a:rPr>
              <a:t>Nommage explicite</a:t>
            </a:r>
          </a:p>
        </p:txBody>
      </p:sp>
      <p:sp>
        <p:nvSpPr>
          <p:cNvPr id="16" name="TextBox 15"/>
          <p:cNvSpPr txBox="1"/>
          <p:nvPr/>
        </p:nvSpPr>
        <p:spPr>
          <a:xfrm>
            <a:off x="1143000" y="2286000"/>
            <a:ext cx="10360152" cy="548640"/>
          </a:xfrm>
          <a:prstGeom prst="rect">
            <a:avLst/>
          </a:prstGeom>
          <a:noFill/>
        </p:spPr>
        <p:txBody>
          <a:bodyPr wrap="square">
            <a:spAutoFit/>
          </a:bodyPr>
          <a:lstStyle/>
          <a:p>
            <a:pPr algn="l"/>
            <a:r>
              <a:rPr sz="1200" b="0" i="0">
                <a:solidFill>
                  <a:srgbClr val="595959"/>
                </a:solidFill>
              </a:rPr>
              <a:t>« Avant-install-ADDS » plutôt que « Checkpoint 1 » : le nom doit dire ce que l'on s'apprête à faire.</a:t>
            </a:r>
          </a:p>
        </p:txBody>
      </p:sp>
      <p:sp>
        <p:nvSpPr>
          <p:cNvPr id="17" name="Rectangle 16"/>
          <p:cNvSpPr/>
          <p:nvPr/>
        </p:nvSpPr>
        <p:spPr>
          <a:xfrm>
            <a:off x="457200" y="3063240"/>
            <a:ext cx="11274552" cy="10972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57200" y="3063240"/>
            <a:ext cx="548640" cy="1097280"/>
          </a:xfrm>
          <a:prstGeom prst="rect">
            <a:avLst/>
          </a:prstGeom>
          <a:solidFill>
            <a:srgbClr val="3A00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7200" y="3410712"/>
            <a:ext cx="548640" cy="402336"/>
          </a:xfrm>
          <a:prstGeom prst="rect">
            <a:avLst/>
          </a:prstGeom>
          <a:noFill/>
        </p:spPr>
        <p:txBody>
          <a:bodyPr wrap="none">
            <a:spAutoFit/>
          </a:bodyPr>
          <a:lstStyle/>
          <a:p>
            <a:pPr algn="ctr"/>
            <a:r>
              <a:rPr sz="2075" b="1" i="0">
                <a:solidFill>
                  <a:srgbClr val="FFFFFF"/>
                </a:solidFill>
              </a:rPr>
              <a:t>🧹</a:t>
            </a:r>
          </a:p>
        </p:txBody>
      </p:sp>
      <p:sp>
        <p:nvSpPr>
          <p:cNvPr id="20" name="TextBox 19"/>
          <p:cNvSpPr txBox="1"/>
          <p:nvPr/>
        </p:nvSpPr>
        <p:spPr>
          <a:xfrm>
            <a:off x="1143000" y="3182112"/>
            <a:ext cx="10360152" cy="292608"/>
          </a:xfrm>
          <a:prstGeom prst="rect">
            <a:avLst/>
          </a:prstGeom>
          <a:noFill/>
        </p:spPr>
        <p:txBody>
          <a:bodyPr wrap="square">
            <a:spAutoFit/>
          </a:bodyPr>
          <a:lstStyle/>
          <a:p>
            <a:pPr algn="l"/>
            <a:r>
              <a:rPr sz="1500" b="1" i="0">
                <a:solidFill>
                  <a:srgbClr val="1A3560"/>
                </a:solidFill>
              </a:rPr>
              <a:t>Purge régulière</a:t>
            </a:r>
          </a:p>
        </p:txBody>
      </p:sp>
      <p:sp>
        <p:nvSpPr>
          <p:cNvPr id="21" name="TextBox 20"/>
          <p:cNvSpPr txBox="1"/>
          <p:nvPr/>
        </p:nvSpPr>
        <p:spPr>
          <a:xfrm>
            <a:off x="1143000" y="3520440"/>
            <a:ext cx="10360152" cy="548640"/>
          </a:xfrm>
          <a:prstGeom prst="rect">
            <a:avLst/>
          </a:prstGeom>
          <a:noFill/>
        </p:spPr>
        <p:txBody>
          <a:bodyPr wrap="square">
            <a:spAutoFit/>
          </a:bodyPr>
          <a:lstStyle/>
          <a:p>
            <a:pPr algn="l"/>
            <a:r>
              <a:rPr sz="1200" b="0" i="0">
                <a:solidFill>
                  <a:srgbClr val="595959"/>
                </a:solidFill>
              </a:rPr>
              <a:t>Supprimer les checkpoints obsolètes : ils consomment de l'espace disque et peuvent ralentir la VM.</a:t>
            </a:r>
          </a:p>
        </p:txBody>
      </p:sp>
      <p:sp>
        <p:nvSpPr>
          <p:cNvPr id="22" name="Rectangle 21"/>
          <p:cNvSpPr/>
          <p:nvPr/>
        </p:nvSpPr>
        <p:spPr>
          <a:xfrm>
            <a:off x="457200" y="4297680"/>
            <a:ext cx="11274552" cy="10972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57200" y="4297680"/>
            <a:ext cx="548640" cy="1097280"/>
          </a:xfrm>
          <a:prstGeom prst="rect">
            <a:avLst/>
          </a:prstGeom>
          <a:solidFill>
            <a:srgbClr val="3A00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57200" y="4645152"/>
            <a:ext cx="548640" cy="402336"/>
          </a:xfrm>
          <a:prstGeom prst="rect">
            <a:avLst/>
          </a:prstGeom>
          <a:noFill/>
        </p:spPr>
        <p:txBody>
          <a:bodyPr wrap="none">
            <a:spAutoFit/>
          </a:bodyPr>
          <a:lstStyle/>
          <a:p>
            <a:pPr algn="ctr"/>
            <a:r>
              <a:rPr sz="2075" b="1" i="0">
                <a:solidFill>
                  <a:srgbClr val="FFFFFF"/>
                </a:solidFill>
              </a:rPr>
              <a:t>🚫</a:t>
            </a:r>
          </a:p>
        </p:txBody>
      </p:sp>
      <p:sp>
        <p:nvSpPr>
          <p:cNvPr id="25" name="TextBox 24"/>
          <p:cNvSpPr txBox="1"/>
          <p:nvPr/>
        </p:nvSpPr>
        <p:spPr>
          <a:xfrm>
            <a:off x="1143000" y="4416552"/>
            <a:ext cx="10360152" cy="292608"/>
          </a:xfrm>
          <a:prstGeom prst="rect">
            <a:avLst/>
          </a:prstGeom>
          <a:noFill/>
        </p:spPr>
        <p:txBody>
          <a:bodyPr wrap="square">
            <a:spAutoFit/>
          </a:bodyPr>
          <a:lstStyle/>
          <a:p>
            <a:pPr algn="l"/>
            <a:r>
              <a:rPr sz="1500" b="1" i="0">
                <a:solidFill>
                  <a:srgbClr val="1A3560"/>
                </a:solidFill>
              </a:rPr>
              <a:t>Jamais en production réelle</a:t>
            </a:r>
          </a:p>
        </p:txBody>
      </p:sp>
      <p:sp>
        <p:nvSpPr>
          <p:cNvPr id="26" name="TextBox 25"/>
          <p:cNvSpPr txBox="1"/>
          <p:nvPr/>
        </p:nvSpPr>
        <p:spPr>
          <a:xfrm>
            <a:off x="1143000" y="4754880"/>
            <a:ext cx="10360152" cy="548640"/>
          </a:xfrm>
          <a:prstGeom prst="rect">
            <a:avLst/>
          </a:prstGeom>
          <a:noFill/>
        </p:spPr>
        <p:txBody>
          <a:bodyPr wrap="square">
            <a:spAutoFit/>
          </a:bodyPr>
          <a:lstStyle/>
          <a:p>
            <a:pPr algn="l"/>
            <a:r>
              <a:rPr sz="1200" b="0" i="0">
                <a:solidFill>
                  <a:srgbClr val="595959"/>
                </a:solidFill>
              </a:rPr>
              <a:t>Les checkpoints standards sont un outil de labo/test : à éviter sur des serveurs de production sans précaution VSS.</a:t>
            </a:r>
          </a:p>
        </p:txBody>
      </p:sp>
      <p:sp>
        <p:nvSpPr>
          <p:cNvPr id="27" name="Rectangle 26"/>
          <p:cNvSpPr/>
          <p:nvPr/>
        </p:nvSpPr>
        <p:spPr>
          <a:xfrm>
            <a:off x="0" y="6693408"/>
            <a:ext cx="12188952" cy="32004"/>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20040" y="6675120"/>
            <a:ext cx="11548872" cy="201168"/>
          </a:xfrm>
          <a:prstGeom prst="rect">
            <a:avLst/>
          </a:prstGeom>
          <a:noFill/>
        </p:spPr>
        <p:txBody>
          <a:bodyPr wrap="square">
            <a:spAutoFit/>
          </a:bodyPr>
          <a:lstStyle/>
          <a:p>
            <a:pPr algn="l"/>
            <a:r>
              <a:rPr sz="1050" b="0" i="1">
                <a:solidFill>
                  <a:srgbClr val="AAAAAA"/>
                </a:solidFill>
              </a:rPr>
              <a:t>Séance 4 — Bloc 5 : points de contrôle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4EE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594360"/>
          </a:xfrm>
          <a:prstGeom prst="rect">
            <a:avLst/>
          </a:prstGeom>
          <a:solidFill>
            <a:srgbClr val="1A3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548640"/>
            <a:ext cx="12188952" cy="45720"/>
          </a:xfrm>
          <a:prstGeom prst="rect">
            <a:avLst/>
          </a:prstGeom>
          <a:solidFill>
            <a:srgbClr val="6A0D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mage1.png"/>
          <p:cNvPicPr>
            <a:picLocks noChangeAspect="1"/>
          </p:cNvPicPr>
          <p:nvPr/>
        </p:nvPicPr>
        <p:blipFill>
          <a:blip r:embed="rId2"/>
          <a:stretch>
            <a:fillRect/>
          </a:stretch>
        </p:blipFill>
        <p:spPr>
          <a:xfrm>
            <a:off x="164592" y="109728"/>
            <a:ext cx="1158240" cy="347472"/>
          </a:xfrm>
          <a:prstGeom prst="rect">
            <a:avLst/>
          </a:prstGeom>
        </p:spPr>
      </p:pic>
      <p:sp>
        <p:nvSpPr>
          <p:cNvPr id="6" name="TextBox 5"/>
          <p:cNvSpPr txBox="1"/>
          <p:nvPr/>
        </p:nvSpPr>
        <p:spPr>
          <a:xfrm>
            <a:off x="1426464" y="73152"/>
            <a:ext cx="4754880" cy="237744"/>
          </a:xfrm>
          <a:prstGeom prst="rect">
            <a:avLst/>
          </a:prstGeom>
          <a:noFill/>
        </p:spPr>
        <p:txBody>
          <a:bodyPr wrap="square">
            <a:spAutoFit/>
          </a:bodyPr>
          <a:lstStyle/>
          <a:p>
            <a:pPr algn="l"/>
            <a:r>
              <a:rPr sz="1350" b="0" i="0">
                <a:solidFill>
                  <a:srgbClr val="FFFFFF"/>
                </a:solidFill>
              </a:rPr>
              <a:t>SÉANCE 4 — VMs SV1/SRVCore/CL10-01</a:t>
            </a:r>
          </a:p>
        </p:txBody>
      </p:sp>
      <p:sp>
        <p:nvSpPr>
          <p:cNvPr id="7" name="TextBox 6"/>
          <p:cNvSpPr txBox="1"/>
          <p:nvPr/>
        </p:nvSpPr>
        <p:spPr>
          <a:xfrm>
            <a:off x="8714232" y="45720"/>
            <a:ext cx="3291840" cy="246888"/>
          </a:xfrm>
          <a:prstGeom prst="rect">
            <a:avLst/>
          </a:prstGeom>
          <a:noFill/>
        </p:spPr>
        <p:txBody>
          <a:bodyPr wrap="square">
            <a:spAutoFit/>
          </a:bodyPr>
          <a:lstStyle/>
          <a:p>
            <a:pPr algn="r"/>
            <a:r>
              <a:rPr sz="1200" b="1" i="0">
                <a:solidFill>
                  <a:srgbClr val="FFFFFF"/>
                </a:solidFill>
              </a:rPr>
              <a:t>CHAFIK MOUSTAID — FORMATEUR</a:t>
            </a:r>
          </a:p>
        </p:txBody>
      </p:sp>
      <p:sp>
        <p:nvSpPr>
          <p:cNvPr id="8" name="TextBox 7"/>
          <p:cNvSpPr txBox="1"/>
          <p:nvPr/>
        </p:nvSpPr>
        <p:spPr>
          <a:xfrm>
            <a:off x="8714232" y="310896"/>
            <a:ext cx="3291840" cy="182880"/>
          </a:xfrm>
          <a:prstGeom prst="rect">
            <a:avLst/>
          </a:prstGeom>
          <a:noFill/>
        </p:spPr>
        <p:txBody>
          <a:bodyPr wrap="square">
            <a:spAutoFit/>
          </a:bodyPr>
          <a:lstStyle/>
          <a:p>
            <a:pPr algn="r"/>
            <a:r>
              <a:rPr sz="1100" b="0" i="0">
                <a:solidFill>
                  <a:srgbClr val="99BB99"/>
                </a:solidFill>
              </a:rPr>
              <a:t>Version 1 — Juin 2026</a:t>
            </a:r>
          </a:p>
        </p:txBody>
      </p:sp>
      <p:sp>
        <p:nvSpPr>
          <p:cNvPr id="9" name="TextBox 8"/>
          <p:cNvSpPr txBox="1"/>
          <p:nvPr/>
        </p:nvSpPr>
        <p:spPr>
          <a:xfrm>
            <a:off x="457200" y="685800"/>
            <a:ext cx="11274552" cy="530352"/>
          </a:xfrm>
          <a:prstGeom prst="rect">
            <a:avLst/>
          </a:prstGeom>
          <a:noFill/>
        </p:spPr>
        <p:txBody>
          <a:bodyPr wrap="square">
            <a:spAutoFit/>
          </a:bodyPr>
          <a:lstStyle/>
          <a:p>
            <a:pPr algn="l"/>
            <a:r>
              <a:rPr sz="2750" b="1" i="0">
                <a:solidFill>
                  <a:srgbClr val="1A3560"/>
                </a:solidFill>
              </a:rPr>
              <a:t>La maquette est complète</a:t>
            </a:r>
          </a:p>
        </p:txBody>
      </p:sp>
      <p:sp>
        <p:nvSpPr>
          <p:cNvPr id="10" name="TextBox 9"/>
          <p:cNvSpPr txBox="1"/>
          <p:nvPr/>
        </p:nvSpPr>
        <p:spPr>
          <a:xfrm>
            <a:off x="457200" y="1188720"/>
            <a:ext cx="11274552" cy="310896"/>
          </a:xfrm>
          <a:prstGeom prst="rect">
            <a:avLst/>
          </a:prstGeom>
          <a:noFill/>
        </p:spPr>
        <p:txBody>
          <a:bodyPr wrap="square">
            <a:spAutoFit/>
          </a:bodyPr>
          <a:lstStyle/>
          <a:p>
            <a:pPr algn="l"/>
            <a:r>
              <a:rPr sz="1450" b="0" i="0">
                <a:solidFill>
                  <a:srgbClr val="595959"/>
                </a:solidFill>
              </a:rPr>
              <a:t>5 VMs, prêtes pour la suite du cours</a:t>
            </a:r>
          </a:p>
        </p:txBody>
      </p:sp>
      <p:sp>
        <p:nvSpPr>
          <p:cNvPr id="11" name="Rectangle 10"/>
          <p:cNvSpPr/>
          <p:nvPr/>
        </p:nvSpPr>
        <p:spPr>
          <a:xfrm>
            <a:off x="457200" y="1463040"/>
            <a:ext cx="1280160" cy="45720"/>
          </a:xfrm>
          <a:prstGeom prst="rect">
            <a:avLst/>
          </a:prstGeom>
          <a:solidFill>
            <a:srgbClr val="6A0D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57200" y="2103120"/>
            <a:ext cx="1962302" cy="1280160"/>
          </a:xfrm>
          <a:prstGeom prst="rect">
            <a:avLst/>
          </a:prstGeom>
          <a:solidFill>
            <a:srgbClr val="FFFFFF"/>
          </a:solidFill>
          <a:ln w="19050">
            <a:solidFill>
              <a:srgbClr val="6A0D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7200" y="2231136"/>
            <a:ext cx="1962302" cy="274320"/>
          </a:xfrm>
          <a:prstGeom prst="rect">
            <a:avLst/>
          </a:prstGeom>
          <a:noFill/>
        </p:spPr>
        <p:txBody>
          <a:bodyPr wrap="none">
            <a:spAutoFit/>
          </a:bodyPr>
          <a:lstStyle/>
          <a:p>
            <a:pPr algn="ctr"/>
            <a:r>
              <a:rPr sz="1700" b="1" i="0">
                <a:solidFill>
                  <a:srgbClr val="3A006A"/>
                </a:solidFill>
              </a:rPr>
              <a:t>🖥</a:t>
            </a:r>
          </a:p>
        </p:txBody>
      </p:sp>
      <p:sp>
        <p:nvSpPr>
          <p:cNvPr id="14" name="TextBox 13"/>
          <p:cNvSpPr txBox="1"/>
          <p:nvPr/>
        </p:nvSpPr>
        <p:spPr>
          <a:xfrm>
            <a:off x="502920" y="2560320"/>
            <a:ext cx="1870862" cy="274320"/>
          </a:xfrm>
          <a:prstGeom prst="rect">
            <a:avLst/>
          </a:prstGeom>
          <a:noFill/>
        </p:spPr>
        <p:txBody>
          <a:bodyPr wrap="square">
            <a:spAutoFit/>
          </a:bodyPr>
          <a:lstStyle/>
          <a:p>
            <a:pPr algn="ctr"/>
            <a:r>
              <a:rPr sz="1400" b="1" i="0">
                <a:solidFill>
                  <a:srgbClr val="1A3560"/>
                </a:solidFill>
              </a:rPr>
              <a:t>AD1</a:t>
            </a:r>
          </a:p>
        </p:txBody>
      </p:sp>
      <p:sp>
        <p:nvSpPr>
          <p:cNvPr id="15" name="TextBox 14"/>
          <p:cNvSpPr txBox="1"/>
          <p:nvPr/>
        </p:nvSpPr>
        <p:spPr>
          <a:xfrm>
            <a:off x="502920" y="2889503"/>
            <a:ext cx="1870862" cy="365760"/>
          </a:xfrm>
          <a:prstGeom prst="rect">
            <a:avLst/>
          </a:prstGeom>
          <a:noFill/>
        </p:spPr>
        <p:txBody>
          <a:bodyPr wrap="square">
            <a:spAutoFit/>
          </a:bodyPr>
          <a:lstStyle/>
          <a:p>
            <a:pPr algn="ctr"/>
            <a:r>
              <a:rPr sz="1150" b="0" i="0">
                <a:solidFill>
                  <a:srgbClr val="595959"/>
                </a:solidFill>
              </a:rPr>
              <a:t>192.168.10.10</a:t>
            </a:r>
          </a:p>
        </p:txBody>
      </p:sp>
      <p:sp>
        <p:nvSpPr>
          <p:cNvPr id="16" name="Rectangle 15"/>
          <p:cNvSpPr/>
          <p:nvPr/>
        </p:nvSpPr>
        <p:spPr>
          <a:xfrm>
            <a:off x="2785262" y="2103120"/>
            <a:ext cx="1962302" cy="1280160"/>
          </a:xfrm>
          <a:prstGeom prst="rect">
            <a:avLst/>
          </a:prstGeom>
          <a:solidFill>
            <a:srgbClr val="FFFFFF"/>
          </a:solidFill>
          <a:ln w="19050">
            <a:solidFill>
              <a:srgbClr val="6A0D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785262" y="2231136"/>
            <a:ext cx="1962302" cy="274320"/>
          </a:xfrm>
          <a:prstGeom prst="rect">
            <a:avLst/>
          </a:prstGeom>
          <a:noFill/>
        </p:spPr>
        <p:txBody>
          <a:bodyPr wrap="none">
            <a:spAutoFit/>
          </a:bodyPr>
          <a:lstStyle/>
          <a:p>
            <a:pPr algn="ctr"/>
            <a:r>
              <a:rPr sz="1700" b="1" i="0">
                <a:solidFill>
                  <a:srgbClr val="3A006A"/>
                </a:solidFill>
              </a:rPr>
              <a:t>🖥</a:t>
            </a:r>
          </a:p>
        </p:txBody>
      </p:sp>
      <p:sp>
        <p:nvSpPr>
          <p:cNvPr id="18" name="TextBox 17"/>
          <p:cNvSpPr txBox="1"/>
          <p:nvPr/>
        </p:nvSpPr>
        <p:spPr>
          <a:xfrm>
            <a:off x="2830982" y="2560320"/>
            <a:ext cx="1870862" cy="274320"/>
          </a:xfrm>
          <a:prstGeom prst="rect">
            <a:avLst/>
          </a:prstGeom>
          <a:noFill/>
        </p:spPr>
        <p:txBody>
          <a:bodyPr wrap="square">
            <a:spAutoFit/>
          </a:bodyPr>
          <a:lstStyle/>
          <a:p>
            <a:pPr algn="ctr"/>
            <a:r>
              <a:rPr sz="1400" b="1" i="0">
                <a:solidFill>
                  <a:srgbClr val="1A3560"/>
                </a:solidFill>
              </a:rPr>
              <a:t>AD2</a:t>
            </a:r>
          </a:p>
        </p:txBody>
      </p:sp>
      <p:sp>
        <p:nvSpPr>
          <p:cNvPr id="19" name="TextBox 18"/>
          <p:cNvSpPr txBox="1"/>
          <p:nvPr/>
        </p:nvSpPr>
        <p:spPr>
          <a:xfrm>
            <a:off x="2830982" y="2889503"/>
            <a:ext cx="1870862" cy="365760"/>
          </a:xfrm>
          <a:prstGeom prst="rect">
            <a:avLst/>
          </a:prstGeom>
          <a:noFill/>
        </p:spPr>
        <p:txBody>
          <a:bodyPr wrap="square">
            <a:spAutoFit/>
          </a:bodyPr>
          <a:lstStyle/>
          <a:p>
            <a:pPr algn="ctr"/>
            <a:r>
              <a:rPr sz="1150" b="0" i="0">
                <a:solidFill>
                  <a:srgbClr val="595959"/>
                </a:solidFill>
              </a:rPr>
              <a:t>192.168.10.11</a:t>
            </a:r>
          </a:p>
        </p:txBody>
      </p:sp>
      <p:sp>
        <p:nvSpPr>
          <p:cNvPr id="20" name="Rectangle 19"/>
          <p:cNvSpPr/>
          <p:nvPr/>
        </p:nvSpPr>
        <p:spPr>
          <a:xfrm>
            <a:off x="5113324" y="2103120"/>
            <a:ext cx="1962302" cy="1280160"/>
          </a:xfrm>
          <a:prstGeom prst="rect">
            <a:avLst/>
          </a:prstGeom>
          <a:solidFill>
            <a:srgbClr val="FFFFFF"/>
          </a:solidFill>
          <a:ln w="19050">
            <a:solidFill>
              <a:srgbClr val="6A0D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113324" y="2231136"/>
            <a:ext cx="1962302" cy="274320"/>
          </a:xfrm>
          <a:prstGeom prst="rect">
            <a:avLst/>
          </a:prstGeom>
          <a:noFill/>
        </p:spPr>
        <p:txBody>
          <a:bodyPr wrap="none">
            <a:spAutoFit/>
          </a:bodyPr>
          <a:lstStyle/>
          <a:p>
            <a:pPr algn="ctr"/>
            <a:r>
              <a:rPr sz="1700" b="1" i="0">
                <a:solidFill>
                  <a:srgbClr val="3A006A"/>
                </a:solidFill>
              </a:rPr>
              <a:t>🖥</a:t>
            </a:r>
          </a:p>
        </p:txBody>
      </p:sp>
      <p:sp>
        <p:nvSpPr>
          <p:cNvPr id="22" name="TextBox 21"/>
          <p:cNvSpPr txBox="1"/>
          <p:nvPr/>
        </p:nvSpPr>
        <p:spPr>
          <a:xfrm>
            <a:off x="5159044" y="2560320"/>
            <a:ext cx="1870862" cy="274320"/>
          </a:xfrm>
          <a:prstGeom prst="rect">
            <a:avLst/>
          </a:prstGeom>
          <a:noFill/>
        </p:spPr>
        <p:txBody>
          <a:bodyPr wrap="square">
            <a:spAutoFit/>
          </a:bodyPr>
          <a:lstStyle/>
          <a:p>
            <a:pPr algn="ctr"/>
            <a:r>
              <a:rPr sz="1400" b="1" i="0">
                <a:solidFill>
                  <a:srgbClr val="1A3560"/>
                </a:solidFill>
              </a:rPr>
              <a:t>SV1</a:t>
            </a:r>
          </a:p>
        </p:txBody>
      </p:sp>
      <p:sp>
        <p:nvSpPr>
          <p:cNvPr id="23" name="TextBox 22"/>
          <p:cNvSpPr txBox="1"/>
          <p:nvPr/>
        </p:nvSpPr>
        <p:spPr>
          <a:xfrm>
            <a:off x="5159044" y="2889503"/>
            <a:ext cx="1870862" cy="365760"/>
          </a:xfrm>
          <a:prstGeom prst="rect">
            <a:avLst/>
          </a:prstGeom>
          <a:noFill/>
        </p:spPr>
        <p:txBody>
          <a:bodyPr wrap="square">
            <a:spAutoFit/>
          </a:bodyPr>
          <a:lstStyle/>
          <a:p>
            <a:pPr algn="ctr"/>
            <a:r>
              <a:rPr sz="1150" b="0" i="0">
                <a:solidFill>
                  <a:srgbClr val="595959"/>
                </a:solidFill>
              </a:rPr>
              <a:t>192.168.10.20</a:t>
            </a:r>
          </a:p>
        </p:txBody>
      </p:sp>
      <p:sp>
        <p:nvSpPr>
          <p:cNvPr id="24" name="Rectangle 23"/>
          <p:cNvSpPr/>
          <p:nvPr/>
        </p:nvSpPr>
        <p:spPr>
          <a:xfrm>
            <a:off x="7441387" y="2103120"/>
            <a:ext cx="1962302" cy="1280160"/>
          </a:xfrm>
          <a:prstGeom prst="rect">
            <a:avLst/>
          </a:prstGeom>
          <a:solidFill>
            <a:srgbClr val="FFFFFF"/>
          </a:solidFill>
          <a:ln w="19050">
            <a:solidFill>
              <a:srgbClr val="6A0D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441387" y="2231136"/>
            <a:ext cx="1962302" cy="274320"/>
          </a:xfrm>
          <a:prstGeom prst="rect">
            <a:avLst/>
          </a:prstGeom>
          <a:noFill/>
        </p:spPr>
        <p:txBody>
          <a:bodyPr wrap="none">
            <a:spAutoFit/>
          </a:bodyPr>
          <a:lstStyle/>
          <a:p>
            <a:pPr algn="ctr"/>
            <a:r>
              <a:rPr sz="1700" b="1" i="0">
                <a:solidFill>
                  <a:srgbClr val="3A006A"/>
                </a:solidFill>
              </a:rPr>
              <a:t>🖥</a:t>
            </a:r>
          </a:p>
        </p:txBody>
      </p:sp>
      <p:sp>
        <p:nvSpPr>
          <p:cNvPr id="26" name="TextBox 25"/>
          <p:cNvSpPr txBox="1"/>
          <p:nvPr/>
        </p:nvSpPr>
        <p:spPr>
          <a:xfrm>
            <a:off x="7487107" y="2560320"/>
            <a:ext cx="1870862" cy="274320"/>
          </a:xfrm>
          <a:prstGeom prst="rect">
            <a:avLst/>
          </a:prstGeom>
          <a:noFill/>
        </p:spPr>
        <p:txBody>
          <a:bodyPr wrap="square">
            <a:spAutoFit/>
          </a:bodyPr>
          <a:lstStyle/>
          <a:p>
            <a:pPr algn="ctr"/>
            <a:r>
              <a:rPr sz="1400" b="1" i="0">
                <a:solidFill>
                  <a:srgbClr val="1A3560"/>
                </a:solidFill>
              </a:rPr>
              <a:t>SRVCore</a:t>
            </a:r>
          </a:p>
        </p:txBody>
      </p:sp>
      <p:sp>
        <p:nvSpPr>
          <p:cNvPr id="27" name="TextBox 26"/>
          <p:cNvSpPr txBox="1"/>
          <p:nvPr/>
        </p:nvSpPr>
        <p:spPr>
          <a:xfrm>
            <a:off x="7487107" y="2889503"/>
            <a:ext cx="1870862" cy="365760"/>
          </a:xfrm>
          <a:prstGeom prst="rect">
            <a:avLst/>
          </a:prstGeom>
          <a:noFill/>
        </p:spPr>
        <p:txBody>
          <a:bodyPr wrap="square">
            <a:spAutoFit/>
          </a:bodyPr>
          <a:lstStyle/>
          <a:p>
            <a:pPr algn="ctr"/>
            <a:r>
              <a:rPr sz="1150" b="0" i="0">
                <a:solidFill>
                  <a:srgbClr val="595959"/>
                </a:solidFill>
              </a:rPr>
              <a:t>192.168.10.21</a:t>
            </a:r>
          </a:p>
        </p:txBody>
      </p:sp>
      <p:sp>
        <p:nvSpPr>
          <p:cNvPr id="28" name="Rectangle 27"/>
          <p:cNvSpPr/>
          <p:nvPr/>
        </p:nvSpPr>
        <p:spPr>
          <a:xfrm>
            <a:off x="9769449" y="2103120"/>
            <a:ext cx="1962302" cy="1280160"/>
          </a:xfrm>
          <a:prstGeom prst="rect">
            <a:avLst/>
          </a:prstGeom>
          <a:solidFill>
            <a:srgbClr val="FFFFFF"/>
          </a:solidFill>
          <a:ln w="19050">
            <a:solidFill>
              <a:srgbClr val="6A0D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769449" y="2231136"/>
            <a:ext cx="1962302" cy="274320"/>
          </a:xfrm>
          <a:prstGeom prst="rect">
            <a:avLst/>
          </a:prstGeom>
          <a:noFill/>
        </p:spPr>
        <p:txBody>
          <a:bodyPr wrap="none">
            <a:spAutoFit/>
          </a:bodyPr>
          <a:lstStyle/>
          <a:p>
            <a:pPr algn="ctr"/>
            <a:r>
              <a:rPr sz="1700" b="1" i="0">
                <a:solidFill>
                  <a:srgbClr val="3A006A"/>
                </a:solidFill>
              </a:rPr>
              <a:t>🖥</a:t>
            </a:r>
          </a:p>
        </p:txBody>
      </p:sp>
      <p:sp>
        <p:nvSpPr>
          <p:cNvPr id="30" name="TextBox 29"/>
          <p:cNvSpPr txBox="1"/>
          <p:nvPr/>
        </p:nvSpPr>
        <p:spPr>
          <a:xfrm>
            <a:off x="9815169" y="2560320"/>
            <a:ext cx="1870862" cy="274320"/>
          </a:xfrm>
          <a:prstGeom prst="rect">
            <a:avLst/>
          </a:prstGeom>
          <a:noFill/>
        </p:spPr>
        <p:txBody>
          <a:bodyPr wrap="square">
            <a:spAutoFit/>
          </a:bodyPr>
          <a:lstStyle/>
          <a:p>
            <a:pPr algn="ctr"/>
            <a:r>
              <a:rPr sz="1400" b="1" i="0">
                <a:solidFill>
                  <a:srgbClr val="1A3560"/>
                </a:solidFill>
              </a:rPr>
              <a:t>CL10-01</a:t>
            </a:r>
          </a:p>
        </p:txBody>
      </p:sp>
      <p:sp>
        <p:nvSpPr>
          <p:cNvPr id="31" name="TextBox 30"/>
          <p:cNvSpPr txBox="1"/>
          <p:nvPr/>
        </p:nvSpPr>
        <p:spPr>
          <a:xfrm>
            <a:off x="9815169" y="2889503"/>
            <a:ext cx="1870862" cy="365760"/>
          </a:xfrm>
          <a:prstGeom prst="rect">
            <a:avLst/>
          </a:prstGeom>
          <a:noFill/>
        </p:spPr>
        <p:txBody>
          <a:bodyPr wrap="square">
            <a:spAutoFit/>
          </a:bodyPr>
          <a:lstStyle/>
          <a:p>
            <a:pPr algn="ctr"/>
            <a:r>
              <a:rPr sz="1150" b="0" i="0">
                <a:solidFill>
                  <a:srgbClr val="595959"/>
                </a:solidFill>
              </a:rPr>
              <a:t>192.168.10.101</a:t>
            </a:r>
          </a:p>
        </p:txBody>
      </p:sp>
      <p:sp>
        <p:nvSpPr>
          <p:cNvPr id="32" name="Rectangle 31"/>
          <p:cNvSpPr/>
          <p:nvPr/>
        </p:nvSpPr>
        <p:spPr>
          <a:xfrm>
            <a:off x="457200" y="3611880"/>
            <a:ext cx="11274552" cy="1005840"/>
          </a:xfrm>
          <a:prstGeom prst="rect">
            <a:avLst/>
          </a:prstGeom>
          <a:solidFill>
            <a:srgbClr val="F3EAFB"/>
          </a:solidFill>
          <a:ln w="25400">
            <a:solidFill>
              <a:srgbClr val="6A0D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457200" y="3611880"/>
            <a:ext cx="502920" cy="1005840"/>
          </a:xfrm>
          <a:prstGeom prst="rect">
            <a:avLst/>
          </a:prstGeom>
          <a:solidFill>
            <a:srgbClr val="6A0D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12064" y="3913632"/>
            <a:ext cx="393192" cy="402336"/>
          </a:xfrm>
          <a:prstGeom prst="rect">
            <a:avLst/>
          </a:prstGeom>
          <a:noFill/>
        </p:spPr>
        <p:txBody>
          <a:bodyPr wrap="none">
            <a:spAutoFit/>
          </a:bodyPr>
          <a:lstStyle/>
          <a:p>
            <a:pPr algn="ctr"/>
            <a:r>
              <a:rPr sz="2275" b="1" i="0">
                <a:solidFill>
                  <a:srgbClr val="FFFFFF"/>
                </a:solidFill>
              </a:rPr>
              <a:t>🚀</a:t>
            </a:r>
          </a:p>
        </p:txBody>
      </p:sp>
      <p:sp>
        <p:nvSpPr>
          <p:cNvPr id="35" name="TextBox 34"/>
          <p:cNvSpPr txBox="1"/>
          <p:nvPr/>
        </p:nvSpPr>
        <p:spPr>
          <a:xfrm>
            <a:off x="1051560" y="3685032"/>
            <a:ext cx="10588752" cy="292608"/>
          </a:xfrm>
          <a:prstGeom prst="rect">
            <a:avLst/>
          </a:prstGeom>
          <a:noFill/>
        </p:spPr>
        <p:txBody>
          <a:bodyPr wrap="square">
            <a:spAutoFit/>
          </a:bodyPr>
          <a:lstStyle/>
          <a:p>
            <a:pPr algn="l"/>
            <a:r>
              <a:rPr sz="1500" b="1" i="0">
                <a:solidFill>
                  <a:srgbClr val="1A005D"/>
                </a:solidFill>
              </a:rPr>
              <a:t>Et maintenant ?</a:t>
            </a:r>
          </a:p>
        </p:txBody>
      </p:sp>
      <p:sp>
        <p:nvSpPr>
          <p:cNvPr id="36" name="TextBox 35"/>
          <p:cNvSpPr txBox="1"/>
          <p:nvPr/>
        </p:nvSpPr>
        <p:spPr>
          <a:xfrm>
            <a:off x="1051560" y="3977640"/>
            <a:ext cx="10588752" cy="548640"/>
          </a:xfrm>
          <a:prstGeom prst="rect">
            <a:avLst/>
          </a:prstGeom>
          <a:noFill/>
        </p:spPr>
        <p:txBody>
          <a:bodyPr wrap="square">
            <a:spAutoFit/>
          </a:bodyPr>
          <a:lstStyle/>
          <a:p>
            <a:pPr algn="l"/>
            <a:r>
              <a:rPr sz="1250" b="0" i="0">
                <a:solidFill>
                  <a:srgbClr val="595959"/>
                </a:solidFill>
              </a:rPr>
              <a:t>À partir de la Séance 7, AD1 sera promu premier contrôleur de domaine de la forêt, puis AD2 rejoindra le domaine comme second DC. La maquette d'aujourd'hui devient l'infrastructure de tout le reste du cours.</a:t>
            </a:r>
          </a:p>
        </p:txBody>
      </p:sp>
      <p:sp>
        <p:nvSpPr>
          <p:cNvPr id="37" name="Rectangle 36"/>
          <p:cNvSpPr/>
          <p:nvPr/>
        </p:nvSpPr>
        <p:spPr>
          <a:xfrm>
            <a:off x="0" y="6693408"/>
            <a:ext cx="12188952" cy="32004"/>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20040" y="6675120"/>
            <a:ext cx="11548872" cy="201168"/>
          </a:xfrm>
          <a:prstGeom prst="rect">
            <a:avLst/>
          </a:prstGeom>
          <a:noFill/>
        </p:spPr>
        <p:txBody>
          <a:bodyPr wrap="square">
            <a:spAutoFit/>
          </a:bodyPr>
          <a:lstStyle/>
          <a:p>
            <a:pPr algn="l"/>
            <a:r>
              <a:rPr sz="1050" b="0" i="1">
                <a:solidFill>
                  <a:srgbClr val="AAAAAA"/>
                </a:solidFill>
              </a:rPr>
              <a:t>Séance 4 — Bloc 6 : vue d'ensemble finale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4EE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594360"/>
          </a:xfrm>
          <a:prstGeom prst="rect">
            <a:avLst/>
          </a:prstGeom>
          <a:solidFill>
            <a:srgbClr val="1A3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548640"/>
            <a:ext cx="12188952" cy="45720"/>
          </a:xfrm>
          <a:prstGeom prst="rect">
            <a:avLst/>
          </a:prstGeom>
          <a:solidFill>
            <a:srgbClr val="6A0D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mage1.png"/>
          <p:cNvPicPr>
            <a:picLocks noChangeAspect="1"/>
          </p:cNvPicPr>
          <p:nvPr/>
        </p:nvPicPr>
        <p:blipFill>
          <a:blip r:embed="rId2"/>
          <a:stretch>
            <a:fillRect/>
          </a:stretch>
        </p:blipFill>
        <p:spPr>
          <a:xfrm>
            <a:off x="164592" y="109728"/>
            <a:ext cx="1158240" cy="347472"/>
          </a:xfrm>
          <a:prstGeom prst="rect">
            <a:avLst/>
          </a:prstGeom>
        </p:spPr>
      </p:pic>
      <p:sp>
        <p:nvSpPr>
          <p:cNvPr id="6" name="TextBox 5"/>
          <p:cNvSpPr txBox="1"/>
          <p:nvPr/>
        </p:nvSpPr>
        <p:spPr>
          <a:xfrm>
            <a:off x="1426464" y="73152"/>
            <a:ext cx="4754880" cy="237744"/>
          </a:xfrm>
          <a:prstGeom prst="rect">
            <a:avLst/>
          </a:prstGeom>
          <a:noFill/>
        </p:spPr>
        <p:txBody>
          <a:bodyPr wrap="square">
            <a:spAutoFit/>
          </a:bodyPr>
          <a:lstStyle/>
          <a:p>
            <a:pPr algn="l"/>
            <a:r>
              <a:rPr sz="1350" b="0" i="0">
                <a:solidFill>
                  <a:srgbClr val="FFFFFF"/>
                </a:solidFill>
              </a:rPr>
              <a:t>SÉANCE 4 — VMs SV1/SRVCore/CL10-01</a:t>
            </a:r>
          </a:p>
        </p:txBody>
      </p:sp>
      <p:sp>
        <p:nvSpPr>
          <p:cNvPr id="7" name="TextBox 6"/>
          <p:cNvSpPr txBox="1"/>
          <p:nvPr/>
        </p:nvSpPr>
        <p:spPr>
          <a:xfrm>
            <a:off x="8714232" y="45720"/>
            <a:ext cx="3291840" cy="246888"/>
          </a:xfrm>
          <a:prstGeom prst="rect">
            <a:avLst/>
          </a:prstGeom>
          <a:noFill/>
        </p:spPr>
        <p:txBody>
          <a:bodyPr wrap="square">
            <a:spAutoFit/>
          </a:bodyPr>
          <a:lstStyle/>
          <a:p>
            <a:pPr algn="r"/>
            <a:r>
              <a:rPr sz="1200" b="1" i="0">
                <a:solidFill>
                  <a:srgbClr val="FFFFFF"/>
                </a:solidFill>
              </a:rPr>
              <a:t>CHAFIK MOUSTAID — FORMATEUR</a:t>
            </a:r>
          </a:p>
        </p:txBody>
      </p:sp>
      <p:sp>
        <p:nvSpPr>
          <p:cNvPr id="8" name="TextBox 7"/>
          <p:cNvSpPr txBox="1"/>
          <p:nvPr/>
        </p:nvSpPr>
        <p:spPr>
          <a:xfrm>
            <a:off x="8714232" y="310896"/>
            <a:ext cx="3291840" cy="182880"/>
          </a:xfrm>
          <a:prstGeom prst="rect">
            <a:avLst/>
          </a:prstGeom>
          <a:noFill/>
        </p:spPr>
        <p:txBody>
          <a:bodyPr wrap="square">
            <a:spAutoFit/>
          </a:bodyPr>
          <a:lstStyle/>
          <a:p>
            <a:pPr algn="r"/>
            <a:r>
              <a:rPr sz="1100" b="0" i="0">
                <a:solidFill>
                  <a:srgbClr val="99BB99"/>
                </a:solidFill>
              </a:rPr>
              <a:t>Version 1 — Juin 2026</a:t>
            </a:r>
          </a:p>
        </p:txBody>
      </p:sp>
      <p:sp>
        <p:nvSpPr>
          <p:cNvPr id="9" name="TextBox 8"/>
          <p:cNvSpPr txBox="1"/>
          <p:nvPr/>
        </p:nvSpPr>
        <p:spPr>
          <a:xfrm>
            <a:off x="457200" y="685800"/>
            <a:ext cx="11274552" cy="530352"/>
          </a:xfrm>
          <a:prstGeom prst="rect">
            <a:avLst/>
          </a:prstGeom>
          <a:noFill/>
        </p:spPr>
        <p:txBody>
          <a:bodyPr wrap="square">
            <a:spAutoFit/>
          </a:bodyPr>
          <a:lstStyle/>
          <a:p>
            <a:pPr algn="l"/>
            <a:r>
              <a:rPr sz="2750" b="1" i="0">
                <a:solidFill>
                  <a:srgbClr val="1A3560"/>
                </a:solidFill>
              </a:rPr>
              <a:t>Vérifications avant de clore</a:t>
            </a:r>
          </a:p>
        </p:txBody>
      </p:sp>
      <p:sp>
        <p:nvSpPr>
          <p:cNvPr id="10" name="TextBox 9"/>
          <p:cNvSpPr txBox="1"/>
          <p:nvPr/>
        </p:nvSpPr>
        <p:spPr>
          <a:xfrm>
            <a:off x="457200" y="1188720"/>
            <a:ext cx="11274552" cy="310896"/>
          </a:xfrm>
          <a:prstGeom prst="rect">
            <a:avLst/>
          </a:prstGeom>
          <a:noFill/>
        </p:spPr>
        <p:txBody>
          <a:bodyPr wrap="square">
            <a:spAutoFit/>
          </a:bodyPr>
          <a:lstStyle/>
          <a:p>
            <a:pPr algn="l"/>
            <a:r>
              <a:rPr sz="1450" b="0" i="0">
                <a:solidFill>
                  <a:srgbClr val="595959"/>
                </a:solidFill>
              </a:rPr>
              <a:t>Un dernier tour d'horizon</a:t>
            </a:r>
          </a:p>
        </p:txBody>
      </p:sp>
      <p:sp>
        <p:nvSpPr>
          <p:cNvPr id="11" name="Rectangle 10"/>
          <p:cNvSpPr/>
          <p:nvPr/>
        </p:nvSpPr>
        <p:spPr>
          <a:xfrm>
            <a:off x="457200" y="1463040"/>
            <a:ext cx="1280160" cy="45720"/>
          </a:xfrm>
          <a:prstGeom prst="rect">
            <a:avLst/>
          </a:prstGeom>
          <a:solidFill>
            <a:srgbClr val="6A0D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57200" y="1828800"/>
            <a:ext cx="11274552" cy="10972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57200" y="1828800"/>
            <a:ext cx="548640" cy="1097280"/>
          </a:xfrm>
          <a:prstGeom prst="rect">
            <a:avLst/>
          </a:prstGeom>
          <a:solidFill>
            <a:srgbClr val="3A00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7200" y="2176272"/>
            <a:ext cx="548640" cy="402336"/>
          </a:xfrm>
          <a:prstGeom prst="rect">
            <a:avLst/>
          </a:prstGeom>
          <a:noFill/>
        </p:spPr>
        <p:txBody>
          <a:bodyPr wrap="none">
            <a:spAutoFit/>
          </a:bodyPr>
          <a:lstStyle/>
          <a:p>
            <a:pPr algn="ctr"/>
            <a:r>
              <a:rPr sz="2075" b="1" i="0">
                <a:solidFill>
                  <a:srgbClr val="FFFFFF"/>
                </a:solidFill>
              </a:rPr>
              <a:t>🔌</a:t>
            </a:r>
          </a:p>
        </p:txBody>
      </p:sp>
      <p:sp>
        <p:nvSpPr>
          <p:cNvPr id="15" name="TextBox 14"/>
          <p:cNvSpPr txBox="1"/>
          <p:nvPr/>
        </p:nvSpPr>
        <p:spPr>
          <a:xfrm>
            <a:off x="1143000" y="1947672"/>
            <a:ext cx="10360152" cy="292608"/>
          </a:xfrm>
          <a:prstGeom prst="rect">
            <a:avLst/>
          </a:prstGeom>
          <a:noFill/>
        </p:spPr>
        <p:txBody>
          <a:bodyPr wrap="square">
            <a:spAutoFit/>
          </a:bodyPr>
          <a:lstStyle/>
          <a:p>
            <a:pPr algn="l"/>
            <a:r>
              <a:rPr sz="1500" b="1" i="0">
                <a:solidFill>
                  <a:srgbClr val="1A3560"/>
                </a:solidFill>
              </a:rPr>
              <a:t>Connectivité</a:t>
            </a:r>
          </a:p>
        </p:txBody>
      </p:sp>
      <p:sp>
        <p:nvSpPr>
          <p:cNvPr id="16" name="TextBox 15"/>
          <p:cNvSpPr txBox="1"/>
          <p:nvPr/>
        </p:nvSpPr>
        <p:spPr>
          <a:xfrm>
            <a:off x="1143000" y="2286000"/>
            <a:ext cx="10360152" cy="548640"/>
          </a:xfrm>
          <a:prstGeom prst="rect">
            <a:avLst/>
          </a:prstGeom>
          <a:noFill/>
        </p:spPr>
        <p:txBody>
          <a:bodyPr wrap="square">
            <a:spAutoFit/>
          </a:bodyPr>
          <a:lstStyle/>
          <a:p>
            <a:pPr algn="l"/>
            <a:r>
              <a:rPr sz="1250" b="0" i="0">
                <a:solidFill>
                  <a:srgbClr val="595959"/>
                </a:solidFill>
              </a:rPr>
              <a:t>Chaque VM répond au ping des 4 autres, toutes connectées au commutateur « LAN-Labo ».</a:t>
            </a:r>
          </a:p>
        </p:txBody>
      </p:sp>
      <p:sp>
        <p:nvSpPr>
          <p:cNvPr id="17" name="Rectangle 16"/>
          <p:cNvSpPr/>
          <p:nvPr/>
        </p:nvSpPr>
        <p:spPr>
          <a:xfrm>
            <a:off x="457200" y="3063240"/>
            <a:ext cx="11274552" cy="10972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57200" y="3063240"/>
            <a:ext cx="548640" cy="1097280"/>
          </a:xfrm>
          <a:prstGeom prst="rect">
            <a:avLst/>
          </a:prstGeom>
          <a:solidFill>
            <a:srgbClr val="3A00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10947" y="3410712"/>
            <a:ext cx="441146" cy="400110"/>
          </a:xfrm>
          <a:prstGeom prst="rect">
            <a:avLst/>
          </a:prstGeom>
          <a:noFill/>
        </p:spPr>
        <p:txBody>
          <a:bodyPr wrap="none">
            <a:spAutoFit/>
          </a:bodyPr>
          <a:lstStyle/>
          <a:p>
            <a:pPr algn="ctr"/>
            <a:r>
              <a:rPr sz="2075" b="1" i="0" dirty="0" smtClean="0">
                <a:solidFill>
                  <a:srgbClr val="FFFFFF"/>
                </a:solidFill>
              </a:rPr>
              <a:t>🏷</a:t>
            </a:r>
            <a:endParaRPr sz="2000" b="1" i="0" dirty="0">
              <a:solidFill>
                <a:srgbClr val="FFFFFF"/>
              </a:solidFill>
            </a:endParaRPr>
          </a:p>
        </p:txBody>
      </p:sp>
      <p:sp>
        <p:nvSpPr>
          <p:cNvPr id="20" name="TextBox 19"/>
          <p:cNvSpPr txBox="1"/>
          <p:nvPr/>
        </p:nvSpPr>
        <p:spPr>
          <a:xfrm>
            <a:off x="1143000" y="3182112"/>
            <a:ext cx="10360152" cy="292608"/>
          </a:xfrm>
          <a:prstGeom prst="rect">
            <a:avLst/>
          </a:prstGeom>
          <a:noFill/>
        </p:spPr>
        <p:txBody>
          <a:bodyPr wrap="square">
            <a:spAutoFit/>
          </a:bodyPr>
          <a:lstStyle/>
          <a:p>
            <a:pPr algn="l"/>
            <a:r>
              <a:rPr sz="1500" b="1" i="0">
                <a:solidFill>
                  <a:srgbClr val="1A3560"/>
                </a:solidFill>
              </a:rPr>
              <a:t>Nommage et IP</a:t>
            </a:r>
          </a:p>
        </p:txBody>
      </p:sp>
      <p:sp>
        <p:nvSpPr>
          <p:cNvPr id="21" name="TextBox 20"/>
          <p:cNvSpPr txBox="1"/>
          <p:nvPr/>
        </p:nvSpPr>
        <p:spPr>
          <a:xfrm>
            <a:off x="1143000" y="3520440"/>
            <a:ext cx="10360152" cy="548640"/>
          </a:xfrm>
          <a:prstGeom prst="rect">
            <a:avLst/>
          </a:prstGeom>
          <a:noFill/>
        </p:spPr>
        <p:txBody>
          <a:bodyPr wrap="square">
            <a:spAutoFit/>
          </a:bodyPr>
          <a:lstStyle/>
          <a:p>
            <a:pPr algn="l"/>
            <a:r>
              <a:rPr sz="1250" b="0" i="0">
                <a:solidFill>
                  <a:srgbClr val="595959"/>
                </a:solidFill>
              </a:rPr>
              <a:t>Les 5 noms et les 5 adresses IP correspondent exactement au plan établi en Séance 2.</a:t>
            </a:r>
          </a:p>
        </p:txBody>
      </p:sp>
      <p:sp>
        <p:nvSpPr>
          <p:cNvPr id="22" name="Rectangle 21"/>
          <p:cNvSpPr/>
          <p:nvPr/>
        </p:nvSpPr>
        <p:spPr>
          <a:xfrm>
            <a:off x="457200" y="4297680"/>
            <a:ext cx="11274552" cy="10972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57200" y="4297680"/>
            <a:ext cx="548640" cy="1097280"/>
          </a:xfrm>
          <a:prstGeom prst="rect">
            <a:avLst/>
          </a:prstGeom>
          <a:solidFill>
            <a:srgbClr val="3A00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57200" y="4645152"/>
            <a:ext cx="548640" cy="402336"/>
          </a:xfrm>
          <a:prstGeom prst="rect">
            <a:avLst/>
          </a:prstGeom>
          <a:noFill/>
        </p:spPr>
        <p:txBody>
          <a:bodyPr wrap="none">
            <a:spAutoFit/>
          </a:bodyPr>
          <a:lstStyle/>
          <a:p>
            <a:pPr algn="ctr"/>
            <a:r>
              <a:rPr sz="2075" b="1" i="0">
                <a:solidFill>
                  <a:srgbClr val="FFFFFF"/>
                </a:solidFill>
              </a:rPr>
              <a:t>💾</a:t>
            </a:r>
          </a:p>
        </p:txBody>
      </p:sp>
      <p:sp>
        <p:nvSpPr>
          <p:cNvPr id="25" name="TextBox 24"/>
          <p:cNvSpPr txBox="1"/>
          <p:nvPr/>
        </p:nvSpPr>
        <p:spPr>
          <a:xfrm>
            <a:off x="1143000" y="4416552"/>
            <a:ext cx="10360152" cy="292608"/>
          </a:xfrm>
          <a:prstGeom prst="rect">
            <a:avLst/>
          </a:prstGeom>
          <a:noFill/>
        </p:spPr>
        <p:txBody>
          <a:bodyPr wrap="square">
            <a:spAutoFit/>
          </a:bodyPr>
          <a:lstStyle/>
          <a:p>
            <a:pPr algn="l"/>
            <a:r>
              <a:rPr sz="1500" b="1" i="0">
                <a:solidFill>
                  <a:srgbClr val="1A3560"/>
                </a:solidFill>
              </a:rPr>
              <a:t>Checkpoints</a:t>
            </a:r>
          </a:p>
        </p:txBody>
      </p:sp>
      <p:sp>
        <p:nvSpPr>
          <p:cNvPr id="26" name="TextBox 25"/>
          <p:cNvSpPr txBox="1"/>
          <p:nvPr/>
        </p:nvSpPr>
        <p:spPr>
          <a:xfrm>
            <a:off x="1143000" y="4754880"/>
            <a:ext cx="10360152" cy="548640"/>
          </a:xfrm>
          <a:prstGeom prst="rect">
            <a:avLst/>
          </a:prstGeom>
          <a:noFill/>
        </p:spPr>
        <p:txBody>
          <a:bodyPr wrap="square">
            <a:spAutoFit/>
          </a:bodyPr>
          <a:lstStyle/>
          <a:p>
            <a:pPr algn="l"/>
            <a:r>
              <a:rPr sz="1250" b="0" i="0">
                <a:solidFill>
                  <a:srgbClr val="595959"/>
                </a:solidFill>
              </a:rPr>
              <a:t>Un point de contrôle « état initial » existe sur chacune des 5 VMs avant la Séance 5.</a:t>
            </a:r>
          </a:p>
        </p:txBody>
      </p:sp>
      <p:sp>
        <p:nvSpPr>
          <p:cNvPr id="27" name="Rectangle 26"/>
          <p:cNvSpPr/>
          <p:nvPr/>
        </p:nvSpPr>
        <p:spPr>
          <a:xfrm>
            <a:off x="0" y="6693408"/>
            <a:ext cx="12188952" cy="32004"/>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20040" y="6675120"/>
            <a:ext cx="11548872" cy="201168"/>
          </a:xfrm>
          <a:prstGeom prst="rect">
            <a:avLst/>
          </a:prstGeom>
          <a:noFill/>
        </p:spPr>
        <p:txBody>
          <a:bodyPr wrap="square">
            <a:spAutoFit/>
          </a:bodyPr>
          <a:lstStyle/>
          <a:p>
            <a:pPr algn="l"/>
            <a:r>
              <a:rPr sz="1050" b="0" i="1">
                <a:solidFill>
                  <a:srgbClr val="AAAAAA"/>
                </a:solidFill>
              </a:rPr>
              <a:t>Séance 4 — Bloc 6 : vue d'ensemble finale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4EE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594360"/>
          </a:xfrm>
          <a:prstGeom prst="rect">
            <a:avLst/>
          </a:prstGeom>
          <a:solidFill>
            <a:srgbClr val="1A3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548640"/>
            <a:ext cx="12188952" cy="45720"/>
          </a:xfrm>
          <a:prstGeom prst="rect">
            <a:avLst/>
          </a:prstGeom>
          <a:solidFill>
            <a:srgbClr val="6A0D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mage1.png"/>
          <p:cNvPicPr>
            <a:picLocks noChangeAspect="1"/>
          </p:cNvPicPr>
          <p:nvPr/>
        </p:nvPicPr>
        <p:blipFill>
          <a:blip r:embed="rId2"/>
          <a:stretch>
            <a:fillRect/>
          </a:stretch>
        </p:blipFill>
        <p:spPr>
          <a:xfrm>
            <a:off x="164592" y="109728"/>
            <a:ext cx="1158240" cy="347472"/>
          </a:xfrm>
          <a:prstGeom prst="rect">
            <a:avLst/>
          </a:prstGeom>
        </p:spPr>
      </p:pic>
      <p:sp>
        <p:nvSpPr>
          <p:cNvPr id="6" name="TextBox 5"/>
          <p:cNvSpPr txBox="1"/>
          <p:nvPr/>
        </p:nvSpPr>
        <p:spPr>
          <a:xfrm>
            <a:off x="1426464" y="73152"/>
            <a:ext cx="4754880" cy="237744"/>
          </a:xfrm>
          <a:prstGeom prst="rect">
            <a:avLst/>
          </a:prstGeom>
          <a:noFill/>
        </p:spPr>
        <p:txBody>
          <a:bodyPr wrap="square">
            <a:spAutoFit/>
          </a:bodyPr>
          <a:lstStyle/>
          <a:p>
            <a:pPr algn="l"/>
            <a:r>
              <a:rPr sz="1350" b="0" i="0">
                <a:solidFill>
                  <a:srgbClr val="FFFFFF"/>
                </a:solidFill>
              </a:rPr>
              <a:t>SÉANCE 4 — VMs SV1/SRVCore/CL10-01</a:t>
            </a:r>
          </a:p>
        </p:txBody>
      </p:sp>
      <p:sp>
        <p:nvSpPr>
          <p:cNvPr id="7" name="TextBox 6"/>
          <p:cNvSpPr txBox="1"/>
          <p:nvPr/>
        </p:nvSpPr>
        <p:spPr>
          <a:xfrm>
            <a:off x="8714232" y="45720"/>
            <a:ext cx="3291840" cy="246888"/>
          </a:xfrm>
          <a:prstGeom prst="rect">
            <a:avLst/>
          </a:prstGeom>
          <a:noFill/>
        </p:spPr>
        <p:txBody>
          <a:bodyPr wrap="square">
            <a:spAutoFit/>
          </a:bodyPr>
          <a:lstStyle/>
          <a:p>
            <a:pPr algn="r"/>
            <a:r>
              <a:rPr sz="1200" b="1" i="0">
                <a:solidFill>
                  <a:srgbClr val="FFFFFF"/>
                </a:solidFill>
              </a:rPr>
              <a:t>CHAFIK MOUSTAID — FORMATEUR</a:t>
            </a:r>
          </a:p>
        </p:txBody>
      </p:sp>
      <p:sp>
        <p:nvSpPr>
          <p:cNvPr id="8" name="TextBox 7"/>
          <p:cNvSpPr txBox="1"/>
          <p:nvPr/>
        </p:nvSpPr>
        <p:spPr>
          <a:xfrm>
            <a:off x="8714232" y="310896"/>
            <a:ext cx="3291840" cy="182880"/>
          </a:xfrm>
          <a:prstGeom prst="rect">
            <a:avLst/>
          </a:prstGeom>
          <a:noFill/>
        </p:spPr>
        <p:txBody>
          <a:bodyPr wrap="square">
            <a:spAutoFit/>
          </a:bodyPr>
          <a:lstStyle/>
          <a:p>
            <a:pPr algn="r"/>
            <a:r>
              <a:rPr sz="1100" b="0" i="0">
                <a:solidFill>
                  <a:srgbClr val="99BB99"/>
                </a:solidFill>
              </a:rPr>
              <a:t>Version 1 — Juin 2026</a:t>
            </a:r>
          </a:p>
        </p:txBody>
      </p:sp>
      <p:sp>
        <p:nvSpPr>
          <p:cNvPr id="9" name="TextBox 8"/>
          <p:cNvSpPr txBox="1"/>
          <p:nvPr/>
        </p:nvSpPr>
        <p:spPr>
          <a:xfrm>
            <a:off x="457200" y="685800"/>
            <a:ext cx="11274552" cy="530352"/>
          </a:xfrm>
          <a:prstGeom prst="rect">
            <a:avLst/>
          </a:prstGeom>
          <a:noFill/>
        </p:spPr>
        <p:txBody>
          <a:bodyPr wrap="square">
            <a:spAutoFit/>
          </a:bodyPr>
          <a:lstStyle/>
          <a:p>
            <a:pPr algn="l"/>
            <a:r>
              <a:rPr sz="2750" b="1" i="0">
                <a:solidFill>
                  <a:srgbClr val="1A3560"/>
                </a:solidFill>
              </a:rPr>
              <a:t>Aperçu pratique</a:t>
            </a:r>
          </a:p>
        </p:txBody>
      </p:sp>
      <p:sp>
        <p:nvSpPr>
          <p:cNvPr id="10" name="TextBox 9"/>
          <p:cNvSpPr txBox="1"/>
          <p:nvPr/>
        </p:nvSpPr>
        <p:spPr>
          <a:xfrm>
            <a:off x="457200" y="1188720"/>
            <a:ext cx="11274552" cy="310896"/>
          </a:xfrm>
          <a:prstGeom prst="rect">
            <a:avLst/>
          </a:prstGeom>
          <a:noFill/>
        </p:spPr>
        <p:txBody>
          <a:bodyPr wrap="square">
            <a:spAutoFit/>
          </a:bodyPr>
          <a:lstStyle/>
          <a:p>
            <a:pPr algn="l"/>
            <a:r>
              <a:rPr sz="1450" b="0" i="0">
                <a:solidFill>
                  <a:srgbClr val="595959"/>
                </a:solidFill>
              </a:rPr>
              <a:t>Écran d'installation — choix Server Core</a:t>
            </a:r>
          </a:p>
        </p:txBody>
      </p:sp>
      <p:sp>
        <p:nvSpPr>
          <p:cNvPr id="11" name="Rectangle 10"/>
          <p:cNvSpPr/>
          <p:nvPr/>
        </p:nvSpPr>
        <p:spPr>
          <a:xfrm>
            <a:off x="457200" y="1463040"/>
            <a:ext cx="1280160" cy="45720"/>
          </a:xfrm>
          <a:prstGeom prst="rect">
            <a:avLst/>
          </a:prstGeom>
          <a:solidFill>
            <a:srgbClr val="6A0D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693408"/>
            <a:ext cx="12188952" cy="32004"/>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20040" y="6675120"/>
            <a:ext cx="11548872" cy="201168"/>
          </a:xfrm>
          <a:prstGeom prst="rect">
            <a:avLst/>
          </a:prstGeom>
          <a:noFill/>
        </p:spPr>
        <p:txBody>
          <a:bodyPr wrap="square">
            <a:spAutoFit/>
          </a:bodyPr>
          <a:lstStyle/>
          <a:p>
            <a:pPr algn="l"/>
            <a:r>
              <a:rPr sz="1050" b="0" i="1">
                <a:solidFill>
                  <a:srgbClr val="AAAAAA"/>
                </a:solidFill>
              </a:rPr>
              <a:t>Séance 4 — Aperçu pratique</a:t>
            </a:r>
          </a:p>
        </p:txBody>
      </p:sp>
      <p:pic>
        <p:nvPicPr>
          <p:cNvPr id="1026" name="Picture 2" descr="Déploiement d'applications Windows via RemoteApp (Windows Server 2016) | Le blo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27866" y="1754788"/>
            <a:ext cx="6076950" cy="4572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594360"/>
          </a:xfrm>
          <a:prstGeom prst="rect">
            <a:avLst/>
          </a:prstGeom>
          <a:solidFill>
            <a:srgbClr val="1A3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548640"/>
            <a:ext cx="12188952" cy="45720"/>
          </a:xfrm>
          <a:prstGeom prst="rect">
            <a:avLst/>
          </a:prstGeom>
          <a:solidFill>
            <a:srgbClr val="6A0D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mage1.png"/>
          <p:cNvPicPr>
            <a:picLocks noChangeAspect="1"/>
          </p:cNvPicPr>
          <p:nvPr/>
        </p:nvPicPr>
        <p:blipFill>
          <a:blip r:embed="rId2"/>
          <a:stretch>
            <a:fillRect/>
          </a:stretch>
        </p:blipFill>
        <p:spPr>
          <a:xfrm>
            <a:off x="164592" y="109728"/>
            <a:ext cx="1158240" cy="347472"/>
          </a:xfrm>
          <a:prstGeom prst="rect">
            <a:avLst/>
          </a:prstGeom>
        </p:spPr>
      </p:pic>
      <p:sp>
        <p:nvSpPr>
          <p:cNvPr id="6" name="TextBox 5"/>
          <p:cNvSpPr txBox="1"/>
          <p:nvPr/>
        </p:nvSpPr>
        <p:spPr>
          <a:xfrm>
            <a:off x="1426464" y="73152"/>
            <a:ext cx="4754880" cy="237744"/>
          </a:xfrm>
          <a:prstGeom prst="rect">
            <a:avLst/>
          </a:prstGeom>
          <a:noFill/>
        </p:spPr>
        <p:txBody>
          <a:bodyPr wrap="square">
            <a:spAutoFit/>
          </a:bodyPr>
          <a:lstStyle/>
          <a:p>
            <a:pPr algn="l"/>
            <a:r>
              <a:rPr sz="1350" b="0" i="0">
                <a:solidFill>
                  <a:srgbClr val="FFFFFF"/>
                </a:solidFill>
              </a:rPr>
              <a:t>SÉANCE 4 — VMs SV1/SRVCore/CL10-01</a:t>
            </a:r>
          </a:p>
        </p:txBody>
      </p:sp>
      <p:sp>
        <p:nvSpPr>
          <p:cNvPr id="7" name="TextBox 6"/>
          <p:cNvSpPr txBox="1"/>
          <p:nvPr/>
        </p:nvSpPr>
        <p:spPr>
          <a:xfrm>
            <a:off x="8714232" y="45720"/>
            <a:ext cx="3291840" cy="246888"/>
          </a:xfrm>
          <a:prstGeom prst="rect">
            <a:avLst/>
          </a:prstGeom>
          <a:noFill/>
        </p:spPr>
        <p:txBody>
          <a:bodyPr wrap="square">
            <a:spAutoFit/>
          </a:bodyPr>
          <a:lstStyle/>
          <a:p>
            <a:pPr algn="r"/>
            <a:r>
              <a:rPr sz="1200" b="1" i="0">
                <a:solidFill>
                  <a:srgbClr val="FFFFFF"/>
                </a:solidFill>
              </a:rPr>
              <a:t>CHAFIK MOUSTAID — FORMATEUR</a:t>
            </a:r>
          </a:p>
        </p:txBody>
      </p:sp>
      <p:sp>
        <p:nvSpPr>
          <p:cNvPr id="8" name="TextBox 7"/>
          <p:cNvSpPr txBox="1"/>
          <p:nvPr/>
        </p:nvSpPr>
        <p:spPr>
          <a:xfrm>
            <a:off x="8714232" y="310896"/>
            <a:ext cx="3291840" cy="182880"/>
          </a:xfrm>
          <a:prstGeom prst="rect">
            <a:avLst/>
          </a:prstGeom>
          <a:noFill/>
        </p:spPr>
        <p:txBody>
          <a:bodyPr wrap="square">
            <a:spAutoFit/>
          </a:bodyPr>
          <a:lstStyle/>
          <a:p>
            <a:pPr algn="r"/>
            <a:r>
              <a:rPr sz="1100" b="0" i="0">
                <a:solidFill>
                  <a:srgbClr val="99BB99"/>
                </a:solidFill>
              </a:rPr>
              <a:t>Version 1 — Juin 2026</a:t>
            </a:r>
          </a:p>
        </p:txBody>
      </p:sp>
      <p:sp>
        <p:nvSpPr>
          <p:cNvPr id="9" name="TextBox 8"/>
          <p:cNvSpPr txBox="1"/>
          <p:nvPr/>
        </p:nvSpPr>
        <p:spPr>
          <a:xfrm>
            <a:off x="457200" y="777240"/>
            <a:ext cx="11274552" cy="457200"/>
          </a:xfrm>
          <a:prstGeom prst="rect">
            <a:avLst/>
          </a:prstGeom>
          <a:noFill/>
        </p:spPr>
        <p:txBody>
          <a:bodyPr wrap="square">
            <a:spAutoFit/>
          </a:bodyPr>
          <a:lstStyle/>
          <a:p>
            <a:pPr algn="l"/>
            <a:r>
              <a:rPr sz="2475" b="1" i="0">
                <a:solidFill>
                  <a:srgbClr val="FFFFFF"/>
                </a:solidFill>
              </a:rPr>
              <a:t>Vocabulaire clé</a:t>
            </a:r>
          </a:p>
        </p:txBody>
      </p:sp>
      <p:sp>
        <p:nvSpPr>
          <p:cNvPr id="10" name="TextBox 9"/>
          <p:cNvSpPr txBox="1"/>
          <p:nvPr/>
        </p:nvSpPr>
        <p:spPr>
          <a:xfrm>
            <a:off x="457200" y="1207008"/>
            <a:ext cx="11274552" cy="310896"/>
          </a:xfrm>
          <a:prstGeom prst="rect">
            <a:avLst/>
          </a:prstGeom>
          <a:noFill/>
        </p:spPr>
        <p:txBody>
          <a:bodyPr wrap="square">
            <a:spAutoFit/>
          </a:bodyPr>
          <a:lstStyle/>
          <a:p>
            <a:pPr algn="l"/>
            <a:r>
              <a:rPr sz="1400" b="0" i="1">
                <a:solidFill>
                  <a:srgbClr val="AA88DD"/>
                </a:solidFill>
              </a:rPr>
              <a:t>18 termes à maîtriser avant la Séance 5</a:t>
            </a:r>
          </a:p>
        </p:txBody>
      </p:sp>
      <p:sp>
        <p:nvSpPr>
          <p:cNvPr id="11" name="TextBox 10"/>
          <p:cNvSpPr txBox="1"/>
          <p:nvPr/>
        </p:nvSpPr>
        <p:spPr>
          <a:xfrm>
            <a:off x="457200" y="1691640"/>
            <a:ext cx="3575304" cy="237744"/>
          </a:xfrm>
          <a:prstGeom prst="rect">
            <a:avLst/>
          </a:prstGeom>
          <a:noFill/>
        </p:spPr>
        <p:txBody>
          <a:bodyPr wrap="square">
            <a:spAutoFit/>
          </a:bodyPr>
          <a:lstStyle/>
          <a:p>
            <a:pPr algn="l"/>
            <a:r>
              <a:rPr sz="1350" b="1" i="0">
                <a:solidFill>
                  <a:srgbClr val="C9A2F0"/>
                </a:solidFill>
              </a:rPr>
              <a:t>Serveur membre</a:t>
            </a:r>
          </a:p>
        </p:txBody>
      </p:sp>
      <p:sp>
        <p:nvSpPr>
          <p:cNvPr id="12" name="TextBox 11"/>
          <p:cNvSpPr txBox="1"/>
          <p:nvPr/>
        </p:nvSpPr>
        <p:spPr>
          <a:xfrm>
            <a:off x="457200" y="1929384"/>
            <a:ext cx="3575304" cy="384048"/>
          </a:xfrm>
          <a:prstGeom prst="rect">
            <a:avLst/>
          </a:prstGeom>
          <a:noFill/>
        </p:spPr>
        <p:txBody>
          <a:bodyPr wrap="square">
            <a:spAutoFit/>
          </a:bodyPr>
          <a:lstStyle/>
          <a:p>
            <a:pPr algn="l"/>
            <a:r>
              <a:rPr sz="1150" b="0" i="0">
                <a:solidFill>
                  <a:srgbClr val="CCCCCC"/>
                </a:solidFill>
              </a:rPr>
              <a:t>Serveur Windows rattaché à un domaine, sans rôle de contrôleur de domaine</a:t>
            </a:r>
          </a:p>
        </p:txBody>
      </p:sp>
      <p:sp>
        <p:nvSpPr>
          <p:cNvPr id="13" name="TextBox 12"/>
          <p:cNvSpPr txBox="1"/>
          <p:nvPr/>
        </p:nvSpPr>
        <p:spPr>
          <a:xfrm>
            <a:off x="4306824" y="1691640"/>
            <a:ext cx="3575304" cy="237744"/>
          </a:xfrm>
          <a:prstGeom prst="rect">
            <a:avLst/>
          </a:prstGeom>
          <a:noFill/>
        </p:spPr>
        <p:txBody>
          <a:bodyPr wrap="square">
            <a:spAutoFit/>
          </a:bodyPr>
          <a:lstStyle/>
          <a:p>
            <a:pPr algn="l"/>
            <a:r>
              <a:rPr sz="1350" b="1" i="0">
                <a:solidFill>
                  <a:srgbClr val="C9A2F0"/>
                </a:solidFill>
              </a:rPr>
              <a:t>Server Core</a:t>
            </a:r>
          </a:p>
        </p:txBody>
      </p:sp>
      <p:sp>
        <p:nvSpPr>
          <p:cNvPr id="14" name="TextBox 13"/>
          <p:cNvSpPr txBox="1"/>
          <p:nvPr/>
        </p:nvSpPr>
        <p:spPr>
          <a:xfrm>
            <a:off x="4306824" y="1929384"/>
            <a:ext cx="3575304" cy="384048"/>
          </a:xfrm>
          <a:prstGeom prst="rect">
            <a:avLst/>
          </a:prstGeom>
          <a:noFill/>
        </p:spPr>
        <p:txBody>
          <a:bodyPr wrap="square">
            <a:spAutoFit/>
          </a:bodyPr>
          <a:lstStyle/>
          <a:p>
            <a:pPr algn="l"/>
            <a:r>
              <a:rPr sz="1150" b="0" i="0">
                <a:solidFill>
                  <a:srgbClr val="CCCCCC"/>
                </a:solidFill>
              </a:rPr>
              <a:t>Installation de Windows Server sans interface graphique complète</a:t>
            </a:r>
          </a:p>
        </p:txBody>
      </p:sp>
      <p:sp>
        <p:nvSpPr>
          <p:cNvPr id="15" name="TextBox 14"/>
          <p:cNvSpPr txBox="1"/>
          <p:nvPr/>
        </p:nvSpPr>
        <p:spPr>
          <a:xfrm>
            <a:off x="8156448" y="1691640"/>
            <a:ext cx="3575304" cy="237744"/>
          </a:xfrm>
          <a:prstGeom prst="rect">
            <a:avLst/>
          </a:prstGeom>
          <a:noFill/>
        </p:spPr>
        <p:txBody>
          <a:bodyPr wrap="square">
            <a:spAutoFit/>
          </a:bodyPr>
          <a:lstStyle/>
          <a:p>
            <a:pPr algn="l"/>
            <a:r>
              <a:rPr sz="1350" b="1" i="0">
                <a:solidFill>
                  <a:srgbClr val="C9A2F0"/>
                </a:solidFill>
              </a:rPr>
              <a:t>sconfig</a:t>
            </a:r>
          </a:p>
        </p:txBody>
      </p:sp>
      <p:sp>
        <p:nvSpPr>
          <p:cNvPr id="16" name="TextBox 15"/>
          <p:cNvSpPr txBox="1"/>
          <p:nvPr/>
        </p:nvSpPr>
        <p:spPr>
          <a:xfrm>
            <a:off x="8156448" y="1929384"/>
            <a:ext cx="3575304" cy="384048"/>
          </a:xfrm>
          <a:prstGeom prst="rect">
            <a:avLst/>
          </a:prstGeom>
          <a:noFill/>
        </p:spPr>
        <p:txBody>
          <a:bodyPr wrap="square">
            <a:spAutoFit/>
          </a:bodyPr>
          <a:lstStyle/>
          <a:p>
            <a:pPr algn="l"/>
            <a:r>
              <a:rPr sz="1150" b="0" i="0">
                <a:solidFill>
                  <a:srgbClr val="CCCCCC"/>
                </a:solidFill>
              </a:rPr>
              <a:t>Menu texte de configuration rapide pour les serveurs Server Core</a:t>
            </a:r>
          </a:p>
        </p:txBody>
      </p:sp>
      <p:sp>
        <p:nvSpPr>
          <p:cNvPr id="17" name="TextBox 16"/>
          <p:cNvSpPr txBox="1"/>
          <p:nvPr/>
        </p:nvSpPr>
        <p:spPr>
          <a:xfrm>
            <a:off x="457200" y="2386584"/>
            <a:ext cx="3575304" cy="237744"/>
          </a:xfrm>
          <a:prstGeom prst="rect">
            <a:avLst/>
          </a:prstGeom>
          <a:noFill/>
        </p:spPr>
        <p:txBody>
          <a:bodyPr wrap="square">
            <a:spAutoFit/>
          </a:bodyPr>
          <a:lstStyle/>
          <a:p>
            <a:pPr algn="l"/>
            <a:r>
              <a:rPr sz="1350" b="1" i="0">
                <a:solidFill>
                  <a:srgbClr val="C9A2F0"/>
                </a:solidFill>
              </a:rPr>
              <a:t>Poste client</a:t>
            </a:r>
          </a:p>
        </p:txBody>
      </p:sp>
      <p:sp>
        <p:nvSpPr>
          <p:cNvPr id="18" name="TextBox 17"/>
          <p:cNvSpPr txBox="1"/>
          <p:nvPr/>
        </p:nvSpPr>
        <p:spPr>
          <a:xfrm>
            <a:off x="457200" y="2624328"/>
            <a:ext cx="3575304" cy="384048"/>
          </a:xfrm>
          <a:prstGeom prst="rect">
            <a:avLst/>
          </a:prstGeom>
          <a:noFill/>
        </p:spPr>
        <p:txBody>
          <a:bodyPr wrap="square">
            <a:spAutoFit/>
          </a:bodyPr>
          <a:lstStyle/>
          <a:p>
            <a:pPr algn="l"/>
            <a:r>
              <a:rPr sz="1150" b="0" i="0">
                <a:solidFill>
                  <a:srgbClr val="CCCCCC"/>
                </a:solidFill>
              </a:rPr>
              <a:t>Ordinateur exécutant un OS client (Windows 10/11), pas Windows Server</a:t>
            </a:r>
          </a:p>
        </p:txBody>
      </p:sp>
      <p:sp>
        <p:nvSpPr>
          <p:cNvPr id="19" name="TextBox 18"/>
          <p:cNvSpPr txBox="1"/>
          <p:nvPr/>
        </p:nvSpPr>
        <p:spPr>
          <a:xfrm>
            <a:off x="4306824" y="2386584"/>
            <a:ext cx="3575304" cy="237744"/>
          </a:xfrm>
          <a:prstGeom prst="rect">
            <a:avLst/>
          </a:prstGeom>
          <a:noFill/>
        </p:spPr>
        <p:txBody>
          <a:bodyPr wrap="square">
            <a:spAutoFit/>
          </a:bodyPr>
          <a:lstStyle/>
          <a:p>
            <a:pPr algn="l"/>
            <a:r>
              <a:rPr sz="1350" b="1" i="0">
                <a:solidFill>
                  <a:srgbClr val="C9A2F0"/>
                </a:solidFill>
              </a:rPr>
              <a:t>Point de contrôle</a:t>
            </a:r>
          </a:p>
        </p:txBody>
      </p:sp>
      <p:sp>
        <p:nvSpPr>
          <p:cNvPr id="20" name="TextBox 19"/>
          <p:cNvSpPr txBox="1"/>
          <p:nvPr/>
        </p:nvSpPr>
        <p:spPr>
          <a:xfrm>
            <a:off x="4306824" y="2624328"/>
            <a:ext cx="3575304" cy="384048"/>
          </a:xfrm>
          <a:prstGeom prst="rect">
            <a:avLst/>
          </a:prstGeom>
          <a:noFill/>
        </p:spPr>
        <p:txBody>
          <a:bodyPr wrap="square">
            <a:spAutoFit/>
          </a:bodyPr>
          <a:lstStyle/>
          <a:p>
            <a:pPr algn="l"/>
            <a:r>
              <a:rPr sz="1150" b="0" i="0">
                <a:solidFill>
                  <a:srgbClr val="CCCCCC"/>
                </a:solidFill>
              </a:rPr>
              <a:t>Instantané réversible de l'état d'une VM (checkpoint)</a:t>
            </a:r>
          </a:p>
        </p:txBody>
      </p:sp>
      <p:sp>
        <p:nvSpPr>
          <p:cNvPr id="21" name="TextBox 20"/>
          <p:cNvSpPr txBox="1"/>
          <p:nvPr/>
        </p:nvSpPr>
        <p:spPr>
          <a:xfrm>
            <a:off x="8156448" y="2386584"/>
            <a:ext cx="3575304" cy="237744"/>
          </a:xfrm>
          <a:prstGeom prst="rect">
            <a:avLst/>
          </a:prstGeom>
          <a:noFill/>
        </p:spPr>
        <p:txBody>
          <a:bodyPr wrap="square">
            <a:spAutoFit/>
          </a:bodyPr>
          <a:lstStyle/>
          <a:p>
            <a:pPr algn="l"/>
            <a:r>
              <a:rPr sz="1350" b="1" i="0">
                <a:solidFill>
                  <a:srgbClr val="C9A2F0"/>
                </a:solidFill>
              </a:rPr>
              <a:t>Checkpoint standard</a:t>
            </a:r>
          </a:p>
        </p:txBody>
      </p:sp>
      <p:sp>
        <p:nvSpPr>
          <p:cNvPr id="22" name="TextBox 21"/>
          <p:cNvSpPr txBox="1"/>
          <p:nvPr/>
        </p:nvSpPr>
        <p:spPr>
          <a:xfrm>
            <a:off x="8156448" y="2624328"/>
            <a:ext cx="3575304" cy="384048"/>
          </a:xfrm>
          <a:prstGeom prst="rect">
            <a:avLst/>
          </a:prstGeom>
          <a:noFill/>
        </p:spPr>
        <p:txBody>
          <a:bodyPr wrap="square">
            <a:spAutoFit/>
          </a:bodyPr>
          <a:lstStyle/>
          <a:p>
            <a:pPr algn="l"/>
            <a:r>
              <a:rPr sz="1150" b="0" i="0">
                <a:solidFill>
                  <a:srgbClr val="CCCCCC"/>
                </a:solidFill>
              </a:rPr>
              <a:t>Capture l'état mémoire et disque complet d'une VM</a:t>
            </a:r>
          </a:p>
        </p:txBody>
      </p:sp>
      <p:sp>
        <p:nvSpPr>
          <p:cNvPr id="23" name="TextBox 22"/>
          <p:cNvSpPr txBox="1"/>
          <p:nvPr/>
        </p:nvSpPr>
        <p:spPr>
          <a:xfrm>
            <a:off x="457200" y="3081528"/>
            <a:ext cx="3575304" cy="237744"/>
          </a:xfrm>
          <a:prstGeom prst="rect">
            <a:avLst/>
          </a:prstGeom>
          <a:noFill/>
        </p:spPr>
        <p:txBody>
          <a:bodyPr wrap="square">
            <a:spAutoFit/>
          </a:bodyPr>
          <a:lstStyle/>
          <a:p>
            <a:pPr algn="l"/>
            <a:r>
              <a:rPr sz="1350" b="1" i="0">
                <a:solidFill>
                  <a:srgbClr val="C9A2F0"/>
                </a:solidFill>
              </a:rPr>
              <a:t>Checkpoint de production</a:t>
            </a:r>
          </a:p>
        </p:txBody>
      </p:sp>
      <p:sp>
        <p:nvSpPr>
          <p:cNvPr id="24" name="TextBox 23"/>
          <p:cNvSpPr txBox="1"/>
          <p:nvPr/>
        </p:nvSpPr>
        <p:spPr>
          <a:xfrm>
            <a:off x="457200" y="3319272"/>
            <a:ext cx="3575304" cy="384048"/>
          </a:xfrm>
          <a:prstGeom prst="rect">
            <a:avLst/>
          </a:prstGeom>
          <a:noFill/>
        </p:spPr>
        <p:txBody>
          <a:bodyPr wrap="square">
            <a:spAutoFit/>
          </a:bodyPr>
          <a:lstStyle/>
          <a:p>
            <a:pPr algn="l"/>
            <a:r>
              <a:rPr sz="1150" b="0" i="0">
                <a:solidFill>
                  <a:srgbClr val="CCCCCC"/>
                </a:solidFill>
              </a:rPr>
              <a:t>Capture basée sur VSS, sans état mémoire, plus sûre pour les DC</a:t>
            </a:r>
          </a:p>
        </p:txBody>
      </p:sp>
      <p:sp>
        <p:nvSpPr>
          <p:cNvPr id="25" name="TextBox 24"/>
          <p:cNvSpPr txBox="1"/>
          <p:nvPr/>
        </p:nvSpPr>
        <p:spPr>
          <a:xfrm>
            <a:off x="4306824" y="3081528"/>
            <a:ext cx="3575304" cy="237744"/>
          </a:xfrm>
          <a:prstGeom prst="rect">
            <a:avLst/>
          </a:prstGeom>
          <a:noFill/>
        </p:spPr>
        <p:txBody>
          <a:bodyPr wrap="square">
            <a:spAutoFit/>
          </a:bodyPr>
          <a:lstStyle/>
          <a:p>
            <a:pPr algn="l"/>
            <a:r>
              <a:rPr sz="1350" b="1" i="0">
                <a:solidFill>
                  <a:srgbClr val="C9A2F0"/>
                </a:solidFill>
              </a:rPr>
              <a:t>VSS</a:t>
            </a:r>
          </a:p>
        </p:txBody>
      </p:sp>
      <p:sp>
        <p:nvSpPr>
          <p:cNvPr id="26" name="TextBox 25"/>
          <p:cNvSpPr txBox="1"/>
          <p:nvPr/>
        </p:nvSpPr>
        <p:spPr>
          <a:xfrm>
            <a:off x="4306824" y="3319272"/>
            <a:ext cx="3575304" cy="384048"/>
          </a:xfrm>
          <a:prstGeom prst="rect">
            <a:avLst/>
          </a:prstGeom>
          <a:noFill/>
        </p:spPr>
        <p:txBody>
          <a:bodyPr wrap="square">
            <a:spAutoFit/>
          </a:bodyPr>
          <a:lstStyle/>
          <a:p>
            <a:pPr algn="l"/>
            <a:r>
              <a:rPr sz="1150" b="0" i="0">
                <a:solidFill>
                  <a:srgbClr val="CCCCCC"/>
                </a:solidFill>
              </a:rPr>
              <a:t>Volume Shadow Copy Service, service de cliché instantané Windows</a:t>
            </a:r>
          </a:p>
        </p:txBody>
      </p:sp>
      <p:sp>
        <p:nvSpPr>
          <p:cNvPr id="27" name="TextBox 26"/>
          <p:cNvSpPr txBox="1"/>
          <p:nvPr/>
        </p:nvSpPr>
        <p:spPr>
          <a:xfrm>
            <a:off x="8156448" y="3081528"/>
            <a:ext cx="3575304" cy="237744"/>
          </a:xfrm>
          <a:prstGeom prst="rect">
            <a:avLst/>
          </a:prstGeom>
          <a:noFill/>
        </p:spPr>
        <p:txBody>
          <a:bodyPr wrap="square">
            <a:spAutoFit/>
          </a:bodyPr>
          <a:lstStyle/>
          <a:p>
            <a:pPr algn="l"/>
            <a:r>
              <a:rPr sz="1350" b="1" i="0">
                <a:solidFill>
                  <a:srgbClr val="C9A2F0"/>
                </a:solidFill>
              </a:rPr>
              <a:t>USN rollback</a:t>
            </a:r>
          </a:p>
        </p:txBody>
      </p:sp>
      <p:sp>
        <p:nvSpPr>
          <p:cNvPr id="28" name="TextBox 27"/>
          <p:cNvSpPr txBox="1"/>
          <p:nvPr/>
        </p:nvSpPr>
        <p:spPr>
          <a:xfrm>
            <a:off x="8156448" y="3319272"/>
            <a:ext cx="3575304" cy="384048"/>
          </a:xfrm>
          <a:prstGeom prst="rect">
            <a:avLst/>
          </a:prstGeom>
          <a:noFill/>
        </p:spPr>
        <p:txBody>
          <a:bodyPr wrap="square">
            <a:spAutoFit/>
          </a:bodyPr>
          <a:lstStyle/>
          <a:p>
            <a:pPr algn="l"/>
            <a:r>
              <a:rPr sz="1150" b="0" i="0">
                <a:solidFill>
                  <a:srgbClr val="CCCCCC"/>
                </a:solidFill>
              </a:rPr>
              <a:t>Corruption de réplication AD causée par la restauration d'un ancien état de DC</a:t>
            </a:r>
          </a:p>
        </p:txBody>
      </p:sp>
      <p:sp>
        <p:nvSpPr>
          <p:cNvPr id="29" name="TextBox 28"/>
          <p:cNvSpPr txBox="1"/>
          <p:nvPr/>
        </p:nvSpPr>
        <p:spPr>
          <a:xfrm>
            <a:off x="457200" y="3776472"/>
            <a:ext cx="3575304" cy="237744"/>
          </a:xfrm>
          <a:prstGeom prst="rect">
            <a:avLst/>
          </a:prstGeom>
          <a:noFill/>
        </p:spPr>
        <p:txBody>
          <a:bodyPr wrap="square">
            <a:spAutoFit/>
          </a:bodyPr>
          <a:lstStyle/>
          <a:p>
            <a:pPr algn="l"/>
            <a:r>
              <a:rPr sz="1350" b="1" i="0">
                <a:solidFill>
                  <a:srgbClr val="C9A2F0"/>
                </a:solidFill>
              </a:rPr>
              <a:t>Appliquer un checkpoint</a:t>
            </a:r>
          </a:p>
        </p:txBody>
      </p:sp>
      <p:sp>
        <p:nvSpPr>
          <p:cNvPr id="30" name="TextBox 29"/>
          <p:cNvSpPr txBox="1"/>
          <p:nvPr/>
        </p:nvSpPr>
        <p:spPr>
          <a:xfrm>
            <a:off x="457200" y="4014216"/>
            <a:ext cx="3575304" cy="384048"/>
          </a:xfrm>
          <a:prstGeom prst="rect">
            <a:avLst/>
          </a:prstGeom>
          <a:noFill/>
        </p:spPr>
        <p:txBody>
          <a:bodyPr wrap="square">
            <a:spAutoFit/>
          </a:bodyPr>
          <a:lstStyle/>
          <a:p>
            <a:pPr algn="l"/>
            <a:r>
              <a:rPr sz="1150" b="0" i="0">
                <a:solidFill>
                  <a:srgbClr val="CCCCCC"/>
                </a:solidFill>
              </a:rPr>
              <a:t>Restaurer une VM à l'état exact d'un point de contrôle donné</a:t>
            </a:r>
          </a:p>
        </p:txBody>
      </p:sp>
      <p:sp>
        <p:nvSpPr>
          <p:cNvPr id="31" name="TextBox 30"/>
          <p:cNvSpPr txBox="1"/>
          <p:nvPr/>
        </p:nvSpPr>
        <p:spPr>
          <a:xfrm>
            <a:off x="4306824" y="3776472"/>
            <a:ext cx="3575304" cy="237744"/>
          </a:xfrm>
          <a:prstGeom prst="rect">
            <a:avLst/>
          </a:prstGeom>
          <a:noFill/>
        </p:spPr>
        <p:txBody>
          <a:bodyPr wrap="square">
            <a:spAutoFit/>
          </a:bodyPr>
          <a:lstStyle/>
          <a:p>
            <a:pPr algn="l"/>
            <a:r>
              <a:rPr sz="1350" b="1" i="0">
                <a:solidFill>
                  <a:srgbClr val="C9A2F0"/>
                </a:solidFill>
              </a:rPr>
              <a:t>Fusionner un checkpoint</a:t>
            </a:r>
          </a:p>
        </p:txBody>
      </p:sp>
      <p:sp>
        <p:nvSpPr>
          <p:cNvPr id="32" name="TextBox 31"/>
          <p:cNvSpPr txBox="1"/>
          <p:nvPr/>
        </p:nvSpPr>
        <p:spPr>
          <a:xfrm>
            <a:off x="4306824" y="4014216"/>
            <a:ext cx="3575304" cy="384048"/>
          </a:xfrm>
          <a:prstGeom prst="rect">
            <a:avLst/>
          </a:prstGeom>
          <a:noFill/>
        </p:spPr>
        <p:txBody>
          <a:bodyPr wrap="square">
            <a:spAutoFit/>
          </a:bodyPr>
          <a:lstStyle/>
          <a:p>
            <a:pPr algn="l"/>
            <a:r>
              <a:rPr sz="1150" b="0" i="0">
                <a:solidFill>
                  <a:srgbClr val="CCCCCC"/>
                </a:solidFill>
              </a:rPr>
              <a:t>Intégrer les données d'un checkpoint supprimé dans le disque courant</a:t>
            </a:r>
          </a:p>
        </p:txBody>
      </p:sp>
      <p:sp>
        <p:nvSpPr>
          <p:cNvPr id="33" name="TextBox 32"/>
          <p:cNvSpPr txBox="1"/>
          <p:nvPr/>
        </p:nvSpPr>
        <p:spPr>
          <a:xfrm>
            <a:off x="8156448" y="3776472"/>
            <a:ext cx="3575304" cy="237744"/>
          </a:xfrm>
          <a:prstGeom prst="rect">
            <a:avLst/>
          </a:prstGeom>
          <a:noFill/>
        </p:spPr>
        <p:txBody>
          <a:bodyPr wrap="square">
            <a:spAutoFit/>
          </a:bodyPr>
          <a:lstStyle/>
          <a:p>
            <a:pPr algn="l"/>
            <a:r>
              <a:rPr sz="1350" b="1" i="0">
                <a:solidFill>
                  <a:srgbClr val="C9A2F0"/>
                </a:solidFill>
              </a:rPr>
              <a:t>Secure Boot</a:t>
            </a:r>
          </a:p>
        </p:txBody>
      </p:sp>
      <p:sp>
        <p:nvSpPr>
          <p:cNvPr id="34" name="TextBox 33"/>
          <p:cNvSpPr txBox="1"/>
          <p:nvPr/>
        </p:nvSpPr>
        <p:spPr>
          <a:xfrm>
            <a:off x="8156448" y="4014216"/>
            <a:ext cx="3575304" cy="384048"/>
          </a:xfrm>
          <a:prstGeom prst="rect">
            <a:avLst/>
          </a:prstGeom>
          <a:noFill/>
        </p:spPr>
        <p:txBody>
          <a:bodyPr wrap="square">
            <a:spAutoFit/>
          </a:bodyPr>
          <a:lstStyle/>
          <a:p>
            <a:pPr algn="l"/>
            <a:r>
              <a:rPr sz="1150" b="0" i="0">
                <a:solidFill>
                  <a:srgbClr val="CCCCCC"/>
                </a:solidFill>
              </a:rPr>
              <a:t>Vérification de l'intégrité du chargeur de démarrage au démarrage de la VM</a:t>
            </a:r>
          </a:p>
        </p:txBody>
      </p:sp>
      <p:sp>
        <p:nvSpPr>
          <p:cNvPr id="35" name="TextBox 34"/>
          <p:cNvSpPr txBox="1"/>
          <p:nvPr/>
        </p:nvSpPr>
        <p:spPr>
          <a:xfrm>
            <a:off x="457200" y="4471416"/>
            <a:ext cx="3575304" cy="237744"/>
          </a:xfrm>
          <a:prstGeom prst="rect">
            <a:avLst/>
          </a:prstGeom>
          <a:noFill/>
        </p:spPr>
        <p:txBody>
          <a:bodyPr wrap="square">
            <a:spAutoFit/>
          </a:bodyPr>
          <a:lstStyle/>
          <a:p>
            <a:pPr algn="l"/>
            <a:r>
              <a:rPr sz="1350" b="1" i="0">
                <a:solidFill>
                  <a:srgbClr val="C9A2F0"/>
                </a:solidFill>
              </a:rPr>
              <a:t>Rename-Computer</a:t>
            </a:r>
          </a:p>
        </p:txBody>
      </p:sp>
      <p:sp>
        <p:nvSpPr>
          <p:cNvPr id="36" name="TextBox 35"/>
          <p:cNvSpPr txBox="1"/>
          <p:nvPr/>
        </p:nvSpPr>
        <p:spPr>
          <a:xfrm>
            <a:off x="457200" y="4709160"/>
            <a:ext cx="3575304" cy="384048"/>
          </a:xfrm>
          <a:prstGeom prst="rect">
            <a:avLst/>
          </a:prstGeom>
          <a:noFill/>
        </p:spPr>
        <p:txBody>
          <a:bodyPr wrap="square">
            <a:spAutoFit/>
          </a:bodyPr>
          <a:lstStyle/>
          <a:p>
            <a:pPr algn="l"/>
            <a:r>
              <a:rPr sz="1150" b="0" i="0">
                <a:solidFill>
                  <a:srgbClr val="CCCCCC"/>
                </a:solidFill>
              </a:rPr>
              <a:t>Cmdlet PowerShell pour renommer un ordinateur</a:t>
            </a:r>
          </a:p>
        </p:txBody>
      </p:sp>
      <p:sp>
        <p:nvSpPr>
          <p:cNvPr id="37" name="TextBox 36"/>
          <p:cNvSpPr txBox="1"/>
          <p:nvPr/>
        </p:nvSpPr>
        <p:spPr>
          <a:xfrm>
            <a:off x="4306824" y="4471416"/>
            <a:ext cx="3575304" cy="237744"/>
          </a:xfrm>
          <a:prstGeom prst="rect">
            <a:avLst/>
          </a:prstGeom>
          <a:noFill/>
        </p:spPr>
        <p:txBody>
          <a:bodyPr wrap="square">
            <a:spAutoFit/>
          </a:bodyPr>
          <a:lstStyle/>
          <a:p>
            <a:pPr algn="l"/>
            <a:r>
              <a:rPr sz="1350" b="1" i="0">
                <a:solidFill>
                  <a:srgbClr val="C9A2F0"/>
                </a:solidFill>
              </a:rPr>
              <a:t>New-NetIPAddress</a:t>
            </a:r>
          </a:p>
        </p:txBody>
      </p:sp>
      <p:sp>
        <p:nvSpPr>
          <p:cNvPr id="38" name="TextBox 37"/>
          <p:cNvSpPr txBox="1"/>
          <p:nvPr/>
        </p:nvSpPr>
        <p:spPr>
          <a:xfrm>
            <a:off x="4306824" y="4709160"/>
            <a:ext cx="3575304" cy="384048"/>
          </a:xfrm>
          <a:prstGeom prst="rect">
            <a:avLst/>
          </a:prstGeom>
          <a:noFill/>
        </p:spPr>
        <p:txBody>
          <a:bodyPr wrap="square">
            <a:spAutoFit/>
          </a:bodyPr>
          <a:lstStyle/>
          <a:p>
            <a:pPr algn="l"/>
            <a:r>
              <a:rPr sz="1150" b="0" i="0">
                <a:solidFill>
                  <a:srgbClr val="CCCCCC"/>
                </a:solidFill>
              </a:rPr>
              <a:t>Cmdlet PowerShell pour attribuer une adresse IP statique</a:t>
            </a:r>
          </a:p>
        </p:txBody>
      </p:sp>
      <p:sp>
        <p:nvSpPr>
          <p:cNvPr id="39" name="TextBox 38"/>
          <p:cNvSpPr txBox="1"/>
          <p:nvPr/>
        </p:nvSpPr>
        <p:spPr>
          <a:xfrm>
            <a:off x="8156448" y="4471416"/>
            <a:ext cx="3575304" cy="237744"/>
          </a:xfrm>
          <a:prstGeom prst="rect">
            <a:avLst/>
          </a:prstGeom>
          <a:noFill/>
        </p:spPr>
        <p:txBody>
          <a:bodyPr wrap="square">
            <a:spAutoFit/>
          </a:bodyPr>
          <a:lstStyle/>
          <a:p>
            <a:pPr algn="l"/>
            <a:r>
              <a:rPr sz="1350" b="1" i="0">
                <a:solidFill>
                  <a:srgbClr val="C9A2F0"/>
                </a:solidFill>
              </a:rPr>
              <a:t>Desktop Experience</a:t>
            </a:r>
          </a:p>
        </p:txBody>
      </p:sp>
      <p:sp>
        <p:nvSpPr>
          <p:cNvPr id="40" name="TextBox 39"/>
          <p:cNvSpPr txBox="1"/>
          <p:nvPr/>
        </p:nvSpPr>
        <p:spPr>
          <a:xfrm>
            <a:off x="8156448" y="4709160"/>
            <a:ext cx="3575304" cy="384048"/>
          </a:xfrm>
          <a:prstGeom prst="rect">
            <a:avLst/>
          </a:prstGeom>
          <a:noFill/>
        </p:spPr>
        <p:txBody>
          <a:bodyPr wrap="square">
            <a:spAutoFit/>
          </a:bodyPr>
          <a:lstStyle/>
          <a:p>
            <a:pPr algn="l"/>
            <a:r>
              <a:rPr sz="1150" b="0" i="0">
                <a:solidFill>
                  <a:srgbClr val="CCCCCC"/>
                </a:solidFill>
              </a:rPr>
              <a:t>Installation de Windows Server avec interface graphique complète</a:t>
            </a:r>
          </a:p>
        </p:txBody>
      </p:sp>
      <p:sp>
        <p:nvSpPr>
          <p:cNvPr id="41" name="TextBox 40"/>
          <p:cNvSpPr txBox="1"/>
          <p:nvPr/>
        </p:nvSpPr>
        <p:spPr>
          <a:xfrm>
            <a:off x="457200" y="5166360"/>
            <a:ext cx="3575304" cy="237744"/>
          </a:xfrm>
          <a:prstGeom prst="rect">
            <a:avLst/>
          </a:prstGeom>
          <a:noFill/>
        </p:spPr>
        <p:txBody>
          <a:bodyPr wrap="square">
            <a:spAutoFit/>
          </a:bodyPr>
          <a:lstStyle/>
          <a:p>
            <a:pPr algn="l"/>
            <a:r>
              <a:rPr sz="1350" b="1" i="0">
                <a:solidFill>
                  <a:srgbClr val="C9A2F0"/>
                </a:solidFill>
              </a:rPr>
              <a:t>Maquette</a:t>
            </a:r>
          </a:p>
        </p:txBody>
      </p:sp>
      <p:sp>
        <p:nvSpPr>
          <p:cNvPr id="42" name="TextBox 41"/>
          <p:cNvSpPr txBox="1"/>
          <p:nvPr/>
        </p:nvSpPr>
        <p:spPr>
          <a:xfrm>
            <a:off x="457200" y="5404104"/>
            <a:ext cx="3575304" cy="384048"/>
          </a:xfrm>
          <a:prstGeom prst="rect">
            <a:avLst/>
          </a:prstGeom>
          <a:noFill/>
        </p:spPr>
        <p:txBody>
          <a:bodyPr wrap="square">
            <a:spAutoFit/>
          </a:bodyPr>
          <a:lstStyle/>
          <a:p>
            <a:pPr algn="l"/>
            <a:r>
              <a:rPr sz="1150" b="0" i="0">
                <a:solidFill>
                  <a:srgbClr val="CCCCCC"/>
                </a:solidFill>
              </a:rPr>
              <a:t>Ensemble des VMs représentant l'infrastructure simulée du cours</a:t>
            </a:r>
          </a:p>
        </p:txBody>
      </p:sp>
      <p:sp>
        <p:nvSpPr>
          <p:cNvPr id="43" name="TextBox 42"/>
          <p:cNvSpPr txBox="1"/>
          <p:nvPr/>
        </p:nvSpPr>
        <p:spPr>
          <a:xfrm>
            <a:off x="4306824" y="5166360"/>
            <a:ext cx="3575304" cy="237744"/>
          </a:xfrm>
          <a:prstGeom prst="rect">
            <a:avLst/>
          </a:prstGeom>
          <a:noFill/>
        </p:spPr>
        <p:txBody>
          <a:bodyPr wrap="square">
            <a:spAutoFit/>
          </a:bodyPr>
          <a:lstStyle/>
          <a:p>
            <a:pPr algn="l"/>
            <a:r>
              <a:rPr sz="1350" b="1" i="0">
                <a:solidFill>
                  <a:srgbClr val="C9A2F0"/>
                </a:solidFill>
              </a:rPr>
              <a:t>Commutateur Interne</a:t>
            </a:r>
          </a:p>
        </p:txBody>
      </p:sp>
      <p:sp>
        <p:nvSpPr>
          <p:cNvPr id="44" name="TextBox 43"/>
          <p:cNvSpPr txBox="1"/>
          <p:nvPr/>
        </p:nvSpPr>
        <p:spPr>
          <a:xfrm>
            <a:off x="4306824" y="5404104"/>
            <a:ext cx="3575304" cy="384048"/>
          </a:xfrm>
          <a:prstGeom prst="rect">
            <a:avLst/>
          </a:prstGeom>
          <a:noFill/>
        </p:spPr>
        <p:txBody>
          <a:bodyPr wrap="square">
            <a:spAutoFit/>
          </a:bodyPr>
          <a:lstStyle/>
          <a:p>
            <a:pPr algn="l"/>
            <a:r>
              <a:rPr sz="1150" b="0" i="0">
                <a:solidFill>
                  <a:srgbClr val="CCCCCC"/>
                </a:solidFill>
              </a:rPr>
              <a:t>Relie les VMs entre elles et à l'hôte, sans sortie externe</a:t>
            </a:r>
          </a:p>
        </p:txBody>
      </p:sp>
      <p:sp>
        <p:nvSpPr>
          <p:cNvPr id="45" name="TextBox 44"/>
          <p:cNvSpPr txBox="1"/>
          <p:nvPr/>
        </p:nvSpPr>
        <p:spPr>
          <a:xfrm>
            <a:off x="8156448" y="5166360"/>
            <a:ext cx="3575304" cy="237744"/>
          </a:xfrm>
          <a:prstGeom prst="rect">
            <a:avLst/>
          </a:prstGeom>
          <a:noFill/>
        </p:spPr>
        <p:txBody>
          <a:bodyPr wrap="square">
            <a:spAutoFit/>
          </a:bodyPr>
          <a:lstStyle/>
          <a:p>
            <a:pPr algn="l"/>
            <a:r>
              <a:rPr sz="1350" b="1" i="0">
                <a:solidFill>
                  <a:srgbClr val="C9A2F0"/>
                </a:solidFill>
              </a:rPr>
              <a:t>Checkpoint-VM</a:t>
            </a:r>
          </a:p>
        </p:txBody>
      </p:sp>
      <p:sp>
        <p:nvSpPr>
          <p:cNvPr id="46" name="TextBox 45"/>
          <p:cNvSpPr txBox="1"/>
          <p:nvPr/>
        </p:nvSpPr>
        <p:spPr>
          <a:xfrm>
            <a:off x="8156448" y="5404104"/>
            <a:ext cx="3575304" cy="384048"/>
          </a:xfrm>
          <a:prstGeom prst="rect">
            <a:avLst/>
          </a:prstGeom>
          <a:noFill/>
        </p:spPr>
        <p:txBody>
          <a:bodyPr wrap="square">
            <a:spAutoFit/>
          </a:bodyPr>
          <a:lstStyle/>
          <a:p>
            <a:pPr algn="l"/>
            <a:r>
              <a:rPr sz="1150" b="0" i="0">
                <a:solidFill>
                  <a:srgbClr val="CCCCCC"/>
                </a:solidFill>
              </a:rPr>
              <a:t>Cmdlet PowerShell pour créer un point de contrôle</a:t>
            </a:r>
          </a:p>
        </p:txBody>
      </p:sp>
      <p:sp>
        <p:nvSpPr>
          <p:cNvPr id="47" name="Rectangle 46"/>
          <p:cNvSpPr/>
          <p:nvPr/>
        </p:nvSpPr>
        <p:spPr>
          <a:xfrm>
            <a:off x="0" y="6693408"/>
            <a:ext cx="12188952" cy="32004"/>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320040" y="6675120"/>
            <a:ext cx="11548872" cy="201168"/>
          </a:xfrm>
          <a:prstGeom prst="rect">
            <a:avLst/>
          </a:prstGeom>
          <a:noFill/>
        </p:spPr>
        <p:txBody>
          <a:bodyPr wrap="square">
            <a:spAutoFit/>
          </a:bodyPr>
          <a:lstStyle/>
          <a:p>
            <a:pPr algn="l"/>
            <a:r>
              <a:rPr sz="1050" b="0" i="1">
                <a:solidFill>
                  <a:srgbClr val="AAAAAA"/>
                </a:solidFill>
              </a:rPr>
              <a:t>Séance 4 — Vocabulaire clé</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4EE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594360"/>
          </a:xfrm>
          <a:prstGeom prst="rect">
            <a:avLst/>
          </a:prstGeom>
          <a:solidFill>
            <a:srgbClr val="1A3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548640"/>
            <a:ext cx="12188952" cy="45720"/>
          </a:xfrm>
          <a:prstGeom prst="rect">
            <a:avLst/>
          </a:prstGeom>
          <a:solidFill>
            <a:srgbClr val="6A0D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mage1.png"/>
          <p:cNvPicPr>
            <a:picLocks noChangeAspect="1"/>
          </p:cNvPicPr>
          <p:nvPr/>
        </p:nvPicPr>
        <p:blipFill>
          <a:blip r:embed="rId2"/>
          <a:stretch>
            <a:fillRect/>
          </a:stretch>
        </p:blipFill>
        <p:spPr>
          <a:xfrm>
            <a:off x="164592" y="109728"/>
            <a:ext cx="1158240" cy="347472"/>
          </a:xfrm>
          <a:prstGeom prst="rect">
            <a:avLst/>
          </a:prstGeom>
        </p:spPr>
      </p:pic>
      <p:sp>
        <p:nvSpPr>
          <p:cNvPr id="6" name="TextBox 5"/>
          <p:cNvSpPr txBox="1"/>
          <p:nvPr/>
        </p:nvSpPr>
        <p:spPr>
          <a:xfrm>
            <a:off x="1426464" y="73152"/>
            <a:ext cx="4754880" cy="237744"/>
          </a:xfrm>
          <a:prstGeom prst="rect">
            <a:avLst/>
          </a:prstGeom>
          <a:noFill/>
        </p:spPr>
        <p:txBody>
          <a:bodyPr wrap="square">
            <a:spAutoFit/>
          </a:bodyPr>
          <a:lstStyle/>
          <a:p>
            <a:pPr algn="l"/>
            <a:r>
              <a:rPr sz="1350" b="0" i="0">
                <a:solidFill>
                  <a:srgbClr val="FFFFFF"/>
                </a:solidFill>
              </a:rPr>
              <a:t>SÉANCE 4 — VMs SV1/SRVCore/CL10-01</a:t>
            </a:r>
          </a:p>
        </p:txBody>
      </p:sp>
      <p:sp>
        <p:nvSpPr>
          <p:cNvPr id="7" name="TextBox 6"/>
          <p:cNvSpPr txBox="1"/>
          <p:nvPr/>
        </p:nvSpPr>
        <p:spPr>
          <a:xfrm>
            <a:off x="8714232" y="45720"/>
            <a:ext cx="3291840" cy="246888"/>
          </a:xfrm>
          <a:prstGeom prst="rect">
            <a:avLst/>
          </a:prstGeom>
          <a:noFill/>
        </p:spPr>
        <p:txBody>
          <a:bodyPr wrap="square">
            <a:spAutoFit/>
          </a:bodyPr>
          <a:lstStyle/>
          <a:p>
            <a:pPr algn="r"/>
            <a:r>
              <a:rPr sz="1200" b="1" i="0">
                <a:solidFill>
                  <a:srgbClr val="FFFFFF"/>
                </a:solidFill>
              </a:rPr>
              <a:t>CHAFIK MOUSTAID — FORMATEUR</a:t>
            </a:r>
          </a:p>
        </p:txBody>
      </p:sp>
      <p:sp>
        <p:nvSpPr>
          <p:cNvPr id="8" name="TextBox 7"/>
          <p:cNvSpPr txBox="1"/>
          <p:nvPr/>
        </p:nvSpPr>
        <p:spPr>
          <a:xfrm>
            <a:off x="8714232" y="310896"/>
            <a:ext cx="3291840" cy="182880"/>
          </a:xfrm>
          <a:prstGeom prst="rect">
            <a:avLst/>
          </a:prstGeom>
          <a:noFill/>
        </p:spPr>
        <p:txBody>
          <a:bodyPr wrap="square">
            <a:spAutoFit/>
          </a:bodyPr>
          <a:lstStyle/>
          <a:p>
            <a:pPr algn="r"/>
            <a:r>
              <a:rPr sz="1100" b="0" i="0">
                <a:solidFill>
                  <a:srgbClr val="99BB99"/>
                </a:solidFill>
              </a:rPr>
              <a:t>Version 1 — Juin 2026</a:t>
            </a:r>
          </a:p>
        </p:txBody>
      </p:sp>
      <p:sp>
        <p:nvSpPr>
          <p:cNvPr id="9" name="TextBox 8"/>
          <p:cNvSpPr txBox="1"/>
          <p:nvPr/>
        </p:nvSpPr>
        <p:spPr>
          <a:xfrm>
            <a:off x="457200" y="685800"/>
            <a:ext cx="11274552" cy="530352"/>
          </a:xfrm>
          <a:prstGeom prst="rect">
            <a:avLst/>
          </a:prstGeom>
          <a:noFill/>
        </p:spPr>
        <p:txBody>
          <a:bodyPr wrap="square">
            <a:spAutoFit/>
          </a:bodyPr>
          <a:lstStyle/>
          <a:p>
            <a:pPr algn="l"/>
            <a:r>
              <a:rPr sz="2750" b="1" i="0">
                <a:solidFill>
                  <a:srgbClr val="1A3560"/>
                </a:solidFill>
              </a:rPr>
              <a:t>Mémo commandes</a:t>
            </a:r>
          </a:p>
        </p:txBody>
      </p:sp>
      <p:sp>
        <p:nvSpPr>
          <p:cNvPr id="10" name="TextBox 9"/>
          <p:cNvSpPr txBox="1"/>
          <p:nvPr/>
        </p:nvSpPr>
        <p:spPr>
          <a:xfrm>
            <a:off x="457200" y="1188720"/>
            <a:ext cx="11274552" cy="310896"/>
          </a:xfrm>
          <a:prstGeom prst="rect">
            <a:avLst/>
          </a:prstGeom>
          <a:noFill/>
        </p:spPr>
        <p:txBody>
          <a:bodyPr wrap="square">
            <a:spAutoFit/>
          </a:bodyPr>
          <a:lstStyle/>
          <a:p>
            <a:pPr algn="l"/>
            <a:r>
              <a:rPr sz="1450" b="0" i="0">
                <a:solidFill>
                  <a:srgbClr val="595959"/>
                </a:solidFill>
              </a:rPr>
              <a:t>PowerShell — VMs et points de contrôle</a:t>
            </a:r>
          </a:p>
        </p:txBody>
      </p:sp>
      <p:sp>
        <p:nvSpPr>
          <p:cNvPr id="11" name="Rectangle 10"/>
          <p:cNvSpPr/>
          <p:nvPr/>
        </p:nvSpPr>
        <p:spPr>
          <a:xfrm>
            <a:off x="457200" y="1463040"/>
            <a:ext cx="1280160" cy="45720"/>
          </a:xfrm>
          <a:prstGeom prst="rect">
            <a:avLst/>
          </a:prstGeom>
          <a:solidFill>
            <a:srgbClr val="6A0D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57200" y="1783080"/>
            <a:ext cx="11274552" cy="566928"/>
          </a:xfrm>
          <a:prstGeom prst="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57200" y="1783080"/>
            <a:ext cx="11274552" cy="256032"/>
          </a:xfrm>
          <a:prstGeom prst="rect">
            <a:avLst/>
          </a:prstGeom>
          <a:solidFill>
            <a:srgbClr val="0D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94360" y="1810512"/>
            <a:ext cx="11000232" cy="201168"/>
          </a:xfrm>
          <a:prstGeom prst="rect">
            <a:avLst/>
          </a:prstGeom>
          <a:noFill/>
        </p:spPr>
        <p:txBody>
          <a:bodyPr wrap="square">
            <a:spAutoFit/>
          </a:bodyPr>
          <a:lstStyle/>
          <a:p>
            <a:pPr algn="l"/>
            <a:r>
              <a:rPr sz="1150" b="0" i="0">
                <a:solidFill>
                  <a:srgbClr val="8888AA"/>
                </a:solidFill>
              </a:rPr>
              <a:t>Créer SV1</a:t>
            </a:r>
          </a:p>
        </p:txBody>
      </p:sp>
      <p:sp>
        <p:nvSpPr>
          <p:cNvPr id="15" name="TextBox 14"/>
          <p:cNvSpPr txBox="1"/>
          <p:nvPr/>
        </p:nvSpPr>
        <p:spPr>
          <a:xfrm>
            <a:off x="685800" y="2084831"/>
            <a:ext cx="10817352" cy="219456"/>
          </a:xfrm>
          <a:prstGeom prst="rect">
            <a:avLst/>
          </a:prstGeom>
          <a:noFill/>
        </p:spPr>
        <p:txBody>
          <a:bodyPr wrap="none">
            <a:spAutoFit/>
          </a:bodyPr>
          <a:lstStyle/>
          <a:p>
            <a:pPr algn="l"/>
            <a:r>
              <a:rPr sz="1400" b="1" i="0">
                <a:solidFill>
                  <a:srgbClr val="88DDAA"/>
                </a:solidFill>
              </a:rPr>
              <a:t>New-VM -Name "SV1" -MemoryStartupBytes 2GB -Generation 2 -SwitchName "LAN-Labo"</a:t>
            </a:r>
          </a:p>
        </p:txBody>
      </p:sp>
      <p:sp>
        <p:nvSpPr>
          <p:cNvPr id="16" name="Rectangle 15"/>
          <p:cNvSpPr/>
          <p:nvPr/>
        </p:nvSpPr>
        <p:spPr>
          <a:xfrm>
            <a:off x="457200" y="2459736"/>
            <a:ext cx="11274552" cy="566928"/>
          </a:xfrm>
          <a:prstGeom prst="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57200" y="2459736"/>
            <a:ext cx="11274552" cy="256032"/>
          </a:xfrm>
          <a:prstGeom prst="rect">
            <a:avLst/>
          </a:prstGeom>
          <a:solidFill>
            <a:srgbClr val="0D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94360" y="2487168"/>
            <a:ext cx="11000232" cy="201168"/>
          </a:xfrm>
          <a:prstGeom prst="rect">
            <a:avLst/>
          </a:prstGeom>
          <a:noFill/>
        </p:spPr>
        <p:txBody>
          <a:bodyPr wrap="square">
            <a:spAutoFit/>
          </a:bodyPr>
          <a:lstStyle/>
          <a:p>
            <a:pPr algn="l"/>
            <a:r>
              <a:rPr sz="1150" b="0" i="0">
                <a:solidFill>
                  <a:srgbClr val="8888AA"/>
                </a:solidFill>
              </a:rPr>
              <a:t>Créer SRVCore</a:t>
            </a:r>
          </a:p>
        </p:txBody>
      </p:sp>
      <p:sp>
        <p:nvSpPr>
          <p:cNvPr id="19" name="TextBox 18"/>
          <p:cNvSpPr txBox="1"/>
          <p:nvPr/>
        </p:nvSpPr>
        <p:spPr>
          <a:xfrm>
            <a:off x="685800" y="2761488"/>
            <a:ext cx="10817352" cy="219456"/>
          </a:xfrm>
          <a:prstGeom prst="rect">
            <a:avLst/>
          </a:prstGeom>
          <a:noFill/>
        </p:spPr>
        <p:txBody>
          <a:bodyPr wrap="none">
            <a:spAutoFit/>
          </a:bodyPr>
          <a:lstStyle/>
          <a:p>
            <a:pPr algn="l"/>
            <a:r>
              <a:rPr sz="1400" b="1" i="0">
                <a:solidFill>
                  <a:srgbClr val="88DDAA"/>
                </a:solidFill>
              </a:rPr>
              <a:t>New-VM -Name "SRVCore" -MemoryStartupBytes 1536MB -Generation 2 -SwitchName "LAN-Labo"</a:t>
            </a:r>
          </a:p>
        </p:txBody>
      </p:sp>
      <p:sp>
        <p:nvSpPr>
          <p:cNvPr id="20" name="Rectangle 19"/>
          <p:cNvSpPr/>
          <p:nvPr/>
        </p:nvSpPr>
        <p:spPr>
          <a:xfrm>
            <a:off x="457200" y="3136391"/>
            <a:ext cx="11274552" cy="566928"/>
          </a:xfrm>
          <a:prstGeom prst="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57200" y="3136391"/>
            <a:ext cx="11274552" cy="256032"/>
          </a:xfrm>
          <a:prstGeom prst="rect">
            <a:avLst/>
          </a:prstGeom>
          <a:solidFill>
            <a:srgbClr val="0D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94360" y="3163823"/>
            <a:ext cx="11000232" cy="201168"/>
          </a:xfrm>
          <a:prstGeom prst="rect">
            <a:avLst/>
          </a:prstGeom>
          <a:noFill/>
        </p:spPr>
        <p:txBody>
          <a:bodyPr wrap="square">
            <a:spAutoFit/>
          </a:bodyPr>
          <a:lstStyle/>
          <a:p>
            <a:pPr algn="l"/>
            <a:r>
              <a:rPr sz="1150" b="0" i="0">
                <a:solidFill>
                  <a:srgbClr val="8888AA"/>
                </a:solidFill>
              </a:rPr>
              <a:t>Créer CL10-01</a:t>
            </a:r>
          </a:p>
        </p:txBody>
      </p:sp>
      <p:sp>
        <p:nvSpPr>
          <p:cNvPr id="23" name="TextBox 22"/>
          <p:cNvSpPr txBox="1"/>
          <p:nvPr/>
        </p:nvSpPr>
        <p:spPr>
          <a:xfrm>
            <a:off x="685800" y="3438144"/>
            <a:ext cx="10817352" cy="219456"/>
          </a:xfrm>
          <a:prstGeom prst="rect">
            <a:avLst/>
          </a:prstGeom>
          <a:noFill/>
        </p:spPr>
        <p:txBody>
          <a:bodyPr wrap="none">
            <a:spAutoFit/>
          </a:bodyPr>
          <a:lstStyle/>
          <a:p>
            <a:pPr algn="l"/>
            <a:r>
              <a:rPr sz="1400" b="1" i="0">
                <a:solidFill>
                  <a:srgbClr val="88DDAA"/>
                </a:solidFill>
              </a:rPr>
              <a:t>New-VM -Name "CL10-01" -MemoryStartupBytes 4GB -Generation 2 -SwitchName "LAN-Labo"</a:t>
            </a:r>
          </a:p>
        </p:txBody>
      </p:sp>
      <p:sp>
        <p:nvSpPr>
          <p:cNvPr id="24" name="Rectangle 23"/>
          <p:cNvSpPr/>
          <p:nvPr/>
        </p:nvSpPr>
        <p:spPr>
          <a:xfrm>
            <a:off x="457200" y="3813048"/>
            <a:ext cx="11274552" cy="566928"/>
          </a:xfrm>
          <a:prstGeom prst="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57200" y="3813048"/>
            <a:ext cx="11274552" cy="256032"/>
          </a:xfrm>
          <a:prstGeom prst="rect">
            <a:avLst/>
          </a:prstGeom>
          <a:solidFill>
            <a:srgbClr val="0D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94360" y="3840480"/>
            <a:ext cx="11000232" cy="201168"/>
          </a:xfrm>
          <a:prstGeom prst="rect">
            <a:avLst/>
          </a:prstGeom>
          <a:noFill/>
        </p:spPr>
        <p:txBody>
          <a:bodyPr wrap="square">
            <a:spAutoFit/>
          </a:bodyPr>
          <a:lstStyle/>
          <a:p>
            <a:pPr algn="l"/>
            <a:r>
              <a:rPr sz="1150" b="0" i="0">
                <a:solidFill>
                  <a:srgbClr val="8888AA"/>
                </a:solidFill>
              </a:rPr>
              <a:t>Créer un checkpoint</a:t>
            </a:r>
          </a:p>
        </p:txBody>
      </p:sp>
      <p:sp>
        <p:nvSpPr>
          <p:cNvPr id="27" name="TextBox 26"/>
          <p:cNvSpPr txBox="1"/>
          <p:nvPr/>
        </p:nvSpPr>
        <p:spPr>
          <a:xfrm>
            <a:off x="685800" y="4114800"/>
            <a:ext cx="10817352" cy="219456"/>
          </a:xfrm>
          <a:prstGeom prst="rect">
            <a:avLst/>
          </a:prstGeom>
          <a:noFill/>
        </p:spPr>
        <p:txBody>
          <a:bodyPr wrap="none">
            <a:spAutoFit/>
          </a:bodyPr>
          <a:lstStyle/>
          <a:p>
            <a:pPr algn="l"/>
            <a:r>
              <a:rPr sz="1400" b="1" i="0">
                <a:solidFill>
                  <a:srgbClr val="88DDAA"/>
                </a:solidFill>
              </a:rPr>
              <a:t>Checkpoint-VM -Name "SV1" -SnapshotName "Etat-initial"</a:t>
            </a:r>
          </a:p>
        </p:txBody>
      </p:sp>
      <p:sp>
        <p:nvSpPr>
          <p:cNvPr id="28" name="Rectangle 27"/>
          <p:cNvSpPr/>
          <p:nvPr/>
        </p:nvSpPr>
        <p:spPr>
          <a:xfrm>
            <a:off x="457200" y="4489704"/>
            <a:ext cx="11274552" cy="566928"/>
          </a:xfrm>
          <a:prstGeom prst="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457200" y="4489704"/>
            <a:ext cx="11274552" cy="256032"/>
          </a:xfrm>
          <a:prstGeom prst="rect">
            <a:avLst/>
          </a:prstGeom>
          <a:solidFill>
            <a:srgbClr val="0D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94360" y="4517136"/>
            <a:ext cx="11000232" cy="201168"/>
          </a:xfrm>
          <a:prstGeom prst="rect">
            <a:avLst/>
          </a:prstGeom>
          <a:noFill/>
        </p:spPr>
        <p:txBody>
          <a:bodyPr wrap="square">
            <a:spAutoFit/>
          </a:bodyPr>
          <a:lstStyle/>
          <a:p>
            <a:pPr algn="l"/>
            <a:r>
              <a:rPr sz="1150" b="0" i="0">
                <a:solidFill>
                  <a:srgbClr val="8888AA"/>
                </a:solidFill>
              </a:rPr>
              <a:t>Lister les checkpoints</a:t>
            </a:r>
          </a:p>
        </p:txBody>
      </p:sp>
      <p:sp>
        <p:nvSpPr>
          <p:cNvPr id="31" name="TextBox 30"/>
          <p:cNvSpPr txBox="1"/>
          <p:nvPr/>
        </p:nvSpPr>
        <p:spPr>
          <a:xfrm>
            <a:off x="685800" y="4791456"/>
            <a:ext cx="10817352" cy="219456"/>
          </a:xfrm>
          <a:prstGeom prst="rect">
            <a:avLst/>
          </a:prstGeom>
          <a:noFill/>
        </p:spPr>
        <p:txBody>
          <a:bodyPr wrap="none">
            <a:spAutoFit/>
          </a:bodyPr>
          <a:lstStyle/>
          <a:p>
            <a:pPr algn="l"/>
            <a:r>
              <a:rPr sz="1400" b="1" i="0">
                <a:solidFill>
                  <a:srgbClr val="88DDAA"/>
                </a:solidFill>
              </a:rPr>
              <a:t>Get-VMSnapshot -VMName "SV1"</a:t>
            </a:r>
          </a:p>
        </p:txBody>
      </p:sp>
      <p:sp>
        <p:nvSpPr>
          <p:cNvPr id="32" name="Rectangle 31"/>
          <p:cNvSpPr/>
          <p:nvPr/>
        </p:nvSpPr>
        <p:spPr>
          <a:xfrm>
            <a:off x="457200" y="5166360"/>
            <a:ext cx="11274552" cy="566928"/>
          </a:xfrm>
          <a:prstGeom prst="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457200" y="5166360"/>
            <a:ext cx="11274552" cy="256032"/>
          </a:xfrm>
          <a:prstGeom prst="rect">
            <a:avLst/>
          </a:prstGeom>
          <a:solidFill>
            <a:srgbClr val="0D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94360" y="5193792"/>
            <a:ext cx="11000232" cy="201168"/>
          </a:xfrm>
          <a:prstGeom prst="rect">
            <a:avLst/>
          </a:prstGeom>
          <a:noFill/>
        </p:spPr>
        <p:txBody>
          <a:bodyPr wrap="square">
            <a:spAutoFit/>
          </a:bodyPr>
          <a:lstStyle/>
          <a:p>
            <a:pPr algn="l"/>
            <a:r>
              <a:rPr sz="1150" b="0" i="0">
                <a:solidFill>
                  <a:srgbClr val="8888AA"/>
                </a:solidFill>
              </a:rPr>
              <a:t>Restaurer un checkpoint</a:t>
            </a:r>
          </a:p>
        </p:txBody>
      </p:sp>
      <p:sp>
        <p:nvSpPr>
          <p:cNvPr id="35" name="TextBox 34"/>
          <p:cNvSpPr txBox="1"/>
          <p:nvPr/>
        </p:nvSpPr>
        <p:spPr>
          <a:xfrm>
            <a:off x="685800" y="5468112"/>
            <a:ext cx="10817352" cy="219456"/>
          </a:xfrm>
          <a:prstGeom prst="rect">
            <a:avLst/>
          </a:prstGeom>
          <a:noFill/>
        </p:spPr>
        <p:txBody>
          <a:bodyPr wrap="none">
            <a:spAutoFit/>
          </a:bodyPr>
          <a:lstStyle/>
          <a:p>
            <a:pPr algn="l"/>
            <a:r>
              <a:rPr sz="1400" b="1" i="0">
                <a:solidFill>
                  <a:srgbClr val="88DDAA"/>
                </a:solidFill>
              </a:rPr>
              <a:t>Restore-VMSnapshot -VMName "SV1" -Name "Etat-initial"</a:t>
            </a:r>
          </a:p>
        </p:txBody>
      </p:sp>
      <p:sp>
        <p:nvSpPr>
          <p:cNvPr id="36" name="Rectangle 35"/>
          <p:cNvSpPr/>
          <p:nvPr/>
        </p:nvSpPr>
        <p:spPr>
          <a:xfrm>
            <a:off x="0" y="6693408"/>
            <a:ext cx="12188952" cy="32004"/>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20040" y="6675120"/>
            <a:ext cx="11548872" cy="201168"/>
          </a:xfrm>
          <a:prstGeom prst="rect">
            <a:avLst/>
          </a:prstGeom>
          <a:noFill/>
        </p:spPr>
        <p:txBody>
          <a:bodyPr wrap="square">
            <a:spAutoFit/>
          </a:bodyPr>
          <a:lstStyle/>
          <a:p>
            <a:pPr algn="l"/>
            <a:r>
              <a:rPr sz="1050" b="0" i="1">
                <a:solidFill>
                  <a:srgbClr val="AAAAAA"/>
                </a:solidFill>
              </a:rPr>
              <a:t>Séance 4 — Mémo commandes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4EE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594360"/>
          </a:xfrm>
          <a:prstGeom prst="rect">
            <a:avLst/>
          </a:prstGeom>
          <a:solidFill>
            <a:srgbClr val="1A3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548640"/>
            <a:ext cx="12188952" cy="45720"/>
          </a:xfrm>
          <a:prstGeom prst="rect">
            <a:avLst/>
          </a:prstGeom>
          <a:solidFill>
            <a:srgbClr val="6A0D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mage1.png"/>
          <p:cNvPicPr>
            <a:picLocks noChangeAspect="1"/>
          </p:cNvPicPr>
          <p:nvPr/>
        </p:nvPicPr>
        <p:blipFill>
          <a:blip r:embed="rId2"/>
          <a:stretch>
            <a:fillRect/>
          </a:stretch>
        </p:blipFill>
        <p:spPr>
          <a:xfrm>
            <a:off x="164592" y="109728"/>
            <a:ext cx="1158240" cy="347472"/>
          </a:xfrm>
          <a:prstGeom prst="rect">
            <a:avLst/>
          </a:prstGeom>
        </p:spPr>
      </p:pic>
      <p:sp>
        <p:nvSpPr>
          <p:cNvPr id="6" name="TextBox 5"/>
          <p:cNvSpPr txBox="1"/>
          <p:nvPr/>
        </p:nvSpPr>
        <p:spPr>
          <a:xfrm>
            <a:off x="1426464" y="73152"/>
            <a:ext cx="4754880" cy="237744"/>
          </a:xfrm>
          <a:prstGeom prst="rect">
            <a:avLst/>
          </a:prstGeom>
          <a:noFill/>
        </p:spPr>
        <p:txBody>
          <a:bodyPr wrap="square">
            <a:spAutoFit/>
          </a:bodyPr>
          <a:lstStyle/>
          <a:p>
            <a:pPr algn="l"/>
            <a:r>
              <a:rPr sz="1350" b="0" i="0">
                <a:solidFill>
                  <a:srgbClr val="FFFFFF"/>
                </a:solidFill>
              </a:rPr>
              <a:t>SÉANCE 4 — VMs SV1/SRVCore/CL10-01</a:t>
            </a:r>
          </a:p>
        </p:txBody>
      </p:sp>
      <p:sp>
        <p:nvSpPr>
          <p:cNvPr id="7" name="TextBox 6"/>
          <p:cNvSpPr txBox="1"/>
          <p:nvPr/>
        </p:nvSpPr>
        <p:spPr>
          <a:xfrm>
            <a:off x="8714232" y="45720"/>
            <a:ext cx="3291840" cy="246888"/>
          </a:xfrm>
          <a:prstGeom prst="rect">
            <a:avLst/>
          </a:prstGeom>
          <a:noFill/>
        </p:spPr>
        <p:txBody>
          <a:bodyPr wrap="square">
            <a:spAutoFit/>
          </a:bodyPr>
          <a:lstStyle/>
          <a:p>
            <a:pPr algn="r"/>
            <a:r>
              <a:rPr sz="1200" b="1" i="0">
                <a:solidFill>
                  <a:srgbClr val="FFFFFF"/>
                </a:solidFill>
              </a:rPr>
              <a:t>CHAFIK MOUSTAID — FORMATEUR</a:t>
            </a:r>
          </a:p>
        </p:txBody>
      </p:sp>
      <p:sp>
        <p:nvSpPr>
          <p:cNvPr id="8" name="TextBox 7"/>
          <p:cNvSpPr txBox="1"/>
          <p:nvPr/>
        </p:nvSpPr>
        <p:spPr>
          <a:xfrm>
            <a:off x="8714232" y="310896"/>
            <a:ext cx="3291840" cy="182880"/>
          </a:xfrm>
          <a:prstGeom prst="rect">
            <a:avLst/>
          </a:prstGeom>
          <a:noFill/>
        </p:spPr>
        <p:txBody>
          <a:bodyPr wrap="square">
            <a:spAutoFit/>
          </a:bodyPr>
          <a:lstStyle/>
          <a:p>
            <a:pPr algn="r"/>
            <a:r>
              <a:rPr sz="1100" b="0" i="0">
                <a:solidFill>
                  <a:srgbClr val="99BB99"/>
                </a:solidFill>
              </a:rPr>
              <a:t>Version 1 — Juin 2026</a:t>
            </a:r>
          </a:p>
        </p:txBody>
      </p:sp>
      <p:sp>
        <p:nvSpPr>
          <p:cNvPr id="9" name="TextBox 8"/>
          <p:cNvSpPr txBox="1"/>
          <p:nvPr/>
        </p:nvSpPr>
        <p:spPr>
          <a:xfrm>
            <a:off x="457200" y="685800"/>
            <a:ext cx="11274552" cy="530352"/>
          </a:xfrm>
          <a:prstGeom prst="rect">
            <a:avLst/>
          </a:prstGeom>
          <a:noFill/>
        </p:spPr>
        <p:txBody>
          <a:bodyPr wrap="square">
            <a:spAutoFit/>
          </a:bodyPr>
          <a:lstStyle/>
          <a:p>
            <a:pPr algn="l"/>
            <a:r>
              <a:rPr sz="2750" b="1" i="0">
                <a:solidFill>
                  <a:srgbClr val="1A3560"/>
                </a:solidFill>
              </a:rPr>
              <a:t>Cas pratiques</a:t>
            </a:r>
          </a:p>
        </p:txBody>
      </p:sp>
      <p:sp>
        <p:nvSpPr>
          <p:cNvPr id="10" name="TextBox 9"/>
          <p:cNvSpPr txBox="1"/>
          <p:nvPr/>
        </p:nvSpPr>
        <p:spPr>
          <a:xfrm>
            <a:off x="457200" y="1188720"/>
            <a:ext cx="11274552" cy="310896"/>
          </a:xfrm>
          <a:prstGeom prst="rect">
            <a:avLst/>
          </a:prstGeom>
          <a:noFill/>
        </p:spPr>
        <p:txBody>
          <a:bodyPr wrap="square">
            <a:spAutoFit/>
          </a:bodyPr>
          <a:lstStyle/>
          <a:p>
            <a:pPr algn="l"/>
            <a:r>
              <a:rPr sz="1450" b="0" i="0">
                <a:solidFill>
                  <a:srgbClr val="595959"/>
                </a:solidFill>
              </a:rPr>
              <a:t>3 mises en situation</a:t>
            </a:r>
          </a:p>
        </p:txBody>
      </p:sp>
      <p:sp>
        <p:nvSpPr>
          <p:cNvPr id="11" name="Rectangle 10"/>
          <p:cNvSpPr/>
          <p:nvPr/>
        </p:nvSpPr>
        <p:spPr>
          <a:xfrm>
            <a:off x="457200" y="1463040"/>
            <a:ext cx="1280160" cy="45720"/>
          </a:xfrm>
          <a:prstGeom prst="rect">
            <a:avLst/>
          </a:prstGeom>
          <a:solidFill>
            <a:srgbClr val="6A0D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57200" y="1783080"/>
            <a:ext cx="11274552" cy="1234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57200" y="1783080"/>
            <a:ext cx="54864" cy="1234440"/>
          </a:xfrm>
          <a:prstGeom prst="rect">
            <a:avLst/>
          </a:prstGeom>
          <a:solidFill>
            <a:srgbClr val="6A0D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85800" y="1911095"/>
            <a:ext cx="10817352" cy="274320"/>
          </a:xfrm>
          <a:prstGeom prst="rect">
            <a:avLst/>
          </a:prstGeom>
          <a:noFill/>
        </p:spPr>
        <p:txBody>
          <a:bodyPr wrap="square">
            <a:spAutoFit/>
          </a:bodyPr>
          <a:lstStyle/>
          <a:p>
            <a:pPr algn="l"/>
            <a:r>
              <a:rPr sz="1450" b="1" i="0">
                <a:solidFill>
                  <a:srgbClr val="1A3560"/>
                </a:solidFill>
              </a:rPr>
              <a:t>Julien — Admin réseau junior</a:t>
            </a:r>
          </a:p>
        </p:txBody>
      </p:sp>
      <p:sp>
        <p:nvSpPr>
          <p:cNvPr id="15" name="TextBox 14"/>
          <p:cNvSpPr txBox="1"/>
          <p:nvPr/>
        </p:nvSpPr>
        <p:spPr>
          <a:xfrm>
            <a:off x="685800" y="2240280"/>
            <a:ext cx="10817352" cy="685800"/>
          </a:xfrm>
          <a:prstGeom prst="rect">
            <a:avLst/>
          </a:prstGeom>
          <a:noFill/>
        </p:spPr>
        <p:txBody>
          <a:bodyPr wrap="square">
            <a:spAutoFit/>
          </a:bodyPr>
          <a:lstStyle/>
          <a:p>
            <a:pPr algn="l"/>
            <a:r>
              <a:rPr sz="1250" b="0" i="0">
                <a:solidFill>
                  <a:srgbClr val="595959"/>
                </a:solidFill>
              </a:rPr>
              <a:t>Julien vient de créer SRVCore mais se retrouve face à une invite de commandes noire. Quelle commande lui permet d'ouvrir un menu de configuration simplifié ?</a:t>
            </a:r>
          </a:p>
        </p:txBody>
      </p:sp>
      <p:sp>
        <p:nvSpPr>
          <p:cNvPr id="16" name="Rectangle 15"/>
          <p:cNvSpPr/>
          <p:nvPr/>
        </p:nvSpPr>
        <p:spPr>
          <a:xfrm>
            <a:off x="457200" y="3154680"/>
            <a:ext cx="11274552" cy="1234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57200" y="3154680"/>
            <a:ext cx="54864" cy="1234440"/>
          </a:xfrm>
          <a:prstGeom prst="rect">
            <a:avLst/>
          </a:prstGeom>
          <a:solidFill>
            <a:srgbClr val="6A0D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85800" y="3282696"/>
            <a:ext cx="10817352" cy="274320"/>
          </a:xfrm>
          <a:prstGeom prst="rect">
            <a:avLst/>
          </a:prstGeom>
          <a:noFill/>
        </p:spPr>
        <p:txBody>
          <a:bodyPr wrap="square">
            <a:spAutoFit/>
          </a:bodyPr>
          <a:lstStyle/>
          <a:p>
            <a:pPr algn="l"/>
            <a:r>
              <a:rPr sz="1450" b="1" i="0">
                <a:solidFill>
                  <a:srgbClr val="1A3560"/>
                </a:solidFill>
              </a:rPr>
              <a:t>Sophie — Technicienne support N2</a:t>
            </a:r>
          </a:p>
        </p:txBody>
      </p:sp>
      <p:sp>
        <p:nvSpPr>
          <p:cNvPr id="19" name="TextBox 18"/>
          <p:cNvSpPr txBox="1"/>
          <p:nvPr/>
        </p:nvSpPr>
        <p:spPr>
          <a:xfrm>
            <a:off x="685800" y="3611880"/>
            <a:ext cx="10817352" cy="685800"/>
          </a:xfrm>
          <a:prstGeom prst="rect">
            <a:avLst/>
          </a:prstGeom>
          <a:noFill/>
        </p:spPr>
        <p:txBody>
          <a:bodyPr wrap="square">
            <a:spAutoFit/>
          </a:bodyPr>
          <a:lstStyle/>
          <a:p>
            <a:pPr algn="l"/>
            <a:r>
              <a:rPr sz="1250" b="0" i="0">
                <a:solidFill>
                  <a:srgbClr val="595959"/>
                </a:solidFill>
              </a:rPr>
              <a:t>Sophie hésite entre un checkpoint standard et un checkpoint de production pour AD1. Que lui conseillez-vous, et pourquoi ?</a:t>
            </a:r>
          </a:p>
        </p:txBody>
      </p:sp>
      <p:sp>
        <p:nvSpPr>
          <p:cNvPr id="20" name="Rectangle 19"/>
          <p:cNvSpPr/>
          <p:nvPr/>
        </p:nvSpPr>
        <p:spPr>
          <a:xfrm>
            <a:off x="457200" y="4526280"/>
            <a:ext cx="11274552" cy="1234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57200" y="4526280"/>
            <a:ext cx="54864" cy="1234440"/>
          </a:xfrm>
          <a:prstGeom prst="rect">
            <a:avLst/>
          </a:prstGeom>
          <a:solidFill>
            <a:srgbClr val="6A0D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85800" y="4654296"/>
            <a:ext cx="10817352" cy="274320"/>
          </a:xfrm>
          <a:prstGeom prst="rect">
            <a:avLst/>
          </a:prstGeom>
          <a:noFill/>
        </p:spPr>
        <p:txBody>
          <a:bodyPr wrap="square">
            <a:spAutoFit/>
          </a:bodyPr>
          <a:lstStyle/>
          <a:p>
            <a:pPr algn="l"/>
            <a:r>
              <a:rPr sz="1450" b="1" i="0">
                <a:solidFill>
                  <a:srgbClr val="1A3560"/>
                </a:solidFill>
              </a:rPr>
              <a:t>Mario — Responsable infrastructure PME</a:t>
            </a:r>
          </a:p>
        </p:txBody>
      </p:sp>
      <p:sp>
        <p:nvSpPr>
          <p:cNvPr id="23" name="TextBox 22"/>
          <p:cNvSpPr txBox="1"/>
          <p:nvPr/>
        </p:nvSpPr>
        <p:spPr>
          <a:xfrm>
            <a:off x="685800" y="4983480"/>
            <a:ext cx="10817352" cy="685800"/>
          </a:xfrm>
          <a:prstGeom prst="rect">
            <a:avLst/>
          </a:prstGeom>
          <a:noFill/>
        </p:spPr>
        <p:txBody>
          <a:bodyPr wrap="square">
            <a:spAutoFit/>
          </a:bodyPr>
          <a:lstStyle/>
          <a:p>
            <a:pPr algn="l"/>
            <a:r>
              <a:rPr sz="1250" b="0" i="0">
                <a:solidFill>
                  <a:srgbClr val="595959"/>
                </a:solidFill>
              </a:rPr>
              <a:t>Mario constate que plusieurs anciens checkpoints traînent sur SV1 et ralentissent la VM. Que doit-il faire, et pourquoi cela libère-t-il de l'espace ?</a:t>
            </a:r>
          </a:p>
        </p:txBody>
      </p:sp>
      <p:sp>
        <p:nvSpPr>
          <p:cNvPr id="24" name="Rectangle 23"/>
          <p:cNvSpPr/>
          <p:nvPr/>
        </p:nvSpPr>
        <p:spPr>
          <a:xfrm>
            <a:off x="0" y="6693408"/>
            <a:ext cx="12188952" cy="32004"/>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20040" y="6675120"/>
            <a:ext cx="11548872" cy="201168"/>
          </a:xfrm>
          <a:prstGeom prst="rect">
            <a:avLst/>
          </a:prstGeom>
          <a:noFill/>
        </p:spPr>
        <p:txBody>
          <a:bodyPr wrap="square">
            <a:spAutoFit/>
          </a:bodyPr>
          <a:lstStyle/>
          <a:p>
            <a:pPr algn="l"/>
            <a:r>
              <a:rPr sz="1050" b="0" i="1">
                <a:solidFill>
                  <a:srgbClr val="AAAAAA"/>
                </a:solidFill>
              </a:rPr>
              <a:t>Séance 4 — Cas pratiques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4EE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594360"/>
          </a:xfrm>
          <a:prstGeom prst="rect">
            <a:avLst/>
          </a:prstGeom>
          <a:solidFill>
            <a:srgbClr val="1A3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548640"/>
            <a:ext cx="12188952" cy="45720"/>
          </a:xfrm>
          <a:prstGeom prst="rect">
            <a:avLst/>
          </a:prstGeom>
          <a:solidFill>
            <a:srgbClr val="6A0D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mage1.png"/>
          <p:cNvPicPr>
            <a:picLocks noChangeAspect="1"/>
          </p:cNvPicPr>
          <p:nvPr/>
        </p:nvPicPr>
        <p:blipFill>
          <a:blip r:embed="rId2"/>
          <a:stretch>
            <a:fillRect/>
          </a:stretch>
        </p:blipFill>
        <p:spPr>
          <a:xfrm>
            <a:off x="164592" y="109728"/>
            <a:ext cx="1158240" cy="347472"/>
          </a:xfrm>
          <a:prstGeom prst="rect">
            <a:avLst/>
          </a:prstGeom>
        </p:spPr>
      </p:pic>
      <p:sp>
        <p:nvSpPr>
          <p:cNvPr id="6" name="TextBox 5"/>
          <p:cNvSpPr txBox="1"/>
          <p:nvPr/>
        </p:nvSpPr>
        <p:spPr>
          <a:xfrm>
            <a:off x="1426464" y="73152"/>
            <a:ext cx="4754880" cy="237744"/>
          </a:xfrm>
          <a:prstGeom prst="rect">
            <a:avLst/>
          </a:prstGeom>
          <a:noFill/>
        </p:spPr>
        <p:txBody>
          <a:bodyPr wrap="square">
            <a:spAutoFit/>
          </a:bodyPr>
          <a:lstStyle/>
          <a:p>
            <a:pPr algn="l"/>
            <a:r>
              <a:rPr sz="1350" b="0" i="0">
                <a:solidFill>
                  <a:srgbClr val="FFFFFF"/>
                </a:solidFill>
              </a:rPr>
              <a:t>SÉANCE 4 — VMs SV1/SRVCore/CL10-01</a:t>
            </a:r>
          </a:p>
        </p:txBody>
      </p:sp>
      <p:sp>
        <p:nvSpPr>
          <p:cNvPr id="7" name="TextBox 6"/>
          <p:cNvSpPr txBox="1"/>
          <p:nvPr/>
        </p:nvSpPr>
        <p:spPr>
          <a:xfrm>
            <a:off x="8714232" y="45720"/>
            <a:ext cx="3291840" cy="246888"/>
          </a:xfrm>
          <a:prstGeom prst="rect">
            <a:avLst/>
          </a:prstGeom>
          <a:noFill/>
        </p:spPr>
        <p:txBody>
          <a:bodyPr wrap="square">
            <a:spAutoFit/>
          </a:bodyPr>
          <a:lstStyle/>
          <a:p>
            <a:pPr algn="r"/>
            <a:r>
              <a:rPr sz="1200" b="1" i="0">
                <a:solidFill>
                  <a:srgbClr val="FFFFFF"/>
                </a:solidFill>
              </a:rPr>
              <a:t>CHAFIK MOUSTAID — FORMATEUR</a:t>
            </a:r>
          </a:p>
        </p:txBody>
      </p:sp>
      <p:sp>
        <p:nvSpPr>
          <p:cNvPr id="8" name="TextBox 7"/>
          <p:cNvSpPr txBox="1"/>
          <p:nvPr/>
        </p:nvSpPr>
        <p:spPr>
          <a:xfrm>
            <a:off x="8714232" y="310896"/>
            <a:ext cx="3291840" cy="182880"/>
          </a:xfrm>
          <a:prstGeom prst="rect">
            <a:avLst/>
          </a:prstGeom>
          <a:noFill/>
        </p:spPr>
        <p:txBody>
          <a:bodyPr wrap="square">
            <a:spAutoFit/>
          </a:bodyPr>
          <a:lstStyle/>
          <a:p>
            <a:pPr algn="r"/>
            <a:r>
              <a:rPr sz="1100" b="0" i="0">
                <a:solidFill>
                  <a:srgbClr val="99BB99"/>
                </a:solidFill>
              </a:rPr>
              <a:t>Version 1 — Juin 2026</a:t>
            </a:r>
          </a:p>
        </p:txBody>
      </p:sp>
      <p:sp>
        <p:nvSpPr>
          <p:cNvPr id="9" name="TextBox 8"/>
          <p:cNvSpPr txBox="1"/>
          <p:nvPr/>
        </p:nvSpPr>
        <p:spPr>
          <a:xfrm>
            <a:off x="457200" y="685800"/>
            <a:ext cx="11274552" cy="530352"/>
          </a:xfrm>
          <a:prstGeom prst="rect">
            <a:avLst/>
          </a:prstGeom>
          <a:noFill/>
        </p:spPr>
        <p:txBody>
          <a:bodyPr wrap="square">
            <a:spAutoFit/>
          </a:bodyPr>
          <a:lstStyle/>
          <a:p>
            <a:pPr algn="l"/>
            <a:r>
              <a:rPr sz="2750" b="1" i="0">
                <a:solidFill>
                  <a:srgbClr val="1A3560"/>
                </a:solidFill>
              </a:rPr>
              <a:t>À vous de jouer</a:t>
            </a:r>
          </a:p>
        </p:txBody>
      </p:sp>
      <p:sp>
        <p:nvSpPr>
          <p:cNvPr id="10" name="TextBox 9"/>
          <p:cNvSpPr txBox="1"/>
          <p:nvPr/>
        </p:nvSpPr>
        <p:spPr>
          <a:xfrm>
            <a:off x="457200" y="1188720"/>
            <a:ext cx="11274552" cy="310896"/>
          </a:xfrm>
          <a:prstGeom prst="rect">
            <a:avLst/>
          </a:prstGeom>
          <a:noFill/>
        </p:spPr>
        <p:txBody>
          <a:bodyPr wrap="square">
            <a:spAutoFit/>
          </a:bodyPr>
          <a:lstStyle/>
          <a:p>
            <a:pPr algn="l"/>
            <a:r>
              <a:rPr sz="1450" b="0" i="0">
                <a:solidFill>
                  <a:srgbClr val="595959"/>
                </a:solidFill>
              </a:rPr>
              <a:t>4 exercices avant la Séance 5</a:t>
            </a:r>
          </a:p>
        </p:txBody>
      </p:sp>
      <p:sp>
        <p:nvSpPr>
          <p:cNvPr id="11" name="Rectangle 10"/>
          <p:cNvSpPr/>
          <p:nvPr/>
        </p:nvSpPr>
        <p:spPr>
          <a:xfrm>
            <a:off x="457200" y="1463040"/>
            <a:ext cx="1280160" cy="45720"/>
          </a:xfrm>
          <a:prstGeom prst="rect">
            <a:avLst/>
          </a:prstGeom>
          <a:solidFill>
            <a:srgbClr val="6A0D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57200" y="1828800"/>
            <a:ext cx="5500116" cy="1600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57200" y="1828800"/>
            <a:ext cx="5500116" cy="457200"/>
          </a:xfrm>
          <a:prstGeom prst="rect">
            <a:avLst/>
          </a:prstGeom>
          <a:solidFill>
            <a:srgbClr val="3A00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 y="1920240"/>
            <a:ext cx="5134355" cy="292608"/>
          </a:xfrm>
          <a:prstGeom prst="rect">
            <a:avLst/>
          </a:prstGeom>
          <a:noFill/>
        </p:spPr>
        <p:txBody>
          <a:bodyPr wrap="square">
            <a:spAutoFit/>
          </a:bodyPr>
          <a:lstStyle/>
          <a:p>
            <a:pPr algn="l"/>
            <a:r>
              <a:rPr sz="1450" b="1" i="0">
                <a:solidFill>
                  <a:srgbClr val="FFFFFF"/>
                </a:solidFill>
              </a:rPr>
              <a:t>Exercice 1</a:t>
            </a:r>
          </a:p>
        </p:txBody>
      </p:sp>
      <p:sp>
        <p:nvSpPr>
          <p:cNvPr id="15" name="TextBox 14"/>
          <p:cNvSpPr txBox="1"/>
          <p:nvPr/>
        </p:nvSpPr>
        <p:spPr>
          <a:xfrm>
            <a:off x="640080" y="2395728"/>
            <a:ext cx="5134355" cy="274320"/>
          </a:xfrm>
          <a:prstGeom prst="rect">
            <a:avLst/>
          </a:prstGeom>
          <a:noFill/>
        </p:spPr>
        <p:txBody>
          <a:bodyPr wrap="square">
            <a:spAutoFit/>
          </a:bodyPr>
          <a:lstStyle/>
          <a:p>
            <a:pPr algn="l"/>
            <a:r>
              <a:rPr sz="1400" b="1" i="0">
                <a:solidFill>
                  <a:srgbClr val="1A3560"/>
                </a:solidFill>
              </a:rPr>
              <a:t>Créez SV1</a:t>
            </a:r>
          </a:p>
        </p:txBody>
      </p:sp>
      <p:sp>
        <p:nvSpPr>
          <p:cNvPr id="16" name="TextBox 15"/>
          <p:cNvSpPr txBox="1"/>
          <p:nvPr/>
        </p:nvSpPr>
        <p:spPr>
          <a:xfrm>
            <a:off x="640080" y="2724912"/>
            <a:ext cx="5134355" cy="594359"/>
          </a:xfrm>
          <a:prstGeom prst="rect">
            <a:avLst/>
          </a:prstGeom>
          <a:noFill/>
        </p:spPr>
        <p:txBody>
          <a:bodyPr wrap="square">
            <a:spAutoFit/>
          </a:bodyPr>
          <a:lstStyle/>
          <a:p>
            <a:pPr algn="l"/>
            <a:r>
              <a:rPr sz="1200" b="0" i="0">
                <a:solidFill>
                  <a:srgbClr val="595959"/>
                </a:solidFill>
              </a:rPr>
              <a:t>Créez la VM, installez Windows Server en Desktop Experience, renommez et configurez l'IP.</a:t>
            </a:r>
          </a:p>
        </p:txBody>
      </p:sp>
      <p:sp>
        <p:nvSpPr>
          <p:cNvPr id="17" name="Rectangle 16"/>
          <p:cNvSpPr/>
          <p:nvPr/>
        </p:nvSpPr>
        <p:spPr>
          <a:xfrm>
            <a:off x="6231636" y="1828800"/>
            <a:ext cx="5500116" cy="1600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231636" y="1828800"/>
            <a:ext cx="5500116" cy="457200"/>
          </a:xfrm>
          <a:prstGeom prst="rect">
            <a:avLst/>
          </a:prstGeom>
          <a:solidFill>
            <a:srgbClr val="3A00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14516" y="1920240"/>
            <a:ext cx="5134355" cy="292608"/>
          </a:xfrm>
          <a:prstGeom prst="rect">
            <a:avLst/>
          </a:prstGeom>
          <a:noFill/>
        </p:spPr>
        <p:txBody>
          <a:bodyPr wrap="square">
            <a:spAutoFit/>
          </a:bodyPr>
          <a:lstStyle/>
          <a:p>
            <a:pPr algn="l"/>
            <a:r>
              <a:rPr sz="1450" b="1" i="0">
                <a:solidFill>
                  <a:srgbClr val="FFFFFF"/>
                </a:solidFill>
              </a:rPr>
              <a:t>Exercice 2</a:t>
            </a:r>
          </a:p>
        </p:txBody>
      </p:sp>
      <p:sp>
        <p:nvSpPr>
          <p:cNvPr id="20" name="TextBox 19"/>
          <p:cNvSpPr txBox="1"/>
          <p:nvPr/>
        </p:nvSpPr>
        <p:spPr>
          <a:xfrm>
            <a:off x="6414516" y="2395728"/>
            <a:ext cx="5134355" cy="274320"/>
          </a:xfrm>
          <a:prstGeom prst="rect">
            <a:avLst/>
          </a:prstGeom>
          <a:noFill/>
        </p:spPr>
        <p:txBody>
          <a:bodyPr wrap="square">
            <a:spAutoFit/>
          </a:bodyPr>
          <a:lstStyle/>
          <a:p>
            <a:pPr algn="l"/>
            <a:r>
              <a:rPr sz="1400" b="1" i="0">
                <a:solidFill>
                  <a:srgbClr val="1A3560"/>
                </a:solidFill>
              </a:rPr>
              <a:t>Créez SRVCore</a:t>
            </a:r>
          </a:p>
        </p:txBody>
      </p:sp>
      <p:sp>
        <p:nvSpPr>
          <p:cNvPr id="21" name="TextBox 20"/>
          <p:cNvSpPr txBox="1"/>
          <p:nvPr/>
        </p:nvSpPr>
        <p:spPr>
          <a:xfrm>
            <a:off x="6414516" y="2724912"/>
            <a:ext cx="5134355" cy="594359"/>
          </a:xfrm>
          <a:prstGeom prst="rect">
            <a:avLst/>
          </a:prstGeom>
          <a:noFill/>
        </p:spPr>
        <p:txBody>
          <a:bodyPr wrap="square">
            <a:spAutoFit/>
          </a:bodyPr>
          <a:lstStyle/>
          <a:p>
            <a:pPr algn="l"/>
            <a:r>
              <a:rPr sz="1200" b="0" i="0">
                <a:solidFill>
                  <a:srgbClr val="595959"/>
                </a:solidFill>
              </a:rPr>
              <a:t>Créez la VM, installez en Server Core, puis utilisez sconfig pour le nom et l'IP.</a:t>
            </a:r>
          </a:p>
        </p:txBody>
      </p:sp>
      <p:sp>
        <p:nvSpPr>
          <p:cNvPr id="22" name="Rectangle 21"/>
          <p:cNvSpPr/>
          <p:nvPr/>
        </p:nvSpPr>
        <p:spPr>
          <a:xfrm>
            <a:off x="457200" y="3657600"/>
            <a:ext cx="5500116" cy="1600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57200" y="3657600"/>
            <a:ext cx="5500116" cy="457200"/>
          </a:xfrm>
          <a:prstGeom prst="rect">
            <a:avLst/>
          </a:prstGeom>
          <a:solidFill>
            <a:srgbClr val="3A00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080" y="3749039"/>
            <a:ext cx="5134355" cy="292608"/>
          </a:xfrm>
          <a:prstGeom prst="rect">
            <a:avLst/>
          </a:prstGeom>
          <a:noFill/>
        </p:spPr>
        <p:txBody>
          <a:bodyPr wrap="square">
            <a:spAutoFit/>
          </a:bodyPr>
          <a:lstStyle/>
          <a:p>
            <a:pPr algn="l"/>
            <a:r>
              <a:rPr sz="1450" b="1" i="0">
                <a:solidFill>
                  <a:srgbClr val="FFFFFF"/>
                </a:solidFill>
              </a:rPr>
              <a:t>Exercice 3</a:t>
            </a:r>
          </a:p>
        </p:txBody>
      </p:sp>
      <p:sp>
        <p:nvSpPr>
          <p:cNvPr id="25" name="TextBox 24"/>
          <p:cNvSpPr txBox="1"/>
          <p:nvPr/>
        </p:nvSpPr>
        <p:spPr>
          <a:xfrm>
            <a:off x="640080" y="4224528"/>
            <a:ext cx="5134355" cy="274320"/>
          </a:xfrm>
          <a:prstGeom prst="rect">
            <a:avLst/>
          </a:prstGeom>
          <a:noFill/>
        </p:spPr>
        <p:txBody>
          <a:bodyPr wrap="square">
            <a:spAutoFit/>
          </a:bodyPr>
          <a:lstStyle/>
          <a:p>
            <a:pPr algn="l"/>
            <a:r>
              <a:rPr sz="1400" b="1" i="0">
                <a:solidFill>
                  <a:srgbClr val="1A3560"/>
                </a:solidFill>
              </a:rPr>
              <a:t>Créez CL10-01</a:t>
            </a:r>
          </a:p>
        </p:txBody>
      </p:sp>
      <p:sp>
        <p:nvSpPr>
          <p:cNvPr id="26" name="TextBox 25"/>
          <p:cNvSpPr txBox="1"/>
          <p:nvPr/>
        </p:nvSpPr>
        <p:spPr>
          <a:xfrm>
            <a:off x="640080" y="4553712"/>
            <a:ext cx="5134355" cy="594359"/>
          </a:xfrm>
          <a:prstGeom prst="rect">
            <a:avLst/>
          </a:prstGeom>
          <a:noFill/>
        </p:spPr>
        <p:txBody>
          <a:bodyPr wrap="square">
            <a:spAutoFit/>
          </a:bodyPr>
          <a:lstStyle/>
          <a:p>
            <a:pPr algn="l"/>
            <a:r>
              <a:rPr sz="1200" b="0" i="0">
                <a:solidFill>
                  <a:srgbClr val="595959"/>
                </a:solidFill>
              </a:rPr>
              <a:t>Créez la VM cliente, installez un OS client, connectez-la au réseau de labo.</a:t>
            </a:r>
          </a:p>
        </p:txBody>
      </p:sp>
      <p:sp>
        <p:nvSpPr>
          <p:cNvPr id="27" name="Rectangle 26"/>
          <p:cNvSpPr/>
          <p:nvPr/>
        </p:nvSpPr>
        <p:spPr>
          <a:xfrm>
            <a:off x="6231636" y="3657600"/>
            <a:ext cx="5500116" cy="1600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231636" y="3657600"/>
            <a:ext cx="5500116" cy="457200"/>
          </a:xfrm>
          <a:prstGeom prst="rect">
            <a:avLst/>
          </a:prstGeom>
          <a:solidFill>
            <a:srgbClr val="3A00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14516" y="3749039"/>
            <a:ext cx="5134355" cy="292608"/>
          </a:xfrm>
          <a:prstGeom prst="rect">
            <a:avLst/>
          </a:prstGeom>
          <a:noFill/>
        </p:spPr>
        <p:txBody>
          <a:bodyPr wrap="square">
            <a:spAutoFit/>
          </a:bodyPr>
          <a:lstStyle/>
          <a:p>
            <a:pPr algn="l"/>
            <a:r>
              <a:rPr sz="1450" b="1" i="0">
                <a:solidFill>
                  <a:srgbClr val="FFFFFF"/>
                </a:solidFill>
              </a:rPr>
              <a:t>Exercice 4</a:t>
            </a:r>
          </a:p>
        </p:txBody>
      </p:sp>
      <p:sp>
        <p:nvSpPr>
          <p:cNvPr id="30" name="TextBox 29"/>
          <p:cNvSpPr txBox="1"/>
          <p:nvPr/>
        </p:nvSpPr>
        <p:spPr>
          <a:xfrm>
            <a:off x="6414516" y="4224528"/>
            <a:ext cx="5134355" cy="274320"/>
          </a:xfrm>
          <a:prstGeom prst="rect">
            <a:avLst/>
          </a:prstGeom>
          <a:noFill/>
        </p:spPr>
        <p:txBody>
          <a:bodyPr wrap="square">
            <a:spAutoFit/>
          </a:bodyPr>
          <a:lstStyle/>
          <a:p>
            <a:pPr algn="l"/>
            <a:r>
              <a:rPr sz="1400" b="1" i="0">
                <a:solidFill>
                  <a:srgbClr val="1A3560"/>
                </a:solidFill>
              </a:rPr>
              <a:t>Créez les checkpoints</a:t>
            </a:r>
          </a:p>
        </p:txBody>
      </p:sp>
      <p:sp>
        <p:nvSpPr>
          <p:cNvPr id="31" name="TextBox 30"/>
          <p:cNvSpPr txBox="1"/>
          <p:nvPr/>
        </p:nvSpPr>
        <p:spPr>
          <a:xfrm>
            <a:off x="6414516" y="4553712"/>
            <a:ext cx="5134355" cy="594359"/>
          </a:xfrm>
          <a:prstGeom prst="rect">
            <a:avLst/>
          </a:prstGeom>
          <a:noFill/>
        </p:spPr>
        <p:txBody>
          <a:bodyPr wrap="square">
            <a:spAutoFit/>
          </a:bodyPr>
          <a:lstStyle/>
          <a:p>
            <a:pPr algn="l"/>
            <a:r>
              <a:rPr sz="1200" b="0" i="0">
                <a:solidFill>
                  <a:srgbClr val="595959"/>
                </a:solidFill>
              </a:rPr>
              <a:t>Créez un point de contrôle « État initial » sur chacune des 5 VMs de la maquette.</a:t>
            </a:r>
          </a:p>
        </p:txBody>
      </p:sp>
      <p:sp>
        <p:nvSpPr>
          <p:cNvPr id="32" name="Rectangle 31"/>
          <p:cNvSpPr/>
          <p:nvPr/>
        </p:nvSpPr>
        <p:spPr>
          <a:xfrm>
            <a:off x="0" y="6693408"/>
            <a:ext cx="12188952" cy="32004"/>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20040" y="6675120"/>
            <a:ext cx="11548872" cy="201168"/>
          </a:xfrm>
          <a:prstGeom prst="rect">
            <a:avLst/>
          </a:prstGeom>
          <a:noFill/>
        </p:spPr>
        <p:txBody>
          <a:bodyPr wrap="square">
            <a:spAutoFit/>
          </a:bodyPr>
          <a:lstStyle/>
          <a:p>
            <a:pPr algn="l"/>
            <a:r>
              <a:rPr sz="1050" b="0" i="1">
                <a:solidFill>
                  <a:srgbClr val="AAAAAA"/>
                </a:solidFill>
              </a:rPr>
              <a:t>Séance 4 — À vous de jouer</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4EE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594360"/>
          </a:xfrm>
          <a:prstGeom prst="rect">
            <a:avLst/>
          </a:prstGeom>
          <a:solidFill>
            <a:srgbClr val="1A3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548640"/>
            <a:ext cx="12188952" cy="45720"/>
          </a:xfrm>
          <a:prstGeom prst="rect">
            <a:avLst/>
          </a:prstGeom>
          <a:solidFill>
            <a:srgbClr val="6A0D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mage1.png"/>
          <p:cNvPicPr>
            <a:picLocks noChangeAspect="1"/>
          </p:cNvPicPr>
          <p:nvPr/>
        </p:nvPicPr>
        <p:blipFill>
          <a:blip r:embed="rId2"/>
          <a:stretch>
            <a:fillRect/>
          </a:stretch>
        </p:blipFill>
        <p:spPr>
          <a:xfrm>
            <a:off x="164592" y="109728"/>
            <a:ext cx="1158240" cy="347472"/>
          </a:xfrm>
          <a:prstGeom prst="rect">
            <a:avLst/>
          </a:prstGeom>
        </p:spPr>
      </p:pic>
      <p:sp>
        <p:nvSpPr>
          <p:cNvPr id="6" name="TextBox 5"/>
          <p:cNvSpPr txBox="1"/>
          <p:nvPr/>
        </p:nvSpPr>
        <p:spPr>
          <a:xfrm>
            <a:off x="1426464" y="73152"/>
            <a:ext cx="4754880" cy="237744"/>
          </a:xfrm>
          <a:prstGeom prst="rect">
            <a:avLst/>
          </a:prstGeom>
          <a:noFill/>
        </p:spPr>
        <p:txBody>
          <a:bodyPr wrap="square">
            <a:spAutoFit/>
          </a:bodyPr>
          <a:lstStyle/>
          <a:p>
            <a:pPr algn="l"/>
            <a:r>
              <a:rPr sz="1350" b="0" i="0">
                <a:solidFill>
                  <a:srgbClr val="FFFFFF"/>
                </a:solidFill>
              </a:rPr>
              <a:t>SÉANCE 4 — VMs SV1/SRVCore/CL10-01</a:t>
            </a:r>
          </a:p>
        </p:txBody>
      </p:sp>
      <p:sp>
        <p:nvSpPr>
          <p:cNvPr id="7" name="TextBox 6"/>
          <p:cNvSpPr txBox="1"/>
          <p:nvPr/>
        </p:nvSpPr>
        <p:spPr>
          <a:xfrm>
            <a:off x="8714232" y="45720"/>
            <a:ext cx="3291840" cy="246888"/>
          </a:xfrm>
          <a:prstGeom prst="rect">
            <a:avLst/>
          </a:prstGeom>
          <a:noFill/>
        </p:spPr>
        <p:txBody>
          <a:bodyPr wrap="square">
            <a:spAutoFit/>
          </a:bodyPr>
          <a:lstStyle/>
          <a:p>
            <a:pPr algn="r"/>
            <a:r>
              <a:rPr sz="1200" b="1" i="0">
                <a:solidFill>
                  <a:srgbClr val="FFFFFF"/>
                </a:solidFill>
              </a:rPr>
              <a:t>CHAFIK MOUSTAID — FORMATEUR</a:t>
            </a:r>
          </a:p>
        </p:txBody>
      </p:sp>
      <p:sp>
        <p:nvSpPr>
          <p:cNvPr id="8" name="TextBox 7"/>
          <p:cNvSpPr txBox="1"/>
          <p:nvPr/>
        </p:nvSpPr>
        <p:spPr>
          <a:xfrm>
            <a:off x="8714232" y="310896"/>
            <a:ext cx="3291840" cy="182880"/>
          </a:xfrm>
          <a:prstGeom prst="rect">
            <a:avLst/>
          </a:prstGeom>
          <a:noFill/>
        </p:spPr>
        <p:txBody>
          <a:bodyPr wrap="square">
            <a:spAutoFit/>
          </a:bodyPr>
          <a:lstStyle/>
          <a:p>
            <a:pPr algn="r"/>
            <a:r>
              <a:rPr sz="1100" b="0" i="0">
                <a:solidFill>
                  <a:srgbClr val="99BB99"/>
                </a:solidFill>
              </a:rPr>
              <a:t>Version 1 — Juin 2026</a:t>
            </a:r>
          </a:p>
        </p:txBody>
      </p:sp>
      <p:sp>
        <p:nvSpPr>
          <p:cNvPr id="9" name="TextBox 8"/>
          <p:cNvSpPr txBox="1"/>
          <p:nvPr/>
        </p:nvSpPr>
        <p:spPr>
          <a:xfrm>
            <a:off x="457200" y="685800"/>
            <a:ext cx="11274552" cy="530352"/>
          </a:xfrm>
          <a:prstGeom prst="rect">
            <a:avLst/>
          </a:prstGeom>
          <a:noFill/>
        </p:spPr>
        <p:txBody>
          <a:bodyPr wrap="square">
            <a:spAutoFit/>
          </a:bodyPr>
          <a:lstStyle/>
          <a:p>
            <a:pPr algn="l"/>
            <a:r>
              <a:rPr sz="2750" b="1" i="0">
                <a:solidFill>
                  <a:srgbClr val="1A3560"/>
                </a:solidFill>
              </a:rPr>
              <a:t>Récapitulatif et checklist</a:t>
            </a:r>
          </a:p>
        </p:txBody>
      </p:sp>
      <p:sp>
        <p:nvSpPr>
          <p:cNvPr id="10" name="TextBox 9"/>
          <p:cNvSpPr txBox="1"/>
          <p:nvPr/>
        </p:nvSpPr>
        <p:spPr>
          <a:xfrm>
            <a:off x="457200" y="1188720"/>
            <a:ext cx="11274552" cy="310896"/>
          </a:xfrm>
          <a:prstGeom prst="rect">
            <a:avLst/>
          </a:prstGeom>
          <a:noFill/>
        </p:spPr>
        <p:txBody>
          <a:bodyPr wrap="square">
            <a:spAutoFit/>
          </a:bodyPr>
          <a:lstStyle/>
          <a:p>
            <a:pPr algn="l"/>
            <a:r>
              <a:rPr sz="1450" b="0" i="0">
                <a:solidFill>
                  <a:srgbClr val="595959"/>
                </a:solidFill>
              </a:rPr>
              <a:t>Avant de passer à la Séance 5</a:t>
            </a:r>
          </a:p>
        </p:txBody>
      </p:sp>
      <p:sp>
        <p:nvSpPr>
          <p:cNvPr id="11" name="Rectangle 10"/>
          <p:cNvSpPr/>
          <p:nvPr/>
        </p:nvSpPr>
        <p:spPr>
          <a:xfrm>
            <a:off x="457200" y="1463040"/>
            <a:ext cx="1280160" cy="45720"/>
          </a:xfrm>
          <a:prstGeom prst="rect">
            <a:avLst/>
          </a:prstGeom>
          <a:solidFill>
            <a:srgbClr val="6A0D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 y="1783080"/>
            <a:ext cx="5186293" cy="310896"/>
          </a:xfrm>
          <a:prstGeom prst="rect">
            <a:avLst/>
          </a:prstGeom>
          <a:noFill/>
        </p:spPr>
        <p:txBody>
          <a:bodyPr wrap="square">
            <a:spAutoFit/>
          </a:bodyPr>
          <a:lstStyle/>
          <a:p>
            <a:pPr algn="l"/>
            <a:r>
              <a:rPr sz="1500" b="1" i="0">
                <a:solidFill>
                  <a:srgbClr val="1A3560"/>
                </a:solidFill>
              </a:rPr>
              <a:t>Ce que nous avons vu</a:t>
            </a:r>
          </a:p>
        </p:txBody>
      </p:sp>
      <p:sp>
        <p:nvSpPr>
          <p:cNvPr id="13" name="TextBox 12"/>
          <p:cNvSpPr txBox="1"/>
          <p:nvPr/>
        </p:nvSpPr>
        <p:spPr>
          <a:xfrm>
            <a:off x="457200" y="2148840"/>
            <a:ext cx="274320" cy="256032"/>
          </a:xfrm>
          <a:prstGeom prst="rect">
            <a:avLst/>
          </a:prstGeom>
          <a:noFill/>
        </p:spPr>
        <p:txBody>
          <a:bodyPr wrap="square">
            <a:spAutoFit/>
          </a:bodyPr>
          <a:lstStyle/>
          <a:p>
            <a:pPr algn="l"/>
            <a:r>
              <a:rPr sz="1300" b="1" i="0">
                <a:solidFill>
                  <a:srgbClr val="3E7A28"/>
                </a:solidFill>
              </a:rPr>
              <a:t>✓</a:t>
            </a:r>
          </a:p>
        </p:txBody>
      </p:sp>
      <p:sp>
        <p:nvSpPr>
          <p:cNvPr id="14" name="TextBox 13"/>
          <p:cNvSpPr txBox="1"/>
          <p:nvPr/>
        </p:nvSpPr>
        <p:spPr>
          <a:xfrm>
            <a:off x="749808" y="2148840"/>
            <a:ext cx="4911973" cy="457200"/>
          </a:xfrm>
          <a:prstGeom prst="rect">
            <a:avLst/>
          </a:prstGeom>
          <a:noFill/>
        </p:spPr>
        <p:txBody>
          <a:bodyPr wrap="square">
            <a:spAutoFit/>
          </a:bodyPr>
          <a:lstStyle/>
          <a:p>
            <a:pPr algn="l"/>
            <a:r>
              <a:rPr sz="1200" b="0" i="0">
                <a:solidFill>
                  <a:srgbClr val="595959"/>
                </a:solidFill>
              </a:rPr>
              <a:t>Création de SV1 (Desktop Experience)</a:t>
            </a:r>
          </a:p>
        </p:txBody>
      </p:sp>
      <p:sp>
        <p:nvSpPr>
          <p:cNvPr id="15" name="TextBox 14"/>
          <p:cNvSpPr txBox="1"/>
          <p:nvPr/>
        </p:nvSpPr>
        <p:spPr>
          <a:xfrm>
            <a:off x="457200" y="2633472"/>
            <a:ext cx="274320" cy="256032"/>
          </a:xfrm>
          <a:prstGeom prst="rect">
            <a:avLst/>
          </a:prstGeom>
          <a:noFill/>
        </p:spPr>
        <p:txBody>
          <a:bodyPr wrap="square">
            <a:spAutoFit/>
          </a:bodyPr>
          <a:lstStyle/>
          <a:p>
            <a:pPr algn="l"/>
            <a:r>
              <a:rPr sz="1300" b="1" i="0">
                <a:solidFill>
                  <a:srgbClr val="3E7A28"/>
                </a:solidFill>
              </a:rPr>
              <a:t>✓</a:t>
            </a:r>
          </a:p>
        </p:txBody>
      </p:sp>
      <p:sp>
        <p:nvSpPr>
          <p:cNvPr id="16" name="TextBox 15"/>
          <p:cNvSpPr txBox="1"/>
          <p:nvPr/>
        </p:nvSpPr>
        <p:spPr>
          <a:xfrm>
            <a:off x="749808" y="2633472"/>
            <a:ext cx="4911973" cy="457200"/>
          </a:xfrm>
          <a:prstGeom prst="rect">
            <a:avLst/>
          </a:prstGeom>
          <a:noFill/>
        </p:spPr>
        <p:txBody>
          <a:bodyPr wrap="square">
            <a:spAutoFit/>
          </a:bodyPr>
          <a:lstStyle/>
          <a:p>
            <a:pPr algn="l"/>
            <a:r>
              <a:rPr sz="1200" b="0" i="0">
                <a:solidFill>
                  <a:srgbClr val="595959"/>
                </a:solidFill>
              </a:rPr>
              <a:t>Création de SRVCore (Server Core) et sconfig</a:t>
            </a:r>
          </a:p>
        </p:txBody>
      </p:sp>
      <p:sp>
        <p:nvSpPr>
          <p:cNvPr id="17" name="TextBox 16"/>
          <p:cNvSpPr txBox="1"/>
          <p:nvPr/>
        </p:nvSpPr>
        <p:spPr>
          <a:xfrm>
            <a:off x="457200" y="3118104"/>
            <a:ext cx="274320" cy="256032"/>
          </a:xfrm>
          <a:prstGeom prst="rect">
            <a:avLst/>
          </a:prstGeom>
          <a:noFill/>
        </p:spPr>
        <p:txBody>
          <a:bodyPr wrap="square">
            <a:spAutoFit/>
          </a:bodyPr>
          <a:lstStyle/>
          <a:p>
            <a:pPr algn="l"/>
            <a:r>
              <a:rPr sz="1300" b="1" i="0">
                <a:solidFill>
                  <a:srgbClr val="3E7A28"/>
                </a:solidFill>
              </a:rPr>
              <a:t>✓</a:t>
            </a:r>
          </a:p>
        </p:txBody>
      </p:sp>
      <p:sp>
        <p:nvSpPr>
          <p:cNvPr id="18" name="TextBox 17"/>
          <p:cNvSpPr txBox="1"/>
          <p:nvPr/>
        </p:nvSpPr>
        <p:spPr>
          <a:xfrm>
            <a:off x="749808" y="3118104"/>
            <a:ext cx="4911973" cy="457200"/>
          </a:xfrm>
          <a:prstGeom prst="rect">
            <a:avLst/>
          </a:prstGeom>
          <a:noFill/>
        </p:spPr>
        <p:txBody>
          <a:bodyPr wrap="square">
            <a:spAutoFit/>
          </a:bodyPr>
          <a:lstStyle/>
          <a:p>
            <a:pPr algn="l"/>
            <a:r>
              <a:rPr sz="1200" b="0" i="0">
                <a:solidFill>
                  <a:srgbClr val="595959"/>
                </a:solidFill>
              </a:rPr>
              <a:t>Création de CL10-01 (poste client)</a:t>
            </a:r>
          </a:p>
        </p:txBody>
      </p:sp>
      <p:sp>
        <p:nvSpPr>
          <p:cNvPr id="19" name="TextBox 18"/>
          <p:cNvSpPr txBox="1"/>
          <p:nvPr/>
        </p:nvSpPr>
        <p:spPr>
          <a:xfrm>
            <a:off x="457200" y="3602736"/>
            <a:ext cx="274320" cy="256032"/>
          </a:xfrm>
          <a:prstGeom prst="rect">
            <a:avLst/>
          </a:prstGeom>
          <a:noFill/>
        </p:spPr>
        <p:txBody>
          <a:bodyPr wrap="square">
            <a:spAutoFit/>
          </a:bodyPr>
          <a:lstStyle/>
          <a:p>
            <a:pPr algn="l"/>
            <a:r>
              <a:rPr sz="1300" b="1" i="0">
                <a:solidFill>
                  <a:srgbClr val="3E7A28"/>
                </a:solidFill>
              </a:rPr>
              <a:t>✓</a:t>
            </a:r>
          </a:p>
        </p:txBody>
      </p:sp>
      <p:sp>
        <p:nvSpPr>
          <p:cNvPr id="20" name="TextBox 19"/>
          <p:cNvSpPr txBox="1"/>
          <p:nvPr/>
        </p:nvSpPr>
        <p:spPr>
          <a:xfrm>
            <a:off x="749808" y="3602736"/>
            <a:ext cx="4911973" cy="457200"/>
          </a:xfrm>
          <a:prstGeom prst="rect">
            <a:avLst/>
          </a:prstGeom>
          <a:noFill/>
        </p:spPr>
        <p:txBody>
          <a:bodyPr wrap="square">
            <a:spAutoFit/>
          </a:bodyPr>
          <a:lstStyle/>
          <a:p>
            <a:pPr algn="l"/>
            <a:r>
              <a:rPr sz="1200" b="0" i="0">
                <a:solidFill>
                  <a:srgbClr val="595959"/>
                </a:solidFill>
              </a:rPr>
              <a:t>Comparatif des ressources des 5 VMs</a:t>
            </a:r>
          </a:p>
        </p:txBody>
      </p:sp>
      <p:sp>
        <p:nvSpPr>
          <p:cNvPr id="21" name="TextBox 20"/>
          <p:cNvSpPr txBox="1"/>
          <p:nvPr/>
        </p:nvSpPr>
        <p:spPr>
          <a:xfrm>
            <a:off x="457200" y="4087368"/>
            <a:ext cx="274320" cy="256032"/>
          </a:xfrm>
          <a:prstGeom prst="rect">
            <a:avLst/>
          </a:prstGeom>
          <a:noFill/>
        </p:spPr>
        <p:txBody>
          <a:bodyPr wrap="square">
            <a:spAutoFit/>
          </a:bodyPr>
          <a:lstStyle/>
          <a:p>
            <a:pPr algn="l"/>
            <a:r>
              <a:rPr sz="1300" b="1" i="0">
                <a:solidFill>
                  <a:srgbClr val="3E7A28"/>
                </a:solidFill>
              </a:rPr>
              <a:t>✓</a:t>
            </a:r>
          </a:p>
        </p:txBody>
      </p:sp>
      <p:sp>
        <p:nvSpPr>
          <p:cNvPr id="22" name="TextBox 21"/>
          <p:cNvSpPr txBox="1"/>
          <p:nvPr/>
        </p:nvSpPr>
        <p:spPr>
          <a:xfrm>
            <a:off x="749808" y="4087368"/>
            <a:ext cx="4911973" cy="457200"/>
          </a:xfrm>
          <a:prstGeom prst="rect">
            <a:avLst/>
          </a:prstGeom>
          <a:noFill/>
        </p:spPr>
        <p:txBody>
          <a:bodyPr wrap="square">
            <a:spAutoFit/>
          </a:bodyPr>
          <a:lstStyle/>
          <a:p>
            <a:pPr algn="l"/>
            <a:r>
              <a:rPr sz="1200" b="0" i="0">
                <a:solidFill>
                  <a:srgbClr val="595959"/>
                </a:solidFill>
              </a:rPr>
              <a:t>Checkpoints standards vs de production</a:t>
            </a:r>
          </a:p>
        </p:txBody>
      </p:sp>
      <p:sp>
        <p:nvSpPr>
          <p:cNvPr id="23" name="TextBox 22"/>
          <p:cNvSpPr txBox="1"/>
          <p:nvPr/>
        </p:nvSpPr>
        <p:spPr>
          <a:xfrm>
            <a:off x="457200" y="4572000"/>
            <a:ext cx="274320" cy="256032"/>
          </a:xfrm>
          <a:prstGeom prst="rect">
            <a:avLst/>
          </a:prstGeom>
          <a:noFill/>
        </p:spPr>
        <p:txBody>
          <a:bodyPr wrap="square">
            <a:spAutoFit/>
          </a:bodyPr>
          <a:lstStyle/>
          <a:p>
            <a:pPr algn="l"/>
            <a:r>
              <a:rPr sz="1300" b="1" i="0">
                <a:solidFill>
                  <a:srgbClr val="3E7A28"/>
                </a:solidFill>
              </a:rPr>
              <a:t>✓</a:t>
            </a:r>
          </a:p>
        </p:txBody>
      </p:sp>
      <p:sp>
        <p:nvSpPr>
          <p:cNvPr id="24" name="TextBox 23"/>
          <p:cNvSpPr txBox="1"/>
          <p:nvPr/>
        </p:nvSpPr>
        <p:spPr>
          <a:xfrm>
            <a:off x="749808" y="4572000"/>
            <a:ext cx="4911973" cy="457200"/>
          </a:xfrm>
          <a:prstGeom prst="rect">
            <a:avLst/>
          </a:prstGeom>
          <a:noFill/>
        </p:spPr>
        <p:txBody>
          <a:bodyPr wrap="square">
            <a:spAutoFit/>
          </a:bodyPr>
          <a:lstStyle/>
          <a:p>
            <a:pPr algn="l"/>
            <a:r>
              <a:rPr sz="1200" b="0" i="0">
                <a:solidFill>
                  <a:srgbClr val="595959"/>
                </a:solidFill>
              </a:rPr>
              <a:t>Bonnes pratiques de gestion des checkpoints</a:t>
            </a:r>
          </a:p>
        </p:txBody>
      </p:sp>
      <p:sp>
        <p:nvSpPr>
          <p:cNvPr id="25" name="Rectangle 24"/>
          <p:cNvSpPr/>
          <p:nvPr/>
        </p:nvSpPr>
        <p:spPr>
          <a:xfrm>
            <a:off x="6094476" y="1783080"/>
            <a:ext cx="5637276" cy="4206240"/>
          </a:xfrm>
          <a:prstGeom prst="rect">
            <a:avLst/>
          </a:prstGeom>
          <a:solidFill>
            <a:srgbClr val="1A3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277356" y="1920240"/>
            <a:ext cx="5271516" cy="274320"/>
          </a:xfrm>
          <a:prstGeom prst="rect">
            <a:avLst/>
          </a:prstGeom>
          <a:noFill/>
        </p:spPr>
        <p:txBody>
          <a:bodyPr wrap="square">
            <a:spAutoFit/>
          </a:bodyPr>
          <a:lstStyle/>
          <a:p>
            <a:pPr algn="l"/>
            <a:r>
              <a:rPr sz="1350" b="1" i="0">
                <a:solidFill>
                  <a:srgbClr val="F3EAFB"/>
                </a:solidFill>
              </a:rPr>
              <a:t>☑  CHECKLIST AVANT LA SÉANCE 5</a:t>
            </a:r>
          </a:p>
        </p:txBody>
      </p:sp>
      <p:sp>
        <p:nvSpPr>
          <p:cNvPr id="27" name="Rectangle 26"/>
          <p:cNvSpPr/>
          <p:nvPr/>
        </p:nvSpPr>
        <p:spPr>
          <a:xfrm>
            <a:off x="6277356" y="2331720"/>
            <a:ext cx="201168" cy="201168"/>
          </a:xfrm>
          <a:prstGeom prst="rect">
            <a:avLst/>
          </a:prstGeom>
          <a:noFill/>
          <a:ln w="1524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597396" y="2295144"/>
            <a:ext cx="4905756" cy="365760"/>
          </a:xfrm>
          <a:prstGeom prst="rect">
            <a:avLst/>
          </a:prstGeom>
          <a:noFill/>
        </p:spPr>
        <p:txBody>
          <a:bodyPr wrap="square">
            <a:spAutoFit/>
          </a:bodyPr>
          <a:lstStyle/>
          <a:p>
            <a:pPr algn="l"/>
            <a:r>
              <a:rPr sz="1150" b="0" i="0">
                <a:solidFill>
                  <a:srgbClr val="FFFFFF"/>
                </a:solidFill>
              </a:rPr>
              <a:t>SV1 créée, installée et configurée</a:t>
            </a:r>
          </a:p>
        </p:txBody>
      </p:sp>
      <p:sp>
        <p:nvSpPr>
          <p:cNvPr id="29" name="Rectangle 28"/>
          <p:cNvSpPr/>
          <p:nvPr/>
        </p:nvSpPr>
        <p:spPr>
          <a:xfrm>
            <a:off x="6277356" y="2788920"/>
            <a:ext cx="201168" cy="201168"/>
          </a:xfrm>
          <a:prstGeom prst="rect">
            <a:avLst/>
          </a:prstGeom>
          <a:noFill/>
          <a:ln w="1524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597396" y="2752344"/>
            <a:ext cx="4905756" cy="365760"/>
          </a:xfrm>
          <a:prstGeom prst="rect">
            <a:avLst/>
          </a:prstGeom>
          <a:noFill/>
        </p:spPr>
        <p:txBody>
          <a:bodyPr wrap="square">
            <a:spAutoFit/>
          </a:bodyPr>
          <a:lstStyle/>
          <a:p>
            <a:pPr algn="l"/>
            <a:r>
              <a:rPr sz="1150" b="0" i="0">
                <a:solidFill>
                  <a:srgbClr val="FFFFFF"/>
                </a:solidFill>
              </a:rPr>
              <a:t>SRVCore créée, installée et configurée</a:t>
            </a:r>
          </a:p>
        </p:txBody>
      </p:sp>
      <p:sp>
        <p:nvSpPr>
          <p:cNvPr id="31" name="Rectangle 30"/>
          <p:cNvSpPr/>
          <p:nvPr/>
        </p:nvSpPr>
        <p:spPr>
          <a:xfrm>
            <a:off x="6277356" y="3246120"/>
            <a:ext cx="201168" cy="201168"/>
          </a:xfrm>
          <a:prstGeom prst="rect">
            <a:avLst/>
          </a:prstGeom>
          <a:noFill/>
          <a:ln w="1524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597396" y="3209544"/>
            <a:ext cx="4905756" cy="365760"/>
          </a:xfrm>
          <a:prstGeom prst="rect">
            <a:avLst/>
          </a:prstGeom>
          <a:noFill/>
        </p:spPr>
        <p:txBody>
          <a:bodyPr wrap="square">
            <a:spAutoFit/>
          </a:bodyPr>
          <a:lstStyle/>
          <a:p>
            <a:pPr algn="l"/>
            <a:r>
              <a:rPr sz="1150" b="0" i="0">
                <a:solidFill>
                  <a:srgbClr val="FFFFFF"/>
                </a:solidFill>
              </a:rPr>
              <a:t>CL10-01 créée, installée et configurée</a:t>
            </a:r>
          </a:p>
        </p:txBody>
      </p:sp>
      <p:sp>
        <p:nvSpPr>
          <p:cNvPr id="33" name="Rectangle 32"/>
          <p:cNvSpPr/>
          <p:nvPr/>
        </p:nvSpPr>
        <p:spPr>
          <a:xfrm>
            <a:off x="6277356" y="3703320"/>
            <a:ext cx="201168" cy="201168"/>
          </a:xfrm>
          <a:prstGeom prst="rect">
            <a:avLst/>
          </a:prstGeom>
          <a:noFill/>
          <a:ln w="1524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597396" y="3666744"/>
            <a:ext cx="4905756" cy="365760"/>
          </a:xfrm>
          <a:prstGeom prst="rect">
            <a:avLst/>
          </a:prstGeom>
          <a:noFill/>
        </p:spPr>
        <p:txBody>
          <a:bodyPr wrap="square">
            <a:spAutoFit/>
          </a:bodyPr>
          <a:lstStyle/>
          <a:p>
            <a:pPr algn="l"/>
            <a:r>
              <a:rPr sz="1150" b="0" i="0">
                <a:solidFill>
                  <a:srgbClr val="FFFFFF"/>
                </a:solidFill>
              </a:rPr>
              <a:t>Les 5 VMs répondent au ping entre elles</a:t>
            </a:r>
          </a:p>
        </p:txBody>
      </p:sp>
      <p:sp>
        <p:nvSpPr>
          <p:cNvPr id="35" name="Rectangle 34"/>
          <p:cNvSpPr/>
          <p:nvPr/>
        </p:nvSpPr>
        <p:spPr>
          <a:xfrm>
            <a:off x="6277356" y="4160520"/>
            <a:ext cx="201168" cy="201168"/>
          </a:xfrm>
          <a:prstGeom prst="rect">
            <a:avLst/>
          </a:prstGeom>
          <a:noFill/>
          <a:ln w="1524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597396" y="4123944"/>
            <a:ext cx="4905756" cy="365760"/>
          </a:xfrm>
          <a:prstGeom prst="rect">
            <a:avLst/>
          </a:prstGeom>
          <a:noFill/>
        </p:spPr>
        <p:txBody>
          <a:bodyPr wrap="square">
            <a:spAutoFit/>
          </a:bodyPr>
          <a:lstStyle/>
          <a:p>
            <a:pPr algn="l"/>
            <a:r>
              <a:rPr sz="1150" b="0" i="0">
                <a:solidFill>
                  <a:srgbClr val="FFFFFF"/>
                </a:solidFill>
              </a:rPr>
              <a:t>Noms et IP conformes au plan de Séance 2</a:t>
            </a:r>
          </a:p>
        </p:txBody>
      </p:sp>
      <p:sp>
        <p:nvSpPr>
          <p:cNvPr id="37" name="Rectangle 36"/>
          <p:cNvSpPr/>
          <p:nvPr/>
        </p:nvSpPr>
        <p:spPr>
          <a:xfrm>
            <a:off x="6277356" y="4617720"/>
            <a:ext cx="201168" cy="201168"/>
          </a:xfrm>
          <a:prstGeom prst="rect">
            <a:avLst/>
          </a:prstGeom>
          <a:noFill/>
          <a:ln w="1524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597396" y="4581144"/>
            <a:ext cx="4905756" cy="365760"/>
          </a:xfrm>
          <a:prstGeom prst="rect">
            <a:avLst/>
          </a:prstGeom>
          <a:noFill/>
        </p:spPr>
        <p:txBody>
          <a:bodyPr wrap="square">
            <a:spAutoFit/>
          </a:bodyPr>
          <a:lstStyle/>
          <a:p>
            <a:pPr algn="l"/>
            <a:r>
              <a:rPr sz="1150" b="0" i="0">
                <a:solidFill>
                  <a:srgbClr val="FFFFFF"/>
                </a:solidFill>
              </a:rPr>
              <a:t>Checkpoint « État initial » sur les 5 VMs</a:t>
            </a:r>
          </a:p>
        </p:txBody>
      </p:sp>
      <p:sp>
        <p:nvSpPr>
          <p:cNvPr id="39" name="Rectangle 38"/>
          <p:cNvSpPr/>
          <p:nvPr/>
        </p:nvSpPr>
        <p:spPr>
          <a:xfrm>
            <a:off x="6277356" y="5074920"/>
            <a:ext cx="201168" cy="201168"/>
          </a:xfrm>
          <a:prstGeom prst="rect">
            <a:avLst/>
          </a:prstGeom>
          <a:noFill/>
          <a:ln w="1524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597396" y="5038344"/>
            <a:ext cx="4905756" cy="365760"/>
          </a:xfrm>
          <a:prstGeom prst="rect">
            <a:avLst/>
          </a:prstGeom>
          <a:noFill/>
        </p:spPr>
        <p:txBody>
          <a:bodyPr wrap="square">
            <a:spAutoFit/>
          </a:bodyPr>
          <a:lstStyle/>
          <a:p>
            <a:pPr algn="l"/>
            <a:r>
              <a:rPr sz="1150" b="0" i="0">
                <a:solidFill>
                  <a:srgbClr val="FFFFFF"/>
                </a:solidFill>
              </a:rPr>
              <a:t>Espace disque de l'hôte vérifié</a:t>
            </a:r>
          </a:p>
        </p:txBody>
      </p:sp>
      <p:sp>
        <p:nvSpPr>
          <p:cNvPr id="41" name="Rectangle 40"/>
          <p:cNvSpPr/>
          <p:nvPr/>
        </p:nvSpPr>
        <p:spPr>
          <a:xfrm>
            <a:off x="6277356" y="5532120"/>
            <a:ext cx="201168" cy="201168"/>
          </a:xfrm>
          <a:prstGeom prst="rect">
            <a:avLst/>
          </a:prstGeom>
          <a:noFill/>
          <a:ln w="1524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597396" y="5495544"/>
            <a:ext cx="4905756" cy="365760"/>
          </a:xfrm>
          <a:prstGeom prst="rect">
            <a:avLst/>
          </a:prstGeom>
          <a:noFill/>
        </p:spPr>
        <p:txBody>
          <a:bodyPr wrap="square">
            <a:spAutoFit/>
          </a:bodyPr>
          <a:lstStyle/>
          <a:p>
            <a:pPr algn="l"/>
            <a:r>
              <a:rPr sz="1150" b="0" i="0">
                <a:solidFill>
                  <a:srgbClr val="FFFFFF"/>
                </a:solidFill>
              </a:rPr>
              <a:t>Notes de mots de passe à jour et sécurisées</a:t>
            </a:r>
          </a:p>
        </p:txBody>
      </p:sp>
      <p:sp>
        <p:nvSpPr>
          <p:cNvPr id="43" name="Rectangle 42"/>
          <p:cNvSpPr/>
          <p:nvPr/>
        </p:nvSpPr>
        <p:spPr>
          <a:xfrm>
            <a:off x="0" y="6693408"/>
            <a:ext cx="12188952" cy="32004"/>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320040" y="6675120"/>
            <a:ext cx="11548872" cy="201168"/>
          </a:xfrm>
          <a:prstGeom prst="rect">
            <a:avLst/>
          </a:prstGeom>
          <a:noFill/>
        </p:spPr>
        <p:txBody>
          <a:bodyPr wrap="square">
            <a:spAutoFit/>
          </a:bodyPr>
          <a:lstStyle/>
          <a:p>
            <a:pPr algn="l"/>
            <a:r>
              <a:rPr sz="1050" b="0" i="1">
                <a:solidFill>
                  <a:srgbClr val="AAAAAA"/>
                </a:solidFill>
              </a:rPr>
              <a:t>Séance 4 — Récapitulatif</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TotalTime>
  <Words>2231</Words>
  <Application>Microsoft Office PowerPoint</Application>
  <PresentationFormat>Personnalisé</PresentationFormat>
  <Paragraphs>394</Paragraphs>
  <Slides>20</Slides>
  <Notes>0</Notes>
  <HiddenSlides>0</HiddenSlides>
  <MMClips>0</MMClips>
  <ScaleCrop>false</ScaleCrop>
  <HeadingPairs>
    <vt:vector size="4" baseType="variant">
      <vt:variant>
        <vt:lpstr>Thème</vt:lpstr>
      </vt:variant>
      <vt:variant>
        <vt:i4>1</vt:i4>
      </vt:variant>
      <vt:variant>
        <vt:lpstr>Titres des diapositives</vt:lpstr>
      </vt:variant>
      <vt:variant>
        <vt:i4>20</vt:i4>
      </vt:variant>
    </vt:vector>
  </HeadingPairs>
  <TitlesOfParts>
    <vt:vector size="21" baseType="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subject/>
  <dc:creator/>
  <cp:keywords/>
  <dc:description>generated using python-pptx</dc:description>
  <cp:lastModifiedBy>Chafik Moustaid</cp:lastModifiedBy>
  <cp:revision>4</cp:revision>
  <dcterms:created xsi:type="dcterms:W3CDTF">2013-01-27T09:14:16Z</dcterms:created>
  <dcterms:modified xsi:type="dcterms:W3CDTF">2026-07-29T19:03:51Z</dcterms:modified>
  <cp:category/>
</cp:coreProperties>
</file>