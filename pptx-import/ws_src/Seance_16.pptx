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8" r:id="rId24"/>
    <p:sldId id="279" r:id="rId2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463180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CA" sz="1500" b="1" i="0" dirty="0" smtClean="0">
                <a:solidFill>
                  <a:srgbClr val="6CC24A"/>
                </a:solidFill>
              </a:rPr>
              <a:t>Soutien Réseautique</a:t>
            </a:r>
            <a:endParaRPr lang="fr-CA" sz="1500" b="1" i="0" dirty="0">
              <a:solidFill>
                <a:srgbClr val="6CC24A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4266041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50" b="1" i="0">
                <a:solidFill>
                  <a:srgbClr val="FFFFFF"/>
                </a:solidFill>
              </a:rPr>
              <a:t>Administration
Windows 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426604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</a:rPr>
              <a:t>Chafik Moustaid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97880"/>
            <a:ext cx="426604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AABBCC"/>
                </a:solidFill>
              </a:rPr>
              <a:t>Formateur — SAMO 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2279" y="1417320"/>
            <a:ext cx="6155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75" b="1" i="0">
                <a:solidFill>
                  <a:srgbClr val="3E7A28"/>
                </a:solidFill>
              </a:rPr>
              <a:t>SÉANCE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2279" y="1874519"/>
            <a:ext cx="61551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Introduction à Windows Server
2019 / 2022 /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2279" y="324612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1">
                <a:solidFill>
                  <a:srgbClr val="595959"/>
                </a:solidFill>
              </a:rPr>
              <a:t>Éditions, licences et positionnement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2279" y="3794760"/>
            <a:ext cx="1188720" cy="41148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2279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9479" y="4178807"/>
            <a:ext cx="569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3560"/>
                </a:solidFill>
              </a:rPr>
              <a:t>4 heures — à distance (Teams)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2279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9479" y="4636007"/>
            <a:ext cx="569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3560"/>
                </a:solidFill>
              </a:rPr>
              <a:t>Bloc Fondations — 1ʳᵉ séance sur 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2279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95959"/>
                </a:solidFill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9479" y="5093207"/>
            <a:ext cx="5697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1A3560"/>
                </a:solidFill>
              </a:rPr>
              <a:t>Aucun prérequis technique</a:t>
            </a:r>
          </a:p>
        </p:txBody>
      </p:sp>
      <p:pic>
        <p:nvPicPr>
          <p:cNvPr id="21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084100" cy="625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777240"/>
            <a:ext cx="11274552" cy="82296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896112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Plus de 70 % des entreprises dans le monde s'appuient sur un serveur
Windows Server pour gérer leurs identités, leurs fichiers et leur réseau.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74519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560"/>
                </a:solidFill>
              </a:rPr>
              <a:t>Pourquoi ce cours change votre trajectoire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82296" cy="2331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459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🏢  Le socle de l'entreprise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71215"/>
            <a:ext cx="32918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Active Directory, DHCP, DNS, fichiers partagés : presque toutes les PME et grandes entreprises tournent sur Windows Server.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233172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51960" y="2331720"/>
            <a:ext cx="82296" cy="2331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459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💼  Une compétence très demandée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71215"/>
            <a:ext cx="32918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L'administration Windows Server reste un pilier des offres d'emploi en support N2/N3 et infrastructure.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33172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46720" y="2331720"/>
            <a:ext cx="82296" cy="2331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2459736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🔗  Un tremplin vers le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871215"/>
            <a:ext cx="3291840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Windows Server 2019/2022/2025 s'intègrent nativement à Azure : cette séance pose les bases de l'hybride.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74552" cy="1234440"/>
          </a:xfrm>
          <a:prstGeom prst="rect">
            <a:avLst/>
          </a:prstGeom>
          <a:solidFill>
            <a:srgbClr val="EEF6E6"/>
          </a:solidFill>
          <a:ln w="25400">
            <a:solidFill>
              <a:srgbClr val="3E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4892040"/>
            <a:ext cx="502920" cy="123444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53080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96519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A00"/>
                </a:solidFill>
              </a:rPr>
              <a:t>Ce que vous saurez faire à la fin de la séance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257800"/>
            <a:ext cx="105887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Distinguer les trois versions supportées (2019, 2022, 2025), choisir l'édition et le modèle de licence adaptés à un contexte client, et identifier les prérequis techniques avant toute installation.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Introduction Windows Server 2019/2022/2025</a:t>
            </a:r>
          </a:p>
        </p:txBody>
      </p:sp>
      <p:pic>
        <p:nvPicPr>
          <p:cNvPr id="32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6 blocs pour poser les fondations du cours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1762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Windows Server : rôle et positionnement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59359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Panorama des versions 2019 → 2022 →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0109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Éditions et modèle de licences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182880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182880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21488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7627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Prérequis techniques et options d'installation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24612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3566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359359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Écosystème d'administration (WAC, Azure)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66344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09360" y="4663440"/>
            <a:ext cx="914400" cy="11887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60" y="49834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50" b="1" i="0">
                <a:solidFill>
                  <a:srgbClr val="6CC24A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010912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Ateliers et mise en pratique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Plan de séance</a:t>
            </a:r>
          </a:p>
        </p:txBody>
      </p:sp>
      <p:pic>
        <p:nvPicPr>
          <p:cNvPr id="39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Qu'est-ce que Windows Server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système d'exploitation pensé pour servir, pas pour être utilisé au quotidien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7607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95959"/>
                </a:solidFill>
              </a:rPr>
              <a:t>Windows Server est la déclinaison serveur de Windows, conçue pour héberger des rôles réseau (Active Directory, DHCP, DNS, fichiers, impression...) plutôt que pour une utilisation bureautique.
Contrairement à un poste client, un serveur :
• tourne en continu, souvent 24 h/24 et 7 j/7
• est administré à distance la majorité du temps
• privilégie la stabilité et la sécurité à l'ergonomie
• expose des rôles et fonctionnalités activables à la carte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5760720" cy="1920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526280"/>
            <a:ext cx="576072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910328"/>
            <a:ext cx="576072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4590288"/>
            <a:ext cx="5431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[ Screenshot ] Schéma : serveur au centre du réseau d'entreprise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39" y="510235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72968" y="493776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36391" y="526694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779008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595959"/>
                </a:solidFill>
              </a:rPr>
              <a:t>Illustration à insérer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17336"/>
            <a:ext cx="576072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6117336"/>
            <a:ext cx="576072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1630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1874518"/>
            <a:ext cx="5120640" cy="4572001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2057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SERVEUR vs POSTE 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8AACC"/>
                </a:solidFill>
              </a:rPr>
              <a:t>Utilisation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514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Continue, sans session ouverte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8986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≠ Ponctuelle, session utilisateur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3558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8AACC"/>
                </a:solidFill>
              </a:rPr>
              <a:t>Rôle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35584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Fournit des services réseau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7398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≠ Consomme des 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1970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8AACC"/>
                </a:solidFill>
              </a:rPr>
              <a:t>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1970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Souvent minimale (Core)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811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≠ Complète (Desktop Experience)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0383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8AACC"/>
                </a:solidFill>
              </a:rPr>
              <a:t>Licence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503834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Par cœurs + 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42239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999AA"/>
                </a:solidFill>
              </a:rPr>
              <a:t>≠ Par poste / OEM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1 : rôle et positionnement</a:t>
            </a:r>
          </a:p>
        </p:txBody>
      </p:sp>
      <p:pic>
        <p:nvPicPr>
          <p:cNvPr id="41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  <p:pic>
        <p:nvPicPr>
          <p:cNvPr id="1026" name="Picture 2" descr="Serveur et Résea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61" y="4051105"/>
            <a:ext cx="6346659" cy="243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Chronologie des versions supportées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 2019 à 2025 : trois générations actives en entreprise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0515600" cy="45720"/>
          </a:xfrm>
          <a:prstGeom prst="rect">
            <a:avLst/>
          </a:prstGeom>
          <a:solidFill>
            <a:srgbClr val="CC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06424" y="3538728"/>
            <a:ext cx="384048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196596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1965960"/>
            <a:ext cx="82296" cy="155448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560"/>
                </a:solidFill>
              </a:rPr>
              <a:t>Windows Server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505456"/>
            <a:ext cx="2926080" cy="92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Sortie : Octobre 2018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Support étendu jusqu'en janvier 2029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3538728"/>
            <a:ext cx="384048" cy="384048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40" y="196596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06240" y="1965960"/>
            <a:ext cx="82296" cy="155448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560"/>
                </a:solidFill>
              </a:rPr>
              <a:t>Windows Server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505456"/>
            <a:ext cx="2926080" cy="92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Sortie : Août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9776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Support étendu jusqu'en octobre 2031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3538728"/>
            <a:ext cx="384048" cy="38404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1965960"/>
            <a:ext cx="3291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26679" y="1965960"/>
            <a:ext cx="82296" cy="1554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55279" y="20939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A3560"/>
                </a:solidFill>
              </a:rPr>
              <a:t>Windows Server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505456"/>
            <a:ext cx="2926080" cy="923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Sortie : Novembre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9776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Support étendu jusqu'en 2034 (estimé)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983480"/>
            <a:ext cx="11274552" cy="1143000"/>
          </a:xfrm>
          <a:prstGeom prst="rect">
            <a:avLst/>
          </a:prstGeom>
          <a:solidFill>
            <a:srgbClr val="FCE8E8"/>
          </a:solidFill>
          <a:ln w="25400">
            <a:solidFill>
              <a:srgbClr val="BB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502920" cy="1143000"/>
          </a:xfrm>
          <a:prstGeom prst="rect">
            <a:avLst/>
          </a:prstGeom>
          <a:solidFill>
            <a:srgbClr val="B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535381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056632"/>
            <a:ext cx="10588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0000"/>
                </a:solidFill>
              </a:rPr>
              <a:t>Windows Server 2016 n'est plus couvert dans ce cours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349240"/>
            <a:ext cx="105887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Son support étendu s'achève en janvier 2027 et son architecture (pré-Server Core moderne, pas de Windows Admin Center natif) ne reflète plus les pratiques actuelles. Toutes les démonstrations utiliseront 2019, 2022 ou 2025.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2 : panorama des versions</a:t>
            </a:r>
          </a:p>
        </p:txBody>
      </p:sp>
      <p:pic>
        <p:nvPicPr>
          <p:cNvPr id="39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Tableau comparatif 2019 / 2022 /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La référence à garder sous la main pendant tout le cours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1828800"/>
          <a:ext cx="11274552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65704"/>
                <a:gridCol w="2965704"/>
                <a:gridCol w="2965704"/>
              </a:tblGrid>
              <a:tr h="588645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Critère</a:t>
                      </a:r>
                    </a:p>
                  </a:txBody>
                  <a:tcPr anchor="ctr"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Windows Server 2019</a:t>
                      </a:r>
                    </a:p>
                  </a:txBody>
                  <a:tcPr anchor="ctr"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Windows Server 2022</a:t>
                      </a:r>
                    </a:p>
                  </a:txBody>
                  <a:tcPr anchor="ctr">
                    <a:solidFill>
                      <a:srgbClr val="1A356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</a:defRPr>
                      </a:pPr>
                      <a:r>
                        <a:t>Windows Server 2025</a:t>
                      </a:r>
                    </a:p>
                  </a:txBody>
                  <a:tcPr anchor="ctr">
                    <a:solidFill>
                      <a:srgbClr val="1A3560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Support courant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Jan. 2024 (terminé)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Oct. 2026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Nov. 2029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Support étendu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Jan. 2029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Oct. 2031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Nov. 2034 (estimé)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Éditions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Standard, Datacenter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Standard, Datacenter,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Datacenter: Azure Edition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Standard, Datacenter,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Datacenter: Azure Edition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Sécurité par défaut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Credential Guard : optionnel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Secured-core server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Credential Guard activé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par défaut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Réseau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SMB 3.1.1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SMB over QUIC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(Azure Edition seul.)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SMB over QUIC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dispo en 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Mises à jour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Redémarrage requis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Redémarrage requis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Hotpatching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(sans redémarrage)</a:t>
                      </a:r>
                    </a:p>
                  </a:txBody>
                  <a:tcPr anchor="ctr">
                    <a:solidFill>
                      <a:srgbClr val="F7F5EC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A3560"/>
                          </a:solidFill>
                        </a:defRPr>
                      </a:pPr>
                      <a:r>
                        <a:t>Gestion</a:t>
                      </a:r>
                    </a:p>
                  </a:txBody>
                  <a:tcPr anchor="ctr">
                    <a:solidFill>
                      <a:srgbClr val="EC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Windows Admin Center</a:t>
                      </a:r>
                    </a:p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(ajouté séparément)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WAC intégré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595959"/>
                          </a:solidFill>
                        </a:defRPr>
                      </a:pPr>
                      <a:r>
                        <a:t>WAC revu, style Windows 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2 : tableau de référence (à conserver)</a:t>
            </a:r>
          </a:p>
        </p:txBody>
      </p:sp>
      <p:pic>
        <p:nvPicPr>
          <p:cNvPr id="1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Les éditions Windows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Trois éditions, trois cas d'usage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3611880" cy="777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99339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889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PME, charges de travail physiques ou peu virtualisées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2 VM incluses par licence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160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Tous les rôles réseau standards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Idéal : petit/moyen environnement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1874519"/>
            <a:ext cx="3611880" cy="77724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199339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DATACENTER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7889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Datacenters, virtualisation intensive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VMs illimitées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160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Storage Spaces Direct, Shielded VMs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846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Idéal : gros environnements virtualisés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046720" y="1874519"/>
            <a:ext cx="3611880" cy="7772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1993392"/>
            <a:ext cx="3246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DATACENTER: AZURE EDITION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78892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95959"/>
                </a:solidFill>
              </a:rPr>
              <a:t>Uniquement sur Azure / Azure Stack HCI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474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78D4"/>
                </a:solidFill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34747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Hotpatching (2022+)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160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78D4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1605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SMB over QUIC natif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846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78D4"/>
                </a:solidFill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48463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Idéal : infra hybride Azure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3 : éditions et licences</a:t>
            </a:r>
          </a:p>
        </p:txBody>
      </p:sp>
      <p:pic>
        <p:nvPicPr>
          <p:cNvPr id="45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Le modèle de licence par cœurs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Depuis 2016, Windows Server ne se licencie plus par processeur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Chaque licence de base couvre 16 cœurs (répartis sur 2 processeurs). Au-delà, des packs de cœurs supplémentaires doivent être ajoutés par tranche de 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577840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577840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907791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EXEMPLE DE CALCUL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82112"/>
            <a:ext cx="5120640" cy="12070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1" i="0">
                <a:solidFill>
                  <a:srgbClr val="88DDAA"/>
                </a:solidFill>
              </a:rPr>
              <a:t>Serveur : 2 x CPU de 12 cœurs = 24 cœurs
Licence de base couvre : 16 cœurs
Cœurs supplémentaires requis : 8 → 4 packs de 2 cœurs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617720"/>
            <a:ext cx="5577840" cy="1417320"/>
          </a:xfrm>
          <a:prstGeom prst="rect">
            <a:avLst/>
          </a:prstGeom>
          <a:solidFill>
            <a:srgbClr val="EEF6E6"/>
          </a:solidFill>
          <a:ln w="25400">
            <a:solidFill>
              <a:srgbClr val="3E7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4617720"/>
            <a:ext cx="502920" cy="141732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" y="512521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690872"/>
            <a:ext cx="4892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2A00"/>
                </a:solidFill>
              </a:rPr>
              <a:t>CAL (Client Access License)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983480"/>
            <a:ext cx="4892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Chaque utilisateur ou périphérique qui accède au serveur nécessite en plus une CAL (User CAL ou Device CAL) — indépendante de la licence serveur elle-même.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74519"/>
            <a:ext cx="5330952" cy="41605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MINIMUMS À RETENIR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Cœurs minimum / serveur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8 cœurs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1729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Cœurs minimum / processeur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1729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4 cœurs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3989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Taille de pack de cœurs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7398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2 cœurs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3068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VMs incluses (Standard)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306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2 machines virtuelles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73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CDDEE"/>
                </a:solidFill>
              </a:rPr>
              <a:t>VMs incluses (Datacenter)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8737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</a:rPr>
              <a:t>Illimitées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3 : éditions et licences</a:t>
            </a:r>
          </a:p>
        </p:txBody>
      </p:sp>
      <p:pic>
        <p:nvPicPr>
          <p:cNvPr id="37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Prérequis matériels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Ce qu'il faut vérifier avant toute installation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011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>
                <a:solidFill>
                  <a:srgbClr val="595959"/>
                </a:solidFill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Processeur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1.4 GHz 64 bits minimum,
compatible NX et DEP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874519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011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 dirty="0">
                <a:solidFill>
                  <a:srgbClr val="595959"/>
                </a:solidFill>
              </a:rPr>
              <a:t>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Mémoire 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512 Mo minimum (2 Go recommandés)
avec Desktop Experience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1874519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2011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>
                <a:solidFill>
                  <a:srgbClr val="595959"/>
                </a:solidFill>
              </a:rPr>
              <a:t>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0756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Disque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32 Go minimum d'espace disque libre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2336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>
                <a:solidFill>
                  <a:srgbClr val="595959"/>
                </a:solidFill>
              </a:rPr>
              <a:t>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TPM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92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Requis pour tirer parti du
Credential Guard renforcé (2025)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402336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>
                <a:solidFill>
                  <a:srgbClr val="595959"/>
                </a:solidFill>
              </a:rPr>
              <a:t>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Réseau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892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Adaptateur Gigabit Ethernet
compatible PXE recommandé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02336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160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50" b="0" i="0">
                <a:solidFill>
                  <a:srgbClr val="595959"/>
                </a:solidFill>
              </a:rPr>
              <a:t>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UEFI + Secure Boot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920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Fortement recommandé,
prérequis pour certaines features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4 : prérequis et installation</a:t>
            </a:r>
          </a:p>
        </p:txBody>
      </p:sp>
      <p:pic>
        <p:nvPicPr>
          <p:cNvPr id="39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Desktop Experience ou Server Core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choix structurant, détaillé en Séance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5394960" cy="5486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199339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🖥  Desktop Experience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6032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• Interface graphique complète, plus simple pour débuter
• Empreinte disque et surface d'attaque plus grandes
• Utilisé pour AD1, AD2 et SV1 (labo principal)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0520"/>
            <a:ext cx="4937760" cy="182880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493776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544568"/>
            <a:ext cx="493776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224528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[ Screenshot ] Bureau Windows Server (Desktop Experience)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690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990088" y="4526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53512" y="4855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5367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595959"/>
                </a:solidFill>
              </a:rPr>
              <a:t>Illustration à insérer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660136"/>
            <a:ext cx="493776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5660136"/>
            <a:ext cx="493776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570585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874519"/>
            <a:ext cx="54681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1874519"/>
            <a:ext cx="5468112" cy="54864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19933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⌨  Server 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560320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• Pas d'interface graphique (CLI + PowerShell)
• Empreinte disque réduite, moins de redémarrages
• Utilisé pour SRVCore (dès S4, approfondi en S12)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160520"/>
            <a:ext cx="4937760" cy="182880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92240" y="4160520"/>
            <a:ext cx="493776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92240" y="4544568"/>
            <a:ext cx="493776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56831" y="4224528"/>
            <a:ext cx="46085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[ Screenshot ] Invite de commandes Server Core au démarrage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58200" y="4690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796528" y="4526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59952" y="4855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53675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595959"/>
                </a:solidFill>
              </a:rPr>
              <a:t>Illustration à insérer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660136"/>
            <a:ext cx="493776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92240" y="5660136"/>
            <a:ext cx="493776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29400" y="5705856"/>
            <a:ext cx="4663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4 : prérequis et installation</a:t>
            </a:r>
          </a:p>
        </p:txBody>
      </p:sp>
      <p:pic>
        <p:nvPicPr>
          <p:cNvPr id="45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  <p:pic>
        <p:nvPicPr>
          <p:cNvPr id="2050" name="Picture 2" descr="Techunboxed: How to Install the Desktop Experience on Windows Server 20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14701"/>
            <a:ext cx="4937761" cy="278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figurer une installation Server Core de Windows Server et d'Azure Local  avec l'outil de configuration de serveur (SConfig) | Microsoft 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6520" y="3314700"/>
            <a:ext cx="5074920" cy="2772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Windows Admin Center (WAC)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La console moderne qui remplace peu à peu la gestion locale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Windows Admin Center est une console web légère, installable gratuitement, qui centralise l'administration de serveurs physiques, virtuels et de clusters — sans dépendre de MMC.
Approfondi en Séance 12, elle sera notre principal point d'entrée pour la gestion à distance des serveurs Core à partir de la deuxième moitié du cours.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5760720" cy="2194560"/>
          </a:xfrm>
          <a:prstGeom prst="rect">
            <a:avLst/>
          </a:prstGeom>
          <a:solidFill>
            <a:srgbClr val="FBF6E3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02920" cy="21945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" y="4736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75" b="1" i="0">
                <a:solidFill>
                  <a:srgbClr val="FFFFFF"/>
                </a:solidFill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13632"/>
            <a:ext cx="5074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95200"/>
                </a:solidFill>
              </a:rPr>
              <a:t>Ce qui change selon la 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06240"/>
            <a:ext cx="5074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2019 : WAC s'installe séparément (outil distinct).
2022 : intégration plus poussée, extensions Azure natives.
2025 : interface repensée façon Windows 11, ajout de nouveaux tableaux de bord de santé.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874519"/>
            <a:ext cx="5148072" cy="420624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CE QUE WAC PERMET DE GÉRER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5603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Rôles et fonctionnalités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906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0906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Stockage et espaces de stockage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62102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621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Machines virtuelles Hyper-V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5137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5137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Pare-feu et mises à jour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68172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68172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Clusters à basculement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2120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2120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Certificats et sécurité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5 : écosystème d'administration</a:t>
            </a:r>
          </a:p>
        </p:txBody>
      </p:sp>
      <p:pic>
        <p:nvPicPr>
          <p:cNvPr id="35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System Insights : la supervision prédictive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Anticiper les pannes plutôt que les subir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System Insights est une fonctionnalité locale qui utilise des modèles d'apprentissage automatique embarqués pour prévoir, à partir des journaux du serveur, des problèmes avant qu'ils ne surviennent (saturation disque, dérive d'horloge, surcharge réseau...).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82296" cy="30175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145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📉
Capacité de stockage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77055"/>
            <a:ext cx="22860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Prévoit la date probable de saturation d'un volume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01752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017520"/>
            <a:ext cx="82296" cy="30175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145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🌐
Utilisation réseau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877055"/>
            <a:ext cx="22860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Détecte les tendances anormales de trafic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01752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35040" y="3017520"/>
            <a:ext cx="82296" cy="30175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3145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⏱
Dérive d'horloge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77055"/>
            <a:ext cx="22860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Alerte avant une désynchronisation critique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59" y="301752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823959" y="3017520"/>
            <a:ext cx="82296" cy="30175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59" y="3145536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🔥
Utilisation CPU/mémoire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3877055"/>
            <a:ext cx="2286000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Anticipe la saturation des ressources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5 : écosystème d'administration</a:t>
            </a:r>
          </a:p>
        </p:txBody>
      </p:sp>
      <p:pic>
        <p:nvPicPr>
          <p:cNvPr id="32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Nouveautés majeures de Windows Server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Ce qui distingue vraiment la dernière génération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27249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82296" cy="4297680"/>
          </a:xfrm>
          <a:prstGeom prst="rect">
            <a:avLst/>
          </a:prstGeom>
          <a:solidFill>
            <a:srgbClr val="3E7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00253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🩹
Hotpatching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34056"/>
            <a:ext cx="2359152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Applique les correctifs de sécurité sans redémarrage du serveur — disponible aussi en Standard, plus seulement Azure Edition.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874519"/>
            <a:ext cx="27249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91840" y="1874519"/>
            <a:ext cx="82296" cy="4297680"/>
          </a:xfrm>
          <a:prstGeom prst="rect">
            <a:avLst/>
          </a:prstGeom>
          <a:solidFill>
            <a:srgbClr val="B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200253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🛡
Credential Guard par défaut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34056"/>
            <a:ext cx="2359152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Isole les identifiants en mémoire virtualisée dès l'installation, sans configuration manuelle.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874519"/>
            <a:ext cx="27249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6480" y="1874519"/>
            <a:ext cx="82296" cy="42976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200253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📡
SMB over QUIC en Standard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34056"/>
            <a:ext cx="2359152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Le partage de fichiers chiffré sur QUIC, auparavant réservé à l'Azure Edition, arrive en édition Standard.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874519"/>
            <a:ext cx="272491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961120" y="1874519"/>
            <a:ext cx="82296" cy="4297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9720" y="2002536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🗄
AD DS : bases élargies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734056"/>
            <a:ext cx="2359152" cy="3346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Support d'une base de données AD élargie (pages de 32k) pour les très grands annuaires.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2 : panorama des versions</a:t>
            </a:r>
          </a:p>
        </p:txBody>
      </p:sp>
      <p:pic>
        <p:nvPicPr>
          <p:cNvPr id="31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Windows Server et l'hybridation Azure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 socle on-premises ne travaille plus seul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Depuis 2019, Microsoft investit fortement dans les scénarios hybrides : un serveur on-premises peut être rattaché, sauvegardé, mis à jour et surveillé depuis Azure — sans migration complète vers le cloud.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83280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45643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01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Azure AD 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40156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synchronise les identités locales vers le cloud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41648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5993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60"/>
                </a:solidFill>
              </a:rPr>
              <a:t>Azure Arc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059935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 err="1">
                <a:solidFill>
                  <a:srgbClr val="595959"/>
                </a:solidFill>
              </a:rPr>
              <a:t>projette</a:t>
            </a:r>
            <a:r>
              <a:rPr sz="1250" b="0" i="0" dirty="0">
                <a:solidFill>
                  <a:srgbClr val="595959"/>
                </a:solidFill>
              </a:rPr>
              <a:t> les </a:t>
            </a:r>
            <a:r>
              <a:rPr sz="1250" b="0" i="0" dirty="0" err="1">
                <a:solidFill>
                  <a:srgbClr val="595959"/>
                </a:solidFill>
              </a:rPr>
              <a:t>serveurs</a:t>
            </a:r>
            <a:r>
              <a:rPr sz="1250" b="0" i="0" dirty="0">
                <a:solidFill>
                  <a:srgbClr val="595959"/>
                </a:solidFill>
              </a:rPr>
              <a:t> on-premises </a:t>
            </a:r>
            <a:r>
              <a:rPr sz="1250" b="0" i="0" dirty="0" err="1">
                <a:solidFill>
                  <a:srgbClr val="595959"/>
                </a:solidFill>
              </a:rPr>
              <a:t>dans</a:t>
            </a:r>
            <a:r>
              <a:rPr sz="1250" b="0" i="0" dirty="0">
                <a:solidFill>
                  <a:srgbClr val="595959"/>
                </a:solidFill>
              </a:rPr>
              <a:t> le </a:t>
            </a:r>
            <a:r>
              <a:rPr sz="1250" b="0" i="0" dirty="0" err="1">
                <a:solidFill>
                  <a:srgbClr val="595959"/>
                </a:solidFill>
              </a:rPr>
              <a:t>portail</a:t>
            </a:r>
            <a:r>
              <a:rPr sz="1250" b="0" i="0" dirty="0">
                <a:solidFill>
                  <a:srgbClr val="595959"/>
                </a:solidFill>
              </a:rPr>
              <a:t> Azure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0016"/>
            <a:ext cx="4572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731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59" y="4718303"/>
            <a:ext cx="2207456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3560"/>
                </a:solidFill>
              </a:rPr>
              <a:t>Azure Backup / Update </a:t>
            </a:r>
            <a:r>
              <a:rPr sz="1400" b="1" i="0" dirty="0" err="1">
                <a:solidFill>
                  <a:srgbClr val="1A3560"/>
                </a:solidFill>
              </a:rPr>
              <a:t>Mgmt</a:t>
            </a:r>
            <a:endParaRPr sz="1250" b="1" i="0" dirty="0">
              <a:solidFill>
                <a:srgbClr val="1A356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63240" y="4718303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 err="1">
                <a:solidFill>
                  <a:srgbClr val="595959"/>
                </a:solidFill>
              </a:rPr>
              <a:t>centralise</a:t>
            </a:r>
            <a:r>
              <a:rPr sz="1250" b="0" i="0" dirty="0">
                <a:solidFill>
                  <a:srgbClr val="595959"/>
                </a:solidFill>
              </a:rPr>
              <a:t> </a:t>
            </a:r>
            <a:r>
              <a:rPr sz="1250" b="0" i="0" dirty="0" err="1">
                <a:solidFill>
                  <a:srgbClr val="595959"/>
                </a:solidFill>
              </a:rPr>
              <a:t>sauvegardes</a:t>
            </a:r>
            <a:r>
              <a:rPr sz="1250" b="0" i="0" dirty="0">
                <a:solidFill>
                  <a:srgbClr val="595959"/>
                </a:solidFill>
              </a:rPr>
              <a:t> et </a:t>
            </a:r>
            <a:r>
              <a:rPr sz="1250" b="0" i="0" dirty="0" err="1">
                <a:solidFill>
                  <a:srgbClr val="595959"/>
                </a:solidFill>
              </a:rPr>
              <a:t>correctifs</a:t>
            </a:r>
            <a:endParaRPr sz="1100" b="0" i="0" dirty="0">
              <a:solidFill>
                <a:srgbClr val="595959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583680" y="1874519"/>
            <a:ext cx="5148072" cy="420624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057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0E6FF"/>
                </a:solidFill>
              </a:rPr>
              <a:t>APERÇU DU BLOC AZURE (S36-S44)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S36 : Introduction à Azure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S37-S38 : Azure AD, synchronisation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S39-S40 : MFA, Conditional Access, Hybrid Join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S41 : Azure Arc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S42 : Azure File Sync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S43 : Update Management &amp; Backup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•  S44 : Module Az PowerShell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5 : écosystème d'administration</a:t>
            </a:r>
          </a:p>
        </p:txBody>
      </p:sp>
      <p:pic>
        <p:nvPicPr>
          <p:cNvPr id="37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Premier lancement du Gestionnaire de serveur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1920240"/>
            <a:ext cx="8686800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37360" y="1920240"/>
            <a:ext cx="868680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37360" y="2304288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01952" y="1984248"/>
            <a:ext cx="8357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solidFill>
                  <a:srgbClr val="1A3560"/>
                </a:solidFill>
              </a:rPr>
              <a:t>[ Screenshot ] </a:t>
            </a:r>
            <a:r>
              <a:rPr sz="1350" b="1" i="0" dirty="0" err="1">
                <a:solidFill>
                  <a:srgbClr val="1A3560"/>
                </a:solidFill>
              </a:rPr>
              <a:t>Gestionnaire</a:t>
            </a:r>
            <a:r>
              <a:rPr sz="1350" b="1" i="0" dirty="0">
                <a:solidFill>
                  <a:srgbClr val="1A3560"/>
                </a:solidFill>
              </a:rPr>
              <a:t> de </a:t>
            </a:r>
            <a:r>
              <a:rPr sz="1350" b="1" i="0" dirty="0" err="1">
                <a:solidFill>
                  <a:srgbClr val="1A3560"/>
                </a:solidFill>
              </a:rPr>
              <a:t>serveur</a:t>
            </a:r>
            <a:r>
              <a:rPr sz="1350" b="1" i="0" dirty="0">
                <a:solidFill>
                  <a:srgbClr val="1A3560"/>
                </a:solidFill>
              </a:rPr>
              <a:t> — tableau de </a:t>
            </a:r>
            <a:r>
              <a:rPr sz="1350" b="1" i="0" dirty="0" err="1">
                <a:solidFill>
                  <a:srgbClr val="1A3560"/>
                </a:solidFill>
              </a:rPr>
              <a:t>bord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77840" y="363931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16168" y="347472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79592" y="380390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431596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>
                <a:solidFill>
                  <a:srgbClr val="595959"/>
                </a:solidFill>
              </a:rPr>
              <a:t>Insérez ici une capture du tableau de bord au premier démarrage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6634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Visible juste après l'installation, avant l'ajout de tout rôle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5797295"/>
            <a:ext cx="868680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360" y="5797295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4519" y="584301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Illustration pratique</a:t>
            </a:r>
          </a:p>
        </p:txBody>
      </p:sp>
      <p:pic>
        <p:nvPicPr>
          <p:cNvPr id="27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  <p:pic>
        <p:nvPicPr>
          <p:cNvPr id="3074" name="Picture 2" descr="Administration simplifiée AD DS | Microsoft 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707642"/>
            <a:ext cx="8804422" cy="477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Tableau de bord Windows Admin Center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1920240"/>
            <a:ext cx="8686800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37360" y="1920240"/>
            <a:ext cx="868680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37360" y="2304288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01952" y="1984248"/>
            <a:ext cx="8357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 dirty="0">
                <a:solidFill>
                  <a:srgbClr val="1A3560"/>
                </a:solidFill>
              </a:rPr>
              <a:t>[ Screenshot ] Windows Admin Center — </a:t>
            </a:r>
            <a:r>
              <a:rPr sz="1350" b="1" i="0" dirty="0" err="1">
                <a:solidFill>
                  <a:srgbClr val="1A3560"/>
                </a:solidFill>
              </a:rPr>
              <a:t>vue</a:t>
            </a:r>
            <a:r>
              <a:rPr sz="1350" b="1" i="0" dirty="0">
                <a:solidFill>
                  <a:srgbClr val="1A3560"/>
                </a:solidFill>
              </a:rPr>
              <a:t> </a:t>
            </a:r>
            <a:r>
              <a:rPr sz="1350" b="1" i="0" dirty="0" err="1">
                <a:solidFill>
                  <a:srgbClr val="1A3560"/>
                </a:solidFill>
              </a:rPr>
              <a:t>d'ensemble</a:t>
            </a:r>
            <a:r>
              <a:rPr sz="1350" b="1" i="0" dirty="0">
                <a:solidFill>
                  <a:srgbClr val="1A3560"/>
                </a:solidFill>
              </a:rPr>
              <a:t> d'un </a:t>
            </a:r>
            <a:r>
              <a:rPr sz="1350" b="1" i="0" dirty="0" err="1">
                <a:solidFill>
                  <a:srgbClr val="1A3560"/>
                </a:solidFill>
              </a:rPr>
              <a:t>serveur</a:t>
            </a:r>
            <a:r>
              <a:rPr sz="1350" b="1" i="0" dirty="0">
                <a:solidFill>
                  <a:srgbClr val="1A3560"/>
                </a:solidFill>
              </a:rPr>
              <a:t> </a:t>
            </a:r>
            <a:r>
              <a:rPr sz="1350" b="1" i="0" dirty="0" err="1">
                <a:solidFill>
                  <a:srgbClr val="1A3560"/>
                </a:solidFill>
              </a:rPr>
              <a:t>connecté</a:t>
            </a:r>
            <a:endParaRPr sz="1200" b="1" i="0" dirty="0">
              <a:solidFill>
                <a:srgbClr val="1A356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577840" y="363931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16168" y="347472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79592" y="380390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4315968"/>
            <a:ext cx="8321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 dirty="0" err="1">
                <a:solidFill>
                  <a:srgbClr val="595959"/>
                </a:solidFill>
              </a:rPr>
              <a:t>Insérez</a:t>
            </a:r>
            <a:r>
              <a:rPr sz="1450" b="0" i="1" dirty="0">
                <a:solidFill>
                  <a:srgbClr val="595959"/>
                </a:solidFill>
              </a:rPr>
              <a:t> </a:t>
            </a:r>
            <a:r>
              <a:rPr sz="1450" b="0" i="1" dirty="0" err="1">
                <a:solidFill>
                  <a:srgbClr val="595959"/>
                </a:solidFill>
              </a:rPr>
              <a:t>ici</a:t>
            </a:r>
            <a:r>
              <a:rPr sz="1450" b="0" i="1" dirty="0">
                <a:solidFill>
                  <a:srgbClr val="595959"/>
                </a:solidFill>
              </a:rPr>
              <a:t> </a:t>
            </a:r>
            <a:r>
              <a:rPr sz="1450" b="0" i="1" dirty="0" err="1">
                <a:solidFill>
                  <a:srgbClr val="595959"/>
                </a:solidFill>
              </a:rPr>
              <a:t>une</a:t>
            </a:r>
            <a:r>
              <a:rPr sz="1450" b="0" i="1" dirty="0">
                <a:solidFill>
                  <a:srgbClr val="595959"/>
                </a:solidFill>
              </a:rPr>
              <a:t> capture du tableau de </a:t>
            </a:r>
            <a:r>
              <a:rPr sz="1450" b="0" i="1" dirty="0" err="1">
                <a:solidFill>
                  <a:srgbClr val="595959"/>
                </a:solidFill>
              </a:rPr>
              <a:t>bord</a:t>
            </a:r>
            <a:r>
              <a:rPr sz="1450" b="0" i="1" dirty="0">
                <a:solidFill>
                  <a:srgbClr val="595959"/>
                </a:solidFill>
              </a:rPr>
              <a:t> WAC d'un </a:t>
            </a:r>
            <a:r>
              <a:rPr sz="1450" b="0" i="1" dirty="0" err="1">
                <a:solidFill>
                  <a:srgbClr val="595959"/>
                </a:solidFill>
              </a:rPr>
              <a:t>serveur</a:t>
            </a:r>
            <a:r>
              <a:rPr sz="1450" b="0" i="1" dirty="0">
                <a:solidFill>
                  <a:srgbClr val="595959"/>
                </a:solidFill>
              </a:rPr>
              <a:t> </a:t>
            </a:r>
            <a:r>
              <a:rPr sz="1450" b="0" i="1" dirty="0" err="1">
                <a:solidFill>
                  <a:srgbClr val="595959"/>
                </a:solidFill>
              </a:rPr>
              <a:t>ajouté</a:t>
            </a:r>
            <a:endParaRPr sz="1300" b="0" i="1" dirty="0">
              <a:solidFill>
                <a:srgbClr val="59595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46634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CPU, mémoire, disque et état des mises à jour visibles en un coup d'œil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5797295"/>
            <a:ext cx="868680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360" y="5797295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4519" y="584301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Illustration pratique</a:t>
            </a:r>
          </a:p>
        </p:txBody>
      </p:sp>
      <p:pic>
        <p:nvPicPr>
          <p:cNvPr id="27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  <p:pic>
        <p:nvPicPr>
          <p:cNvPr id="4098" name="Picture 2" descr="Windows Serveur : administration centralisée avec le gestionnaire de serveu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40" y="1661649"/>
            <a:ext cx="8839081" cy="454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Aperçu pratique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Schéma de la maquette réseau du bac à sable (aperçu Séance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37360" y="1920240"/>
            <a:ext cx="8686800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37360" y="1920240"/>
            <a:ext cx="8686800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37360" y="2304288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01952" y="1984248"/>
            <a:ext cx="8357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[ Screenshot ] Schéma réseau : AD1, AD2, SV1, SRVCore, CL10-01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363931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16168" y="347472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79592" y="380390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20240" y="4315968"/>
            <a:ext cx="83210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0" i="1" dirty="0" err="1">
                <a:solidFill>
                  <a:srgbClr val="595959"/>
                </a:solidFill>
              </a:rPr>
              <a:t>Insérez</a:t>
            </a:r>
            <a:r>
              <a:rPr sz="1450" b="0" i="1" dirty="0">
                <a:solidFill>
                  <a:srgbClr val="595959"/>
                </a:solidFill>
              </a:rPr>
              <a:t> </a:t>
            </a:r>
            <a:r>
              <a:rPr sz="1450" b="0" i="1" dirty="0" err="1">
                <a:solidFill>
                  <a:srgbClr val="595959"/>
                </a:solidFill>
              </a:rPr>
              <a:t>ici</a:t>
            </a:r>
            <a:r>
              <a:rPr sz="1450" b="0" i="1" dirty="0">
                <a:solidFill>
                  <a:srgbClr val="595959"/>
                </a:solidFill>
              </a:rPr>
              <a:t> le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663440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AAAAAA"/>
                </a:solidFill>
              </a:rPr>
              <a:t>Détaillé</a:t>
            </a:r>
            <a:r>
              <a:rPr sz="1200" b="0" i="0" dirty="0">
                <a:solidFill>
                  <a:srgbClr val="AAAAAA"/>
                </a:solidFill>
              </a:rPr>
              <a:t> </a:t>
            </a:r>
            <a:r>
              <a:rPr sz="1200" b="0" i="0" dirty="0" err="1">
                <a:solidFill>
                  <a:srgbClr val="AAAAAA"/>
                </a:solidFill>
              </a:rPr>
              <a:t>en</a:t>
            </a:r>
            <a:r>
              <a:rPr sz="1200" b="0" i="0" dirty="0">
                <a:solidFill>
                  <a:srgbClr val="AAAAAA"/>
                </a:solidFill>
              </a:rPr>
              <a:t> Séance 2 — </a:t>
            </a:r>
            <a:r>
              <a:rPr sz="1200" b="0" i="0" dirty="0" err="1">
                <a:solidFill>
                  <a:srgbClr val="AAAAAA"/>
                </a:solidFill>
              </a:rPr>
              <a:t>hôte</a:t>
            </a:r>
            <a:r>
              <a:rPr sz="1200" b="0" i="0" dirty="0">
                <a:solidFill>
                  <a:srgbClr val="AAAAAA"/>
                </a:solidFill>
              </a:rPr>
              <a:t> Hyper-V et </a:t>
            </a:r>
            <a:r>
              <a:rPr sz="1200" b="0" i="0" dirty="0" err="1">
                <a:solidFill>
                  <a:srgbClr val="AAAAAA"/>
                </a:solidFill>
              </a:rPr>
              <a:t>topologie</a:t>
            </a:r>
            <a:r>
              <a:rPr sz="1200" b="0" i="0" dirty="0">
                <a:solidFill>
                  <a:srgbClr val="AAAAAA"/>
                </a:solidFill>
              </a:rPr>
              <a:t> </a:t>
            </a:r>
            <a:r>
              <a:rPr sz="1200" b="0" i="0" dirty="0" err="1">
                <a:solidFill>
                  <a:srgbClr val="AAAAAA"/>
                </a:solidFill>
              </a:rPr>
              <a:t>complète</a:t>
            </a:r>
            <a:endParaRPr sz="1050" b="0" i="0" dirty="0">
              <a:solidFill>
                <a:srgbClr val="AAAAAA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37360" y="5797295"/>
            <a:ext cx="8686800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37360" y="5797295"/>
            <a:ext cx="8686800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4519" y="584301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Illustration pratique</a:t>
            </a:r>
          </a:p>
        </p:txBody>
      </p:sp>
      <p:pic>
        <p:nvPicPr>
          <p:cNvPr id="27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  <p:pic>
        <p:nvPicPr>
          <p:cNvPr id="5122" name="Picture 2" descr="Mon chez-moi/Mon labo maison. J'ai enfin pris le temps de faire un  diagramme de réseau. : r/homela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109" y="1920240"/>
            <a:ext cx="9284676" cy="4620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FFFFFF"/>
                </a:solidFill>
              </a:rPr>
              <a:t>Vocabulaire clé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AAAABB"/>
                </a:solidFill>
              </a:rPr>
              <a:t>18 termes à maîtriser avant la Séance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Rôle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7568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Fonction serveur majeure (AD DS, DHCP, DNS...)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15384" y="178308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Fonctionnalité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5384" y="207568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Composant additionnel supportant un rôle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178308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Core-based licensing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07568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Modèle de licence basé sur le nombre de cœurs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7860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71215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Licence d'accès client (User ou Device)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4" y="257860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Server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5384" y="2871215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Installation sans interface graphique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578608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Desktop 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871215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Installation avec interface graphique complète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74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WAC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666744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Windows Admin Center, console web de 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3374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System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15384" y="3666744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Supervision prédictive intégrée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8" y="3374136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Datacenter: Azure Edition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3666744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Édition disponible uniquement sur Azure/Stack HCI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69663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Hotpatching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46227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Correctif appliqué sans redémarrage (2025)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5384" y="4169663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Credential Guard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5384" y="446227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Isolation des identifiants en mémoire virtualisée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3568" y="4169663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SMB over QUIC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4462272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Partage de fichiers chiffré sur le protocole QUIC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96519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Support étendu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57800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Période de correctifs de sécurité après le support courant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5384" y="496519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Secured-core server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4" y="5257800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Profil de sécurité matériel + firmware + 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73568" y="4965192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Azure Arc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5257800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Projection d'un serveur on-premises dans le portail Azure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6072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TPM 2.0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5332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Puce de sécurité matérielle pour le chiffrement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15384" y="576072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UEFI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15384" y="605332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Firmware moderne remplaçant le BIOS traditionnel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73568" y="5760720"/>
            <a:ext cx="3575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C24A"/>
                </a:solidFill>
              </a:rPr>
              <a:t>PowerShell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73568" y="6053328"/>
            <a:ext cx="35295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D5"/>
                </a:solidFill>
              </a:rPr>
              <a:t>Interpréteur de commandes et langage de script d'administration</a:t>
            </a:r>
          </a:p>
        </p:txBody>
      </p:sp>
      <p:pic>
        <p:nvPicPr>
          <p:cNvPr id="48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Mémo commandes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Vos premiers réflexes pour inspecter un serveur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10817352" cy="4206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10817352" cy="256032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901951"/>
            <a:ext cx="105430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888AA"/>
                </a:solidFill>
              </a:rPr>
              <a:t>POWERSHELL / CMD — INFORMATIONS SYSTÈME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176272"/>
            <a:ext cx="10360152" cy="3858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50" b="1" i="0">
                <a:solidFill>
                  <a:srgbClr val="88DDAA"/>
                </a:solidFill>
              </a:rPr>
              <a:t>systeminfo                          # Vue d'ensemble OS, version, uptime
winver                              # Boîte de dialogue "À propos"
Get-ComputerInfo                    # Détails complets via PowerShell
Get-ComputerInfo | Select WindowsProductName, OsHardwareAbstractionLayer
Get-WindowsFeature                  # Liste des rôles/fonctionnalités installés
slmgr /dlv                           # Détail de la licence et de l'activation
msinfo32                             # Interface graphique d'informations système
Get-CimInstance Win32_OperatingSystem | Select Caption,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Mémo commandes</a:t>
            </a:r>
          </a:p>
        </p:txBody>
      </p:sp>
      <p:pic>
        <p:nvPicPr>
          <p:cNvPr id="19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3 scénarios pour ancrer les concepts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74519"/>
            <a:ext cx="3611880" cy="777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97510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Julien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134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ACCAA"/>
                </a:solidFill>
              </a:rPr>
              <a:t>Admin réseau junior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78892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Une PME de 25 postes veut virtualiser 3 serveurs sur un seul hôte physique à 2 CPU de 8 cœurs. Quelle édition et combien de cœurs Julien doit-il licencier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51960" y="1874519"/>
            <a:ext cx="3611880" cy="777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97510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Mathieu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3134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ACCAA"/>
                </a:solidFill>
              </a:rPr>
              <a:t>Responsable infra PME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8892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Mathieu hésite entre garder son Windows Server 2016 ou migrer. Aidez-le à lister 3 arguments techniques en faveur d'une migration vers 2022 ou 2025.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1874519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1874519"/>
            <a:ext cx="3611880" cy="7772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197510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Isabelle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31343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AACCAA"/>
                </a:solidFill>
              </a:rPr>
              <a:t>Analyste sécurité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78892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Isabelle doit justifier en comité de sécurité pourquoi Windows Server 2025 réduit le risque de vol d'identifiants par rapport à 2019. Que doit-elle mettre en avant 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Cas pratiques</a:t>
            </a:r>
          </a:p>
        </p:txBody>
      </p:sp>
      <p:pic>
        <p:nvPicPr>
          <p:cNvPr id="30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4 exercices pour appliquer ce que vous venez de voir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12745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502920" cy="107899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92024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Calcul de licence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92024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Un serveur a 2 CPU de 10 cœurs chacun. Combien de packs de cœurs supplémentaires faut-il acheter en plus de la licence de base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99232"/>
            <a:ext cx="112745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999232"/>
            <a:ext cx="502920" cy="107899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9067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Choix d'édition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090672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Une entreprise veut héberger 12 machines virtuelles sur un seul hôte. Quelle édition recommandez-vous, et pourquoi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69664"/>
            <a:ext cx="112745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169664"/>
            <a:ext cx="502920" cy="107899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462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61104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Repérer les nouveautés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261104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Citez 2 fonctionnalités qui n'existent que depuis Windows Server 2025 et expliquez leur intérêt en une phrase chacune.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40096"/>
            <a:ext cx="11274552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" y="5340096"/>
            <a:ext cx="502920" cy="1078992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63270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31536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A3560"/>
                </a:solidFill>
              </a:rPr>
              <a:t>Server Core ou Desktop Experience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5431536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Un serveur de fichiers isolé dans une salle serveur sans écran : quelle installation choisir, et pourquoi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Exercices pratiques</a:t>
            </a:r>
          </a:p>
        </p:txBody>
      </p:sp>
      <p:pic>
        <p:nvPicPr>
          <p:cNvPr id="35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Récapitulatif et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Avant de passer à la Séance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7451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60"/>
                </a:solidFill>
              </a:rPr>
              <a:t>Ce que nous avons vu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2860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Rôle du serveur vs poste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7889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3 versions actives : 2019, 2022, 2025 (2016 exclu)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3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9183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3 éditions et le modèle de licence par cœurs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5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9475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Prérequis matériels et Server Core vs Desktop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7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2976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Windows Admin Center et System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0059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E7A28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0059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Panorama des 45 séances et hybridation Azure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874519"/>
            <a:ext cx="5330952" cy="4617720"/>
          </a:xfrm>
          <a:prstGeom prst="rect">
            <a:avLst/>
          </a:prstGeom>
          <a:solidFill>
            <a:srgbClr val="0F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0574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CC24A"/>
                </a:solidFill>
              </a:rPr>
              <a:t>☑  CHECKLIST AVANT LA SÉANCE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2542032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40" y="2514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Windows Server 2022 (ISO éval.) téléchargé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3026664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49440" y="29992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Hyper-V activé sur votre poste hôte (si labo local)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3511296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49440" y="34838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8 Go de RAM libres minimum pour le bac à sable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3995928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40" y="39684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Compte Microsoft/Azure créé (évaluation gratuite)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4480560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49440" y="44531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Lecture : documentation officielle des éditions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4965192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49440" y="4937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Réponses aux 4 exercices prêtes à partager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5449824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49440" y="542239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Questions en suspens notées pour le début de S2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29400" y="5934456"/>
            <a:ext cx="201168" cy="201168"/>
          </a:xfrm>
          <a:prstGeom prst="rect">
            <a:avLst/>
          </a:prstGeom>
          <a:noFill/>
          <a:ln w="19050">
            <a:solidFill>
              <a:srgbClr val="6CC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49440" y="59070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Accès Teams et micro/caméra testés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Récapitulatif</a:t>
            </a:r>
          </a:p>
        </p:txBody>
      </p:sp>
      <p:pic>
        <p:nvPicPr>
          <p:cNvPr id="4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Panorama des capacités couvertes dans ce cours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Un aperçu des 45 séances à venir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828800"/>
            <a:ext cx="2587752" cy="384048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883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Fondations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S1-S6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Bac à sable, Hyper-V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82880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1828800"/>
            <a:ext cx="2587752" cy="38404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1883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Identité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A0"/>
                </a:solidFill>
              </a:rPr>
              <a:t>S7-S9, S13-S14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Active Directory, comptes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82880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43600" y="1828800"/>
            <a:ext cx="2587752" cy="384048"/>
          </a:xfrm>
          <a:prstGeom prst="rect">
            <a:avLst/>
          </a:prstGeom>
          <a:solidFill>
            <a:srgbClr val="BB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8" y="1883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Sécurité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BB1010"/>
                </a:solidFill>
              </a:rPr>
              <a:t>S10, S27-S28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53328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Audit, certificats, LAPS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828800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686800" y="1828800"/>
            <a:ext cx="2587752" cy="384048"/>
          </a:xfrm>
          <a:prstGeom prst="rect">
            <a:avLst/>
          </a:prstGeom>
          <a:solidFill>
            <a:srgbClr val="00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96528" y="188366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6528" y="2286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AABB"/>
                </a:solidFill>
              </a:rPr>
              <a:t>S12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Gestionnaire de serveur, WAC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01568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401568"/>
            <a:ext cx="2587752" cy="38404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3456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Réseau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CAF50"/>
                </a:solidFill>
              </a:rPr>
              <a:t>S15-S20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7880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DHCP, IPv4/v6, DNS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3401568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00400" y="3401568"/>
            <a:ext cx="2587752" cy="384048"/>
          </a:xfrm>
          <a:prstGeom prst="rect">
            <a:avLst/>
          </a:prstGeom>
          <a:solidFill>
            <a:srgbClr val="C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10128" y="3456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Stockage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10128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07000"/>
                </a:solidFill>
              </a:rPr>
              <a:t>S21, S23-S24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417880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NTFS, RAID, DFS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401568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43600" y="3401568"/>
            <a:ext cx="2587752" cy="384048"/>
          </a:xfrm>
          <a:prstGeom prst="rect">
            <a:avLst/>
          </a:prstGeom>
          <a:solidFill>
            <a:srgbClr val="2F8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53328" y="3456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Politique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53328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F8F6F"/>
                </a:solidFill>
              </a:rPr>
              <a:t>S25-S26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53328" y="417880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GPO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3401568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86800" y="3401568"/>
            <a:ext cx="2587752" cy="384048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96528" y="345643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Déploiement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38587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2563A0"/>
                </a:solidFill>
              </a:rPr>
              <a:t>S29-S30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96528" y="4178807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WDS, images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974336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57200" y="4974336"/>
            <a:ext cx="2587752" cy="384048"/>
          </a:xfrm>
          <a:prstGeom prst="rect">
            <a:avLst/>
          </a:prstGeom>
          <a:solidFill>
            <a:srgbClr val="1F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6928" y="50291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Supervision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5431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F7A5C"/>
                </a:solidFill>
              </a:rPr>
              <a:t>S31-S32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5751575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Perfmon, journaux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974336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200400" y="4974336"/>
            <a:ext cx="2587752" cy="384048"/>
          </a:xfrm>
          <a:prstGeom prst="rect">
            <a:avLst/>
          </a:prstGeom>
          <a:solidFill>
            <a:srgbClr val="3F8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310128" y="50291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Automatisation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0128" y="5431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F8F6A"/>
                </a:solidFill>
              </a:rPr>
              <a:t>S34-S35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0128" y="5751575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PowerShell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0" y="4974336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943600" y="4974336"/>
            <a:ext cx="2587752" cy="38404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53328" y="50291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Azure hybride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53328" y="5431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78D4"/>
                </a:solidFill>
              </a:rPr>
              <a:t>S36-S44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53328" y="5751575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Azure AD, Arc, backup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686800" y="4974336"/>
            <a:ext cx="258775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8686800" y="4974336"/>
            <a:ext cx="2587752" cy="384048"/>
          </a:xfrm>
          <a:prstGeom prst="rect">
            <a:avLst/>
          </a:prstGeom>
          <a:solidFill>
            <a:srgbClr val="CC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796528" y="50291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Évaluations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96528" y="54315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CC2222"/>
                </a:solidFill>
              </a:rPr>
              <a:t>S11, S22, S33, S45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96528" y="5751575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4 examens intégrés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AAAAAA"/>
                </a:solidFill>
              </a:rPr>
              <a:t>Séance 1 — Bloc 6 : vue d'ensemble du programme</a:t>
            </a:r>
          </a:p>
        </p:txBody>
      </p:sp>
      <p:pic>
        <p:nvPicPr>
          <p:cNvPr id="75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SÉANCE 1 — Introduction Windows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5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9BB99"/>
                </a:solidFill>
              </a:rPr>
              <a:t>Version 1 — Juin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 i="0">
                <a:solidFill>
                  <a:srgbClr val="1A3560"/>
                </a:solidFill>
              </a:rPr>
              <a:t>Feuille de route du cours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595959"/>
                </a:solidFill>
              </a:rPr>
              <a:t>Les 45 séances d'Administration Windows Server — où nous en sommes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CC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1783080"/>
          <a:ext cx="112471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246120"/>
                <a:gridCol w="502920"/>
                <a:gridCol w="3246120"/>
                <a:gridCol w="502920"/>
                <a:gridCol w="3246120"/>
              </a:tblGrid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45720" marR="27432" marT="9144" marB="9144" anchor="ctr">
                    <a:solidFill>
                      <a:srgbClr val="6CC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Intro WS 2019/2022/2025 — éditions, licences</a:t>
                      </a:r>
                    </a:p>
                  </a:txBody>
                  <a:tcPr marL="45720" marR="27432" marT="9144" marB="9144" anchor="ctr">
                    <a:solidFill>
                      <a:srgbClr val="6CC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S16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Haute dispo DHCP, IPAM, migration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S31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Gestionnaire des tâches, perfmon, WinRE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Bac à sable — hôte Hyper-V, maquette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S17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IPv4/IPv6 — modèle OSI, routage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S32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Observateur d'événements, pare-feu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VMs AD1 &amp; AD2 — création, post-install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S18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Centre réseau, 802.11, Guard, NLB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B1010"/>
                          </a:solidFill>
                        </a:defRPr>
                      </a:pPr>
                      <a:r>
                        <a:t>S33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82222"/>
                          </a:solidFill>
                        </a:defRPr>
                      </a:pPr>
                      <a:r>
                        <a:t>Examen 3 (S23-S32)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VMs SV1/SRVCore/CL10-01, checkpoints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S19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DNS — présentation, installation, zones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S34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PowerShell — console, ISE, syntaxe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S5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Hyper-V — VMs, intégration, BPA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S20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Gestion DNS avancée, PowerShell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S35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PowerShell — boucles, variables v5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S6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Disques virtuels, checkpoints, réseaux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S21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NTFS, RAID, DAS vs SAN, stockage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S36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Introduction à Azure — portail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S7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AD DS — forêt, domaine, OU, partitions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B1010"/>
                          </a:solidFill>
                        </a:defRPr>
                      </a:pPr>
                      <a:r>
                        <a:t>S22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82222"/>
                          </a:solidFill>
                        </a:defRPr>
                      </a:pPr>
                      <a:r>
                        <a:t>Examen 2 (S12-S21)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S37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AD — fondamentaux, tenant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S8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FSMO, catalogue global, sites, réplication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S23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Partages, clichés, FSRM, impression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S38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AD Connect — synchro, SSO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S9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Promotion, cycle de vie, clonage d'un DC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S24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DFS — espaces de noms, réplication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S39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AD avancé — MFA, Conditional Access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S10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Sécurité AD — PingCastle, BitLocker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S25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GPO — intro, GPMC, CSE, boucle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S40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Hybrid Join, identités hybrides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B1010"/>
                          </a:solidFill>
                        </a:defRPr>
                      </a:pPr>
                      <a:r>
                        <a:t>S11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82222"/>
                          </a:solidFill>
                        </a:defRPr>
                      </a:pPr>
                      <a:r>
                        <a:t>Examen 1 (S1-S10)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S26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Gestion et dépannage GPO, ADMX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S41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Arc — gestion hybride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S12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Gestionnaire de serveur — Core, WAC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S27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Politique de sécurité — audit, UAC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S42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File Sync — stockage cloud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S13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Comptes utilisateurs AD, PowerShell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S28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Certificats — EFS, ADCS, LAPS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S43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Azure Update Mgmt &amp; Azure Backup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S14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Groupes AD, comptes ordinateur, corbeille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S29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WDS — boot PXE, mise en place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S44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Module Az PowerShell, simulation</a:t>
                      </a:r>
                    </a:p>
                  </a:txBody>
                  <a:tcPr marL="45720" marR="27432" marT="9144" marB="9144" anchor="ctr">
                    <a:solidFill>
                      <a:srgbClr val="F7F5EC"/>
                    </a:solidFill>
                  </a:tcPr>
                </a:tc>
              </a:tr>
              <a:tr h="31394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S15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DHCP — rôle, étendues, réservations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A3560"/>
                          </a:solidFill>
                        </a:defRPr>
                      </a:pPr>
                      <a:r>
                        <a:t>S30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404040"/>
                          </a:solidFill>
                        </a:defRPr>
                      </a:pPr>
                      <a:r>
                        <a:t>Déploiement OS — capture, multicast</a:t>
                      </a:r>
                    </a:p>
                  </a:txBody>
                  <a:tcPr marL="45720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BB1010"/>
                          </a:solidFill>
                        </a:defRPr>
                      </a:pPr>
                      <a:r>
                        <a:t>S45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882222"/>
                          </a:solidFill>
                        </a:defRPr>
                      </a:pPr>
                      <a:r>
                        <a:t>Examen final (S1-S44)</a:t>
                      </a:r>
                    </a:p>
                  </a:txBody>
                  <a:tcPr marL="45720" marR="27432" marT="9144" marB="9144" anchor="ctr">
                    <a:solidFill>
                      <a:srgbClr val="F9E0E0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6CC24A"/>
                </a:solidFill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83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Séance du jour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6583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BB1010"/>
                </a:solidFill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65836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Séance d'examen</a:t>
            </a:r>
          </a:p>
        </p:txBody>
      </p:sp>
      <p:pic>
        <p:nvPicPr>
          <p:cNvPr id="18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4" y="28370"/>
            <a:ext cx="1334555" cy="400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3025</Words>
  <Application>Microsoft Office PowerPoint</Application>
  <PresentationFormat>Personnalisé</PresentationFormat>
  <Paragraphs>582</Paragraphs>
  <Slides>24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Chafik Moustaid</cp:lastModifiedBy>
  <cp:revision>6</cp:revision>
  <dcterms:created xsi:type="dcterms:W3CDTF">2013-01-27T09:14:16Z</dcterms:created>
  <dcterms:modified xsi:type="dcterms:W3CDTF">2026-07-29T19:20:56Z</dcterms:modified>
  <cp:category/>
</cp:coreProperties>
</file>